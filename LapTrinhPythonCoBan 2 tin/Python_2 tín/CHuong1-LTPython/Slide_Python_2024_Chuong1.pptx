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5" r:id="rId4"/>
    <p:sldId id="266" r:id="rId5"/>
    <p:sldId id="267" r:id="rId6"/>
    <p:sldId id="269" r:id="rId7"/>
    <p:sldId id="270" r:id="rId8"/>
    <p:sldId id="271" r:id="rId9"/>
    <p:sldId id="272" r:id="rId10"/>
    <p:sldId id="273" r:id="rId11"/>
    <p:sldId id="274" r:id="rId12"/>
    <p:sldId id="276" r:id="rId13"/>
    <p:sldId id="275" r:id="rId14"/>
    <p:sldId id="277" r:id="rId15"/>
    <p:sldId id="278" r:id="rId16"/>
    <p:sldId id="283" r:id="rId17"/>
    <p:sldId id="284" r:id="rId18"/>
    <p:sldId id="279" r:id="rId19"/>
    <p:sldId id="281" r:id="rId20"/>
    <p:sldId id="282" r:id="rId21"/>
    <p:sldId id="285" r:id="rId22"/>
    <p:sldId id="286" r:id="rId23"/>
    <p:sldId id="287" r:id="rId24"/>
    <p:sldId id="288" r:id="rId25"/>
    <p:sldId id="280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9" r:id="rId36"/>
    <p:sldId id="300" r:id="rId37"/>
    <p:sldId id="301" r:id="rId38"/>
    <p:sldId id="302" r:id="rId39"/>
    <p:sldId id="298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4" r:id="rId50"/>
    <p:sldId id="360" r:id="rId51"/>
    <p:sldId id="315" r:id="rId52"/>
    <p:sldId id="316" r:id="rId53"/>
    <p:sldId id="317" r:id="rId54"/>
    <p:sldId id="318" r:id="rId55"/>
    <p:sldId id="319" r:id="rId56"/>
    <p:sldId id="320" r:id="rId57"/>
    <p:sldId id="312" r:id="rId58"/>
    <p:sldId id="324" r:id="rId59"/>
    <p:sldId id="325" r:id="rId60"/>
    <p:sldId id="323" r:id="rId61"/>
    <p:sldId id="363" r:id="rId62"/>
    <p:sldId id="328" r:id="rId63"/>
    <p:sldId id="364" r:id="rId64"/>
    <p:sldId id="330" r:id="rId65"/>
    <p:sldId id="335" r:id="rId66"/>
    <p:sldId id="329" r:id="rId67"/>
    <p:sldId id="331" r:id="rId68"/>
    <p:sldId id="332" r:id="rId69"/>
    <p:sldId id="333" r:id="rId70"/>
    <p:sldId id="334" r:id="rId71"/>
    <p:sldId id="365" r:id="rId72"/>
    <p:sldId id="339" r:id="rId73"/>
    <p:sldId id="346" r:id="rId74"/>
    <p:sldId id="345" r:id="rId75"/>
    <p:sldId id="366" r:id="rId76"/>
    <p:sldId id="338" r:id="rId77"/>
    <p:sldId id="341" r:id="rId78"/>
    <p:sldId id="342" r:id="rId79"/>
    <p:sldId id="347" r:id="rId80"/>
    <p:sldId id="348" r:id="rId81"/>
    <p:sldId id="343" r:id="rId82"/>
    <p:sldId id="344" r:id="rId83"/>
    <p:sldId id="353" r:id="rId84"/>
    <p:sldId id="354" r:id="rId85"/>
    <p:sldId id="362" r:id="rId86"/>
    <p:sldId id="352" r:id="rId87"/>
    <p:sldId id="356" r:id="rId88"/>
    <p:sldId id="357" r:id="rId89"/>
    <p:sldId id="367" r:id="rId90"/>
    <p:sldId id="371" r:id="rId91"/>
    <p:sldId id="370" r:id="rId92"/>
    <p:sldId id="372" r:id="rId93"/>
    <p:sldId id="373" r:id="rId94"/>
    <p:sldId id="374" r:id="rId95"/>
    <p:sldId id="376" r:id="rId96"/>
    <p:sldId id="375" r:id="rId97"/>
    <p:sldId id="378" r:id="rId98"/>
    <p:sldId id="377" r:id="rId99"/>
    <p:sldId id="368" r:id="rId100"/>
    <p:sldId id="379" r:id="rId101"/>
    <p:sldId id="382" r:id="rId102"/>
    <p:sldId id="380" r:id="rId103"/>
    <p:sldId id="381" r:id="rId104"/>
    <p:sldId id="383" r:id="rId105"/>
    <p:sldId id="384" r:id="rId106"/>
    <p:sldId id="390" r:id="rId107"/>
    <p:sldId id="385" r:id="rId108"/>
    <p:sldId id="388" r:id="rId109"/>
    <p:sldId id="389" r:id="rId110"/>
    <p:sldId id="386" r:id="rId111"/>
    <p:sldId id="369" r:id="rId112"/>
    <p:sldId id="392" r:id="rId113"/>
    <p:sldId id="393" r:id="rId114"/>
    <p:sldId id="391" r:id="rId115"/>
    <p:sldId id="396" r:id="rId116"/>
    <p:sldId id="361" r:id="rId1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41F1"/>
    <a:srgbClr val="E67F4C"/>
    <a:srgbClr val="8E69C9"/>
    <a:srgbClr val="A554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4660"/>
  </p:normalViewPr>
  <p:slideViewPr>
    <p:cSldViewPr snapToGrid="0">
      <p:cViewPr varScale="1">
        <p:scale>
          <a:sx n="64" d="100"/>
          <a:sy n="64" d="100"/>
        </p:scale>
        <p:origin x="27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06C466-7F14-41BA-9DF4-83118A4FB4CA}" type="datetimeFigureOut">
              <a:rPr lang="en-US" smtClean="0"/>
              <a:t>10/08/24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8F1007-5EDD-44B1-AA2F-448725C9F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4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06C466-7F14-41BA-9DF4-83118A4FB4CA}" type="datetimeFigureOut">
              <a:rPr lang="en-US" smtClean="0"/>
              <a:t>10/08/24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8F1007-5EDD-44B1-AA2F-448725C9F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8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06C466-7F14-41BA-9DF4-83118A4FB4CA}" type="datetimeFigureOut">
              <a:rPr lang="en-US" smtClean="0"/>
              <a:t>10/08/24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8F1007-5EDD-44B1-AA2F-448725C9F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5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06C466-7F14-41BA-9DF4-83118A4FB4CA}" type="datetimeFigureOut">
              <a:rPr lang="en-US" smtClean="0"/>
              <a:t>10/08/24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8F1007-5EDD-44B1-AA2F-448725C9F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3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06C466-7F14-41BA-9DF4-83118A4FB4CA}" type="datetimeFigureOut">
              <a:rPr lang="en-US" smtClean="0"/>
              <a:t>10/08/24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8F1007-5EDD-44B1-AA2F-448725C9F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8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06C466-7F14-41BA-9DF4-83118A4FB4CA}" type="datetimeFigureOut">
              <a:rPr lang="en-US" smtClean="0"/>
              <a:t>10/08/24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8F1007-5EDD-44B1-AA2F-448725C9F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30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06C466-7F14-41BA-9DF4-83118A4FB4CA}" type="datetimeFigureOut">
              <a:rPr lang="en-US" smtClean="0"/>
              <a:t>10/08/24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8F1007-5EDD-44B1-AA2F-448725C9F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2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06C466-7F14-41BA-9DF4-83118A4FB4CA}" type="datetimeFigureOut">
              <a:rPr lang="en-US" smtClean="0"/>
              <a:t>10/08/24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8F1007-5EDD-44B1-AA2F-448725C9F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20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06C466-7F14-41BA-9DF4-83118A4FB4CA}" type="datetimeFigureOut">
              <a:rPr lang="en-US" smtClean="0"/>
              <a:t>10/08/24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8F1007-5EDD-44B1-AA2F-448725C9F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7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06C466-7F14-41BA-9DF4-83118A4FB4CA}" type="datetimeFigureOut">
              <a:rPr lang="en-US" smtClean="0"/>
              <a:t>10/08/24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8F1007-5EDD-44B1-AA2F-448725C9F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9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06C466-7F14-41BA-9DF4-83118A4FB4CA}" type="datetimeFigureOut">
              <a:rPr lang="en-US" smtClean="0"/>
              <a:t>10/08/24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8F1007-5EDD-44B1-AA2F-448725C9F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10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62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462116"/>
            <a:ext cx="12192000" cy="6395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FC885-1840-43F6-AE5B-EADCF259E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etbrains.com/pycharm/download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anaconda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.anaconda.com/archive/Anaconda3-2020.02-Windows-x86.exe" TargetMode="External"/><Relationship Id="rId2" Type="http://schemas.openxmlformats.org/officeDocument/2006/relationships/hyperlink" Target="https://repo.anaconda.com/archive/Anaconda3-2020.02-Windows-x86_64.ex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HỌC PHẦN LẬP TRÌNH PYTHON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A475F0-D933-4B37-A9D6-DFD6D783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43" y="755084"/>
            <a:ext cx="1974036" cy="19740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DF5B30-AA8A-4C50-AD8E-9E9561A31B47}"/>
              </a:ext>
            </a:extLst>
          </p:cNvPr>
          <p:cNvSpPr txBox="1"/>
          <p:nvPr/>
        </p:nvSpPr>
        <p:spPr>
          <a:xfrm>
            <a:off x="2286001" y="832345"/>
            <a:ext cx="793778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NỘI DUNG</a:t>
            </a:r>
            <a:endParaRPr lang="vi-VN" sz="35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027B0F-90DE-48F9-94C6-2C2FECA2A908}"/>
              </a:ext>
            </a:extLst>
          </p:cNvPr>
          <p:cNvSpPr txBox="1"/>
          <p:nvPr/>
        </p:nvSpPr>
        <p:spPr>
          <a:xfrm>
            <a:off x="2395330" y="1619182"/>
            <a:ext cx="880607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vi-VN" sz="3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Chương </a:t>
            </a:r>
            <a:r>
              <a:rPr lang="en-US" sz="3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1. </a:t>
            </a:r>
            <a:r>
              <a:rPr lang="en-US" sz="3000" b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Lập</a:t>
            </a:r>
            <a:r>
              <a:rPr lang="en-US" sz="3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</a:t>
            </a:r>
            <a:r>
              <a:rPr lang="en-US" sz="3000" b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trình</a:t>
            </a:r>
            <a:r>
              <a:rPr lang="en-US" sz="3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</a:t>
            </a:r>
            <a:r>
              <a:rPr lang="en-US" sz="3000" b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cơ</a:t>
            </a:r>
            <a:r>
              <a:rPr lang="en-US" sz="3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</a:t>
            </a:r>
            <a:r>
              <a:rPr lang="en-US" sz="3000" b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bản</a:t>
            </a:r>
            <a:r>
              <a:rPr lang="en-US" sz="3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</a:t>
            </a:r>
            <a:r>
              <a:rPr lang="en-US" sz="3000" b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với</a:t>
            </a:r>
            <a:r>
              <a:rPr lang="en-US" sz="3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python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vi-VN" sz="3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Chương 2. Lập trình OOP với Python</a:t>
            </a:r>
            <a:endParaRPr lang="en-US" sz="30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vi-VN" sz="3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Chương 3. Một số lĩnh vực ứng dụng của Python</a:t>
            </a:r>
            <a:endParaRPr lang="en-US" sz="30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vi-VN" sz="3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Chương 4. Xây dựng ứng dụng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D76142-C743-4DDD-90B9-B7FB62FE3EC2}"/>
              </a:ext>
            </a:extLst>
          </p:cNvPr>
          <p:cNvCxnSpPr/>
          <p:nvPr/>
        </p:nvCxnSpPr>
        <p:spPr>
          <a:xfrm flipV="1">
            <a:off x="2206621" y="1486998"/>
            <a:ext cx="7937783" cy="838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411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HỌC PHẦN LẬP TRÌNH PYTHON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A475F0-D933-4B37-A9D6-DFD6D783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43" y="755084"/>
            <a:ext cx="1974036" cy="19740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DF5B30-AA8A-4C50-AD8E-9E9561A31B47}"/>
              </a:ext>
            </a:extLst>
          </p:cNvPr>
          <p:cNvSpPr txBox="1"/>
          <p:nvPr/>
        </p:nvSpPr>
        <p:spPr>
          <a:xfrm>
            <a:off x="1949592" y="755084"/>
            <a:ext cx="79377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TÀI LIỆU THAM KHẢO</a:t>
            </a:r>
            <a:endParaRPr lang="vi-VN" sz="30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F5AEDA87-CAE3-4564-8E75-E9CBAC75ABCC}"/>
              </a:ext>
            </a:extLst>
          </p:cNvPr>
          <p:cNvSpPr txBox="1"/>
          <p:nvPr/>
        </p:nvSpPr>
        <p:spPr>
          <a:xfrm>
            <a:off x="414130" y="1198712"/>
            <a:ext cx="10240618" cy="51007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FF5A33"/>
              </a:buClr>
              <a:buFont typeface="+mj-lt"/>
              <a:buAutoNum type="arabicPeriod"/>
              <a:tabLst>
                <a:tab pos="355600" algn="l"/>
              </a:tabLst>
            </a:pP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Python for Everybody (2016). Charles R. Severance, Exploring Data Using Python 3, USA</a:t>
            </a:r>
          </a:p>
          <a:p>
            <a:pPr marL="469900" indent="-457200">
              <a:lnSpc>
                <a:spcPct val="100000"/>
              </a:lnSpc>
              <a:buClr>
                <a:srgbClr val="FF5A33"/>
              </a:buClr>
              <a:buFont typeface="+mj-lt"/>
              <a:buAutoNum type="arabicPeriod"/>
              <a:tabLst>
                <a:tab pos="355600" algn="l"/>
              </a:tabLst>
            </a:pP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Tự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học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lập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trình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Python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căn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bản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(2019).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Vũ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Hải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Quân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,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Nhà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xuất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bản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ĐHQG TP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Hồ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Chí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Minh</a:t>
            </a:r>
          </a:p>
          <a:p>
            <a:pPr marL="469900" indent="-457200">
              <a:lnSpc>
                <a:spcPct val="100000"/>
              </a:lnSpc>
              <a:buClr>
                <a:srgbClr val="FF5A33"/>
              </a:buClr>
              <a:buFont typeface="+mj-lt"/>
              <a:buAutoNum type="arabicPeriod"/>
              <a:tabLst>
                <a:tab pos="355600" algn="l"/>
              </a:tabLst>
            </a:pP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Python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cơ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bản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(2020).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Bùi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Việt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Hà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,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Nhà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xuất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bản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ĐHQG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Hà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Nội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.</a:t>
            </a:r>
          </a:p>
          <a:p>
            <a:pPr marL="469900" indent="-457200">
              <a:lnSpc>
                <a:spcPct val="100000"/>
              </a:lnSpc>
              <a:buClr>
                <a:srgbClr val="FF5A33"/>
              </a:buClr>
              <a:buFont typeface="+mj-lt"/>
              <a:buAutoNum type="arabicPeriod"/>
              <a:tabLst>
                <a:tab pos="355600" algn="l"/>
              </a:tabLst>
            </a:pP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https://niithanoi.edu.vn/huong-dan-cai-dat-va-su-dung-pycharm-ide-trong-lap-trinh-python.html</a:t>
            </a:r>
          </a:p>
          <a:p>
            <a:pPr marL="469900" indent="-457200">
              <a:lnSpc>
                <a:spcPct val="100000"/>
              </a:lnSpc>
              <a:buClr>
                <a:srgbClr val="FF5A33"/>
              </a:buClr>
              <a:buFont typeface="+mj-lt"/>
              <a:buAutoNum type="arabicPeriod"/>
              <a:tabLst>
                <a:tab pos="355600" algn="l"/>
              </a:tabLst>
            </a:pP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https://ftlinuxcourse.com/cach-cai-dat-python-va-pycharm-ide-tren-windows</a:t>
            </a:r>
          </a:p>
          <a:p>
            <a:pPr marL="469900" indent="-457200">
              <a:lnSpc>
                <a:spcPct val="100000"/>
              </a:lnSpc>
              <a:buClr>
                <a:srgbClr val="FF5A33"/>
              </a:buClr>
              <a:buFont typeface="+mj-lt"/>
              <a:buAutoNum type="arabicPeriod"/>
              <a:tabLst>
                <a:tab pos="355600" algn="l"/>
              </a:tabLst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quantrimang.com</a:t>
            </a:r>
          </a:p>
          <a:p>
            <a:pPr marL="469900" indent="-457200">
              <a:lnSpc>
                <a:spcPct val="100000"/>
              </a:lnSpc>
              <a:buClr>
                <a:srgbClr val="FF5A33"/>
              </a:buClr>
              <a:buFont typeface="+mj-lt"/>
              <a:buAutoNum type="arabicPeriod"/>
              <a:tabLst>
                <a:tab pos="355600" algn="l"/>
              </a:tabLst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toidicode.com</a:t>
            </a:r>
          </a:p>
          <a:p>
            <a:pPr marL="469900" indent="-457200">
              <a:lnSpc>
                <a:spcPct val="100000"/>
              </a:lnSpc>
              <a:buClr>
                <a:srgbClr val="FF5A33"/>
              </a:buClr>
              <a:buFont typeface="+mj-lt"/>
              <a:buAutoNum type="arabicPeriod"/>
              <a:tabLst>
                <a:tab pos="355600" algn="l"/>
              </a:tabLst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phannhatchanh.com</a:t>
            </a:r>
          </a:p>
          <a:p>
            <a:pPr marL="469900" indent="-457200">
              <a:lnSpc>
                <a:spcPct val="100000"/>
              </a:lnSpc>
              <a:buClr>
                <a:srgbClr val="FF5A33"/>
              </a:buClr>
              <a:buFont typeface="+mj-lt"/>
              <a:buAutoNum type="arabicPeriod"/>
              <a:tabLst>
                <a:tab pos="355600" algn="l"/>
              </a:tabLst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…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097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HỌC PHẦN LẬP TRÌNH PYTHON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A475F0-D933-4B37-A9D6-DFD6D783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43" y="755084"/>
            <a:ext cx="1974036" cy="19740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DF5B30-AA8A-4C50-AD8E-9E9561A31B47}"/>
              </a:ext>
            </a:extLst>
          </p:cNvPr>
          <p:cNvSpPr txBox="1"/>
          <p:nvPr/>
        </p:nvSpPr>
        <p:spPr>
          <a:xfrm>
            <a:off x="3480083" y="967915"/>
            <a:ext cx="4876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CHƯƠNG </a:t>
            </a:r>
            <a:r>
              <a:rPr lang="en-US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vi-VN" sz="32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027B0F-90DE-48F9-94C6-2C2FECA2A908}"/>
              </a:ext>
            </a:extLst>
          </p:cNvPr>
          <p:cNvSpPr txBox="1"/>
          <p:nvPr/>
        </p:nvSpPr>
        <p:spPr>
          <a:xfrm>
            <a:off x="2771091" y="1975466"/>
            <a:ext cx="701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LẬP TRÌNH CƠ BẢN VỚI PYTHON</a:t>
            </a:r>
            <a:endParaRPr lang="vi-VN" sz="32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D76142-C743-4DDD-90B9-B7FB62FE3EC2}"/>
              </a:ext>
            </a:extLst>
          </p:cNvPr>
          <p:cNvCxnSpPr/>
          <p:nvPr/>
        </p:nvCxnSpPr>
        <p:spPr>
          <a:xfrm>
            <a:off x="3284882" y="1801635"/>
            <a:ext cx="58674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3027B0F-90DE-48F9-94C6-2C2FECA2A908}"/>
              </a:ext>
            </a:extLst>
          </p:cNvPr>
          <p:cNvSpPr txBox="1"/>
          <p:nvPr/>
        </p:nvSpPr>
        <p:spPr>
          <a:xfrm>
            <a:off x="904461" y="2706447"/>
            <a:ext cx="11072191" cy="1777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Bài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1: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z="2500" b="1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sz="2500" b="1" spc="-1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Bài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2</a:t>
            </a:r>
            <a:r>
              <a:rPr lang="vi-VN" sz="2500" b="1" dirty="0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.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Cấu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trúc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điều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khiển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Bài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</a:t>
            </a:r>
            <a:r>
              <a:rPr lang="vi-VN" sz="2500" b="1" dirty="0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3.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Collections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trong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Python &amp; String &amp;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Ngoại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lệ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1373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HỌC PHẦN LẬP TRÌNH PYTHON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A475F0-D933-4B37-A9D6-DFD6D783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43" y="755084"/>
            <a:ext cx="1974036" cy="197403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D76142-C743-4DDD-90B9-B7FB62FE3EC2}"/>
              </a:ext>
            </a:extLst>
          </p:cNvPr>
          <p:cNvCxnSpPr/>
          <p:nvPr/>
        </p:nvCxnSpPr>
        <p:spPr>
          <a:xfrm>
            <a:off x="3162300" y="2485714"/>
            <a:ext cx="58674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object 2"/>
          <p:cNvSpPr txBox="1"/>
          <p:nvPr/>
        </p:nvSpPr>
        <p:spPr>
          <a:xfrm>
            <a:off x="4843820" y="1721259"/>
            <a:ext cx="315676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0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Bài</a:t>
            </a:r>
            <a:r>
              <a:rPr sz="4000" b="1" spc="-8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r>
              <a:rPr lang="en-US" sz="40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endParaRPr sz="4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7" name="object 3"/>
          <p:cNvSpPr txBox="1"/>
          <p:nvPr/>
        </p:nvSpPr>
        <p:spPr>
          <a:xfrm>
            <a:off x="1578831" y="2622434"/>
            <a:ext cx="9215065" cy="1628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5"/>
              </a:spcBef>
            </a:pPr>
            <a:r>
              <a:rPr sz="3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 thiệu về Python - Biến và kiểu </a:t>
            </a:r>
            <a:r>
              <a:rPr sz="3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sz="3500" b="1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3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z="3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z="3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z="3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3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z="3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z="3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z="3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3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r>
              <a:rPr lang="en-US" sz="3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endParaRPr sz="3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5549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HỌC PHẦN LẬP TRÌNH PYTHON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A475F0-D933-4B37-A9D6-DFD6D783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43" y="755084"/>
            <a:ext cx="1974036" cy="1974036"/>
          </a:xfrm>
          <a:prstGeom prst="rect">
            <a:avLst/>
          </a:prstGeom>
        </p:spPr>
      </p:pic>
      <p:sp>
        <p:nvSpPr>
          <p:cNvPr id="11" name="object 5"/>
          <p:cNvSpPr txBox="1">
            <a:spLocks noGrp="1"/>
          </p:cNvSpPr>
          <p:nvPr>
            <p:ph type="title"/>
          </p:nvPr>
        </p:nvSpPr>
        <p:spPr>
          <a:xfrm>
            <a:off x="5545620" y="754208"/>
            <a:ext cx="19831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MỤC</a:t>
            </a:r>
            <a:r>
              <a:rPr sz="3200" b="1" spc="-14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TIÊU</a:t>
            </a:r>
          </a:p>
        </p:txBody>
      </p:sp>
      <p:sp>
        <p:nvSpPr>
          <p:cNvPr id="12" name="object 6"/>
          <p:cNvSpPr txBox="1"/>
          <p:nvPr/>
        </p:nvSpPr>
        <p:spPr>
          <a:xfrm>
            <a:off x="238540" y="1023925"/>
            <a:ext cx="11082130" cy="48269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6415" indent="-514350">
              <a:lnSpc>
                <a:spcPct val="150000"/>
              </a:lnSpc>
              <a:spcBef>
                <a:spcPts val="100"/>
              </a:spcBef>
              <a:buFont typeface="+mj-lt"/>
              <a:buAutoNum type="arabicPeriod"/>
              <a:tabLst>
                <a:tab pos="241935" algn="l"/>
              </a:tabLst>
            </a:pP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 </a:t>
            </a:r>
            <a:r>
              <a:rPr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sz="2600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</a:t>
            </a:r>
          </a:p>
          <a:p>
            <a:pPr marL="526415" indent="-514350">
              <a:lnSpc>
                <a:spcPct val="150000"/>
              </a:lnSpc>
              <a:buFont typeface="+mj-lt"/>
              <a:buAutoNum type="arabicPeriod"/>
              <a:tabLst>
                <a:tab pos="241935" algn="l"/>
              </a:tabLst>
            </a:pP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Cài đặt </a:t>
            </a:r>
            <a:r>
              <a:rPr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môi</a:t>
            </a:r>
            <a:r>
              <a:rPr sz="2600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trường</a:t>
            </a:r>
            <a:endParaRPr sz="26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26415" indent="-514350">
              <a:lnSpc>
                <a:spcPct val="150000"/>
              </a:lnSpc>
              <a:spcBef>
                <a:spcPts val="5"/>
              </a:spcBef>
              <a:buFont typeface="+mj-lt"/>
              <a:buAutoNum type="arabicPeriod"/>
              <a:tabLst>
                <a:tab pos="241935" algn="l"/>
              </a:tabLst>
            </a:pP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Cài đặt </a:t>
            </a:r>
            <a:r>
              <a:rPr sz="26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công</a:t>
            </a:r>
            <a:r>
              <a:rPr sz="2600" spc="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cụ</a:t>
            </a:r>
            <a:endParaRPr sz="26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26415" indent="-514350">
              <a:lnSpc>
                <a:spcPct val="150000"/>
              </a:lnSpc>
              <a:buFont typeface="+mj-lt"/>
              <a:buAutoNum type="arabicPeriod"/>
              <a:tabLst>
                <a:tab pos="241935" algn="l"/>
              </a:tabLst>
            </a:pP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Ví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 </a:t>
            </a:r>
            <a:r>
              <a:rPr sz="26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đầu</a:t>
            </a:r>
            <a:r>
              <a:rPr sz="2600" spc="-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tiên</a:t>
            </a:r>
            <a:endParaRPr sz="26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26415" indent="-514350">
              <a:lnSpc>
                <a:spcPct val="150000"/>
              </a:lnSpc>
              <a:spcBef>
                <a:spcPts val="5"/>
              </a:spcBef>
              <a:buFont typeface="+mj-lt"/>
              <a:buAutoNum type="arabicPeriod"/>
              <a:tabLst>
                <a:tab pos="241935" algn="l"/>
              </a:tabLst>
            </a:pP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Cách viết lệnh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 chú thích </a:t>
            </a:r>
            <a:r>
              <a:rPr sz="26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</a:t>
            </a:r>
            <a:r>
              <a:rPr sz="26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</a:t>
            </a:r>
            <a:endParaRPr sz="26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26415" indent="-514350">
              <a:lnSpc>
                <a:spcPct val="150000"/>
              </a:lnSpc>
              <a:buFont typeface="+mj-lt"/>
              <a:buAutoNum type="arabicPeriod"/>
              <a:tabLst>
                <a:tab pos="241935" algn="l"/>
              </a:tabLst>
            </a:pP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 kiểu </a:t>
            </a:r>
            <a:r>
              <a:rPr sz="26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6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endParaRPr lang="en-US" sz="2600" spc="-5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26415" indent="-514350">
              <a:lnSpc>
                <a:spcPct val="150000"/>
              </a:lnSpc>
              <a:spcBef>
                <a:spcPts val="100"/>
              </a:spcBef>
              <a:buFont typeface="+mj-lt"/>
              <a:buAutoNum type="arabicPeriod"/>
              <a:tabLst>
                <a:tab pos="241935" algn="l"/>
              </a:tabLst>
            </a:pP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tại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màn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hình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Console </a:t>
            </a: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</a:t>
            </a:r>
          </a:p>
          <a:p>
            <a:pPr marL="526415" indent="-514350">
              <a:lnSpc>
                <a:spcPct val="150000"/>
              </a:lnSpc>
              <a:buFont typeface="+mj-lt"/>
              <a:buAutoNum type="arabicPeriod"/>
              <a:tabLst>
                <a:tab pos="241935" algn="l"/>
              </a:tabLst>
            </a:pP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9761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GIỚI THIỆU VỀ PYTHON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926" y="693451"/>
            <a:ext cx="11950148" cy="2040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Python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là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một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ngôn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ngữ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lập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trình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phổ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biến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spc="-10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trong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giới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mã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nguồn</a:t>
            </a:r>
            <a:r>
              <a:rPr lang="en-US" sz="2500" spc="10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mở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</a:rPr>
              <a:t>tạo ra năm 1990. 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28600" indent="-2286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Python </a:t>
            </a:r>
            <a:r>
              <a:rPr lang="vi-VN" sz="2500" spc="-1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có 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thể </a:t>
            </a:r>
            <a:r>
              <a:rPr lang="vi-VN" sz="2500" spc="-1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cài </a:t>
            </a:r>
            <a:r>
              <a:rPr lang="vi-VN" sz="2500" spc="-1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và chạy </a:t>
            </a:r>
            <a:r>
              <a:rPr lang="vi-VN" sz="2500" spc="-1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trên </a:t>
            </a:r>
            <a:r>
              <a:rPr lang="vi-VN" sz="2500" spc="-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nhiều hệ 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điều hành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: </a:t>
            </a:r>
            <a:r>
              <a:rPr lang="vi-VN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Windows, </a:t>
            </a:r>
            <a:r>
              <a:rPr lang="vi-VN"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Mac </a:t>
            </a:r>
            <a:r>
              <a:rPr lang="vi-VN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OS X, or OS/2, Linux,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…</a:t>
            </a:r>
          </a:p>
          <a:p>
            <a:pPr marL="228600" indent="-228600" algn="just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</a:rPr>
              <a:t>Đến nay thì cộng đồng người sử dụng ngôn ngữ này rất đông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511" y="2773639"/>
            <a:ext cx="5923818" cy="3458195"/>
          </a:xfrm>
          <a:prstGeom prst="rect">
            <a:avLst/>
          </a:prstGeom>
        </p:spPr>
      </p:pic>
      <p:pic>
        <p:nvPicPr>
          <p:cNvPr id="15" name="Picture 2" descr="screenshot of the the top ten list from the app">
            <a:extLst>
              <a:ext uri="{FF2B5EF4-FFF2-40B4-BE49-F238E27FC236}">
                <a16:creationId xmlns:a16="http://schemas.microsoft.com/office/drawing/2014/main" id="{3D253634-DDA1-4479-B2FC-57C30F301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049" y="2771671"/>
            <a:ext cx="2953752" cy="342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tent Placeholder 2"/>
          <p:cNvSpPr txBox="1">
            <a:spLocks/>
          </p:cNvSpPr>
          <p:nvPr/>
        </p:nvSpPr>
        <p:spPr>
          <a:xfrm>
            <a:off x="120926" y="4045439"/>
            <a:ext cx="2690602" cy="50294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sz="21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1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năm</a:t>
            </a:r>
            <a:r>
              <a:rPr lang="en-US" sz="21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2016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9084366" y="2124420"/>
            <a:ext cx="2690602" cy="50294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Đầu</a:t>
            </a:r>
            <a:r>
              <a:rPr lang="en-US" sz="21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100" i="1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năm</a:t>
            </a:r>
            <a:r>
              <a:rPr lang="en-US" sz="21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2021</a:t>
            </a:r>
          </a:p>
        </p:txBody>
      </p:sp>
    </p:spTree>
    <p:extLst>
      <p:ext uri="{BB962C8B-B14F-4D97-AF65-F5344CB8AC3E}">
        <p14:creationId xmlns:p14="http://schemas.microsoft.com/office/powerpoint/2010/main" val="2758068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GIỚI THIỆU VỀ PYTHON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73304" y="709857"/>
            <a:ext cx="340189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00" b="1" dirty="0" err="1">
                <a:latin typeface="Cambria" panose="02040503050406030204" pitchFamily="18" charset="0"/>
              </a:rPr>
              <a:t>Đặc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điểm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của</a:t>
            </a:r>
            <a:r>
              <a:rPr lang="en-US" sz="2500" b="1" dirty="0">
                <a:latin typeface="Cambria" panose="02040503050406030204" pitchFamily="18" charset="0"/>
              </a:rPr>
              <a:t> Python?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2925" y="1157548"/>
            <a:ext cx="11014153" cy="5128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Cú pháp rất tường minh, dễ đọc</a:t>
            </a:r>
            <a:r>
              <a:rPr lang="vi-VN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 khả năng tự xét mạnh mẽ.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Hướng đối tượng trực giác.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Cách thể hiện tự nhiên mã thủ tục.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Hoàn toàn mô-đun hóa, hỗ trợ các gói theo cấp bậc.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Xử lý lỗi dựa theo ngoại lệ.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Kiểu dữ liệu động ở mức rất cao.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Thư</a:t>
            </a:r>
            <a:r>
              <a:rPr lang="en-US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viện</a:t>
            </a:r>
            <a:r>
              <a:rPr lang="en-US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phong</a:t>
            </a:r>
            <a:r>
              <a:rPr lang="en-US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phú</a:t>
            </a:r>
            <a:endParaRPr lang="vi-VN" sz="25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Phần mở rộng và mô-đun dễ dàng viết trong C, C++.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Có thể nhúng trong ứng dụng như một giao diện kịch bản (scripting interface).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500" dirty="0">
                <a:solidFill>
                  <a:srgbClr val="21252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Python mạnh mẽ và thực hiện rất nhanh.</a:t>
            </a:r>
          </a:p>
        </p:txBody>
      </p:sp>
    </p:spTree>
    <p:extLst>
      <p:ext uri="{BB962C8B-B14F-4D97-AF65-F5344CB8AC3E}">
        <p14:creationId xmlns:p14="http://schemas.microsoft.com/office/powerpoint/2010/main" val="2735485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GIỚI THIỆU VỀ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304" y="709857"/>
            <a:ext cx="288104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00" b="1" dirty="0" err="1">
                <a:latin typeface="Cambria" panose="02040503050406030204" pitchFamily="18" charset="0"/>
              </a:rPr>
              <a:t>Ứng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dụng</a:t>
            </a:r>
            <a:r>
              <a:rPr lang="en-US" sz="2500" b="1" dirty="0">
                <a:latin typeface="Cambria" panose="02040503050406030204" pitchFamily="18" charset="0"/>
              </a:rPr>
              <a:t> Python?</a:t>
            </a:r>
          </a:p>
        </p:txBody>
      </p:sp>
      <p:sp>
        <p:nvSpPr>
          <p:cNvPr id="12" name="object 2"/>
          <p:cNvSpPr txBox="1"/>
          <p:nvPr/>
        </p:nvSpPr>
        <p:spPr>
          <a:xfrm>
            <a:off x="0" y="1077591"/>
            <a:ext cx="12006470" cy="2621872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812165" lvl="1" indent="-457200">
              <a:lnSpc>
                <a:spcPct val="150000"/>
              </a:lnSpc>
              <a:spcBef>
                <a:spcPts val="555"/>
              </a:spcBef>
              <a:buClr>
                <a:srgbClr val="CC9900"/>
              </a:buClr>
              <a:buSzPct val="100000"/>
              <a:buFont typeface="+mj-lt"/>
              <a:buAutoNum type="arabicPeriod"/>
              <a:tabLst>
                <a:tab pos="698500" algn="l"/>
                <a:tab pos="699135" algn="l"/>
              </a:tabLst>
            </a:pP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Lập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trình</a:t>
            </a:r>
            <a:r>
              <a:rPr sz="2500" spc="-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web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812165" lvl="1" indent="-457200">
              <a:lnSpc>
                <a:spcPct val="150000"/>
              </a:lnSpc>
              <a:spcBef>
                <a:spcPts val="555"/>
              </a:spcBef>
              <a:buClr>
                <a:srgbClr val="CC9900"/>
              </a:buClr>
              <a:buSzPct val="100000"/>
              <a:buFont typeface="+mj-lt"/>
              <a:buAutoNum type="arabicPeriod"/>
              <a:tabLst>
                <a:tab pos="698500" algn="l"/>
                <a:tab pos="699135" algn="l"/>
              </a:tabLst>
            </a:pP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4965" lvl="1">
              <a:lnSpc>
                <a:spcPct val="150000"/>
              </a:lnSpc>
              <a:spcBef>
                <a:spcPts val="555"/>
              </a:spcBef>
              <a:buClr>
                <a:srgbClr val="CC9900"/>
              </a:buClr>
              <a:buSzPct val="100000"/>
              <a:tabLst>
                <a:tab pos="698500" algn="l"/>
                <a:tab pos="699135" algn="l"/>
              </a:tabLst>
            </a:pP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812165" lvl="1" indent="-457200">
              <a:lnSpc>
                <a:spcPct val="150000"/>
              </a:lnSpc>
              <a:spcBef>
                <a:spcPts val="555"/>
              </a:spcBef>
              <a:buClr>
                <a:srgbClr val="CC9900"/>
              </a:buClr>
              <a:buSzPct val="100000"/>
              <a:buFont typeface="+mj-lt"/>
              <a:buAutoNum type="arabicPeriod" startAt="2"/>
              <a:tabLst>
                <a:tab pos="698500" algn="l"/>
                <a:tab pos="6991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Phân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tích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dữ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liệu (Text, Image,Video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and</a:t>
            </a:r>
            <a:r>
              <a:rPr sz="2500" spc="3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Speech)</a:t>
            </a:r>
          </a:p>
        </p:txBody>
      </p:sp>
      <p:sp>
        <p:nvSpPr>
          <p:cNvPr id="13" name="object 4"/>
          <p:cNvSpPr/>
          <p:nvPr/>
        </p:nvSpPr>
        <p:spPr>
          <a:xfrm>
            <a:off x="3054349" y="1186911"/>
            <a:ext cx="5491716" cy="20833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4"/>
          <p:cNvSpPr/>
          <p:nvPr/>
        </p:nvSpPr>
        <p:spPr>
          <a:xfrm>
            <a:off x="3054349" y="3699463"/>
            <a:ext cx="4969566" cy="25046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2002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GIỚI THIỆU VỀ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304" y="709857"/>
            <a:ext cx="288104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00" b="1" dirty="0" err="1">
                <a:latin typeface="Cambria" panose="02040503050406030204" pitchFamily="18" charset="0"/>
              </a:rPr>
              <a:t>Ứng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dụng</a:t>
            </a:r>
            <a:r>
              <a:rPr lang="en-US" sz="2500" b="1" dirty="0">
                <a:latin typeface="Cambria" panose="02040503050406030204" pitchFamily="18" charset="0"/>
              </a:rPr>
              <a:t> Python?</a:t>
            </a:r>
          </a:p>
        </p:txBody>
      </p:sp>
      <p:sp>
        <p:nvSpPr>
          <p:cNvPr id="12" name="object 2"/>
          <p:cNvSpPr txBox="1"/>
          <p:nvPr/>
        </p:nvSpPr>
        <p:spPr>
          <a:xfrm>
            <a:off x="0" y="1077591"/>
            <a:ext cx="12006470" cy="4550092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812165" lvl="1" indent="-457200">
              <a:lnSpc>
                <a:spcPct val="150000"/>
              </a:lnSpc>
              <a:spcBef>
                <a:spcPts val="555"/>
              </a:spcBef>
              <a:buClr>
                <a:srgbClr val="CC9900"/>
              </a:buClr>
              <a:buSzPct val="100000"/>
              <a:buFont typeface="+mj-lt"/>
              <a:buAutoNum type="arabicPeriod" startAt="3"/>
              <a:tabLst>
                <a:tab pos="698500" algn="l"/>
                <a:tab pos="699135" algn="l"/>
              </a:tabLst>
            </a:pP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Học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máy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(ML)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và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Trí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tuệ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nhân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tạo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(AI)</a:t>
            </a:r>
          </a:p>
          <a:p>
            <a:pPr marL="812165" lvl="1" indent="-457200">
              <a:lnSpc>
                <a:spcPct val="150000"/>
              </a:lnSpc>
              <a:spcBef>
                <a:spcPts val="555"/>
              </a:spcBef>
              <a:buClr>
                <a:srgbClr val="CC9900"/>
              </a:buClr>
              <a:buSzPct val="100000"/>
              <a:buFont typeface="+mj-lt"/>
              <a:buAutoNum type="arabicPeriod" startAt="3"/>
              <a:tabLst>
                <a:tab pos="698500" algn="l"/>
                <a:tab pos="699135" algn="l"/>
              </a:tabLst>
            </a:pP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4965" lvl="1">
              <a:lnSpc>
                <a:spcPct val="150000"/>
              </a:lnSpc>
              <a:spcBef>
                <a:spcPts val="555"/>
              </a:spcBef>
              <a:buClr>
                <a:srgbClr val="CC9900"/>
              </a:buClr>
              <a:buSzPct val="100000"/>
              <a:tabLst>
                <a:tab pos="698500" algn="l"/>
                <a:tab pos="699135" algn="l"/>
              </a:tabLst>
            </a:pP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4965" lvl="1">
              <a:lnSpc>
                <a:spcPct val="150000"/>
              </a:lnSpc>
              <a:spcBef>
                <a:spcPts val="555"/>
              </a:spcBef>
              <a:buClr>
                <a:srgbClr val="CC9900"/>
              </a:buClr>
              <a:buSzPct val="100000"/>
              <a:tabLst>
                <a:tab pos="698500" algn="l"/>
                <a:tab pos="699135" algn="l"/>
              </a:tabLst>
            </a:pP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812165" lvl="1" indent="-457200">
              <a:lnSpc>
                <a:spcPct val="150000"/>
              </a:lnSpc>
              <a:spcBef>
                <a:spcPts val="555"/>
              </a:spcBef>
              <a:buClr>
                <a:srgbClr val="CC9900"/>
              </a:buClr>
              <a:buSzPct val="100000"/>
              <a:buFont typeface="+mj-lt"/>
              <a:buAutoNum type="arabicPeriod" startAt="4"/>
              <a:tabLst>
                <a:tab pos="698500" algn="l"/>
                <a:tab pos="699135" algn="l"/>
              </a:tabLst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Python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trong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lĩnh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vực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IoT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– Internet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Vạn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vật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(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IoT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– Internet of Things)</a:t>
            </a:r>
          </a:p>
          <a:p>
            <a:pPr marL="812800" marR="508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vi-VN" sz="2300" spc="-1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IoT </a:t>
            </a:r>
            <a:r>
              <a:rPr lang="vi-VN" sz="2300" spc="2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</a:t>
            </a:r>
            <a:r>
              <a:rPr lang="vi-VN" sz="2300" spc="15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</a:t>
            </a:r>
            <a:r>
              <a:rPr lang="vi-VN" sz="2300" spc="1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</a:t>
            </a:r>
            <a:r>
              <a:rPr lang="vi-VN" sz="2300" spc="6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những </a:t>
            </a:r>
            <a:r>
              <a:rPr lang="vi-VN" sz="2300" spc="11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thuật </a:t>
            </a:r>
            <a:r>
              <a:rPr lang="vi-VN" sz="2300" spc="2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ngữ </a:t>
            </a:r>
            <a:r>
              <a:rPr lang="vi-VN" sz="2300" spc="9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thông </a:t>
            </a:r>
            <a:r>
              <a:rPr lang="vi-VN" sz="2300" spc="8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 </a:t>
            </a:r>
            <a:r>
              <a:rPr lang="vi-VN" sz="2300" spc="4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thường </a:t>
            </a:r>
            <a:r>
              <a:rPr lang="vi-VN" sz="2300" spc="-1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được </a:t>
            </a:r>
            <a:r>
              <a:rPr lang="vi-VN" sz="2300" spc="58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8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dùng </a:t>
            </a:r>
            <a:r>
              <a:rPr lang="vi-VN" sz="2300" spc="-11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ở </a:t>
            </a:r>
            <a:r>
              <a:rPr lang="vi-VN" sz="2300" spc="7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khắp </a:t>
            </a:r>
            <a:r>
              <a:rPr lang="vi-VN" sz="2300" spc="1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nơi. </a:t>
            </a:r>
            <a:r>
              <a:rPr lang="vi-VN" sz="2300" spc="4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Bất </a:t>
            </a:r>
            <a:r>
              <a:rPr lang="vi-VN" sz="2300" spc="2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kể </a:t>
            </a:r>
            <a:r>
              <a:rPr lang="vi-VN" sz="2300" spc="4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đâu, </a:t>
            </a:r>
            <a:r>
              <a:rPr lang="vi-VN" sz="2300" spc="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người </a:t>
            </a:r>
            <a:r>
              <a:rPr lang="vi-VN" sz="2300" spc="8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ta </a:t>
            </a:r>
            <a:r>
              <a:rPr lang="vi-VN" sz="2300" spc="3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cũng </a:t>
            </a:r>
            <a:r>
              <a:rPr lang="vi-VN" sz="2300" spc="6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đề </a:t>
            </a:r>
            <a:r>
              <a:rPr lang="vi-VN" sz="2300" spc="2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cập </a:t>
            </a:r>
            <a:r>
              <a:rPr lang="vi-VN" sz="2300" spc="3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tới  </a:t>
            </a:r>
            <a:r>
              <a:rPr lang="vi-VN" sz="2300" spc="9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Internet </a:t>
            </a:r>
            <a:r>
              <a:rPr lang="vi-VN" sz="2300" spc="-2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Vạn </a:t>
            </a:r>
            <a:r>
              <a:rPr lang="vi-VN" sz="2300" spc="-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Vật và </a:t>
            </a:r>
            <a:r>
              <a:rPr lang="vi-VN" sz="23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Công </a:t>
            </a:r>
            <a:r>
              <a:rPr lang="vi-VN" sz="2300" spc="5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nghệ</a:t>
            </a:r>
            <a:r>
              <a:rPr lang="vi-VN" sz="2300" spc="-254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1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4.0</a:t>
            </a:r>
            <a:endParaRPr lang="vi-VN" sz="23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8128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vi-VN" sz="2300" spc="-6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</a:t>
            </a:r>
            <a:r>
              <a:rPr lang="vi-VN" sz="2300" spc="-3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9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thể</a:t>
            </a:r>
            <a:r>
              <a:rPr lang="vi-VN" sz="2300" spc="-3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1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xây</a:t>
            </a:r>
            <a:r>
              <a:rPr lang="vi-VN" sz="2300" spc="-2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5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dựng</a:t>
            </a:r>
            <a:r>
              <a:rPr lang="vi-VN" sz="2300" spc="-4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-4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</a:t>
            </a:r>
            <a:r>
              <a:rPr lang="vi-VN" sz="2300" spc="-2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8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thư</a:t>
            </a:r>
            <a:r>
              <a:rPr lang="vi-VN" sz="2300" spc="-3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4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viện</a:t>
            </a:r>
            <a:r>
              <a:rPr lang="vi-VN" sz="2300" spc="-2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5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</a:t>
            </a:r>
            <a:r>
              <a:rPr lang="vi-VN" sz="2300" spc="-2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6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liên</a:t>
            </a:r>
            <a:r>
              <a:rPr lang="vi-VN" sz="2300" spc="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9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quan</a:t>
            </a:r>
            <a:r>
              <a:rPr lang="vi-VN" sz="2300" spc="-3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spc="35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tới</a:t>
            </a:r>
            <a:r>
              <a:rPr lang="vi-VN" sz="2300" spc="-3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300" b="1" spc="1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IoT</a:t>
            </a:r>
          </a:p>
        </p:txBody>
      </p:sp>
      <p:sp>
        <p:nvSpPr>
          <p:cNvPr id="11" name="object 4"/>
          <p:cNvSpPr/>
          <p:nvPr/>
        </p:nvSpPr>
        <p:spPr>
          <a:xfrm>
            <a:off x="6175513" y="1077591"/>
            <a:ext cx="5479774" cy="2584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0422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GIỚI THIỆU VỀ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304" y="709857"/>
            <a:ext cx="289156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00" b="1" dirty="0" err="1">
                <a:latin typeface="Cambria" panose="02040503050406030204" pitchFamily="18" charset="0"/>
              </a:rPr>
              <a:t>Công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cụ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soạn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thảo</a:t>
            </a:r>
            <a:endParaRPr lang="en-US" sz="2500" b="1" dirty="0">
              <a:latin typeface="Cambria" panose="020405030504060302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087ADD4-2638-40AA-9DD4-D07A21EF7D75}"/>
              </a:ext>
            </a:extLst>
          </p:cNvPr>
          <p:cNvSpPr txBox="1">
            <a:spLocks/>
          </p:cNvSpPr>
          <p:nvPr/>
        </p:nvSpPr>
        <p:spPr>
          <a:xfrm>
            <a:off x="301930" y="1269465"/>
            <a:ext cx="3606512" cy="47618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Notepad ++</a:t>
            </a: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IDLE</a:t>
            </a: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Sublime</a:t>
            </a:r>
            <a:r>
              <a:rPr lang="en-US" sz="2500" spc="-8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spc="-6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Text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PyCharm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Intellij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IDEA</a:t>
            </a: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Jupyter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Notebook</a:t>
            </a: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Visual Studio</a:t>
            </a:r>
            <a:r>
              <a:rPr lang="en-US" sz="2500" spc="-90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Code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….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Carlito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sz="25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sz="25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6245869" y="1097365"/>
            <a:ext cx="1333500" cy="133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4"/>
          <p:cNvSpPr txBox="1"/>
          <p:nvPr/>
        </p:nvSpPr>
        <p:spPr>
          <a:xfrm>
            <a:off x="6104646" y="2587837"/>
            <a:ext cx="185337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Sublime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65" dirty="0">
                <a:latin typeface="Carlito"/>
                <a:cs typeface="Carlito"/>
              </a:rPr>
              <a:t>Text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6" name="object 5"/>
          <p:cNvSpPr/>
          <p:nvPr/>
        </p:nvSpPr>
        <p:spPr>
          <a:xfrm>
            <a:off x="4168919" y="888360"/>
            <a:ext cx="1586781" cy="16262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6"/>
          <p:cNvSpPr txBox="1"/>
          <p:nvPr/>
        </p:nvSpPr>
        <p:spPr>
          <a:xfrm>
            <a:off x="3937207" y="2704336"/>
            <a:ext cx="202888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Notepad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5" dirty="0">
                <a:latin typeface="Carlito"/>
                <a:cs typeface="Carlito"/>
              </a:rPr>
              <a:t>++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8" name="object 7"/>
          <p:cNvSpPr txBox="1"/>
          <p:nvPr/>
        </p:nvSpPr>
        <p:spPr>
          <a:xfrm>
            <a:off x="8381655" y="2581390"/>
            <a:ext cx="187949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Python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IDLE</a:t>
            </a:r>
          </a:p>
        </p:txBody>
      </p:sp>
      <p:sp>
        <p:nvSpPr>
          <p:cNvPr id="19" name="object 8"/>
          <p:cNvSpPr/>
          <p:nvPr/>
        </p:nvSpPr>
        <p:spPr>
          <a:xfrm>
            <a:off x="8287003" y="988680"/>
            <a:ext cx="1429511" cy="14279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1"/>
          <p:cNvSpPr/>
          <p:nvPr/>
        </p:nvSpPr>
        <p:spPr>
          <a:xfrm>
            <a:off x="4616075" y="3263736"/>
            <a:ext cx="1285380" cy="12795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2"/>
          <p:cNvSpPr txBox="1"/>
          <p:nvPr/>
        </p:nvSpPr>
        <p:spPr>
          <a:xfrm>
            <a:off x="4186899" y="4650381"/>
            <a:ext cx="269612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Visual Studio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Code</a:t>
            </a:r>
            <a:endParaRPr sz="2400" dirty="0">
              <a:latin typeface="Carlito"/>
              <a:cs typeface="Carlito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1331" y="3059539"/>
            <a:ext cx="1778091" cy="1759040"/>
          </a:xfrm>
          <a:prstGeom prst="rect">
            <a:avLst/>
          </a:prstGeom>
        </p:spPr>
      </p:pic>
      <p:sp>
        <p:nvSpPr>
          <p:cNvPr id="24" name="object 12"/>
          <p:cNvSpPr txBox="1"/>
          <p:nvPr/>
        </p:nvSpPr>
        <p:spPr>
          <a:xfrm>
            <a:off x="6949370" y="4921519"/>
            <a:ext cx="185007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Intellij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IDEA</a:t>
            </a:r>
          </a:p>
        </p:txBody>
      </p:sp>
      <p:sp>
        <p:nvSpPr>
          <p:cNvPr id="25" name="object 9"/>
          <p:cNvSpPr/>
          <p:nvPr/>
        </p:nvSpPr>
        <p:spPr>
          <a:xfrm>
            <a:off x="10424148" y="988985"/>
            <a:ext cx="1296245" cy="12887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0"/>
          <p:cNvSpPr txBox="1"/>
          <p:nvPr/>
        </p:nvSpPr>
        <p:spPr>
          <a:xfrm>
            <a:off x="10586345" y="2507840"/>
            <a:ext cx="139909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P</a:t>
            </a:r>
            <a:r>
              <a:rPr sz="2400" spc="-25" dirty="0">
                <a:latin typeface="Carlito"/>
                <a:cs typeface="Carlito"/>
              </a:rPr>
              <a:t>y</a:t>
            </a:r>
            <a:r>
              <a:rPr sz="2400" dirty="0">
                <a:latin typeface="Carlito"/>
                <a:cs typeface="Carlito"/>
              </a:rPr>
              <a:t>ch</a:t>
            </a:r>
            <a:r>
              <a:rPr sz="2400" spc="5" dirty="0">
                <a:latin typeface="Carlito"/>
                <a:cs typeface="Carlito"/>
              </a:rPr>
              <a:t>a</a:t>
            </a:r>
            <a:r>
              <a:rPr sz="2400" dirty="0">
                <a:latin typeface="Carlito"/>
                <a:cs typeface="Carlito"/>
              </a:rPr>
              <a:t>rm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4680" y="3247224"/>
            <a:ext cx="1530429" cy="1739989"/>
          </a:xfrm>
          <a:prstGeom prst="rect">
            <a:avLst/>
          </a:prstGeom>
        </p:spPr>
      </p:pic>
      <p:sp>
        <p:nvSpPr>
          <p:cNvPr id="27" name="object 12"/>
          <p:cNvSpPr txBox="1"/>
          <p:nvPr/>
        </p:nvSpPr>
        <p:spPr>
          <a:xfrm>
            <a:off x="9462139" y="5093816"/>
            <a:ext cx="307391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Jupyter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2181823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174156" y="831785"/>
            <a:ext cx="11843687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800" dirty="0" err="1">
                <a:solidFill>
                  <a:prstClr val="black"/>
                </a:solidFill>
                <a:latin typeface="Cambria" panose="02040503050406030204" pitchFamily="18" charset="0"/>
              </a:rPr>
              <a:t>Tải</a:t>
            </a:r>
            <a:r>
              <a:rPr lang="en-US" sz="2800" dirty="0">
                <a:solidFill>
                  <a:prstClr val="black"/>
                </a:solidFill>
                <a:latin typeface="Cambria" panose="02040503050406030204" pitchFamily="18" charset="0"/>
              </a:rPr>
              <a:t> Python: </a:t>
            </a:r>
            <a:r>
              <a:rPr lang="en-US" sz="2800" dirty="0">
                <a:solidFill>
                  <a:prstClr val="black"/>
                </a:solidFill>
                <a:latin typeface="Cambria" panose="02040503050406030204" pitchFamily="18" charset="0"/>
                <a:hlinkClick r:id="rId2"/>
              </a:rPr>
              <a:t>https://www.python.org/downloads/</a:t>
            </a:r>
            <a:endParaRPr lang="en-US" sz="2800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800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0" marR="0" lv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i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0F21F00-CD5B-4440-9747-742212D7A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4" y="1392089"/>
            <a:ext cx="10785170" cy="47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9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ECB8CC-32D3-479E-8E87-85F21DDAAA40}"/>
              </a:ext>
            </a:extLst>
          </p:cNvPr>
          <p:cNvSpPr txBox="1">
            <a:spLocks/>
          </p:cNvSpPr>
          <p:nvPr/>
        </p:nvSpPr>
        <p:spPr>
          <a:xfrm>
            <a:off x="287538" y="762958"/>
            <a:ext cx="8316436" cy="38421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Tải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xong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ta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có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khoảng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27MB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cho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phiên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bản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3.9.1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05E47B-43CC-4C80-9A19-B01660886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45" y="1285617"/>
            <a:ext cx="8518245" cy="19955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DC7779-A597-49B5-91CE-8BFE1172F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146" y="1382103"/>
            <a:ext cx="7296281" cy="4735647"/>
          </a:xfrm>
          <a:prstGeom prst="rect">
            <a:avLst/>
          </a:prstGeom>
        </p:spPr>
      </p:pic>
      <p:sp>
        <p:nvSpPr>
          <p:cNvPr id="13" name="Speech Bubble: Rectangle 9">
            <a:extLst>
              <a:ext uri="{FF2B5EF4-FFF2-40B4-BE49-F238E27FC236}">
                <a16:creationId xmlns:a16="http://schemas.microsoft.com/office/drawing/2014/main" id="{730BA9CE-B738-400F-A0E9-0C7F84FA6D61}"/>
              </a:ext>
            </a:extLst>
          </p:cNvPr>
          <p:cNvSpPr/>
          <p:nvPr/>
        </p:nvSpPr>
        <p:spPr>
          <a:xfrm>
            <a:off x="9523660" y="2955552"/>
            <a:ext cx="2156793" cy="879070"/>
          </a:xfrm>
          <a:prstGeom prst="wedgeRectCallout">
            <a:avLst>
              <a:gd name="adj1" fmla="val -106334"/>
              <a:gd name="adj2" fmla="val 11434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Bấm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đây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peech Bubble: Rectangle 16">
            <a:extLst>
              <a:ext uri="{FF2B5EF4-FFF2-40B4-BE49-F238E27FC236}">
                <a16:creationId xmlns:a16="http://schemas.microsoft.com/office/drawing/2014/main" id="{B1F8AC90-E940-416C-8B98-BA5CCF94A509}"/>
              </a:ext>
            </a:extLst>
          </p:cNvPr>
          <p:cNvSpPr/>
          <p:nvPr/>
        </p:nvSpPr>
        <p:spPr>
          <a:xfrm>
            <a:off x="10202516" y="4288043"/>
            <a:ext cx="1477937" cy="879070"/>
          </a:xfrm>
          <a:prstGeom prst="wedgeRectCallout">
            <a:avLst>
              <a:gd name="adj1" fmla="val -117575"/>
              <a:gd name="adj2" fmla="val 8982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Chọn hết</a:t>
            </a:r>
          </a:p>
        </p:txBody>
      </p:sp>
      <p:sp>
        <p:nvSpPr>
          <p:cNvPr id="2" name="Rectangle 1"/>
          <p:cNvSpPr/>
          <p:nvPr/>
        </p:nvSpPr>
        <p:spPr>
          <a:xfrm>
            <a:off x="1307693" y="3834622"/>
            <a:ext cx="3236784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Double click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để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cài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đặt</a:t>
            </a:r>
            <a:endParaRPr lang="en-US" sz="2500" dirty="0"/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2632912" y="2355574"/>
            <a:ext cx="338888" cy="15552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Arrow 5"/>
          <p:cNvSpPr/>
          <p:nvPr/>
        </p:nvSpPr>
        <p:spPr>
          <a:xfrm>
            <a:off x="4047361" y="2955552"/>
            <a:ext cx="626165" cy="616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38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6437BF-7006-40C2-B166-6D8EA5DD5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0" y="1321876"/>
            <a:ext cx="5688495" cy="3501927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0129993-7AA1-4E67-BF11-D4A282EB5F75}"/>
              </a:ext>
            </a:extLst>
          </p:cNvPr>
          <p:cNvSpPr txBox="1">
            <a:spLocks/>
          </p:cNvSpPr>
          <p:nvPr/>
        </p:nvSpPr>
        <p:spPr>
          <a:xfrm>
            <a:off x="79513" y="691585"/>
            <a:ext cx="8728153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Font typeface="Arial" pitchFamily="34" charset="0"/>
              <a:buNone/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Tiếp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tục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bấm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Next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97E72573-F75E-46C9-8C1D-1F571B610811}"/>
              </a:ext>
            </a:extLst>
          </p:cNvPr>
          <p:cNvSpPr/>
          <p:nvPr/>
        </p:nvSpPr>
        <p:spPr>
          <a:xfrm>
            <a:off x="4615965" y="3620094"/>
            <a:ext cx="1120510" cy="506048"/>
          </a:xfrm>
          <a:prstGeom prst="wedgeRectCallout">
            <a:avLst>
              <a:gd name="adj1" fmla="val -52073"/>
              <a:gd name="adj2" fmla="val 119205"/>
            </a:avLst>
          </a:prstGeom>
          <a:solidFill>
            <a:sysClr val="window" lastClr="FFFFFF"/>
          </a:solidFill>
          <a:ln w="25400" cap="flat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Bấm next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0129993-7AA1-4E67-BF11-D4A282EB5F75}"/>
              </a:ext>
            </a:extLst>
          </p:cNvPr>
          <p:cNvSpPr txBox="1">
            <a:spLocks/>
          </p:cNvSpPr>
          <p:nvPr/>
        </p:nvSpPr>
        <p:spPr>
          <a:xfrm>
            <a:off x="5927035" y="698381"/>
            <a:ext cx="615586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Tích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bấm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Install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7541828-BF70-485A-B7C2-E7F2B37D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360" y="1324353"/>
            <a:ext cx="5953535" cy="3665090"/>
          </a:xfrm>
          <a:prstGeom prst="rect">
            <a:avLst/>
          </a:prstGeom>
        </p:spPr>
      </p:pic>
      <p:sp>
        <p:nvSpPr>
          <p:cNvPr id="19" name="Speech Bubble: Rectangle 13">
            <a:extLst>
              <a:ext uri="{FF2B5EF4-FFF2-40B4-BE49-F238E27FC236}">
                <a16:creationId xmlns:a16="http://schemas.microsoft.com/office/drawing/2014/main" id="{86B21822-8BF2-43A3-9C75-FA58E3B72C6E}"/>
              </a:ext>
            </a:extLst>
          </p:cNvPr>
          <p:cNvSpPr/>
          <p:nvPr/>
        </p:nvSpPr>
        <p:spPr>
          <a:xfrm>
            <a:off x="10014509" y="2771360"/>
            <a:ext cx="1899196" cy="762000"/>
          </a:xfrm>
          <a:prstGeom prst="wedgeRectCallout">
            <a:avLst>
              <a:gd name="adj1" fmla="val -79997"/>
              <a:gd name="adj2" fmla="val 13452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Ổ C:\Python39</a:t>
            </a:r>
          </a:p>
        </p:txBody>
      </p:sp>
      <p:sp>
        <p:nvSpPr>
          <p:cNvPr id="20" name="Speech Bubble: Rectangle 15">
            <a:extLst>
              <a:ext uri="{FF2B5EF4-FFF2-40B4-BE49-F238E27FC236}">
                <a16:creationId xmlns:a16="http://schemas.microsoft.com/office/drawing/2014/main" id="{97E72573-F75E-46C9-8C1D-1F571B610811}"/>
              </a:ext>
            </a:extLst>
          </p:cNvPr>
          <p:cNvSpPr/>
          <p:nvPr/>
        </p:nvSpPr>
        <p:spPr>
          <a:xfrm>
            <a:off x="10582757" y="5362391"/>
            <a:ext cx="1120510" cy="506048"/>
          </a:xfrm>
          <a:prstGeom prst="wedgeRectCallout">
            <a:avLst>
              <a:gd name="adj1" fmla="val -48525"/>
              <a:gd name="adj2" fmla="val -161657"/>
            </a:avLst>
          </a:prstGeom>
          <a:solidFill>
            <a:sysClr val="window" lastClr="FFFFFF"/>
          </a:solidFill>
          <a:ln w="25400" cap="flat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b="1" dirty="0">
                <a:solidFill>
                  <a:prstClr val="black"/>
                </a:solidFill>
                <a:latin typeface="Cambria" panose="02040503050406030204" pitchFamily="18" charset="0"/>
              </a:rPr>
              <a:t>Install</a:t>
            </a:r>
          </a:p>
        </p:txBody>
      </p:sp>
    </p:spTree>
    <p:extLst>
      <p:ext uri="{BB962C8B-B14F-4D97-AF65-F5344CB8AC3E}">
        <p14:creationId xmlns:p14="http://schemas.microsoft.com/office/powerpoint/2010/main" val="2781947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0129993-7AA1-4E67-BF11-D4A282EB5F75}"/>
              </a:ext>
            </a:extLst>
          </p:cNvPr>
          <p:cNvSpPr txBox="1">
            <a:spLocks/>
          </p:cNvSpPr>
          <p:nvPr/>
        </p:nvSpPr>
        <p:spPr>
          <a:xfrm>
            <a:off x="259087" y="886794"/>
            <a:ext cx="5165668" cy="38701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Chờ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quá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trình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cài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đặt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hoàn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tất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F8E300-C25F-447E-8FC9-1286CADA6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7" y="1449988"/>
            <a:ext cx="5631989" cy="3467141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0129993-7AA1-4E67-BF11-D4A282EB5F75}"/>
              </a:ext>
            </a:extLst>
          </p:cNvPr>
          <p:cNvSpPr txBox="1">
            <a:spLocks/>
          </p:cNvSpPr>
          <p:nvPr/>
        </p:nvSpPr>
        <p:spPr>
          <a:xfrm>
            <a:off x="6663375" y="886794"/>
            <a:ext cx="535739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Đã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cài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đặt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thành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công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 close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FA81DAB-D60B-4D15-B002-9936CDB5B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547" y="1449988"/>
            <a:ext cx="5904217" cy="363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88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4FEF44-2773-4C5D-818F-AF1F4AE708FB}"/>
              </a:ext>
            </a:extLst>
          </p:cNvPr>
          <p:cNvSpPr txBox="1">
            <a:spLocks/>
          </p:cNvSpPr>
          <p:nvPr/>
        </p:nvSpPr>
        <p:spPr>
          <a:xfrm>
            <a:off x="309524" y="891420"/>
            <a:ext cx="11577676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Khi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cài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đặt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Python, ta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có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sẵn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công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cụ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IDLE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để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lập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trình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54377C-DFAA-4531-972D-C8E01473E2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375" b="3333"/>
          <a:stretch/>
        </p:blipFill>
        <p:spPr>
          <a:xfrm>
            <a:off x="1909464" y="1366151"/>
            <a:ext cx="6148660" cy="375636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73572" y="5408088"/>
            <a:ext cx="7211654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00" b="1" dirty="0" err="1">
                <a:latin typeface="Cambria" panose="02040503050406030204" pitchFamily="18" charset="0"/>
              </a:rPr>
              <a:t>Công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cụ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lập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trình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chính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thống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khi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cài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đặt</a:t>
            </a:r>
            <a:r>
              <a:rPr lang="en-US" sz="2500" b="1" dirty="0">
                <a:latin typeface="Cambria" panose="02040503050406030204" pitchFamily="18" charset="0"/>
              </a:rPr>
              <a:t> Python</a:t>
            </a:r>
          </a:p>
        </p:txBody>
      </p:sp>
    </p:spTree>
    <p:extLst>
      <p:ext uri="{BB962C8B-B14F-4D97-AF65-F5344CB8AC3E}">
        <p14:creationId xmlns:p14="http://schemas.microsoft.com/office/powerpoint/2010/main" val="911538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 DỤNG IDLE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94FEF44-2773-4C5D-818F-AF1F4AE708FB}"/>
              </a:ext>
            </a:extLst>
          </p:cNvPr>
          <p:cNvSpPr txBox="1">
            <a:spLocks/>
          </p:cNvSpPr>
          <p:nvPr/>
        </p:nvSpPr>
        <p:spPr>
          <a:xfrm>
            <a:off x="0" y="691585"/>
            <a:ext cx="8334088" cy="47910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Ta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có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thể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gõ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lệnh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trực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tiếp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vào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cửa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sổ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Shell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5" y="1155813"/>
            <a:ext cx="5575460" cy="346159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94FEF44-2773-4C5D-818F-AF1F4AE708FB}"/>
              </a:ext>
            </a:extLst>
          </p:cNvPr>
          <p:cNvSpPr txBox="1">
            <a:spLocks/>
          </p:cNvSpPr>
          <p:nvPr/>
        </p:nvSpPr>
        <p:spPr>
          <a:xfrm>
            <a:off x="111380" y="2285360"/>
            <a:ext cx="6132051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Tạo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File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để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soạn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thảo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: 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File/New File</a:t>
            </a: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CDFF0D-7F3B-4FF6-9131-0EAF0E8A9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0" y="3011556"/>
            <a:ext cx="5747633" cy="3254087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94FEF44-2773-4C5D-818F-AF1F4AE708FB}"/>
              </a:ext>
            </a:extLst>
          </p:cNvPr>
          <p:cNvSpPr txBox="1">
            <a:spLocks/>
          </p:cNvSpPr>
          <p:nvPr/>
        </p:nvSpPr>
        <p:spPr>
          <a:xfrm>
            <a:off x="5973810" y="782480"/>
            <a:ext cx="6108641" cy="90510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M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àn hình soạn thảo hiện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thị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7CD344-BC73-46AE-87D0-2F73ADC6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7841" y="1228940"/>
            <a:ext cx="5840578" cy="3227869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94FEF44-2773-4C5D-818F-AF1F4AE708FB}"/>
              </a:ext>
            </a:extLst>
          </p:cNvPr>
          <p:cNvSpPr txBox="1">
            <a:spLocks/>
          </p:cNvSpPr>
          <p:nvPr/>
        </p:nvSpPr>
        <p:spPr>
          <a:xfrm>
            <a:off x="6096000" y="2712105"/>
            <a:ext cx="5751126" cy="53563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M</a:t>
            </a:r>
            <a:r>
              <a:rPr lang="vi-VN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enu Run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/</a:t>
            </a:r>
            <a:r>
              <a:rPr lang="vi-VN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Run Module 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(hoặc nhấn phím F5)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6096000" y="3460874"/>
            <a:ext cx="5840578" cy="2761281"/>
            <a:chOff x="594691" y="2183390"/>
            <a:chExt cx="7696200" cy="425340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37CD344-BC73-46AE-87D0-2F73ADC6E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691" y="2183390"/>
              <a:ext cx="7696200" cy="4253402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4691" y="2590800"/>
              <a:ext cx="7696200" cy="2133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31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 DỤNG IDLE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94FEF44-2773-4C5D-818F-AF1F4AE708FB}"/>
              </a:ext>
            </a:extLst>
          </p:cNvPr>
          <p:cNvSpPr txBox="1">
            <a:spLocks/>
          </p:cNvSpPr>
          <p:nvPr/>
        </p:nvSpPr>
        <p:spPr>
          <a:xfrm>
            <a:off x="1455956" y="909223"/>
            <a:ext cx="8486488" cy="53563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M</a:t>
            </a:r>
            <a:r>
              <a:rPr lang="vi-VN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enu Run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/</a:t>
            </a:r>
            <a:r>
              <a:rPr lang="vi-VN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Run Module 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(hoặc nhấn phím F5)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697935" y="1543775"/>
            <a:ext cx="7696200" cy="4253402"/>
            <a:chOff x="594691" y="2183390"/>
            <a:chExt cx="7696200" cy="425340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37CD344-BC73-46AE-87D0-2F73ADC6E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691" y="2183390"/>
              <a:ext cx="7696200" cy="4253402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691" y="2590800"/>
              <a:ext cx="7696200" cy="2133600"/>
            </a:xfrm>
            <a:prstGeom prst="rect">
              <a:avLst/>
            </a:prstGeom>
          </p:spPr>
        </p:pic>
      </p:grpSp>
      <p:sp>
        <p:nvSpPr>
          <p:cNvPr id="22" name="Rectangle 21"/>
          <p:cNvSpPr/>
          <p:nvPr/>
        </p:nvSpPr>
        <p:spPr>
          <a:xfrm>
            <a:off x="1697935" y="4326939"/>
            <a:ext cx="7482509" cy="1259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vi-VN" sz="2500" dirty="0">
                <a:solidFill>
                  <a:srgbClr val="FF0000"/>
                </a:solidFill>
                <a:latin typeface="Cambria" panose="02040503050406030204" pitchFamily="18" charset="0"/>
              </a:rPr>
              <a:t>Tương tự để chạy các file mã nguồn khác ta có thể vào File/Open để chọn file mã nguồn.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</a:pPr>
            <a:endParaRPr lang="vi-VN" sz="250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737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 – PYCHARM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20023" y="595937"/>
            <a:ext cx="11556629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785"/>
              </a:spcBef>
              <a:buClr>
                <a:srgbClr val="FF5A33"/>
              </a:buClr>
              <a:buNone/>
              <a:tabLst>
                <a:tab pos="355600" algn="l"/>
              </a:tabLst>
            </a:pPr>
            <a:r>
              <a:rPr lang="vi-VN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Có 2 phiên bản PyCharm:</a:t>
            </a:r>
          </a:p>
          <a:p>
            <a:pPr marL="812800" lvl="1" indent="-342900" algn="just">
              <a:lnSpc>
                <a:spcPct val="150000"/>
              </a:lnSpc>
              <a:spcBef>
                <a:spcPts val="785"/>
              </a:spcBef>
              <a:buClr>
                <a:srgbClr val="FF5A33"/>
              </a:buClr>
              <a:buFont typeface="Wingdings" pitchFamily="2" charset="2"/>
              <a:buChar char="v"/>
              <a:tabLst>
                <a:tab pos="355600" algn="l"/>
              </a:tabLst>
            </a:pPr>
            <a:r>
              <a:rPr lang="vi-VN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Bản Professional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: Có đầy đủ tất cả các tính năng từ cơ bản đến nâng cao để lập trình Python, Python web, nhưng ta phải mua bản quyền.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(C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ó thể download bản dùng thử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)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.</a:t>
            </a:r>
          </a:p>
          <a:p>
            <a:pPr marL="812800" lvl="1" indent="-342900" algn="just">
              <a:lnSpc>
                <a:spcPct val="150000"/>
              </a:lnSpc>
              <a:spcBef>
                <a:spcPts val="785"/>
              </a:spcBef>
              <a:buClr>
                <a:srgbClr val="FF5A33"/>
              </a:buClr>
              <a:buFont typeface="Wingdings" pitchFamily="2" charset="2"/>
              <a:buChar char="v"/>
              <a:tabLst>
                <a:tab pos="355600" algn="l"/>
              </a:tabLst>
            </a:pPr>
            <a:r>
              <a:rPr lang="vi-VN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Bản Community: 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Là bản chứa các tính năng cơ bản, để có thể lập trình Python. Bản này được tải MIỄN PHÍ.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6D7369DA-091C-43CA-9C14-C854816C811A}"/>
              </a:ext>
            </a:extLst>
          </p:cNvPr>
          <p:cNvSpPr txBox="1"/>
          <p:nvPr/>
        </p:nvSpPr>
        <p:spPr>
          <a:xfrm>
            <a:off x="527696" y="4406346"/>
            <a:ext cx="11556630" cy="972702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spcBef>
                <a:spcPts val="785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vi-VN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Download và cài đặt PyCharm IDE</a:t>
            </a:r>
            <a:endParaRPr lang="en-US" sz="2500" b="1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12700">
              <a:spcBef>
                <a:spcPts val="785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  <a:hlinkClick r:id="rId2"/>
              </a:rPr>
              <a:t>https://www.jetbrains.com/pycharm/download/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118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 – PYCHARM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679" y="762026"/>
            <a:ext cx="7072711" cy="3674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306211" y="4472609"/>
            <a:ext cx="11700259" cy="6460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Chọn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vi-VN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Download bản Community 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tải về máy rồi tiến hành cài đặt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object 9"/>
          <p:cNvSpPr/>
          <p:nvPr/>
        </p:nvSpPr>
        <p:spPr>
          <a:xfrm>
            <a:off x="9867557" y="4169825"/>
            <a:ext cx="1296245" cy="1288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/>
          <p:cNvSpPr txBox="1"/>
          <p:nvPr/>
        </p:nvSpPr>
        <p:spPr>
          <a:xfrm>
            <a:off x="10029754" y="5688680"/>
            <a:ext cx="139909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P</a:t>
            </a:r>
            <a:r>
              <a:rPr sz="2400" spc="-25" dirty="0">
                <a:latin typeface="Carlito"/>
                <a:cs typeface="Carlito"/>
              </a:rPr>
              <a:t>y</a:t>
            </a:r>
            <a:r>
              <a:rPr sz="2400" dirty="0">
                <a:latin typeface="Carlito"/>
                <a:cs typeface="Carlito"/>
              </a:rPr>
              <a:t>ch</a:t>
            </a:r>
            <a:r>
              <a:rPr sz="2400" spc="5" dirty="0">
                <a:latin typeface="Carlito"/>
                <a:cs typeface="Carlito"/>
              </a:rPr>
              <a:t>a</a:t>
            </a:r>
            <a:r>
              <a:rPr sz="2400" dirty="0">
                <a:latin typeface="Carlito"/>
                <a:cs typeface="Carlito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2843317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 DỤNG PYCHARM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7069" y="740195"/>
            <a:ext cx="11829095" cy="474620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K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hởi động phần mềm PyCharm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lần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đầu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giao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diện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030C82-A77C-4D69-9822-F6558A961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897" y="1235419"/>
            <a:ext cx="5557504" cy="4030073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227069" y="5651983"/>
            <a:ext cx="8582259" cy="53784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B1: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Để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tạo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dự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án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mới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chọn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 New Project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404652" y="3113298"/>
            <a:ext cx="1500809" cy="425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6380922" y="3697357"/>
            <a:ext cx="1252330" cy="222354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370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 DỤNG PYCHARM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79513" y="691585"/>
            <a:ext cx="4701209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B2: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Chọn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nơi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ghi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file 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5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Đặt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tên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500" b="1" dirty="0" err="1">
                <a:solidFill>
                  <a:prstClr val="black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Nhấn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 Create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9396C6-33AF-4F24-886F-1EABD8492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96" y="1513216"/>
            <a:ext cx="5411031" cy="3605012"/>
          </a:xfrm>
          <a:prstGeom prst="rect">
            <a:avLst/>
          </a:prstGeom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5803104" y="691585"/>
            <a:ext cx="6022027" cy="410527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Mặc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định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có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file 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main.py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, ta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có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thể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tạo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file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khác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để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coding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4628A3-3AF3-4E0C-84F2-A60C670FF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104" y="1655544"/>
            <a:ext cx="6021403" cy="36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564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 DỤNG PYCHARM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8721" y="691585"/>
            <a:ext cx="11678479" cy="488315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Bef>
                <a:spcPts val="785"/>
              </a:spcBef>
              <a:buClr>
                <a:srgbClr val="FF5A33"/>
              </a:buClr>
              <a:buNone/>
            </a:pPr>
            <a:r>
              <a:rPr lang="en-US" sz="2500" b="1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tập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tin Python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 indent="0">
              <a:spcBef>
                <a:spcPts val="785"/>
              </a:spcBef>
              <a:buClr>
                <a:srgbClr val="FF5A33"/>
              </a:buClr>
              <a:buNone/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Chuột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Project 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HelloWorld/ New/ Python File/</a:t>
            </a:r>
            <a:r>
              <a:rPr lang="en-US" sz="2500" b="1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Đặt</a:t>
            </a:r>
            <a:r>
              <a:rPr lang="en-US" sz="25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tên</a:t>
            </a:r>
            <a:r>
              <a:rPr lang="en-US" sz="25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cho</a:t>
            </a:r>
            <a:r>
              <a:rPr lang="en-US" sz="25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file </a:t>
            </a:r>
            <a:endParaRPr lang="en-US" sz="2500" b="1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5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5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5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5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5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5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tập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tin </a:t>
            </a:r>
            <a:r>
              <a:rPr lang="en-US" sz="2500" b="1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SayHello</a:t>
            </a:r>
            <a:endParaRPr lang="en-US" sz="2500" b="1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C20CE9-A057-4C12-B5AC-5388298CB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686" y="1729619"/>
            <a:ext cx="7039983" cy="254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73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12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 DỤNG PYCHARM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A000E0-BB71-4C13-8D53-251A08945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32" y="851451"/>
            <a:ext cx="10696501" cy="5251175"/>
          </a:xfrm>
          <a:prstGeom prst="rect">
            <a:avLst/>
          </a:prstGeom>
        </p:spPr>
      </p:pic>
      <p:sp>
        <p:nvSpPr>
          <p:cNvPr id="12" name="Speech Bubble: Rectangle 14">
            <a:extLst>
              <a:ext uri="{FF2B5EF4-FFF2-40B4-BE49-F238E27FC236}">
                <a16:creationId xmlns:a16="http://schemas.microsoft.com/office/drawing/2014/main" id="{35A62D6C-E490-4734-AC50-A826AA4AC485}"/>
              </a:ext>
            </a:extLst>
          </p:cNvPr>
          <p:cNvSpPr/>
          <p:nvPr/>
        </p:nvSpPr>
        <p:spPr>
          <a:xfrm>
            <a:off x="1416530" y="1644413"/>
            <a:ext cx="2489548" cy="612125"/>
          </a:xfrm>
          <a:prstGeom prst="wedgeRectCallout">
            <a:avLst>
              <a:gd name="adj1" fmla="val 105545"/>
              <a:gd name="adj2" fmla="val 275141"/>
            </a:avLst>
          </a:prstGeom>
          <a:solidFill>
            <a:sysClr val="window" lastClr="FFFFFF"/>
          </a:solidFill>
          <a:ln w="25400" cap="flat" cmpd="sng" algn="ctr">
            <a:solidFill>
              <a:srgbClr val="F7964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Đặt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sz="23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tên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sz="23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rồi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sz="23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nhấn</a:t>
            </a: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Enter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472" y="2451707"/>
            <a:ext cx="5645440" cy="320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64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 DỤNG PYCHARM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5185E61-63DD-41B7-AC3D-824C32358486}"/>
              </a:ext>
            </a:extLst>
          </p:cNvPr>
          <p:cNvSpPr txBox="1">
            <a:spLocks/>
          </p:cNvSpPr>
          <p:nvPr/>
        </p:nvSpPr>
        <p:spPr>
          <a:xfrm>
            <a:off x="79513" y="802713"/>
            <a:ext cx="11827565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600" dirty="0">
                <a:solidFill>
                  <a:prstClr val="black"/>
                </a:solidFill>
                <a:latin typeface="Cambria" panose="02040503050406030204" pitchFamily="18" charset="0"/>
              </a:rPr>
              <a:t>B3: </a:t>
            </a:r>
            <a:r>
              <a:rPr lang="en-US" sz="2600" dirty="0" err="1">
                <a:solidFill>
                  <a:prstClr val="black"/>
                </a:solidFill>
                <a:latin typeface="Cambria" panose="02040503050406030204" pitchFamily="18" charset="0"/>
              </a:rPr>
              <a:t>Để</a:t>
            </a:r>
            <a:r>
              <a:rPr lang="en-US" sz="26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prstClr val="black"/>
                </a:solidFill>
                <a:latin typeface="Cambria" panose="02040503050406030204" pitchFamily="18" charset="0"/>
              </a:rPr>
              <a:t>chạy</a:t>
            </a:r>
            <a:r>
              <a:rPr lang="en-US" sz="26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prstClr val="black"/>
                </a:solidFill>
                <a:latin typeface="Cambria" panose="02040503050406030204" pitchFamily="18" charset="0"/>
              </a:rPr>
              <a:t>mã</a:t>
            </a:r>
            <a:r>
              <a:rPr lang="en-US" sz="26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prstClr val="black"/>
                </a:solidFill>
                <a:latin typeface="Cambria" panose="02040503050406030204" pitchFamily="18" charset="0"/>
              </a:rPr>
              <a:t>tập</a:t>
            </a:r>
            <a:r>
              <a:rPr lang="en-US" sz="2600" dirty="0">
                <a:solidFill>
                  <a:prstClr val="black"/>
                </a:solidFill>
                <a:latin typeface="Cambria" panose="02040503050406030204" pitchFamily="18" charset="0"/>
              </a:rPr>
              <a:t> tin </a:t>
            </a:r>
            <a:r>
              <a:rPr lang="en-US" sz="2600" b="1" dirty="0">
                <a:solidFill>
                  <a:prstClr val="black"/>
                </a:solidFill>
                <a:latin typeface="Cambria" panose="02040503050406030204" pitchFamily="18" charset="0"/>
              </a:rPr>
              <a:t>SayHello.py</a:t>
            </a:r>
            <a:r>
              <a:rPr lang="en-US" sz="26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prstClr val="black"/>
                </a:solidFill>
                <a:latin typeface="Cambria" panose="02040503050406030204" pitchFamily="18" charset="0"/>
              </a:rPr>
              <a:t>vào</a:t>
            </a:r>
            <a:r>
              <a:rPr lang="en-US" sz="26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600" b="1" dirty="0">
                <a:solidFill>
                  <a:prstClr val="black"/>
                </a:solidFill>
                <a:latin typeface="Cambria" panose="02040503050406030204" pitchFamily="18" charset="0"/>
              </a:rPr>
              <a:t>Run/</a:t>
            </a:r>
            <a:r>
              <a:rPr lang="en-US" sz="26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chọn</a:t>
            </a:r>
            <a:r>
              <a:rPr lang="en-US" sz="2600" b="1" dirty="0">
                <a:solidFill>
                  <a:prstClr val="black"/>
                </a:solidFill>
                <a:latin typeface="Cambria" panose="02040503050406030204" pitchFamily="18" charset="0"/>
              </a:rPr>
              <a:t> Run</a:t>
            </a: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600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600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600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600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600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600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600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600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endParaRPr lang="en-US" sz="2600" dirty="0">
              <a:solidFill>
                <a:prstClr val="black"/>
              </a:solidFill>
              <a:latin typeface="Cambria" panose="02040503050406030204" pitchFamily="18" charset="0"/>
            </a:endParaRPr>
          </a:p>
          <a:p>
            <a:pPr marL="0" lvl="0" indent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  <a:buNone/>
            </a:pPr>
            <a:r>
              <a:rPr lang="en-US" sz="2600" dirty="0" err="1">
                <a:solidFill>
                  <a:prstClr val="black"/>
                </a:solidFill>
                <a:latin typeface="Cambria" panose="02040503050406030204" pitchFamily="18" charset="0"/>
              </a:rPr>
              <a:t>Hoặc</a:t>
            </a:r>
            <a:r>
              <a:rPr lang="en-US" sz="26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bấm</a:t>
            </a:r>
            <a:r>
              <a:rPr lang="en-US" sz="26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chuột</a:t>
            </a:r>
            <a:r>
              <a:rPr lang="en-US" sz="26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6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phải</a:t>
            </a:r>
            <a:r>
              <a:rPr lang="en-US" sz="26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600" dirty="0" err="1">
                <a:solidFill>
                  <a:prstClr val="black"/>
                </a:solidFill>
                <a:latin typeface="Cambria" panose="02040503050406030204" pitchFamily="18" charset="0"/>
              </a:rPr>
              <a:t>vào</a:t>
            </a:r>
            <a:r>
              <a:rPr lang="en-US" sz="26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600" b="1" dirty="0">
                <a:solidFill>
                  <a:prstClr val="black"/>
                </a:solidFill>
                <a:latin typeface="Cambria" panose="02040503050406030204" pitchFamily="18" charset="0"/>
              </a:rPr>
              <a:t>SayHello.py </a:t>
            </a:r>
            <a:r>
              <a:rPr lang="en-US" sz="2600" dirty="0" err="1">
                <a:solidFill>
                  <a:prstClr val="black"/>
                </a:solidFill>
                <a:latin typeface="Cambria" panose="02040503050406030204" pitchFamily="18" charset="0"/>
              </a:rPr>
              <a:t>chọn</a:t>
            </a:r>
            <a:r>
              <a:rPr lang="en-US" sz="26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600" b="1" dirty="0">
                <a:solidFill>
                  <a:prstClr val="black"/>
                </a:solidFill>
                <a:latin typeface="Cambria" panose="02040503050406030204" pitchFamily="18" charset="0"/>
              </a:rPr>
              <a:t>Run </a:t>
            </a:r>
            <a:r>
              <a:rPr lang="en-US" sz="26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SayHello</a:t>
            </a:r>
            <a:endParaRPr lang="en-US" sz="2600" b="1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718EA1-D5F9-4D96-BAD6-D1462FF03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969" y="2965137"/>
            <a:ext cx="6440490" cy="25825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71CC84-9B2D-4496-AC30-5F9FA45B7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45" y="1212857"/>
            <a:ext cx="9204060" cy="160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10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 – JUPYTER NOTEBOOK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8904" y="775250"/>
            <a:ext cx="8682112" cy="1018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trang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web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Anaconda: </a:t>
            </a:r>
            <a:r>
              <a:rPr lang="en-US" sz="2500" u="sng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https://anaconda.org/</a:t>
            </a:r>
            <a:endParaRPr lang="en-US" sz="25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Dowload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Anaconda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image2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343400" y="1371600"/>
            <a:ext cx="7546679" cy="2470409"/>
          </a:xfrm>
          <a:prstGeom prst="rect">
            <a:avLst/>
          </a:prstGeom>
          <a:ln/>
        </p:spPr>
      </p:pic>
      <p:sp>
        <p:nvSpPr>
          <p:cNvPr id="12" name="Rectangle 11"/>
          <p:cNvSpPr/>
          <p:nvPr/>
        </p:nvSpPr>
        <p:spPr>
          <a:xfrm>
            <a:off x="178904" y="2631114"/>
            <a:ext cx="8682112" cy="47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3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nút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download</a:t>
            </a:r>
          </a:p>
        </p:txBody>
      </p:sp>
      <p:pic>
        <p:nvPicPr>
          <p:cNvPr id="13" name="image12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78904" y="3224712"/>
            <a:ext cx="5754757" cy="2998866"/>
          </a:xfrm>
          <a:prstGeom prst="rect">
            <a:avLst/>
          </a:prstGeom>
          <a:ln/>
        </p:spPr>
      </p:pic>
      <p:sp>
        <p:nvSpPr>
          <p:cNvPr id="14" name="Rectangle 13"/>
          <p:cNvSpPr/>
          <p:nvPr/>
        </p:nvSpPr>
        <p:spPr>
          <a:xfrm>
            <a:off x="7069016" y="4724145"/>
            <a:ext cx="2095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Jupyter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Notebook</a:t>
            </a:r>
            <a:r>
              <a:rPr lang="en-US" b="1" dirty="0">
                <a:latin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8389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 – JUPYTER NOTEBOOK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6966" y="691585"/>
            <a:ext cx="8682112" cy="47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4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phiên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bản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Anaconda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phù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máy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1404" y="1165561"/>
            <a:ext cx="11762930" cy="184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-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Nếu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bạn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dùng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hệ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điều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hành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window - 64 bit,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bạn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u="sng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2"/>
              </a:rPr>
              <a:t>64-Bit Graphical Installer (466 MB)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giống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hình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bên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dưới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-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Nếu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bạn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dùng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hệ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điều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hành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window - 32 bit,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bạn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u="sng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/>
              </a:rPr>
              <a:t>32-Bit Graphical Installer (423 MB)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514600" y="2697798"/>
            <a:ext cx="7096539" cy="338495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548677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 – JUPYTER NOTEBOOK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639861" y="1337674"/>
            <a:ext cx="10740443" cy="4742546"/>
            <a:chOff x="341687" y="1626616"/>
            <a:chExt cx="8656708" cy="4316984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1574" y="1626616"/>
              <a:ext cx="8626821" cy="4316984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341687" y="2312416"/>
              <a:ext cx="3163513" cy="43078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1542443" y="1626616"/>
              <a:ext cx="667357" cy="583184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 b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894887" y="5334000"/>
              <a:ext cx="1029913" cy="5334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7028843" y="4469969"/>
              <a:ext cx="762000" cy="762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500" b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2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225309" y="783995"/>
            <a:ext cx="7153048" cy="503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Kích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chuột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file exe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vừa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 download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next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284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 – JUPYTER NOTEBOOK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19441" y="1321376"/>
            <a:ext cx="5119955" cy="3567888"/>
            <a:chOff x="2286000" y="1938806"/>
            <a:chExt cx="6224867" cy="4821138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0" y="1938806"/>
              <a:ext cx="6224867" cy="4821138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343043" y="6172200"/>
              <a:ext cx="1029913" cy="5334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Rectangle 21"/>
          <p:cNvSpPr/>
          <p:nvPr/>
        </p:nvSpPr>
        <p:spPr>
          <a:xfrm>
            <a:off x="79513" y="817392"/>
            <a:ext cx="2699906" cy="503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sz="2500" dirty="0">
                <a:solidFill>
                  <a:srgbClr val="3D4251"/>
                </a:solidFill>
                <a:highlight>
                  <a:srgbClr val="FFFF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Click </a:t>
            </a:r>
            <a:r>
              <a:rPr lang="en-US" sz="2500" dirty="0" err="1">
                <a:solidFill>
                  <a:srgbClr val="3D4251"/>
                </a:solidFill>
                <a:highlight>
                  <a:srgbClr val="FFFF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2500" dirty="0">
                <a:solidFill>
                  <a:srgbClr val="3D4251"/>
                </a:solidFill>
                <a:highlight>
                  <a:srgbClr val="FFFF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>
                <a:solidFill>
                  <a:srgbClr val="3D4251"/>
                </a:solidFill>
                <a:highlight>
                  <a:srgbClr val="FFFFFF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 Agree</a:t>
            </a:r>
            <a:endParaRPr lang="en-US" sz="25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3" name="image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479324" y="1430327"/>
            <a:ext cx="6283277" cy="3625277"/>
          </a:xfrm>
          <a:prstGeom prst="rect">
            <a:avLst/>
          </a:prstGeom>
          <a:ln/>
        </p:spPr>
      </p:pic>
      <p:sp>
        <p:nvSpPr>
          <p:cNvPr id="24" name="Rectangle 23"/>
          <p:cNvSpPr/>
          <p:nvPr/>
        </p:nvSpPr>
        <p:spPr>
          <a:xfrm>
            <a:off x="6233552" y="691585"/>
            <a:ext cx="1629100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775026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 – JUPYTER NOTEBOOK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9087" y="1083345"/>
            <a:ext cx="1597938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Next</a:t>
            </a:r>
          </a:p>
        </p:txBody>
      </p:sp>
      <p:pic>
        <p:nvPicPr>
          <p:cNvPr id="14" name="image8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9513" y="1680051"/>
            <a:ext cx="5867400" cy="4548679"/>
          </a:xfrm>
          <a:prstGeom prst="rect">
            <a:avLst/>
          </a:prstGeom>
          <a:ln/>
        </p:spPr>
      </p:pic>
      <p:sp>
        <p:nvSpPr>
          <p:cNvPr id="15" name="Rectangle 14"/>
          <p:cNvSpPr/>
          <p:nvPr/>
        </p:nvSpPr>
        <p:spPr>
          <a:xfrm>
            <a:off x="4194313" y="718970"/>
            <a:ext cx="788173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Nhấn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Add Anaconda to my PATH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environment variable (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mặc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dù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gợi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ý)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Install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6" name="image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175513" y="1762753"/>
            <a:ext cx="5486400" cy="407495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4013053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CÀI ĐẶT PYTHON – JUPYTER NOTEBOOK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5265" y="799839"/>
            <a:ext cx="1597938" cy="473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Next</a:t>
            </a:r>
          </a:p>
        </p:txBody>
      </p:sp>
      <p:pic>
        <p:nvPicPr>
          <p:cNvPr id="6" name="image5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74230" y="1414571"/>
            <a:ext cx="5469979" cy="3584811"/>
          </a:xfrm>
          <a:prstGeom prst="rect">
            <a:avLst/>
          </a:prstGeom>
          <a:ln/>
        </p:spPr>
      </p:pic>
      <p:sp>
        <p:nvSpPr>
          <p:cNvPr id="10" name="Rectangle 9"/>
          <p:cNvSpPr/>
          <p:nvPr/>
        </p:nvSpPr>
        <p:spPr>
          <a:xfrm>
            <a:off x="6251712" y="874655"/>
            <a:ext cx="180690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Finish</a:t>
            </a:r>
          </a:p>
        </p:txBody>
      </p:sp>
      <p:pic>
        <p:nvPicPr>
          <p:cNvPr id="11" name="image1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175513" y="1570382"/>
            <a:ext cx="5241235" cy="356733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148674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 DỤNG JUPYTER NOTEBOOK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9309" y="691585"/>
            <a:ext cx="862356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Khởi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Anaconda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133828"/>
              </p:ext>
            </p:extLst>
          </p:nvPr>
        </p:nvGraphicFramePr>
        <p:xfrm>
          <a:off x="3829878" y="691585"/>
          <a:ext cx="2425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425825" imgH="520543" progId="Paint.Picture">
                  <p:embed/>
                </p:oleObj>
              </mc:Choice>
              <mc:Fallback>
                <p:oleObj name="Bitmap Image" r:id="rId2" imgW="2425825" imgH="520543" progId="Paint.Picture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878" y="691585"/>
                        <a:ext cx="24257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90" y="1320637"/>
            <a:ext cx="8292188" cy="424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684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 DỤNG JUPYTER NOTEBOOK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968" y="876289"/>
            <a:ext cx="8645839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78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 DỤNG JUPYTER NOTEBOOK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2704" y="758613"/>
            <a:ext cx="11986591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một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notebook, ta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nhấp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chuột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nút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New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nằm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ở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bên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góc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phải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US" sz="2500" dirty="0">
                <a:solidFill>
                  <a:srgbClr val="41414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Python 3: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56" y="1204242"/>
            <a:ext cx="5456333" cy="332153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414" y="1649368"/>
            <a:ext cx="6349193" cy="325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82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SỬ DỤNG JUPYTER NOTEBOOK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67" y="2733818"/>
            <a:ext cx="3988104" cy="276364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65673" y="835551"/>
            <a:ext cx="8716596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M</a:t>
            </a:r>
            <a:r>
              <a:rPr lang="vi-VN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enu Run/ chọn Run Module 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(hoặc nhấn phím F5)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008" y="2906757"/>
            <a:ext cx="4096028" cy="288952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5673" y="1217696"/>
            <a:ext cx="5178662" cy="913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Tạo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File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để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soạn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thảo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: 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File/New File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Ghi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file: 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File 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 Save as</a:t>
            </a:r>
            <a:endParaRPr lang="en-US" sz="2500" b="1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72761" y="2178734"/>
            <a:ext cx="8259396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Mở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file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: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vi-VN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File/Open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 để chọn file mã nguồn.</a:t>
            </a:r>
          </a:p>
        </p:txBody>
      </p:sp>
    </p:spTree>
    <p:extLst>
      <p:ext uri="{BB962C8B-B14F-4D97-AF65-F5344CB8AC3E}">
        <p14:creationId xmlns:p14="http://schemas.microsoft.com/office/powerpoint/2010/main" val="24559376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TỪ KHÓA TRONG PYTHON</a:t>
            </a:r>
            <a:endParaRPr lang="en-US" sz="3200" b="1" dirty="0">
              <a:latin typeface="Cambria" panose="020405030504060302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99466" y="662406"/>
            <a:ext cx="11717655" cy="1095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50000"/>
              </a:lnSpc>
              <a:spcBef>
                <a:spcPts val="100"/>
              </a:spcBef>
              <a:tabLst>
                <a:tab pos="241300" algn="l"/>
                <a:tab pos="2419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Keywords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từ khóa cấu thành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nên ngôn ngữ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Python,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bạn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 thể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đặt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tên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trùng với các</a:t>
            </a:r>
            <a:r>
              <a:rPr sz="2500" spc="-2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  khóa</a:t>
            </a:r>
            <a:r>
              <a:rPr sz="2500" spc="-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này.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3843745" y="1405917"/>
            <a:ext cx="7973376" cy="47662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5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5743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Bài 1- </a:t>
            </a:r>
            <a:r>
              <a:rPr lang="en-US" spc="-5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 thiệu về Python - Biến và kiểu dữ</a:t>
            </a:r>
            <a:r>
              <a:rPr lang="en-US" spc="5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 – Nhập xuất – Toán 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ĐỊNH DANH TRONG PYTHON</a:t>
            </a: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6D7369DA-091C-43CA-9C14-C854816C811A}"/>
              </a:ext>
            </a:extLst>
          </p:cNvPr>
          <p:cNvSpPr txBox="1"/>
          <p:nvPr/>
        </p:nvSpPr>
        <p:spPr>
          <a:xfrm>
            <a:off x="203625" y="691585"/>
            <a:ext cx="11713392" cy="4645952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 algn="just">
              <a:lnSpc>
                <a:spcPct val="150000"/>
              </a:lnSpc>
              <a:buClr>
                <a:srgbClr val="FF5A33"/>
              </a:buClr>
              <a:tabLst>
                <a:tab pos="355600" algn="l"/>
              </a:tabLst>
            </a:pP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Định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danh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là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tên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được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đặt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cho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các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thực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thể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như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class, function,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biến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,...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trong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Python 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  <a:sym typeface="Wingdings" panose="05000000000000000000" pitchFamily="2" charset="2"/>
              </a:rPr>
              <a:t>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giúp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phân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biệt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thực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thể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này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với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thực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thể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khác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.</a:t>
            </a:r>
          </a:p>
          <a:p>
            <a:pPr marL="12700" algn="just">
              <a:lnSpc>
                <a:spcPct val="150000"/>
              </a:lnSpc>
              <a:buClr>
                <a:srgbClr val="FF5A33"/>
              </a:buClr>
              <a:tabLst>
                <a:tab pos="355600" algn="l"/>
              </a:tabLst>
            </a:pPr>
            <a:r>
              <a:rPr lang="en-US" sz="2500" b="1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Quy</a:t>
            </a:r>
            <a:r>
              <a:rPr lang="en-US" sz="25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tắc</a:t>
            </a:r>
            <a:r>
              <a:rPr lang="en-US" sz="25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viết</a:t>
            </a:r>
            <a:r>
              <a:rPr lang="en-US" sz="25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định</a:t>
            </a:r>
            <a:r>
              <a:rPr lang="en-US" sz="25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danh</a:t>
            </a:r>
            <a:endParaRPr lang="en-US" sz="2500" b="1" spc="-5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  <a:p>
            <a:pPr marL="396875" lvl="1" indent="-228600" algn="just">
              <a:lnSpc>
                <a:spcPct val="150000"/>
              </a:lnSpc>
              <a:buClr>
                <a:srgbClr val="FF5A33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Bao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gồm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chữ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cái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thường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(a-z),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chữ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cái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in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hoa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(A-Z),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chữ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số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(0-9),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dấu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gạch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dưới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(_)</a:t>
            </a:r>
          </a:p>
          <a:p>
            <a:pPr marL="396875" lvl="1" indent="-228600" algn="just">
              <a:lnSpc>
                <a:spcPct val="150000"/>
              </a:lnSpc>
              <a:buClr>
                <a:srgbClr val="FF5A33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Không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bắt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đầu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bằng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chữ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số</a:t>
            </a:r>
            <a:endParaRPr lang="en-US" sz="2500" spc="-5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  <a:p>
            <a:pPr marL="396875" lvl="1" indent="-228600" algn="just">
              <a:lnSpc>
                <a:spcPct val="150000"/>
              </a:lnSpc>
              <a:buClr>
                <a:srgbClr val="FF5A33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Không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trùng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với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từ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khóa</a:t>
            </a:r>
            <a:endParaRPr lang="en-US" sz="2500" spc="-5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  <a:p>
            <a:pPr marL="396875" lvl="1" indent="-228600" algn="just">
              <a:lnSpc>
                <a:spcPct val="150000"/>
              </a:lnSpc>
              <a:buClr>
                <a:srgbClr val="FF5A33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Không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có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các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ký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tự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đặc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biệt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như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 !, @, #, $, %,…</a:t>
            </a:r>
          </a:p>
          <a:p>
            <a:pPr marL="396875" lvl="1" indent="-228600" algn="just">
              <a:lnSpc>
                <a:spcPct val="150000"/>
              </a:lnSpc>
              <a:buClr>
                <a:srgbClr val="FF5A33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Phân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biệt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chữ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hoa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và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chữ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thường</a:t>
            </a:r>
            <a:endParaRPr lang="en-US" sz="2500" spc="-5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131162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CÁCH VIẾT LỆNH TRONG PYTHON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681609"/>
            <a:ext cx="473095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z="2400" b="1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Viết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câu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trên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nhiều </a:t>
            </a:r>
            <a:r>
              <a:rPr sz="24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dòng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117650" y="3759685"/>
            <a:ext cx="11956699" cy="20005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Thụt lề trong</a:t>
            </a:r>
            <a:r>
              <a:rPr sz="2500" b="1" spc="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698500" lvl="1" indent="-229235">
              <a:lnSpc>
                <a:spcPct val="100000"/>
              </a:lnSpc>
              <a:spcBef>
                <a:spcPts val="1800"/>
              </a:spcBef>
              <a:buFont typeface="Wingdings"/>
              <a:buChar char=""/>
              <a:tabLst>
                <a:tab pos="6991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ngôn ngữ lập trình như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C/C++, Java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nhận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ết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khối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 qua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cặp </a:t>
            </a:r>
            <a:r>
              <a:rPr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{</a:t>
            </a:r>
            <a:r>
              <a:rPr sz="2500" b="1" spc="-22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}</a:t>
            </a:r>
          </a:p>
          <a:p>
            <a:pPr marL="698500" lvl="1" indent="-229235">
              <a:lnSpc>
                <a:spcPct val="100000"/>
              </a:lnSpc>
              <a:spcBef>
                <a:spcPts val="1705"/>
              </a:spcBef>
              <a:buFont typeface="Wingdings"/>
              <a:buChar char=""/>
              <a:tabLst>
                <a:tab pos="699135" algn="l"/>
              </a:tabLst>
            </a:pP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nhận biết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khối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 thông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qua thụt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lề, mỗi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khối được thụt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vào bằng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 dấu tab (4</a:t>
            </a:r>
            <a:r>
              <a:rPr sz="2500" spc="-19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dấu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cách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).</a:t>
            </a:r>
          </a:p>
        </p:txBody>
      </p:sp>
      <p:sp>
        <p:nvSpPr>
          <p:cNvPr id="10" name="object 5"/>
          <p:cNvSpPr txBox="1"/>
          <p:nvPr/>
        </p:nvSpPr>
        <p:spPr>
          <a:xfrm>
            <a:off x="4191865" y="1223866"/>
            <a:ext cx="3771900" cy="1186862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2500" spc="-1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sum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</a:t>
            </a: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 </a:t>
            </a: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 </a:t>
            </a: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5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</a:t>
            </a:r>
            <a:r>
              <a:rPr sz="2500" spc="3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49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\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842644">
              <a:lnSpc>
                <a:spcPct val="100000"/>
              </a:lnSpc>
              <a:spcBef>
                <a:spcPts val="5"/>
              </a:spcBef>
            </a:pP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7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 </a:t>
            </a: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9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 </a:t>
            </a:r>
            <a:r>
              <a:rPr sz="2500" spc="-2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11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</a:t>
            </a:r>
            <a:r>
              <a:rPr sz="2500" spc="29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48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\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842644">
              <a:lnSpc>
                <a:spcPct val="100000"/>
              </a:lnSpc>
            </a:pP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13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 </a:t>
            </a:r>
            <a:r>
              <a:rPr sz="2500" spc="-1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15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</a:t>
            </a:r>
            <a:r>
              <a:rPr sz="2500" spc="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17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8212106" y="1031506"/>
            <a:ext cx="3771900" cy="1571583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R="1415415" algn="r">
              <a:lnSpc>
                <a:spcPct val="100000"/>
              </a:lnSpc>
              <a:spcBef>
                <a:spcPts val="254"/>
              </a:spcBef>
            </a:pPr>
            <a:r>
              <a:rPr sz="2500" spc="-1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sum  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 </a:t>
            </a:r>
            <a:r>
              <a:rPr sz="2500" spc="1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z="2500" spc="18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 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  </a:t>
            </a: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 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  </a:t>
            </a: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5</a:t>
            </a:r>
            <a:r>
              <a:rPr sz="2500" spc="30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</a:t>
            </a:r>
            <a:endParaRPr sz="250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R="1415415" algn="r">
              <a:lnSpc>
                <a:spcPct val="100000"/>
              </a:lnSpc>
              <a:spcBef>
                <a:spcPts val="5"/>
              </a:spcBef>
            </a:pP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7 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  </a:t>
            </a: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9 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  </a:t>
            </a:r>
            <a:r>
              <a:rPr sz="2500" spc="-2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11 </a:t>
            </a:r>
            <a:r>
              <a:rPr sz="2500" spc="18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</a:t>
            </a:r>
            <a:endParaRPr sz="250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843280">
              <a:lnSpc>
                <a:spcPct val="100000"/>
              </a:lnSpc>
            </a:pPr>
            <a:r>
              <a:rPr sz="2500" spc="-2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13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 </a:t>
            </a:r>
            <a:r>
              <a:rPr sz="2500" spc="-1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15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</a:t>
            </a:r>
            <a:r>
              <a:rPr sz="2500" spc="1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12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17</a:t>
            </a:r>
            <a:r>
              <a:rPr sz="2500" spc="1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sz="250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4191865" y="2587124"/>
            <a:ext cx="3771900" cy="1610055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216535" marR="1415415" indent="-125095">
              <a:lnSpc>
                <a:spcPct val="100000"/>
              </a:lnSpc>
              <a:spcBef>
                <a:spcPts val="254"/>
              </a:spcBef>
            </a:pPr>
            <a:r>
              <a:rPr sz="2500" spc="-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mau_sac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</a:t>
            </a:r>
            <a:r>
              <a:rPr sz="2500" spc="2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{</a:t>
            </a:r>
            <a:r>
              <a:rPr sz="2500" spc="20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"vàng"</a:t>
            </a:r>
            <a:r>
              <a:rPr sz="2500" spc="2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  </a:t>
            </a:r>
            <a:r>
              <a:rPr lang="en-US" sz="2500" spc="2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     </a:t>
            </a:r>
            <a:r>
              <a:rPr sz="2500" spc="17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sz="2500" spc="170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xanh</a:t>
            </a:r>
            <a:r>
              <a:rPr sz="2500" spc="17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sz="2500" spc="1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216535" marR="1415415" indent="-125095">
              <a:lnSpc>
                <a:spcPct val="100000"/>
              </a:lnSpc>
              <a:spcBef>
                <a:spcPts val="254"/>
              </a:spcBef>
            </a:pPr>
            <a:r>
              <a:rPr lang="en-US" sz="2500" spc="10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       </a:t>
            </a:r>
            <a:r>
              <a:rPr sz="2500" spc="10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"cam"</a:t>
            </a:r>
            <a:r>
              <a:rPr sz="2500" spc="1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}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3" name="object 8"/>
          <p:cNvSpPr txBox="1"/>
          <p:nvPr/>
        </p:nvSpPr>
        <p:spPr>
          <a:xfrm>
            <a:off x="8212106" y="3091420"/>
            <a:ext cx="3771900" cy="416781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</a:t>
            </a:r>
            <a:r>
              <a:rPr sz="2500" spc="24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r>
              <a:rPr sz="2500" spc="2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; </a:t>
            </a: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</a:t>
            </a:r>
            <a:r>
              <a:rPr sz="2500" spc="24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</a:t>
            </a:r>
            <a:r>
              <a:rPr sz="2500" spc="2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; </a:t>
            </a:r>
            <a:r>
              <a:rPr sz="2500" spc="9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</a:t>
            </a:r>
            <a:r>
              <a:rPr sz="2500" spc="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3129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CÁCH VIẾT LỆNH TRONG PYTHON</a:t>
            </a:r>
          </a:p>
        </p:txBody>
      </p:sp>
      <p:sp>
        <p:nvSpPr>
          <p:cNvPr id="14" name="object 3"/>
          <p:cNvSpPr txBox="1"/>
          <p:nvPr/>
        </p:nvSpPr>
        <p:spPr>
          <a:xfrm>
            <a:off x="82790" y="795179"/>
            <a:ext cx="1301951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Ví</a:t>
            </a:r>
            <a:r>
              <a:rPr sz="2500" spc="-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1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5" name="object 4"/>
          <p:cNvSpPr txBox="1"/>
          <p:nvPr/>
        </p:nvSpPr>
        <p:spPr>
          <a:xfrm>
            <a:off x="1381464" y="3559734"/>
            <a:ext cx="4832985" cy="1956304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590550" marR="2099945" indent="-500380">
              <a:lnSpc>
                <a:spcPct val="100000"/>
              </a:lnSpc>
              <a:spcBef>
                <a:spcPts val="254"/>
              </a:spcBef>
            </a:pPr>
            <a:r>
              <a:rPr sz="2500" spc="2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500" spc="5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 </a:t>
            </a:r>
            <a:r>
              <a:rPr sz="2500" spc="2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500" spc="1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range(</a:t>
            </a:r>
            <a:r>
              <a:rPr sz="2500" spc="16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r>
              <a:rPr sz="2500" spc="1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500" spc="16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10</a:t>
            </a:r>
            <a:r>
              <a:rPr sz="2500" spc="1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):  </a:t>
            </a:r>
            <a:r>
              <a:rPr sz="2500" spc="3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print(i)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90550">
              <a:lnSpc>
                <a:spcPct val="100000"/>
              </a:lnSpc>
            </a:pPr>
            <a:r>
              <a:rPr sz="2500" spc="54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</a:t>
            </a:r>
            <a:r>
              <a:rPr sz="2500" spc="37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1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i==</a:t>
            </a:r>
            <a:r>
              <a:rPr sz="2500" spc="18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5</a:t>
            </a:r>
            <a:r>
              <a:rPr sz="2500" spc="1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093470">
              <a:lnSpc>
                <a:spcPct val="100000"/>
              </a:lnSpc>
            </a:pPr>
            <a:r>
              <a:rPr sz="2500" spc="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break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6" name="object 5"/>
          <p:cNvSpPr/>
          <p:nvPr/>
        </p:nvSpPr>
        <p:spPr>
          <a:xfrm>
            <a:off x="3853482" y="4050161"/>
            <a:ext cx="561340" cy="280670"/>
          </a:xfrm>
          <a:custGeom>
            <a:avLst/>
            <a:gdLst/>
            <a:ahLst/>
            <a:cxnLst/>
            <a:rect l="l" t="t" r="r" b="b"/>
            <a:pathLst>
              <a:path w="561339" h="280669">
                <a:moveTo>
                  <a:pt x="561086" y="0"/>
                </a:moveTo>
                <a:lnTo>
                  <a:pt x="374015" y="16129"/>
                </a:lnTo>
                <a:lnTo>
                  <a:pt x="187198" y="148336"/>
                </a:lnTo>
                <a:lnTo>
                  <a:pt x="109601" y="38862"/>
                </a:lnTo>
                <a:lnTo>
                  <a:pt x="0" y="48260"/>
                </a:lnTo>
                <a:lnTo>
                  <a:pt x="164592" y="280670"/>
                </a:lnTo>
                <a:lnTo>
                  <a:pt x="5610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5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object 6"/>
          <p:cNvSpPr txBox="1"/>
          <p:nvPr/>
        </p:nvSpPr>
        <p:spPr>
          <a:xfrm>
            <a:off x="6554604" y="3559734"/>
            <a:ext cx="4919980" cy="1956304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 marR="2186305">
              <a:lnSpc>
                <a:spcPct val="100000"/>
              </a:lnSpc>
              <a:spcBef>
                <a:spcPts val="254"/>
              </a:spcBef>
            </a:pPr>
            <a:r>
              <a:rPr sz="2500" spc="2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500" spc="5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 </a:t>
            </a:r>
            <a:r>
              <a:rPr sz="2500" spc="28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500" spc="1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range(</a:t>
            </a:r>
            <a:r>
              <a:rPr sz="2500" spc="16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r>
              <a:rPr sz="2500" spc="1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500" spc="16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10</a:t>
            </a:r>
            <a:r>
              <a:rPr sz="2500" spc="1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):  </a:t>
            </a:r>
            <a:r>
              <a:rPr sz="2500" spc="3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print(i)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91185">
              <a:lnSpc>
                <a:spcPct val="100000"/>
              </a:lnSpc>
            </a:pPr>
            <a:r>
              <a:rPr sz="2500" spc="54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 </a:t>
            </a:r>
            <a:r>
              <a:rPr sz="2500" spc="5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 </a:t>
            </a:r>
            <a:r>
              <a:rPr sz="2500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==</a:t>
            </a:r>
            <a:r>
              <a:rPr sz="2500" spc="3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29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5</a:t>
            </a:r>
            <a:r>
              <a:rPr sz="2500" spc="229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67740">
              <a:lnSpc>
                <a:spcPct val="100000"/>
              </a:lnSpc>
            </a:pPr>
            <a:r>
              <a:rPr sz="2500" spc="8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break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8" name="object 7"/>
          <p:cNvSpPr/>
          <p:nvPr/>
        </p:nvSpPr>
        <p:spPr>
          <a:xfrm>
            <a:off x="10558634" y="3808932"/>
            <a:ext cx="375285" cy="375920"/>
          </a:xfrm>
          <a:custGeom>
            <a:avLst/>
            <a:gdLst/>
            <a:ahLst/>
            <a:cxnLst/>
            <a:rect l="l" t="t" r="r" b="b"/>
            <a:pathLst>
              <a:path w="375284" h="375919">
                <a:moveTo>
                  <a:pt x="298196" y="0"/>
                </a:moveTo>
                <a:lnTo>
                  <a:pt x="187578" y="121412"/>
                </a:lnTo>
                <a:lnTo>
                  <a:pt x="66166" y="10922"/>
                </a:lnTo>
                <a:lnTo>
                  <a:pt x="0" y="83566"/>
                </a:lnTo>
                <a:lnTo>
                  <a:pt x="121411" y="194183"/>
                </a:lnTo>
                <a:lnTo>
                  <a:pt x="10922" y="315595"/>
                </a:lnTo>
                <a:lnTo>
                  <a:pt x="77088" y="375920"/>
                </a:lnTo>
                <a:lnTo>
                  <a:pt x="187705" y="254381"/>
                </a:lnTo>
                <a:lnTo>
                  <a:pt x="309117" y="364998"/>
                </a:lnTo>
                <a:lnTo>
                  <a:pt x="375284" y="292354"/>
                </a:lnTo>
                <a:lnTo>
                  <a:pt x="253873" y="181737"/>
                </a:lnTo>
                <a:lnTo>
                  <a:pt x="364362" y="60325"/>
                </a:lnTo>
                <a:lnTo>
                  <a:pt x="29819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5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object 4"/>
          <p:cNvSpPr txBox="1"/>
          <p:nvPr/>
        </p:nvSpPr>
        <p:spPr>
          <a:xfrm>
            <a:off x="1408410" y="773181"/>
            <a:ext cx="4285615" cy="2499360"/>
          </a:xfrm>
          <a:prstGeom prst="rect">
            <a:avLst/>
          </a:prstGeom>
          <a:ln w="9525">
            <a:solidFill>
              <a:srgbClr val="3D9104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255270" marR="1701800">
              <a:lnSpc>
                <a:spcPct val="125000"/>
              </a:lnSpc>
              <a:spcBef>
                <a:spcPts val="20"/>
              </a:spcBef>
            </a:pPr>
            <a:r>
              <a:rPr sz="1800" b="1" spc="-10" dirty="0">
                <a:latin typeface="Courier New"/>
                <a:cs typeface="Courier New"/>
              </a:rPr>
              <a:t>#include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&lt;math.h&gt;  a=10;</a:t>
            </a:r>
            <a:endParaRPr sz="1800" dirty="0">
              <a:latin typeface="Courier New"/>
              <a:cs typeface="Courier New"/>
            </a:endParaRPr>
          </a:p>
          <a:p>
            <a:pPr marL="255270" marR="336550">
              <a:lnSpc>
                <a:spcPct val="125000"/>
              </a:lnSpc>
            </a:pPr>
            <a:r>
              <a:rPr sz="1800" b="1" spc="-5" dirty="0">
                <a:solidFill>
                  <a:srgbClr val="0000CC"/>
                </a:solidFill>
                <a:latin typeface="Courier New"/>
                <a:cs typeface="Courier New"/>
              </a:rPr>
              <a:t>if </a:t>
            </a:r>
            <a:r>
              <a:rPr sz="1800" b="1" spc="-10" dirty="0">
                <a:solidFill>
                  <a:srgbClr val="0000CC"/>
                </a:solidFill>
                <a:latin typeface="Courier New"/>
                <a:cs typeface="Courier New"/>
              </a:rPr>
              <a:t>(a&gt;0 </a:t>
            </a:r>
            <a:r>
              <a:rPr sz="1800" b="1" spc="-5" dirty="0">
                <a:solidFill>
                  <a:srgbClr val="0000CC"/>
                </a:solidFill>
                <a:latin typeface="Courier New"/>
                <a:cs typeface="Courier New"/>
              </a:rPr>
              <a:t>&amp;&amp; </a:t>
            </a:r>
            <a:r>
              <a:rPr sz="1800" b="1" spc="-10" dirty="0">
                <a:solidFill>
                  <a:srgbClr val="0000CC"/>
                </a:solidFill>
                <a:latin typeface="Courier New"/>
                <a:cs typeface="Courier New"/>
              </a:rPr>
              <a:t>sqrt(a)%2==0) </a:t>
            </a:r>
            <a:r>
              <a:rPr sz="1800" b="1" dirty="0">
                <a:solidFill>
                  <a:srgbClr val="0000CC"/>
                </a:solidFill>
                <a:latin typeface="Courier New"/>
                <a:cs typeface="Courier New"/>
              </a:rPr>
              <a:t>{  </a:t>
            </a:r>
            <a:r>
              <a:rPr sz="1800" b="1" spc="-10" dirty="0">
                <a:solidFill>
                  <a:srgbClr val="FF3399"/>
                </a:solidFill>
                <a:latin typeface="Courier New"/>
                <a:cs typeface="Courier New"/>
              </a:rPr>
              <a:t>printf("%d </a:t>
            </a:r>
            <a:r>
              <a:rPr sz="1800" b="1" spc="-5" dirty="0">
                <a:solidFill>
                  <a:srgbClr val="FF3399"/>
                </a:solidFill>
                <a:latin typeface="Courier New"/>
                <a:cs typeface="Courier New"/>
              </a:rPr>
              <a:t>là số </a:t>
            </a:r>
            <a:r>
              <a:rPr sz="1800" b="1" spc="-10" dirty="0">
                <a:solidFill>
                  <a:srgbClr val="FF3399"/>
                </a:solidFill>
                <a:latin typeface="Courier New"/>
                <a:cs typeface="Courier New"/>
              </a:rPr>
              <a:t>dương",a);  printf("Căn bặc </a:t>
            </a:r>
            <a:r>
              <a:rPr sz="1800" b="1" dirty="0">
                <a:solidFill>
                  <a:srgbClr val="FF3399"/>
                </a:solidFill>
                <a:latin typeface="Courier New"/>
                <a:cs typeface="Courier New"/>
              </a:rPr>
              <a:t>2 </a:t>
            </a:r>
            <a:r>
              <a:rPr sz="1800" b="1" spc="-10" dirty="0">
                <a:solidFill>
                  <a:srgbClr val="FF3399"/>
                </a:solidFill>
                <a:latin typeface="Courier New"/>
                <a:cs typeface="Courier New"/>
              </a:rPr>
              <a:t>của </a:t>
            </a:r>
            <a:r>
              <a:rPr sz="1800" b="1" dirty="0">
                <a:solidFill>
                  <a:srgbClr val="FF3399"/>
                </a:solidFill>
                <a:latin typeface="Courier New"/>
                <a:cs typeface="Courier New"/>
              </a:rPr>
              <a:t>a</a:t>
            </a:r>
            <a:r>
              <a:rPr sz="1800" b="1" spc="-95" dirty="0">
                <a:solidFill>
                  <a:srgbClr val="FF339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99"/>
                </a:solidFill>
                <a:latin typeface="Courier New"/>
                <a:cs typeface="Courier New"/>
              </a:rPr>
              <a:t>là:</a:t>
            </a:r>
            <a:endParaRPr sz="1800" dirty="0">
              <a:latin typeface="Courier New"/>
              <a:cs typeface="Courier New"/>
            </a:endParaRPr>
          </a:p>
          <a:p>
            <a:pPr marL="255270">
              <a:lnSpc>
                <a:spcPct val="100000"/>
              </a:lnSpc>
              <a:spcBef>
                <a:spcPts val="540"/>
              </a:spcBef>
            </a:pPr>
            <a:r>
              <a:rPr sz="1800" b="1" spc="-10" dirty="0">
                <a:solidFill>
                  <a:srgbClr val="FF3399"/>
                </a:solidFill>
                <a:latin typeface="Courier New"/>
                <a:cs typeface="Courier New"/>
              </a:rPr>
              <a:t>%f",</a:t>
            </a:r>
            <a:r>
              <a:rPr sz="1800" b="1" spc="-20" dirty="0">
                <a:solidFill>
                  <a:srgbClr val="FF339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99"/>
                </a:solidFill>
                <a:latin typeface="Courier New"/>
                <a:cs typeface="Courier New"/>
              </a:rPr>
              <a:t>sqrt(a));</a:t>
            </a:r>
            <a:endParaRPr sz="1800" dirty="0">
              <a:latin typeface="Courier New"/>
              <a:cs typeface="Courier New"/>
            </a:endParaRPr>
          </a:p>
          <a:p>
            <a:pPr marL="255270">
              <a:lnSpc>
                <a:spcPct val="100000"/>
              </a:lnSpc>
              <a:spcBef>
                <a:spcPts val="540"/>
              </a:spcBef>
            </a:pPr>
            <a:r>
              <a:rPr sz="1800" b="1" dirty="0">
                <a:solidFill>
                  <a:srgbClr val="0000CC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23" name="object 5"/>
          <p:cNvSpPr txBox="1"/>
          <p:nvPr/>
        </p:nvSpPr>
        <p:spPr>
          <a:xfrm>
            <a:off x="5958256" y="800250"/>
            <a:ext cx="4287520" cy="2367280"/>
          </a:xfrm>
          <a:prstGeom prst="rect">
            <a:avLst/>
          </a:prstGeom>
          <a:ln w="9525">
            <a:solidFill>
              <a:srgbClr val="3D9104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256540" marR="2519680">
              <a:lnSpc>
                <a:spcPct val="125000"/>
              </a:lnSpc>
              <a:spcBef>
                <a:spcPts val="20"/>
              </a:spcBef>
            </a:pPr>
            <a:r>
              <a:rPr sz="1800" b="1" spc="-10" dirty="0">
                <a:latin typeface="Courier New"/>
                <a:cs typeface="Courier New"/>
              </a:rPr>
              <a:t>import</a:t>
            </a:r>
            <a:r>
              <a:rPr sz="1800" b="1" spc="-8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math  a=10</a:t>
            </a:r>
            <a:endParaRPr sz="1800" dirty="0">
              <a:latin typeface="Courier New"/>
              <a:cs typeface="Courier New"/>
            </a:endParaRPr>
          </a:p>
          <a:p>
            <a:pPr marL="530860" marR="746125" indent="-274320">
              <a:lnSpc>
                <a:spcPct val="125000"/>
              </a:lnSpc>
            </a:pPr>
            <a:r>
              <a:rPr sz="1800" b="1" spc="-5" dirty="0">
                <a:solidFill>
                  <a:srgbClr val="0000CC"/>
                </a:solidFill>
                <a:latin typeface="Courier New"/>
                <a:cs typeface="Courier New"/>
              </a:rPr>
              <a:t>if </a:t>
            </a:r>
            <a:r>
              <a:rPr sz="1800" b="1" spc="-10" dirty="0">
                <a:solidFill>
                  <a:srgbClr val="0000CC"/>
                </a:solidFill>
                <a:latin typeface="Courier New"/>
                <a:cs typeface="Courier New"/>
              </a:rPr>
              <a:t>a&gt;0 </a:t>
            </a:r>
            <a:r>
              <a:rPr sz="1800" b="1" dirty="0">
                <a:solidFill>
                  <a:srgbClr val="0000CC"/>
                </a:solidFill>
                <a:latin typeface="Courier New"/>
                <a:cs typeface="Courier New"/>
              </a:rPr>
              <a:t>&amp; </a:t>
            </a:r>
            <a:r>
              <a:rPr sz="1800" b="1" spc="-10" dirty="0">
                <a:solidFill>
                  <a:srgbClr val="0000CC"/>
                </a:solidFill>
                <a:latin typeface="Courier New"/>
                <a:cs typeface="Courier New"/>
              </a:rPr>
              <a:t>a%2==0:  </a:t>
            </a:r>
            <a:r>
              <a:rPr sz="1800" b="1" spc="-10" dirty="0">
                <a:solidFill>
                  <a:srgbClr val="FF3399"/>
                </a:solidFill>
                <a:latin typeface="Courier New"/>
                <a:cs typeface="Courier New"/>
              </a:rPr>
              <a:t>print(a,"là </a:t>
            </a:r>
            <a:r>
              <a:rPr sz="1800" b="1" spc="-5" dirty="0">
                <a:solidFill>
                  <a:srgbClr val="FF3399"/>
                </a:solidFill>
                <a:latin typeface="Courier New"/>
                <a:cs typeface="Courier New"/>
              </a:rPr>
              <a:t>số</a:t>
            </a:r>
            <a:r>
              <a:rPr sz="1800" b="1" spc="-100" dirty="0">
                <a:solidFill>
                  <a:srgbClr val="FF339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99"/>
                </a:solidFill>
                <a:latin typeface="Courier New"/>
                <a:cs typeface="Courier New"/>
              </a:rPr>
              <a:t>dương")  print(a, "Căn </a:t>
            </a:r>
            <a:r>
              <a:rPr sz="1800" b="1" spc="-5" dirty="0">
                <a:solidFill>
                  <a:srgbClr val="FF3399"/>
                </a:solidFill>
                <a:latin typeface="Courier New"/>
                <a:cs typeface="Courier New"/>
              </a:rPr>
              <a:t>bậc</a:t>
            </a:r>
            <a:r>
              <a:rPr sz="1800" b="1" spc="-75" dirty="0">
                <a:solidFill>
                  <a:srgbClr val="FF339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F3399"/>
                </a:solidFill>
                <a:latin typeface="Courier New"/>
                <a:cs typeface="Courier New"/>
              </a:rPr>
              <a:t>2</a:t>
            </a:r>
            <a:endParaRPr sz="1800" dirty="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540"/>
              </a:spcBef>
            </a:pPr>
            <a:r>
              <a:rPr sz="1800" b="1" spc="-10" dirty="0">
                <a:solidFill>
                  <a:srgbClr val="FF3399"/>
                </a:solidFill>
                <a:latin typeface="Courier New"/>
                <a:cs typeface="Courier New"/>
              </a:rPr>
              <a:t>của",a,“là:</a:t>
            </a:r>
            <a:r>
              <a:rPr sz="1800" b="1" spc="-35" dirty="0">
                <a:solidFill>
                  <a:srgbClr val="FF339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F3399"/>
                </a:solidFill>
                <a:latin typeface="Courier New"/>
                <a:cs typeface="Courier New"/>
              </a:rPr>
              <a:t>“,math.sqrt(a))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2679" y="1658385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marR="3573779" algn="just">
              <a:spcBef>
                <a:spcPts val="600"/>
              </a:spcBef>
              <a:buClr>
                <a:srgbClr val="FF0000"/>
              </a:buClr>
              <a:buSzPct val="54166"/>
              <a:tabLst>
                <a:tab pos="286385" algn="l"/>
                <a:tab pos="756920" algn="l"/>
              </a:tabLs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7619" y="1375325"/>
            <a:ext cx="1752600" cy="647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Python</a:t>
            </a:r>
          </a:p>
        </p:txBody>
      </p:sp>
      <p:sp>
        <p:nvSpPr>
          <p:cNvPr id="26" name="object 3"/>
          <p:cNvSpPr txBox="1"/>
          <p:nvPr/>
        </p:nvSpPr>
        <p:spPr>
          <a:xfrm>
            <a:off x="79513" y="3109442"/>
            <a:ext cx="1301951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Ví</a:t>
            </a:r>
            <a:r>
              <a:rPr sz="2500" spc="-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2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5431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CHÚ THÍCH TRONG PYTHON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398" y="655980"/>
            <a:ext cx="1193070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  <a:buClr>
                <a:srgbClr val="215D9F"/>
              </a:buClr>
            </a:pPr>
            <a:r>
              <a:rPr lang="it-IT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Ghi chú 1 dòng: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dùng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từ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khóa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#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để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cho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phép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ta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ghi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chú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 1 </a:t>
            </a:r>
            <a:r>
              <a:rPr lang="en-US" sz="2500" dirty="0" err="1">
                <a:solidFill>
                  <a:prstClr val="black"/>
                </a:solidFill>
                <a:latin typeface="Cambria" panose="02040503050406030204" pitchFamily="18" charset="0"/>
              </a:rPr>
              <a:t>dòng</a:t>
            </a:r>
            <a:r>
              <a:rPr lang="it-IT" sz="2500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endParaRPr lang="en-US" sz="25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-89453" y="3038504"/>
            <a:ext cx="12066103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Bef>
                <a:spcPts val="1000"/>
              </a:spcBef>
              <a:buClr>
                <a:srgbClr val="215D9F"/>
              </a:buClr>
            </a:pPr>
            <a:r>
              <a:rPr lang="en-US" sz="25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Ghi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chú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nhiều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dòng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: </a:t>
            </a:r>
            <a:r>
              <a:rPr lang="en-US" sz="2500" dirty="0">
                <a:solidFill>
                  <a:prstClr val="black"/>
                </a:solidFill>
                <a:latin typeface="Cambria" panose="02040503050406030204" pitchFamily="18" charset="0"/>
              </a:rPr>
              <a:t>Ta d</a:t>
            </a:r>
            <a:r>
              <a:rPr lang="vi-VN" sz="2500" dirty="0">
                <a:solidFill>
                  <a:prstClr val="black"/>
                </a:solidFill>
                <a:latin typeface="Cambria" panose="02040503050406030204" pitchFamily="18" charset="0"/>
              </a:rPr>
              <a:t>ùng """ """ (3 cặp nháy đôi)  hoặc ''' '''(3 cập nháy đơn)</a:t>
            </a:r>
            <a:r>
              <a:rPr lang="en-US" sz="25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96DDFE2-57E3-4AF5-B4D0-112B6436A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197" y="859892"/>
            <a:ext cx="3280803" cy="21621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FC9E89C-4A07-4EE1-AD1A-A69767DC6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461" y="3560834"/>
            <a:ext cx="3419060" cy="26902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55D5A9-3B88-4D22-A74D-2A448FCFC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007" y="3560834"/>
            <a:ext cx="5933771" cy="261646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488177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BIẾN TRONG PYTHON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198782" y="832484"/>
            <a:ext cx="11734543" cy="22672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buChar char="•"/>
              <a:tabLst>
                <a:tab pos="241935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 là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đối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tượng sử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 để lưu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trữ các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sz="2500" spc="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liệu.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241300" marR="5080" indent="-229235">
              <a:lnSpc>
                <a:spcPct val="150000"/>
              </a:lnSpc>
              <a:buChar char="•"/>
              <a:tabLst>
                <a:tab pos="241935" algn="l"/>
              </a:tabLst>
            </a:pP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Nó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được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tạo ra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ngay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nó được gán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giá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trị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.</a:t>
            </a: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065" marR="5080">
              <a:lnSpc>
                <a:spcPct val="150000"/>
              </a:lnSpc>
              <a:tabLst>
                <a:tab pos="241935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Cú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pháp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 </a:t>
            </a:r>
            <a:r>
              <a:rPr lang="en-US" sz="28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Variable_name</a:t>
            </a:r>
            <a:r>
              <a:rPr lang="en-US" sz="28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=value</a:t>
            </a:r>
          </a:p>
          <a:p>
            <a:pPr marL="12065" marR="5080">
              <a:lnSpc>
                <a:spcPct val="150000"/>
              </a:lnSpc>
              <a:tabLst>
                <a:tab pos="241935" algn="l"/>
              </a:tabLst>
            </a:pPr>
            <a:r>
              <a:rPr lang="en-US" sz="28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Ví</a:t>
            </a:r>
            <a:r>
              <a:rPr lang="en-US" sz="28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</a:t>
            </a:r>
            <a:r>
              <a:rPr lang="en-US" sz="28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dụ</a:t>
            </a:r>
            <a:r>
              <a:rPr lang="en-US" sz="28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: </a:t>
            </a:r>
            <a:endParaRPr lang="en-US" sz="2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1662617" y="2690787"/>
            <a:ext cx="10115253" cy="2917465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50000"/>
              </a:lnSpc>
            </a:pPr>
            <a:r>
              <a:rPr sz="25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</a:t>
            </a:r>
            <a:r>
              <a:rPr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4 </a:t>
            </a:r>
            <a:r>
              <a:rPr lang="en-US" sz="2500" spc="-1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			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8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sz="2500" spc="28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</a:t>
            </a:r>
            <a:r>
              <a:rPr sz="2500" spc="15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 </a:t>
            </a:r>
            <a:r>
              <a:rPr sz="2500"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 </a:t>
            </a:r>
            <a:r>
              <a:rPr sz="250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nguyên </a:t>
            </a:r>
            <a:r>
              <a:rPr sz="2500" spc="3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-</a:t>
            </a:r>
            <a:r>
              <a:rPr sz="2500"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350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 marR="3148330">
              <a:lnSpc>
                <a:spcPct val="150000"/>
              </a:lnSpc>
            </a:pPr>
            <a:r>
              <a:rPr sz="25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</a:t>
            </a:r>
            <a:r>
              <a:rPr lang="en-US" sz="2500" spc="24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7.8		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8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sz="2500" spc="2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</a:t>
            </a:r>
            <a:r>
              <a:rPr sz="2500" spc="160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sz="2500"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120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</a:t>
            </a:r>
            <a:r>
              <a:rPr lang="en-US" sz="2500" spc="1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120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thưc</a:t>
            </a:r>
            <a:r>
              <a:rPr sz="2500" spc="1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3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–</a:t>
            </a:r>
            <a:r>
              <a:rPr sz="2500" spc="3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float</a:t>
            </a:r>
          </a:p>
          <a:p>
            <a:pPr marL="91440" marR="3148330">
              <a:lnSpc>
                <a:spcPct val="150000"/>
              </a:lnSpc>
            </a:pPr>
            <a:r>
              <a:rPr sz="25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</a:t>
            </a:r>
            <a:r>
              <a:rPr sz="2500" spc="2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1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"John"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		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8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sz="2500" spc="2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</a:t>
            </a:r>
            <a:r>
              <a:rPr sz="2500"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 </a:t>
            </a:r>
            <a:r>
              <a:rPr sz="2500" spc="120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</a:t>
            </a:r>
            <a:r>
              <a:rPr sz="2500" spc="1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3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–</a:t>
            </a:r>
            <a:r>
              <a:rPr sz="2500" spc="3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string</a:t>
            </a:r>
            <a:endParaRPr lang="en-US" sz="2500" spc="250" dirty="0">
              <a:solidFill>
                <a:srgbClr val="008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7100" marR="3714115" indent="-866775">
              <a:lnSpc>
                <a:spcPct val="150000"/>
              </a:lnSpc>
            </a:pPr>
            <a:r>
              <a:rPr lang="en-US"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 = b = c =</a:t>
            </a:r>
            <a:r>
              <a:rPr lang="en-US" sz="2500" b="1" spc="-3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1996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927100" indent="-927100">
              <a:lnSpc>
                <a:spcPct val="150000"/>
              </a:lnSpc>
            </a:pPr>
            <a:r>
              <a:rPr lang="en-US" sz="25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name, </a:t>
            </a:r>
            <a:r>
              <a:rPr lang="en-US"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age, male = “</a:t>
            </a:r>
            <a:r>
              <a:rPr lang="en-US" sz="2500" b="1" dirty="0" err="1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Trần</a:t>
            </a:r>
            <a:r>
              <a:rPr lang="en-US"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dirty="0" err="1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Huê</a:t>
            </a:r>
            <a:r>
              <a:rPr lang="en-US"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", 40 ,</a:t>
            </a:r>
            <a:r>
              <a:rPr lang="en-US" sz="2500" b="1" spc="-10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False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1" y="5726283"/>
            <a:ext cx="11933325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buClr>
                <a:srgbClr val="CC9900"/>
              </a:buClr>
              <a:buSzPct val="65217"/>
              <a:tabLst>
                <a:tab pos="354965" algn="l"/>
                <a:tab pos="355600" algn="l"/>
              </a:tabLst>
            </a:pPr>
            <a:r>
              <a:rPr lang="en-US" sz="2500" b="1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Chú</a:t>
            </a:r>
            <a:r>
              <a:rPr lang="en-US" sz="2500" b="1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ý: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Khi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gán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giá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trị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cho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biến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Python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sẽ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tự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biết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kiểu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dữ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liệu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114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của</a:t>
            </a:r>
            <a:r>
              <a:rPr lang="en-US" sz="2500" spc="-114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giá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trị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gán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cho</a:t>
            </a:r>
            <a:r>
              <a:rPr lang="en-US" sz="2500" spc="-3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biến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60724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BIẾN TRONG PYTHON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D7369DA-091C-43CA-9C14-C854816C811A}"/>
              </a:ext>
            </a:extLst>
          </p:cNvPr>
          <p:cNvSpPr txBox="1"/>
          <p:nvPr/>
        </p:nvSpPr>
        <p:spPr>
          <a:xfrm>
            <a:off x="3897551" y="845383"/>
            <a:ext cx="8728458" cy="48538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spcBef>
                <a:spcPts val="785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		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Cú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pháp</a:t>
            </a:r>
            <a:r>
              <a:rPr lang="en-US" sz="2500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 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type(data)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49197" y="845383"/>
            <a:ext cx="528798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785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2500" b="1" dirty="0" err="1">
                <a:latin typeface="Cambria" panose="02040503050406030204" pitchFamily="18" charset="0"/>
              </a:rPr>
              <a:t>Kiểm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tra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kiểu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dữ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liệu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sử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dụng</a:t>
            </a:r>
            <a:r>
              <a:rPr lang="en-US" sz="2500" b="1" dirty="0">
                <a:latin typeface="Cambria" panose="02040503050406030204" pitchFamily="18" charset="0"/>
              </a:rPr>
              <a:t> type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B4A67EA3-C3A6-4DDC-B2E8-8BA988CAA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49" y="1281432"/>
            <a:ext cx="4005359" cy="50937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x=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5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type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(x))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x=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‘TH24'</a:t>
            </a:r>
            <a:b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type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(x))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x=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True</a:t>
            </a:r>
            <a:b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type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(x))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x=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5.5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type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(x))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x=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complex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113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,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114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)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type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ourier New" panose="02070309020205020404" pitchFamily="49" charset="0"/>
              </a:rPr>
              <a:t>(x))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7C7B48-4F0E-410C-A2BF-A2AB8BF0BF7D}"/>
              </a:ext>
            </a:extLst>
          </p:cNvPr>
          <p:cNvSpPr/>
          <p:nvPr/>
        </p:nvSpPr>
        <p:spPr>
          <a:xfrm>
            <a:off x="3478696" y="1640534"/>
            <a:ext cx="8458200" cy="37856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x = 5 ta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kiểu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 &lt;class ‘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’&gt;</a:t>
            </a:r>
          </a:p>
          <a:p>
            <a:pPr>
              <a:lnSpc>
                <a:spcPct val="200000"/>
              </a:lnSpc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x = ‘TH24’ ta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kiểu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:&lt;class ‘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str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’&gt;</a:t>
            </a:r>
          </a:p>
          <a:p>
            <a:pPr>
              <a:lnSpc>
                <a:spcPct val="200000"/>
              </a:lnSpc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x = True ta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kiểu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:&lt;class ‘bool’&gt;</a:t>
            </a:r>
          </a:p>
          <a:p>
            <a:pPr>
              <a:lnSpc>
                <a:spcPct val="200000"/>
              </a:lnSpc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x = 5.5 ta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kiểu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:&lt;class ‘float’&gt;</a:t>
            </a:r>
          </a:p>
          <a:p>
            <a:pPr>
              <a:lnSpc>
                <a:spcPct val="200000"/>
              </a:lnSpc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x = complex(113,114) ta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kiểu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:&lt;class ‘complex’&gt;</a:t>
            </a:r>
          </a:p>
        </p:txBody>
      </p:sp>
    </p:spTree>
    <p:extLst>
      <p:ext uri="{BB962C8B-B14F-4D97-AF65-F5344CB8AC3E}">
        <p14:creationId xmlns:p14="http://schemas.microsoft.com/office/powerpoint/2010/main" val="40853124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NHẬP/XUẤT TRONG PYTHON</a:t>
            </a:r>
          </a:p>
        </p:txBody>
      </p:sp>
      <p:sp>
        <p:nvSpPr>
          <p:cNvPr id="12" name="object 3"/>
          <p:cNvSpPr txBox="1"/>
          <p:nvPr/>
        </p:nvSpPr>
        <p:spPr>
          <a:xfrm>
            <a:off x="218661" y="683132"/>
            <a:ext cx="11887199" cy="151002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375"/>
              </a:spcBef>
              <a:tabLst>
                <a:tab pos="241935" algn="l"/>
              </a:tabLst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     </a:t>
            </a:r>
            <a:r>
              <a:rPr sz="2500" b="1" spc="-1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var_name</a:t>
            </a:r>
            <a:r>
              <a:rPr sz="2500" b="1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=input(“message:”) </a:t>
            </a:r>
            <a:r>
              <a:rPr lang="en-US" sz="2500" b="1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     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#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hàm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input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trả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về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1</a:t>
            </a:r>
            <a:r>
              <a:rPr sz="2500" spc="-35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chuỗi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2065">
              <a:lnSpc>
                <a:spcPct val="100000"/>
              </a:lnSpc>
              <a:spcBef>
                <a:spcPts val="1225"/>
              </a:spcBef>
              <a:tabLst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            </a:t>
            </a:r>
            <a:r>
              <a:rPr sz="2500" b="1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print(value1[,value2,..]) </a:t>
            </a:r>
            <a:r>
              <a:rPr lang="en-US" sz="2500" b="1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                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#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in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ra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các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giá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trị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kiểu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bất</a:t>
            </a:r>
            <a:r>
              <a:rPr sz="2500" spc="5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</a:t>
            </a:r>
            <a:r>
              <a:rPr sz="2500" spc="-10" dirty="0" err="1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kỳ</a:t>
            </a:r>
            <a:endParaRPr lang="en-US" sz="2500" spc="-1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2065">
              <a:lnSpc>
                <a:spcPct val="100000"/>
              </a:lnSpc>
              <a:spcBef>
                <a:spcPts val="1225"/>
              </a:spcBef>
              <a:tabLst>
                <a:tab pos="241935" algn="l"/>
              </a:tabLst>
            </a:pPr>
            <a:r>
              <a:rPr lang="en-US"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Ví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</a:t>
            </a:r>
            <a:r>
              <a:rPr lang="en-US"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dụ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: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41784" y="1757157"/>
            <a:ext cx="10525538" cy="4653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vi-VN" sz="25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#nhập </a:t>
            </a:r>
            <a:r>
              <a:rPr lang="vi-VN" sz="2500" spc="20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tên, </a:t>
            </a:r>
            <a:r>
              <a:rPr lang="vi-VN" sz="2500" spc="22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tuổi  </a:t>
            </a:r>
            <a:endParaRPr lang="en-US" sz="2500" spc="225" dirty="0">
              <a:solidFill>
                <a:srgbClr val="008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>
              <a:lnSpc>
                <a:spcPct val="130000"/>
              </a:lnSpc>
            </a:pPr>
            <a:r>
              <a:rPr lang="vi-VN" sz="2500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name=input(</a:t>
            </a:r>
            <a:r>
              <a:rPr lang="vi-VN" sz="2500" spc="5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"Tên </a:t>
            </a:r>
            <a:r>
              <a:rPr lang="vi-VN" sz="2500" spc="-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bạn </a:t>
            </a:r>
            <a:r>
              <a:rPr lang="vi-VN" sz="2500" spc="25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</a:t>
            </a:r>
            <a:r>
              <a:rPr lang="en-US" sz="2500" spc="25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500" spc="13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gì?</a:t>
            </a:r>
            <a:r>
              <a:rPr lang="vi-VN" sz="2500" spc="52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500" spc="31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lang="vi-VN" sz="2500" spc="3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lang="en-US" sz="2500" spc="315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>
              <a:lnSpc>
                <a:spcPct val="130000"/>
              </a:lnSpc>
            </a:pPr>
            <a:r>
              <a:rPr lang="vi-VN" sz="2500" spc="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age=int(input(</a:t>
            </a:r>
            <a:r>
              <a:rPr lang="vi-VN" sz="2500" spc="13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"Bạn </a:t>
            </a:r>
            <a:r>
              <a:rPr lang="vi-VN" sz="2500" spc="-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bao </a:t>
            </a:r>
            <a:r>
              <a:rPr lang="vi-VN" sz="2500" spc="9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nhiêu </a:t>
            </a:r>
            <a:r>
              <a:rPr lang="vi-VN" sz="2500" spc="23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tuổi?"</a:t>
            </a:r>
            <a:r>
              <a:rPr lang="vi-VN" sz="2500" spc="2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))  </a:t>
            </a:r>
            <a:endParaRPr lang="en-US" sz="2500" spc="235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>
              <a:lnSpc>
                <a:spcPct val="130000"/>
              </a:lnSpc>
            </a:pPr>
            <a:r>
              <a:rPr lang="vi-VN"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lang="vi-VN" sz="25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lang="vi-VN" sz="2500"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 </a:t>
            </a:r>
            <a:r>
              <a:rPr lang="vi-VN" sz="2500" spc="-16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màn</a:t>
            </a:r>
            <a:r>
              <a:rPr lang="vi-VN" sz="2500" spc="-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500" spc="9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hình</a:t>
            </a:r>
            <a:endParaRPr lang="vi-VN"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>
              <a:lnSpc>
                <a:spcPct val="130000"/>
              </a:lnSpc>
            </a:pPr>
            <a:r>
              <a:rPr lang="vi-VN" sz="2500" spc="17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lang="vi-VN" sz="2500" spc="17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"Tên </a:t>
            </a:r>
            <a:r>
              <a:rPr lang="vi-VN" sz="2500" spc="9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bạn: </a:t>
            </a:r>
            <a:r>
              <a:rPr lang="vi-VN" sz="2500" spc="1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lang="vi-VN" sz="2500" spc="1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 </a:t>
            </a:r>
            <a:r>
              <a:rPr lang="vi-VN" sz="2500" spc="-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name)  </a:t>
            </a:r>
            <a:endParaRPr lang="en-US" sz="2500" spc="-35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>
              <a:lnSpc>
                <a:spcPct val="130000"/>
              </a:lnSpc>
            </a:pPr>
            <a:r>
              <a:rPr lang="vi-VN" sz="2500" spc="20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lang="vi-VN" sz="2500" spc="20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"Tuổi:"</a:t>
            </a:r>
            <a:r>
              <a:rPr lang="vi-VN" sz="2500" spc="20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+str(age))  </a:t>
            </a:r>
            <a:endParaRPr lang="en-US" sz="2500" spc="204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>
              <a:lnSpc>
                <a:spcPct val="130000"/>
              </a:lnSpc>
            </a:pPr>
            <a:r>
              <a:rPr lang="vi-VN"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lang="vi-VN" sz="2500" spc="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hoặc </a:t>
            </a:r>
            <a:r>
              <a:rPr lang="vi-VN" sz="25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lang="vi-VN" sz="2500" spc="9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theo  </a:t>
            </a:r>
            <a:r>
              <a:rPr lang="vi-VN" sz="2500"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cách</a:t>
            </a:r>
            <a:r>
              <a:rPr lang="vi-VN" sz="2500" spc="3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500" spc="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này</a:t>
            </a:r>
            <a:endParaRPr lang="en-US" sz="2500" spc="10" dirty="0">
              <a:solidFill>
                <a:srgbClr val="008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>
              <a:lnSpc>
                <a:spcPct val="130000"/>
              </a:lnSpc>
            </a:pPr>
            <a:r>
              <a:rPr lang="en-US" sz="2500" spc="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print("</a:t>
            </a:r>
            <a:r>
              <a:rPr lang="en-US" sz="2500" spc="175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Bạn</a:t>
            </a:r>
            <a:r>
              <a:rPr lang="en-US" sz="2500" spc="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", name, "</a:t>
            </a:r>
            <a:r>
              <a:rPr lang="en-US" sz="2500" spc="175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năm</a:t>
            </a:r>
            <a:r>
              <a:rPr lang="en-US" sz="2500" spc="17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nay</a:t>
            </a:r>
            <a:r>
              <a:rPr lang="en-US" sz="2500" spc="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", age ,'</a:t>
            </a:r>
            <a:r>
              <a:rPr lang="en-US" sz="2500" spc="175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tuổi</a:t>
            </a:r>
            <a:r>
              <a:rPr lang="en-US" sz="2500" spc="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')</a:t>
            </a:r>
          </a:p>
          <a:p>
            <a:pPr>
              <a:lnSpc>
                <a:spcPct val="130000"/>
              </a:lnSpc>
            </a:pPr>
            <a:r>
              <a:rPr lang="vi-VN" sz="2500" spc="2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lang="vi-VN" sz="2500" spc="21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"Kết </a:t>
            </a:r>
            <a:r>
              <a:rPr lang="vi-VN" sz="2500" spc="11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thúc </a:t>
            </a:r>
            <a:r>
              <a:rPr lang="vi-VN" sz="2500" spc="-6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chương </a:t>
            </a:r>
            <a:r>
              <a:rPr lang="vi-VN" sz="2500" spc="26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trình, </a:t>
            </a:r>
            <a:r>
              <a:rPr lang="vi-VN" sz="250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 xuống</a:t>
            </a:r>
            <a:r>
              <a:rPr lang="vi-VN" sz="2500" spc="18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vi-VN" sz="2500" spc="11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dòng",</a:t>
            </a:r>
            <a:r>
              <a:rPr lang="vi-VN" sz="2500" spc="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end</a:t>
            </a:r>
            <a:r>
              <a:rPr lang="vi-VN" sz="2500" spc="11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=""</a:t>
            </a:r>
            <a:r>
              <a:rPr lang="vi-VN" sz="2500" spc="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lang="vi-VN"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72008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TOÁN TỬ TRONG PYTHON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681609"/>
            <a:ext cx="227012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số</a:t>
            </a:r>
            <a:r>
              <a:rPr sz="2500" b="1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học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graphicFrame>
        <p:nvGraphicFramePr>
          <p:cNvPr id="6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089097"/>
              </p:ext>
            </p:extLst>
          </p:nvPr>
        </p:nvGraphicFramePr>
        <p:xfrm>
          <a:off x="426504" y="1250505"/>
          <a:ext cx="11240770" cy="4717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9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661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5" dirty="0">
                          <a:latin typeface="Carlito"/>
                          <a:cs typeface="Carlito"/>
                        </a:rPr>
                        <a:t>Operator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Name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Example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534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+</a:t>
                      </a: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Addition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+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661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-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Subtraction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-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661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*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Multiplication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*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66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/</a:t>
                      </a: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Division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/ 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661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%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Modulus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% 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661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**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Exponentiation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**</a:t>
                      </a:r>
                      <a:r>
                        <a:rPr sz="18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66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//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Floor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division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//</a:t>
                      </a:r>
                      <a:r>
                        <a:rPr sz="1800" spc="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1786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TOÁN TỬ TRONG PYTHON</a:t>
            </a:r>
          </a:p>
        </p:txBody>
      </p:sp>
      <p:sp>
        <p:nvSpPr>
          <p:cNvPr id="10" name="object 3"/>
          <p:cNvSpPr txBox="1"/>
          <p:nvPr/>
        </p:nvSpPr>
        <p:spPr>
          <a:xfrm>
            <a:off x="178904" y="728894"/>
            <a:ext cx="2922104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so</a:t>
            </a:r>
            <a:r>
              <a:rPr sz="2500" b="1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sánh</a:t>
            </a:r>
          </a:p>
        </p:txBody>
      </p:sp>
      <p:graphicFrame>
        <p:nvGraphicFramePr>
          <p:cNvPr id="11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451033"/>
              </p:ext>
            </p:extLst>
          </p:nvPr>
        </p:nvGraphicFramePr>
        <p:xfrm>
          <a:off x="378725" y="1199351"/>
          <a:ext cx="11359515" cy="29870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5" dirty="0">
                          <a:latin typeface="Carlito"/>
                          <a:cs typeface="Carlito"/>
                        </a:rPr>
                        <a:t>Operator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Name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Example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==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Equal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==</a:t>
                      </a:r>
                      <a:r>
                        <a:rPr sz="18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!=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Not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 equal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!=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&gt;</a:t>
                      </a: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Greater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than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&gt;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&lt;</a:t>
                      </a: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Less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than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&lt;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&gt;=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Greater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than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or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equal</a:t>
                      </a:r>
                      <a:r>
                        <a:rPr sz="1800" spc="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to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&gt;=</a:t>
                      </a:r>
                      <a:r>
                        <a:rPr sz="18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&lt;=</a:t>
                      </a: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Less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than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or equal</a:t>
                      </a:r>
                      <a:r>
                        <a:rPr sz="1800" spc="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to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&lt;=</a:t>
                      </a:r>
                      <a:r>
                        <a:rPr sz="18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8567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TOÁN TỬ TRONG PYTHON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681609"/>
            <a:ext cx="227012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 </a:t>
            </a:r>
            <a:r>
              <a:rPr sz="2500" b="1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gán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graphicFrame>
        <p:nvGraphicFramePr>
          <p:cNvPr id="10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400428"/>
              </p:ext>
            </p:extLst>
          </p:nvPr>
        </p:nvGraphicFramePr>
        <p:xfrm>
          <a:off x="314651" y="1211888"/>
          <a:ext cx="11249660" cy="4607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9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5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5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9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15" dirty="0">
                          <a:latin typeface="Carlito"/>
                          <a:cs typeface="Carlito"/>
                        </a:rPr>
                        <a:t>Operator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Example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10" dirty="0">
                          <a:latin typeface="Carlito"/>
                          <a:cs typeface="Carlito"/>
                        </a:rPr>
                        <a:t>Same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 As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21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dirty="0">
                          <a:latin typeface="Carlito"/>
                          <a:cs typeface="Carlito"/>
                        </a:rPr>
                        <a:t>=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</a:t>
                      </a:r>
                      <a:r>
                        <a:rPr sz="16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5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</a:t>
                      </a:r>
                      <a:r>
                        <a:rPr sz="16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5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21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10" dirty="0">
                          <a:latin typeface="Carlito"/>
                          <a:cs typeface="Carlito"/>
                        </a:rPr>
                        <a:t>+=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+= 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 x +</a:t>
                      </a:r>
                      <a:r>
                        <a:rPr sz="16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-=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-=</a:t>
                      </a:r>
                      <a:r>
                        <a:rPr sz="16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 x - 3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10" dirty="0">
                          <a:latin typeface="Carlito"/>
                          <a:cs typeface="Carlito"/>
                        </a:rPr>
                        <a:t>*=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*= 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 x *</a:t>
                      </a:r>
                      <a:r>
                        <a:rPr sz="16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921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10" dirty="0">
                          <a:latin typeface="Carlito"/>
                          <a:cs typeface="Carlito"/>
                        </a:rPr>
                        <a:t>/=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/=</a:t>
                      </a:r>
                      <a:r>
                        <a:rPr sz="16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 x /</a:t>
                      </a:r>
                      <a:r>
                        <a:rPr sz="16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9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10" dirty="0">
                          <a:latin typeface="Carlito"/>
                          <a:cs typeface="Carlito"/>
                        </a:rPr>
                        <a:t>%=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%=</a:t>
                      </a:r>
                      <a:r>
                        <a:rPr sz="16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 x %</a:t>
                      </a:r>
                      <a:r>
                        <a:rPr sz="16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0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9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10" dirty="0">
                          <a:latin typeface="Carlito"/>
                          <a:cs typeface="Carlito"/>
                        </a:rPr>
                        <a:t>//=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</a:t>
                      </a:r>
                      <a:r>
                        <a:rPr sz="1600" spc="-10" dirty="0">
                          <a:latin typeface="Carlito"/>
                          <a:cs typeface="Carlito"/>
                        </a:rPr>
                        <a:t>//=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 x //</a:t>
                      </a:r>
                      <a:r>
                        <a:rPr sz="1600" spc="-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10" dirty="0">
                          <a:latin typeface="Carlito"/>
                          <a:cs typeface="Carlito"/>
                        </a:rPr>
                        <a:t>**=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</a:t>
                      </a:r>
                      <a:r>
                        <a:rPr sz="1600" spc="-10" dirty="0">
                          <a:latin typeface="Carlito"/>
                          <a:cs typeface="Carlito"/>
                        </a:rPr>
                        <a:t>**=</a:t>
                      </a:r>
                      <a:r>
                        <a:rPr sz="1600" spc="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 x ** 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3921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&amp;=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&amp;=</a:t>
                      </a:r>
                      <a:r>
                        <a:rPr sz="16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 x &amp;</a:t>
                      </a:r>
                      <a:r>
                        <a:rPr sz="16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3920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10" dirty="0">
                          <a:latin typeface="Carlito"/>
                          <a:cs typeface="Carlito"/>
                        </a:rPr>
                        <a:t>|=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|=</a:t>
                      </a:r>
                      <a:r>
                        <a:rPr sz="16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 x | 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3959"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10" dirty="0">
                          <a:latin typeface="Carlito"/>
                          <a:cs typeface="Carlito"/>
                        </a:rPr>
                        <a:t>^=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^= 3</a:t>
                      </a:r>
                      <a:endParaRPr sz="160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spc="-5" dirty="0">
                          <a:latin typeface="Carlito"/>
                          <a:cs typeface="Carlito"/>
                        </a:rPr>
                        <a:t>x = x ^</a:t>
                      </a:r>
                      <a:r>
                        <a:rPr sz="160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600" spc="-5" dirty="0">
                          <a:latin typeface="Carlito"/>
                          <a:cs typeface="Carlito"/>
                        </a:rPr>
                        <a:t>3</a:t>
                      </a:r>
                      <a:endParaRPr sz="1600" dirty="0">
                        <a:latin typeface="Carlito"/>
                        <a:cs typeface="Carlito"/>
                      </a:endParaRPr>
                    </a:p>
                  </a:txBody>
                  <a:tcPr marL="0" marR="0" marT="596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7759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TOÁN TỬ TRONG PYTHON</a:t>
            </a:r>
          </a:p>
        </p:txBody>
      </p:sp>
      <p:sp>
        <p:nvSpPr>
          <p:cNvPr id="10" name="object 3"/>
          <p:cNvSpPr txBox="1"/>
          <p:nvPr/>
        </p:nvSpPr>
        <p:spPr>
          <a:xfrm>
            <a:off x="349250" y="673475"/>
            <a:ext cx="2524464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r>
              <a:rPr sz="2500" b="1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logic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258492" y="3636772"/>
            <a:ext cx="3426402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nhận</a:t>
            </a:r>
            <a:r>
              <a:rPr sz="2500" b="1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diện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graphicFrame>
        <p:nvGraphicFramePr>
          <p:cNvPr id="12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879198"/>
              </p:ext>
            </p:extLst>
          </p:nvPr>
        </p:nvGraphicFramePr>
        <p:xfrm>
          <a:off x="349250" y="1174432"/>
          <a:ext cx="11637342" cy="22555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4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4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8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1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15" dirty="0">
                          <a:latin typeface="Carlito"/>
                          <a:cs typeface="Carlito"/>
                        </a:rPr>
                        <a:t>Operator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Description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Example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and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Returns 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True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if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both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statements are</a:t>
                      </a:r>
                      <a:r>
                        <a:rPr sz="1800" spc="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true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&lt; 5 and x &lt;</a:t>
                      </a:r>
                      <a:r>
                        <a:rPr sz="1800" spc="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10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3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or</a:t>
                      </a:r>
                      <a:endParaRPr sz="1800" dirty="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Returns 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True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if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one of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the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statements</a:t>
                      </a:r>
                      <a:r>
                        <a:rPr sz="1800" spc="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is</a:t>
                      </a:r>
                      <a:endParaRPr sz="1800">
                        <a:latin typeface="Carlito"/>
                        <a:cs typeface="Carlito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true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&lt; 5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or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x &lt;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4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540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3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not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63055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20" dirty="0">
                          <a:latin typeface="Carlito"/>
                          <a:cs typeface="Carlito"/>
                        </a:rPr>
                        <a:t>Reverse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the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result, returns False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if the 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result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is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 true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not(x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&lt; 5 and x &lt;</a:t>
                      </a:r>
                      <a:r>
                        <a:rPr sz="1800" spc="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10)</a:t>
                      </a: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356242"/>
              </p:ext>
            </p:extLst>
          </p:nvPr>
        </p:nvGraphicFramePr>
        <p:xfrm>
          <a:off x="396599" y="4241140"/>
          <a:ext cx="11398801" cy="18287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7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9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1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15" dirty="0">
                          <a:latin typeface="Carlito"/>
                          <a:cs typeface="Carlito"/>
                        </a:rPr>
                        <a:t>Operator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Description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Example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8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is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4732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Returns 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True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if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both variables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are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the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same  object</a:t>
                      </a:r>
                      <a:endParaRPr sz="1800" dirty="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is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is not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2702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Returns </a:t>
                      </a:r>
                      <a:r>
                        <a:rPr sz="1800" spc="-30" dirty="0">
                          <a:latin typeface="Carlito"/>
                          <a:cs typeface="Carlito"/>
                        </a:rPr>
                        <a:t>True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if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both variables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are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not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the 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same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object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x is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not </a:t>
                      </a:r>
                      <a:r>
                        <a:rPr sz="1800" dirty="0">
                          <a:latin typeface="Carlito"/>
                          <a:cs typeface="Carlito"/>
                        </a:rPr>
                        <a:t>y</a:t>
                      </a: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1551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TOÁN TỬ TRONG PYTHON</a:t>
            </a:r>
          </a:p>
        </p:txBody>
      </p:sp>
      <p:sp>
        <p:nvSpPr>
          <p:cNvPr id="14" name="object 3"/>
          <p:cNvSpPr txBox="1"/>
          <p:nvPr/>
        </p:nvSpPr>
        <p:spPr>
          <a:xfrm>
            <a:off x="382206" y="681609"/>
            <a:ext cx="2818194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thành</a:t>
            </a:r>
            <a:r>
              <a:rPr sz="2500" b="1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viên</a:t>
            </a:r>
          </a:p>
        </p:txBody>
      </p:sp>
      <p:sp>
        <p:nvSpPr>
          <p:cNvPr id="15" name="object 4"/>
          <p:cNvSpPr txBox="1"/>
          <p:nvPr/>
        </p:nvSpPr>
        <p:spPr>
          <a:xfrm>
            <a:off x="288309" y="2951955"/>
            <a:ext cx="240665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</a:t>
            </a:r>
            <a:r>
              <a:rPr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logic</a:t>
            </a:r>
            <a:r>
              <a:rPr sz="2500" b="1" spc="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bit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graphicFrame>
        <p:nvGraphicFramePr>
          <p:cNvPr id="16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464357"/>
              </p:ext>
            </p:extLst>
          </p:nvPr>
        </p:nvGraphicFramePr>
        <p:xfrm>
          <a:off x="382206" y="1200848"/>
          <a:ext cx="10838180" cy="1523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400" spc="-10" dirty="0">
                          <a:latin typeface="Carlito"/>
                          <a:cs typeface="Carlito"/>
                        </a:rPr>
                        <a:t>Operator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Description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Example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in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79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1686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Returns </a:t>
                      </a:r>
                      <a:r>
                        <a:rPr sz="1400" spc="-20" dirty="0">
                          <a:latin typeface="Carlito"/>
                          <a:cs typeface="Carlito"/>
                        </a:rPr>
                        <a:t>True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if a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sequence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with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the specified value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is 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present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in the</a:t>
                      </a:r>
                      <a:r>
                        <a:rPr sz="1400" spc="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object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79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x in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y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79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not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 in</a:t>
                      </a:r>
                    </a:p>
                  </a:txBody>
                  <a:tcPr marL="0" marR="0" marT="679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31686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Returns </a:t>
                      </a:r>
                      <a:r>
                        <a:rPr sz="1400" spc="-20" dirty="0">
                          <a:latin typeface="Carlito"/>
                          <a:cs typeface="Carlito"/>
                        </a:rPr>
                        <a:t>True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if a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sequence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with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the specified value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is 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not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present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in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the</a:t>
                      </a:r>
                      <a:r>
                        <a:rPr sz="1400" spc="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object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79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x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not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in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y</a:t>
                      </a:r>
                    </a:p>
                  </a:txBody>
                  <a:tcPr marL="0" marR="0" marT="679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90840"/>
              </p:ext>
            </p:extLst>
          </p:nvPr>
        </p:nvGraphicFramePr>
        <p:xfrm>
          <a:off x="382206" y="3550983"/>
          <a:ext cx="10838180" cy="2560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6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spc="-10" dirty="0">
                          <a:latin typeface="Carlito"/>
                          <a:cs typeface="Carlito"/>
                        </a:rPr>
                        <a:t>Operator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79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Name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79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Description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79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&amp;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AND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Sets each bit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to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 if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both bits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are</a:t>
                      </a:r>
                      <a:r>
                        <a:rPr sz="1400" spc="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|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10" dirty="0">
                          <a:latin typeface="Carlito"/>
                          <a:cs typeface="Carlito"/>
                        </a:rPr>
                        <a:t>OR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Sets each bit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to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 if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one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of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two bits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is</a:t>
                      </a:r>
                      <a:r>
                        <a:rPr sz="14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^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15" dirty="0">
                          <a:latin typeface="Carlito"/>
                          <a:cs typeface="Carlito"/>
                        </a:rPr>
                        <a:t>XOR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Sets each bit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to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 if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only one of two bits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is</a:t>
                      </a:r>
                      <a:r>
                        <a:rPr sz="1400" spc="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1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dirty="0">
                          <a:latin typeface="Carlito"/>
                          <a:cs typeface="Carlito"/>
                        </a:rPr>
                        <a:t>~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15" dirty="0">
                          <a:latin typeface="Carlito"/>
                          <a:cs typeface="Carlito"/>
                        </a:rPr>
                        <a:t>NOT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10" dirty="0">
                          <a:latin typeface="Carlito"/>
                          <a:cs typeface="Carlito"/>
                        </a:rPr>
                        <a:t>Inverts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all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the</a:t>
                      </a:r>
                      <a:r>
                        <a:rPr sz="1400" spc="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bits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72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&lt;&lt;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15" dirty="0">
                          <a:latin typeface="Carlito"/>
                          <a:cs typeface="Carlito"/>
                        </a:rPr>
                        <a:t>Zero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fill left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shift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Shift left </a:t>
                      </a:r>
                      <a:r>
                        <a:rPr sz="1400" spc="-15" dirty="0">
                          <a:latin typeface="Carlito"/>
                          <a:cs typeface="Carlito"/>
                        </a:rPr>
                        <a:t>by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pushing </a:t>
                      </a:r>
                      <a:r>
                        <a:rPr sz="1400" spc="-15" dirty="0">
                          <a:latin typeface="Carlito"/>
                          <a:cs typeface="Carlito"/>
                        </a:rPr>
                        <a:t>zeros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in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from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the right and let the leftmost bits fall</a:t>
                      </a:r>
                      <a:r>
                        <a:rPr sz="1400" spc="7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off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&gt;&gt;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Signed right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shift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5" dirty="0">
                          <a:latin typeface="Carlito"/>
                          <a:cs typeface="Carlito"/>
                        </a:rPr>
                        <a:t>Shift right </a:t>
                      </a:r>
                      <a:r>
                        <a:rPr sz="1400" spc="-10" dirty="0">
                          <a:latin typeface="Carlito"/>
                          <a:cs typeface="Carlito"/>
                        </a:rPr>
                        <a:t>by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pushing copies of the leftmost bit </a:t>
                      </a:r>
                      <a:r>
                        <a:rPr sz="1400" dirty="0">
                          <a:latin typeface="Carlito"/>
                          <a:cs typeface="Carlito"/>
                        </a:rPr>
                        <a:t>in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from the left, and let the rightmost bits fall</a:t>
                      </a:r>
                      <a:r>
                        <a:rPr sz="1400" spc="8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400" spc="-5" dirty="0">
                          <a:latin typeface="Carlito"/>
                          <a:cs typeface="Carlito"/>
                        </a:rPr>
                        <a:t>off</a:t>
                      </a:r>
                      <a:endParaRPr sz="1400" dirty="0">
                        <a:latin typeface="Carlito"/>
                        <a:cs typeface="Carlito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1237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TOÁN TỬ TRONG PYTHON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B32C16-5B9C-4414-A618-426A7D650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549788"/>
              </p:ext>
            </p:extLst>
          </p:nvPr>
        </p:nvGraphicFramePr>
        <p:xfrm>
          <a:off x="1037687" y="1131784"/>
          <a:ext cx="10610972" cy="52318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604843">
                  <a:extLst>
                    <a:ext uri="{9D8B030D-6E8A-4147-A177-3AD203B41FA5}">
                      <a16:colId xmlns:a16="http://schemas.microsoft.com/office/drawing/2014/main" val="2098638574"/>
                    </a:ext>
                  </a:extLst>
                </a:gridCol>
                <a:gridCol w="2675425">
                  <a:extLst>
                    <a:ext uri="{9D8B030D-6E8A-4147-A177-3AD203B41FA5}">
                      <a16:colId xmlns:a16="http://schemas.microsoft.com/office/drawing/2014/main" val="3094919106"/>
                    </a:ext>
                  </a:extLst>
                </a:gridCol>
                <a:gridCol w="5330704">
                  <a:extLst>
                    <a:ext uri="{9D8B030D-6E8A-4147-A177-3AD203B41FA5}">
                      <a16:colId xmlns:a16="http://schemas.microsoft.com/office/drawing/2014/main" val="2250826372"/>
                    </a:ext>
                  </a:extLst>
                </a:gridCol>
              </a:tblGrid>
              <a:tr h="552060">
                <a:tc>
                  <a:txBody>
                    <a:bodyPr/>
                    <a:lstStyle/>
                    <a:p>
                      <a:pPr algn="ctr"/>
                      <a:r>
                        <a:rPr lang="vi-VN" sz="20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Thứ tự ưu tiên</a:t>
                      </a:r>
                      <a:endParaRPr lang="vi-VN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Toán</a:t>
                      </a:r>
                      <a:r>
                        <a:rPr lang="en-US" sz="20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tử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Miêu</a:t>
                      </a:r>
                      <a:r>
                        <a:rPr lang="en-US" sz="2000" b="1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tả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998335"/>
                  </a:ext>
                </a:extLst>
              </a:tr>
              <a:tr h="552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**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Toán tử mũ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634536"/>
                  </a:ext>
                </a:extLst>
              </a:tr>
              <a:tr h="6836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*     /     %     //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Phép nhân, chia, lấy phần dư và phép chia lấy phần nguyên</a:t>
                      </a:r>
                      <a:endParaRPr lang="vi-VN" sz="2000" b="1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803933"/>
                  </a:ext>
                </a:extLst>
              </a:tr>
              <a:tr h="552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+ –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Toán tử Cộng, Trừ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054188"/>
                  </a:ext>
                </a:extLst>
              </a:tr>
              <a:tr h="552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&lt;=  &lt;   &gt;    &gt;=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 toán tử so sánh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411995"/>
                  </a:ext>
                </a:extLst>
              </a:tr>
              <a:tr h="552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&lt;&gt; == !=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toán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tử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so </a:t>
                      </a:r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sánh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982567"/>
                  </a:ext>
                </a:extLst>
              </a:tr>
              <a:tr h="6836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=   %=   /=   //=   -=   +=   *=   **=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toán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tử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gán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716504"/>
                  </a:ext>
                </a:extLst>
              </a:tr>
              <a:tr h="552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is , is not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toán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tử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so </a:t>
                      </a:r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sánh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734794"/>
                  </a:ext>
                </a:extLst>
              </a:tr>
              <a:tr h="5520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not, or, and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Các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toán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tử</a:t>
                      </a:r>
                      <a:r>
                        <a:rPr lang="en-US" sz="2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Logic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20404" marR="20404" marT="6595" marB="659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62283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79513" y="654730"/>
            <a:ext cx="318638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785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2500" b="1" dirty="0" err="1">
                <a:latin typeface="Cambria" panose="02040503050406030204" pitchFamily="18" charset="0"/>
              </a:rPr>
              <a:t>Độ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ưu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tên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phép</a:t>
            </a:r>
            <a:r>
              <a:rPr lang="en-US" sz="2500" b="1" dirty="0">
                <a:latin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</a:rPr>
              <a:t>toán</a:t>
            </a:r>
            <a:endParaRPr lang="en-US" sz="25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2568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LẬP TRÌNH KIỂU DỮ LIỆU TRONG PYTHON</a:t>
            </a:r>
          </a:p>
        </p:txBody>
      </p:sp>
      <p:sp>
        <p:nvSpPr>
          <p:cNvPr id="11" name="object 3"/>
          <p:cNvSpPr txBox="1"/>
          <p:nvPr/>
        </p:nvSpPr>
        <p:spPr>
          <a:xfrm>
            <a:off x="271283" y="691585"/>
            <a:ext cx="11649434" cy="5733686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20000"/>
              </a:lnSpc>
            </a:pPr>
            <a:r>
              <a:rPr sz="22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Kiểu </a:t>
            </a:r>
            <a:r>
              <a:rPr sz="2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698500" indent="-343535">
              <a:lnSpc>
                <a:spcPct val="120000"/>
              </a:lnSpc>
              <a:buClr>
                <a:srgbClr val="CC9900"/>
              </a:buClr>
              <a:buSzPct val="65217"/>
              <a:buFont typeface="Courier New"/>
              <a:buChar char="o"/>
              <a:tabLst>
                <a:tab pos="698500" algn="l"/>
                <a:tab pos="699135" algn="l"/>
              </a:tabLst>
            </a:pPr>
            <a:r>
              <a:rPr sz="22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nguyên</a:t>
            </a:r>
            <a:r>
              <a:rPr sz="2200" spc="-4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(int)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698500" indent="-343535">
              <a:lnSpc>
                <a:spcPct val="120000"/>
              </a:lnSpc>
              <a:buClr>
                <a:srgbClr val="CC9900"/>
              </a:buClr>
              <a:buSzPct val="65217"/>
              <a:buFont typeface="Courier New"/>
              <a:buChar char="o"/>
              <a:tabLst>
                <a:tab pos="698500" algn="l"/>
                <a:tab pos="699135" algn="l"/>
              </a:tabLst>
            </a:pPr>
            <a:r>
              <a:rPr sz="22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thực</a:t>
            </a:r>
            <a:r>
              <a:rPr sz="2200" spc="-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(float)</a:t>
            </a:r>
          </a:p>
          <a:p>
            <a:pPr marL="698500" indent="-343535">
              <a:lnSpc>
                <a:spcPct val="120000"/>
              </a:lnSpc>
              <a:buClr>
                <a:srgbClr val="CC9900"/>
              </a:buClr>
              <a:buSzPct val="65217"/>
              <a:buFont typeface="Courier New"/>
              <a:buChar char="o"/>
              <a:tabLst>
                <a:tab pos="698500" algn="l"/>
                <a:tab pos="699135" algn="l"/>
              </a:tabLst>
            </a:pPr>
            <a:r>
              <a:rPr sz="22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Phân số: </a:t>
            </a:r>
            <a:r>
              <a:rPr sz="2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Fraction</a:t>
            </a:r>
            <a:r>
              <a:rPr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(&lt;Tử_số&gt;,</a:t>
            </a:r>
            <a:r>
              <a:rPr sz="2200" spc="-4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&lt;Mẫu_số&gt;)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698500" indent="-343535">
              <a:lnSpc>
                <a:spcPct val="120000"/>
              </a:lnSpc>
              <a:buClr>
                <a:srgbClr val="CC9900"/>
              </a:buClr>
              <a:buSzPct val="65217"/>
              <a:buFont typeface="Courier New"/>
              <a:buChar char="o"/>
              <a:tabLst>
                <a:tab pos="698500" algn="l"/>
                <a:tab pos="699135" algn="l"/>
              </a:tabLst>
            </a:pPr>
            <a:r>
              <a:rPr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VD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</a:t>
            </a:r>
            <a:r>
              <a:rPr sz="22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2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from</a:t>
            </a:r>
            <a:r>
              <a:rPr lang="en-US" sz="22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fractions </a:t>
            </a:r>
            <a:r>
              <a:rPr lang="en-US" sz="22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import</a:t>
            </a:r>
            <a:r>
              <a:rPr lang="en-US" sz="2200" b="1" spc="3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2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Fraction 		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</a:t>
            </a:r>
            <a:r>
              <a:rPr lang="en-US" sz="22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Khai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2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báo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200" i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sử</a:t>
            </a:r>
            <a:r>
              <a:rPr lang="en-US" sz="22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2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dụng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2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gói</a:t>
            </a:r>
            <a:r>
              <a:rPr lang="en-US" sz="2200" i="1" spc="-1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fractions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4965">
              <a:lnSpc>
                <a:spcPct val="120000"/>
              </a:lnSpc>
              <a:buClr>
                <a:srgbClr val="CC9900"/>
              </a:buClr>
              <a:buSzPct val="65217"/>
              <a:tabLst>
                <a:tab pos="698500" algn="l"/>
                <a:tab pos="699135" algn="l"/>
              </a:tabLst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		     </a:t>
            </a:r>
            <a:r>
              <a:rPr lang="en-US" sz="2200" b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fractions.Fraction</a:t>
            </a:r>
            <a:r>
              <a:rPr lang="en-US" sz="2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(1.5)  </a:t>
            </a:r>
            <a:r>
              <a:rPr lang="en-US" sz="22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hoặc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Fraction(1,</a:t>
            </a:r>
            <a:r>
              <a:rPr sz="2200" b="1" spc="-4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4)</a:t>
            </a:r>
            <a:endParaRPr sz="22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698500" indent="-343535">
              <a:lnSpc>
                <a:spcPct val="120000"/>
              </a:lnSpc>
              <a:buClr>
                <a:srgbClr val="CC9900"/>
              </a:buClr>
              <a:buSzPct val="65217"/>
              <a:buFont typeface="Courier New"/>
              <a:buChar char="o"/>
              <a:tabLst>
                <a:tab pos="698500" algn="l"/>
                <a:tab pos="699135" algn="l"/>
                <a:tab pos="5584190" algn="l"/>
              </a:tabLst>
            </a:pPr>
            <a:r>
              <a:rPr sz="22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</a:t>
            </a:r>
            <a:r>
              <a:rPr sz="2200" b="1" spc="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</a:t>
            </a:r>
            <a:r>
              <a:rPr lang="en-US" sz="2200" b="1" spc="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</a:t>
            </a:r>
            <a:r>
              <a:rPr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</a:t>
            </a:r>
            <a:r>
              <a:rPr sz="2200" b="1" spc="-1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Viế</a:t>
            </a:r>
            <a:r>
              <a:rPr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</a:t>
            </a:r>
            <a:r>
              <a:rPr sz="2200" b="1" spc="-1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chương</a:t>
            </a:r>
            <a:r>
              <a:rPr sz="2200" b="1" spc="-1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trình</a:t>
            </a:r>
            <a:r>
              <a:rPr sz="2200" b="1" spc="-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cộng</a:t>
            </a:r>
            <a:r>
              <a:rPr sz="2200" b="1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 </a:t>
            </a:r>
            <a:r>
              <a:rPr sz="22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phâ</a:t>
            </a:r>
            <a:r>
              <a:rPr sz="22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</a:t>
            </a:r>
            <a:r>
              <a:rPr sz="2200" b="1" spc="-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</a:t>
            </a:r>
            <a:r>
              <a:rPr sz="22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ố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1/4</a:t>
            </a:r>
            <a:r>
              <a:rPr sz="2200" b="1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+</a:t>
            </a:r>
            <a:r>
              <a:rPr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2/5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377950" lvl="1" indent="-352425">
              <a:lnSpc>
                <a:spcPct val="120000"/>
              </a:lnSpc>
              <a:buClr>
                <a:srgbClr val="CC9900"/>
              </a:buClr>
              <a:buSzPct val="63636"/>
              <a:buFont typeface="Courier New"/>
              <a:buChar char="o"/>
              <a:tabLst>
                <a:tab pos="1377950" algn="l"/>
                <a:tab pos="1378585" algn="l"/>
              </a:tabLst>
            </a:pPr>
            <a:r>
              <a:rPr sz="22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from</a:t>
            </a:r>
            <a:r>
              <a:rPr sz="22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fractions </a:t>
            </a:r>
            <a:r>
              <a:rPr sz="22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import</a:t>
            </a:r>
            <a:r>
              <a:rPr sz="2200" b="1" spc="3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Fraction</a:t>
            </a:r>
            <a:r>
              <a:rPr lang="en-US" sz="22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	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377950" lvl="1" indent="-352425">
              <a:lnSpc>
                <a:spcPct val="120000"/>
              </a:lnSpc>
              <a:buClr>
                <a:srgbClr val="CC9900"/>
              </a:buClr>
              <a:buSzPct val="63636"/>
              <a:buFont typeface="Courier New"/>
              <a:buChar char="o"/>
              <a:tabLst>
                <a:tab pos="1377950" algn="l"/>
                <a:tab pos="1378585" algn="l"/>
              </a:tabLst>
            </a:pPr>
            <a:r>
              <a:rPr sz="22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a=Fraction(1,4)+Fraction(2,5)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377950" lvl="1" indent="-352425">
              <a:lnSpc>
                <a:spcPct val="120000"/>
              </a:lnSpc>
              <a:buClr>
                <a:srgbClr val="CC9900"/>
              </a:buClr>
              <a:buSzPct val="63636"/>
              <a:buFont typeface="Courier New"/>
              <a:buChar char="o"/>
              <a:tabLst>
                <a:tab pos="1377950" algn="l"/>
                <a:tab pos="1378585" algn="l"/>
              </a:tabLst>
            </a:pPr>
            <a:r>
              <a:rPr sz="22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print(a)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>
              <a:lnSpc>
                <a:spcPct val="120000"/>
              </a:lnSpc>
            </a:pPr>
            <a:r>
              <a:rPr sz="22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Hoặc: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377950" lvl="1" indent="-352425">
              <a:lnSpc>
                <a:spcPct val="120000"/>
              </a:lnSpc>
              <a:buClr>
                <a:srgbClr val="CC9900"/>
              </a:buClr>
              <a:buSzPct val="63636"/>
              <a:buFont typeface="Courier New"/>
              <a:buChar char="o"/>
              <a:tabLst>
                <a:tab pos="1377950" algn="l"/>
                <a:tab pos="1378585" algn="l"/>
              </a:tabLst>
            </a:pPr>
            <a:r>
              <a:rPr sz="22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from fractions import</a:t>
            </a:r>
            <a:r>
              <a:rPr sz="2200" b="1" spc="3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Fraction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377950" lvl="1" indent="-352425">
              <a:lnSpc>
                <a:spcPct val="120000"/>
              </a:lnSpc>
              <a:buClr>
                <a:srgbClr val="CC9900"/>
              </a:buClr>
              <a:buSzPct val="63636"/>
              <a:buFont typeface="Courier New"/>
              <a:buChar char="o"/>
              <a:tabLst>
                <a:tab pos="1377950" algn="l"/>
                <a:tab pos="1378585" algn="l"/>
              </a:tabLst>
            </a:pPr>
            <a:r>
              <a:rPr sz="22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a=Fraction(‘1/4’)+Fraction(‘2/5’)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377950" lvl="1" indent="-352425">
              <a:lnSpc>
                <a:spcPct val="120000"/>
              </a:lnSpc>
              <a:buClr>
                <a:srgbClr val="CC9900"/>
              </a:buClr>
              <a:buSzPct val="63636"/>
              <a:buFont typeface="Courier New"/>
              <a:buChar char="o"/>
              <a:tabLst>
                <a:tab pos="1377950" algn="l"/>
                <a:tab pos="1378585" algn="l"/>
              </a:tabLst>
            </a:pPr>
            <a:r>
              <a:rPr sz="2200" b="1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print(a)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69891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LẬP TRÌNH KIỂU DỮ LIỆU TRONG PYTHON</a:t>
            </a:r>
          </a:p>
        </p:txBody>
      </p:sp>
      <p:sp>
        <p:nvSpPr>
          <p:cNvPr id="11" name="object 3"/>
          <p:cNvSpPr txBox="1"/>
          <p:nvPr/>
        </p:nvSpPr>
        <p:spPr>
          <a:xfrm>
            <a:off x="271283" y="691585"/>
            <a:ext cx="11649434" cy="5219121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20000"/>
              </a:lnSpc>
            </a:pPr>
            <a:r>
              <a:rPr sz="22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Kiểu</a:t>
            </a:r>
            <a:r>
              <a:rPr sz="22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2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</a:t>
            </a:r>
            <a:endParaRPr lang="en-US" sz="2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065" marR="5080">
              <a:lnSpc>
                <a:spcPct val="100000"/>
              </a:lnSpc>
              <a:spcBef>
                <a:spcPts val="105"/>
              </a:spcBef>
              <a:buClr>
                <a:srgbClr val="CC9900"/>
              </a:buClr>
              <a:buSzPct val="65000"/>
              <a:tabLst>
                <a:tab pos="355600" algn="l"/>
                <a:tab pos="356235" algn="l"/>
              </a:tabLst>
            </a:pPr>
            <a:r>
              <a:rPr lang="en-US"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Ví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3: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75"/>
              </a:spcBef>
              <a:buClr>
                <a:srgbClr val="CC9900"/>
              </a:buClr>
              <a:buSzPct val="65000"/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lang="en-US" sz="24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Phép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cộng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hai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phân</a:t>
            </a:r>
            <a:r>
              <a:rPr lang="en-US" sz="2400" spc="-7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   </a:t>
            </a:r>
          </a:p>
          <a:p>
            <a:pPr marL="12065">
              <a:lnSpc>
                <a:spcPct val="100000"/>
              </a:lnSpc>
              <a:spcBef>
                <a:spcPts val="475"/>
              </a:spcBef>
              <a:buClr>
                <a:srgbClr val="CC9900"/>
              </a:buClr>
              <a:buSzPct val="65000"/>
              <a:tabLst>
                <a:tab pos="355600" algn="l"/>
                <a:tab pos="356235" algn="l"/>
              </a:tabLst>
            </a:pPr>
            <a:r>
              <a:rPr lang="en-US" sz="2400" b="1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print(Fraction(1, </a:t>
            </a:r>
            <a:r>
              <a:rPr lang="en-US" sz="2400" b="1" spc="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10) </a:t>
            </a: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+ Fraction(5,</a:t>
            </a:r>
            <a:r>
              <a:rPr lang="en-US" sz="2400" b="1" spc="-8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10))		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# Output:</a:t>
            </a:r>
            <a:r>
              <a:rPr lang="en-US" sz="2400" i="1" spc="-114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3/5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Phép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trừ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spc="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hai</a:t>
            </a:r>
            <a:r>
              <a:rPr lang="en-US" sz="2400" i="1" spc="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phân</a:t>
            </a:r>
            <a:r>
              <a:rPr lang="en-US" sz="2400" i="1" spc="-9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419734">
              <a:spcBef>
                <a:spcPts val="480"/>
              </a:spcBef>
            </a:pPr>
            <a:r>
              <a:rPr lang="en-US" sz="2400" b="1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print(Fraction(9, </a:t>
            </a:r>
            <a:r>
              <a:rPr lang="en-US" sz="2400" b="1" spc="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14) </a:t>
            </a: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- Fraction(5,</a:t>
            </a:r>
            <a:r>
              <a:rPr lang="en-US" sz="2400" b="1" spc="-9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14))		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Output:</a:t>
            </a:r>
            <a:r>
              <a:rPr lang="en-US" sz="2400" i="1" spc="-114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2/7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Phép</a:t>
            </a:r>
            <a:r>
              <a:rPr lang="en-US" sz="2400" i="1" spc="-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nhân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>
              <a:spcBef>
                <a:spcPts val="480"/>
              </a:spcBef>
            </a:pP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print(Fraction(9, 7) * Fraction(5,</a:t>
            </a:r>
            <a:r>
              <a:rPr lang="en-US" sz="2400" b="1" spc="-12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7)) 			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Output:</a:t>
            </a:r>
            <a:r>
              <a:rPr lang="en-US" sz="2400" i="1" spc="-10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45/49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Phép</a:t>
            </a:r>
            <a:r>
              <a:rPr lang="en-US" sz="2400" spc="-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chia</a:t>
            </a:r>
          </a:p>
          <a:p>
            <a:pPr marL="419734">
              <a:lnSpc>
                <a:spcPct val="100000"/>
              </a:lnSpc>
              <a:spcBef>
                <a:spcPts val="580"/>
              </a:spcBef>
            </a:pPr>
            <a:r>
              <a:rPr lang="en-US" sz="2400" b="1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print(Fraction(18, </a:t>
            </a: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5) / Fraction(18, 10)) 		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#Output Fraction(2,</a:t>
            </a:r>
            <a:r>
              <a:rPr lang="en-US" sz="2400" i="1" spc="-14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1)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Clr>
                <a:srgbClr val="CC9900"/>
              </a:buClr>
              <a:buSzPct val="65000"/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Phép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lũy</a:t>
            </a:r>
            <a:r>
              <a:rPr lang="en-US" sz="2400" i="1" spc="-3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thừa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480"/>
              </a:spcBef>
              <a:tabLst>
                <a:tab pos="4667250" algn="l"/>
              </a:tabLst>
            </a:pPr>
            <a:r>
              <a:rPr lang="en-US" sz="2400" b="1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print(Fraction(3, </a:t>
            </a: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5) ** Fraction(2,</a:t>
            </a:r>
            <a:r>
              <a:rPr lang="en-US" sz="2400" b="1" spc="-2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1))		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#Output Fraction(9,</a:t>
            </a:r>
            <a:r>
              <a:rPr lang="en-US" sz="2400" i="1" spc="-1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25)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51084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LẬP TRÌNH KIỂU DỮ LIỆU TRONG PYTHON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71670" y="691585"/>
            <a:ext cx="11807686" cy="4716291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5400">
              <a:lnSpc>
                <a:spcPct val="120000"/>
              </a:lnSpc>
            </a:pPr>
            <a:r>
              <a:rPr sz="23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Kiểu </a:t>
            </a:r>
            <a:r>
              <a:rPr sz="23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</a:t>
            </a:r>
            <a:endParaRPr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711200" indent="-343535">
              <a:lnSpc>
                <a:spcPct val="120000"/>
              </a:lnSpc>
              <a:buClr>
                <a:srgbClr val="CC9900"/>
              </a:buClr>
              <a:buSzPct val="65217"/>
              <a:buFont typeface="Courier New"/>
              <a:buChar char="o"/>
              <a:tabLst>
                <a:tab pos="711200" algn="l"/>
                <a:tab pos="711835" algn="l"/>
              </a:tabLst>
            </a:pPr>
            <a:r>
              <a:rPr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nguyên</a:t>
            </a:r>
            <a:r>
              <a:rPr sz="2300" spc="-4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(int)</a:t>
            </a:r>
            <a:endParaRPr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711200" indent="-343535">
              <a:lnSpc>
                <a:spcPct val="120000"/>
              </a:lnSpc>
              <a:buClr>
                <a:srgbClr val="CC9900"/>
              </a:buClr>
              <a:buSzPct val="65217"/>
              <a:buFont typeface="Courier New"/>
              <a:buChar char="o"/>
              <a:tabLst>
                <a:tab pos="711200" algn="l"/>
                <a:tab pos="711835" algn="l"/>
              </a:tabLst>
            </a:pPr>
            <a:r>
              <a:rPr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thực</a:t>
            </a:r>
            <a:r>
              <a:rPr sz="2300" spc="-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(float)</a:t>
            </a:r>
          </a:p>
          <a:p>
            <a:pPr marL="711200" indent="-343535">
              <a:lnSpc>
                <a:spcPct val="120000"/>
              </a:lnSpc>
              <a:buClr>
                <a:srgbClr val="CC9900"/>
              </a:buClr>
              <a:buSzPct val="65217"/>
              <a:buFont typeface="Courier New"/>
              <a:buChar char="o"/>
              <a:tabLst>
                <a:tab pos="711200" algn="l"/>
                <a:tab pos="711835" algn="l"/>
              </a:tabLst>
            </a:pP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Kiểu </a:t>
            </a:r>
            <a:r>
              <a:rPr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phức: </a:t>
            </a:r>
            <a:r>
              <a:rPr sz="23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&lt;Phần thực&gt; + &lt;Phần ảo&gt;</a:t>
            </a:r>
            <a:r>
              <a:rPr sz="2300" b="1" spc="-8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j</a:t>
            </a:r>
          </a:p>
          <a:p>
            <a:pPr marL="939800">
              <a:lnSpc>
                <a:spcPct val="120000"/>
              </a:lnSpc>
            </a:pPr>
            <a:r>
              <a:rPr sz="23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Trong</a:t>
            </a:r>
            <a:r>
              <a:rPr sz="23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đó</a:t>
            </a:r>
          </a:p>
          <a:p>
            <a:pPr marL="1168400" lvl="1" indent="-229235">
              <a:lnSpc>
                <a:spcPct val="120000"/>
              </a:lnSpc>
              <a:buClr>
                <a:srgbClr val="CC9900"/>
              </a:buClr>
              <a:buSzPct val="63636"/>
              <a:buFont typeface="Arial"/>
              <a:buChar char="•"/>
              <a:tabLst>
                <a:tab pos="1168400" algn="l"/>
                <a:tab pos="1169035" algn="l"/>
              </a:tabLst>
            </a:pP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&lt;Phần thực&gt; &lt;Phần ảo&gt; </a:t>
            </a:r>
            <a:r>
              <a:rPr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là </a:t>
            </a: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</a:t>
            </a:r>
            <a:r>
              <a:rPr sz="23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thực</a:t>
            </a:r>
            <a:endParaRPr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168400" lvl="1" indent="-229235">
              <a:lnSpc>
                <a:spcPct val="120000"/>
              </a:lnSpc>
              <a:buClr>
                <a:srgbClr val="CC9900"/>
              </a:buClr>
              <a:buSzPct val="63636"/>
              <a:buFont typeface="Arial"/>
              <a:buChar char="•"/>
              <a:tabLst>
                <a:tab pos="1168400" algn="l"/>
                <a:tab pos="1169035" algn="l"/>
                <a:tab pos="4895215" algn="l"/>
              </a:tabLst>
            </a:pP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j là đơn vị ảo trong </a:t>
            </a:r>
            <a:r>
              <a:rPr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toán</a:t>
            </a:r>
            <a:r>
              <a:rPr sz="2300" spc="9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học</a:t>
            </a:r>
            <a:r>
              <a:rPr sz="2300" spc="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với	</a:t>
            </a:r>
            <a:r>
              <a:rPr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j</a:t>
            </a:r>
            <a:r>
              <a:rPr sz="2300" baseline="24904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 </a:t>
            </a: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=</a:t>
            </a:r>
            <a:r>
              <a:rPr sz="2300" spc="-19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-1</a:t>
            </a:r>
            <a:endParaRPr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168400" lvl="1" indent="-229235">
              <a:lnSpc>
                <a:spcPct val="120000"/>
              </a:lnSpc>
              <a:buClr>
                <a:srgbClr val="CC9900"/>
              </a:buClr>
              <a:buSzPct val="63636"/>
              <a:buFont typeface="Arial"/>
              <a:buChar char="•"/>
              <a:tabLst>
                <a:tab pos="1168400" algn="l"/>
                <a:tab pos="1169035" algn="l"/>
                <a:tab pos="3267075" algn="l"/>
              </a:tabLst>
            </a:pP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Tạo </a:t>
            </a:r>
            <a:r>
              <a:rPr sz="23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một</a:t>
            </a:r>
            <a:r>
              <a:rPr sz="2300" spc="4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</a:t>
            </a:r>
            <a:r>
              <a:rPr sz="2300" spc="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phức:	</a:t>
            </a:r>
            <a:r>
              <a:rPr sz="2300" b="1" spc="-5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complex(&lt;Phần_thực&gt;,&lt;Phần_ảo&gt;)</a:t>
            </a:r>
            <a:endParaRPr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168400" lvl="1" indent="-229235">
              <a:lnSpc>
                <a:spcPct val="120000"/>
              </a:lnSpc>
              <a:buClr>
                <a:srgbClr val="CC9900"/>
              </a:buClr>
              <a:buSzPct val="63636"/>
              <a:buFont typeface="Arial"/>
              <a:buChar char="•"/>
              <a:tabLst>
                <a:tab pos="1168400" algn="l"/>
                <a:tab pos="1169035" algn="l"/>
              </a:tabLst>
            </a:pP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Gán giá trị số phức cho </a:t>
            </a:r>
            <a:r>
              <a:rPr sz="23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một</a:t>
            </a:r>
            <a:r>
              <a:rPr sz="2300" spc="5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biến:</a:t>
            </a:r>
            <a:endParaRPr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168400">
              <a:lnSpc>
                <a:spcPct val="120000"/>
              </a:lnSpc>
            </a:pP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&lt;tên_biến&gt; = &lt;Phần_thực&gt; +</a:t>
            </a:r>
            <a:r>
              <a:rPr sz="2300" spc="-1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&lt;Phần_Ảo&gt;j</a:t>
            </a:r>
            <a:endParaRPr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939800">
              <a:lnSpc>
                <a:spcPct val="120000"/>
              </a:lnSpc>
            </a:pPr>
            <a:r>
              <a:rPr sz="2300" b="1" spc="-5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phức</a:t>
            </a:r>
            <a:r>
              <a:rPr sz="23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300" b="1" spc="-5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c=a+bj</a:t>
            </a:r>
            <a:endParaRPr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8117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LẬP TRÌNH KIỂU DỮ LIỆU TRONG PYTHON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322553" y="691585"/>
            <a:ext cx="11743551" cy="458523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30000"/>
              </a:lnSpc>
            </a:pPr>
            <a:r>
              <a:rPr sz="2500" b="1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Xuất </a:t>
            </a:r>
            <a:r>
              <a:rPr sz="2500" b="1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 từng phần của </a:t>
            </a:r>
            <a:r>
              <a:rPr sz="2500" b="1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một biến </a:t>
            </a:r>
            <a:r>
              <a:rPr sz="2500" b="1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</a:t>
            </a:r>
            <a:r>
              <a:rPr sz="2500" b="1" i="1" spc="-3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phức</a:t>
            </a:r>
            <a:endParaRPr sz="2500" b="1" i="1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2900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2477135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Xuất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</a:t>
            </a:r>
            <a:r>
              <a:rPr sz="2500" spc="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phần thực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	</a:t>
            </a:r>
            <a:r>
              <a:rPr sz="25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&lt;tên_biến&gt;.real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1549400" indent="-342900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4060825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Xuấ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phần</a:t>
            </a: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ả</a:t>
            </a:r>
            <a:r>
              <a:rPr sz="25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o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	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sz="2500" b="1" spc="-5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&lt;</a:t>
            </a:r>
            <a:r>
              <a:rPr sz="25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tên_biế</a:t>
            </a:r>
            <a:r>
              <a:rPr sz="2500" b="1" spc="-5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</a:t>
            </a:r>
            <a:r>
              <a:rPr sz="2500" b="1" spc="-1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&gt;</a:t>
            </a:r>
            <a:r>
              <a:rPr sz="25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.</a:t>
            </a:r>
            <a:r>
              <a:rPr sz="2500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imag</a:t>
            </a:r>
            <a:r>
              <a:rPr sz="25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</a:t>
            </a:r>
            <a:endParaRPr lang="en-US" sz="25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 marR="1549400">
              <a:lnSpc>
                <a:spcPct val="130000"/>
              </a:lnSpc>
              <a:tabLst>
                <a:tab pos="4060825" algn="l"/>
              </a:tabLst>
            </a:pP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Ví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dụ: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285115">
              <a:lnSpc>
                <a:spcPct val="130000"/>
              </a:lnSpc>
              <a:buClr>
                <a:srgbClr val="CC9900"/>
              </a:buClr>
              <a:buSzPct val="63636"/>
              <a:buFont typeface="Courier New"/>
              <a:buChar char="o"/>
              <a:tabLst>
                <a:tab pos="354965" algn="l"/>
                <a:tab pos="355600" algn="l"/>
                <a:tab pos="1917700" algn="l"/>
              </a:tabLst>
            </a:pP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Tạo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phức</a:t>
            </a:r>
            <a:r>
              <a:rPr lang="en-US" sz="2500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b="1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complex(1, 3)</a:t>
            </a:r>
            <a:r>
              <a:rPr sz="250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dùng </a:t>
            </a:r>
            <a:r>
              <a:rPr sz="2500" i="1" spc="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hàm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complex để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tạo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một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phức với phần</a:t>
            </a:r>
            <a:r>
              <a:rPr sz="2500" i="1" spc="-2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thực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là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1, ảo là 3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(1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+</a:t>
            </a:r>
            <a:r>
              <a:rPr sz="2500" i="1" spc="-5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3j)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285115">
              <a:lnSpc>
                <a:spcPct val="130000"/>
              </a:lnSpc>
              <a:buClr>
                <a:srgbClr val="CC9900"/>
              </a:buClr>
              <a:buSzPct val="63636"/>
              <a:buFont typeface="Courier New"/>
              <a:buChar char="o"/>
              <a:tabLst>
                <a:tab pos="354965" algn="l"/>
                <a:tab pos="355600" algn="l"/>
                <a:tab pos="1710055" algn="l"/>
              </a:tabLst>
            </a:pPr>
            <a:r>
              <a:rPr sz="2500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 = </a:t>
            </a:r>
            <a:r>
              <a:rPr lang="en-US" sz="2500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</a:t>
            </a:r>
            <a:r>
              <a:rPr sz="2500" spc="1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+</a:t>
            </a:r>
            <a:r>
              <a:rPr sz="2500" spc="-1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3</a:t>
            </a:r>
            <a:r>
              <a:rPr sz="2500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j	</a:t>
            </a:r>
            <a:endParaRPr lang="en-US" sz="2500" spc="-5" dirty="0">
              <a:solidFill>
                <a:srgbClr val="FF3399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285115">
              <a:lnSpc>
                <a:spcPct val="130000"/>
              </a:lnSpc>
              <a:buClr>
                <a:srgbClr val="CC9900"/>
              </a:buClr>
              <a:buSzPct val="63636"/>
              <a:buFont typeface="Courier New"/>
              <a:buChar char="o"/>
              <a:tabLst>
                <a:tab pos="354965" algn="l"/>
                <a:tab pos="355600" algn="l"/>
                <a:tab pos="1710055" algn="l"/>
              </a:tabLst>
            </a:pPr>
            <a:r>
              <a:rPr sz="2500" spc="-10" dirty="0" err="1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c.imag</a:t>
            </a:r>
            <a:r>
              <a:rPr sz="2500" spc="-1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lang="en-US" sz="2500" spc="-1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lấy phần ảo của số </a:t>
            </a:r>
            <a:r>
              <a:rPr sz="2500" i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phức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i="1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</a:t>
            </a:r>
            <a:r>
              <a:rPr sz="2500" i="1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+ </a:t>
            </a:r>
            <a:r>
              <a:rPr lang="en-US" sz="2500" i="1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3</a:t>
            </a:r>
            <a:r>
              <a:rPr sz="2500" i="1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j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mà ta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đã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gán cho biến</a:t>
            </a:r>
            <a:r>
              <a:rPr sz="2500" i="1" spc="5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285115">
              <a:lnSpc>
                <a:spcPct val="130000"/>
              </a:lnSpc>
              <a:buClr>
                <a:srgbClr val="CC9900"/>
              </a:buClr>
              <a:buSzPct val="65000"/>
              <a:buFont typeface="Courier New"/>
              <a:buChar char="o"/>
              <a:tabLst>
                <a:tab pos="354965" algn="l"/>
                <a:tab pos="355600" algn="l"/>
                <a:tab pos="1228725" algn="l"/>
              </a:tabLst>
            </a:pPr>
            <a:r>
              <a:rPr sz="250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c.real	</a:t>
            </a:r>
            <a:r>
              <a:rPr lang="en-US" sz="250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lấy </a:t>
            </a:r>
            <a:r>
              <a:rPr sz="2500" i="1" spc="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phần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thực</a:t>
            </a:r>
            <a:r>
              <a:rPr sz="2500" i="1" spc="-8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2.0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49806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CÁC HÀM XỬ LÝ TOÁN HỌC TRONG PYTHON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27827" y="772187"/>
            <a:ext cx="11748825" cy="4476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Thêm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thư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viện (module)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vào chương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trình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Python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dụng</a:t>
            </a:r>
            <a:r>
              <a:rPr sz="2500" spc="-4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lệnh</a:t>
            </a:r>
            <a:r>
              <a:rPr lang="en-US"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import</a:t>
            </a:r>
            <a:endParaRPr sz="25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50"/>
              </a:spcBef>
            </a:pPr>
            <a:r>
              <a:rPr sz="2500" b="1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import </a:t>
            </a:r>
            <a:r>
              <a:rPr sz="2500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module</a:t>
            </a:r>
            <a:r>
              <a:rPr lang="en-US" sz="2500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[ </a:t>
            </a:r>
            <a:r>
              <a:rPr sz="250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as</a:t>
            </a:r>
            <a:r>
              <a:rPr sz="2500" spc="-2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1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m]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065">
              <a:lnSpc>
                <a:spcPct val="100000"/>
              </a:lnSpc>
              <a:spcBef>
                <a:spcPts val="555"/>
              </a:spcBef>
              <a:buClr>
                <a:srgbClr val="CC9900"/>
              </a:buClr>
              <a:buSzPct val="65217"/>
              <a:tabLst>
                <a:tab pos="355600" algn="l"/>
                <a:tab pos="3562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Trong</a:t>
            </a:r>
            <a:r>
              <a:rPr sz="2500" b="1" spc="-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đó:</a:t>
            </a:r>
          </a:p>
          <a:p>
            <a:pPr marL="698500" lvl="1" indent="-285750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217"/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sz="2500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module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là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tên module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có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sẵn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trong Python</a:t>
            </a:r>
          </a:p>
          <a:p>
            <a:pPr marL="698500" lvl="1" indent="-285750">
              <a:lnSpc>
                <a:spcPct val="100000"/>
              </a:lnSpc>
              <a:spcBef>
                <a:spcPts val="555"/>
              </a:spcBef>
              <a:buClr>
                <a:srgbClr val="CC9900"/>
              </a:buClr>
              <a:buSzPct val="65217"/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sz="2500" spc="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được sử dụng như 1 bí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danh</a:t>
            </a:r>
          </a:p>
          <a:p>
            <a:pPr marL="12065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217"/>
              <a:tabLst>
                <a:tab pos="355600" algn="l"/>
                <a:tab pos="356235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Ví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dụ:</a:t>
            </a:r>
          </a:p>
          <a:p>
            <a:pPr marL="355600">
              <a:lnSpc>
                <a:spcPct val="100000"/>
              </a:lnSpc>
              <a:spcBef>
                <a:spcPts val="555"/>
              </a:spcBef>
            </a:pP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import</a:t>
            </a:r>
            <a:r>
              <a:rPr sz="2500" b="1" spc="-3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1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math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>
              <a:lnSpc>
                <a:spcPct val="100000"/>
              </a:lnSpc>
              <a:tabLst>
                <a:tab pos="4585335" algn="l"/>
              </a:tabLst>
            </a:pPr>
            <a:r>
              <a:rPr sz="250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print("Giá trị của pi </a:t>
            </a:r>
            <a:r>
              <a:rPr sz="2500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là:</a:t>
            </a:r>
            <a:r>
              <a:rPr sz="2500" spc="-1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",</a:t>
            </a:r>
            <a:r>
              <a:rPr sz="2500" spc="1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math.pi</a:t>
            </a:r>
            <a:r>
              <a:rPr sz="250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)	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#Giá trị của pi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là:</a:t>
            </a:r>
            <a:r>
              <a:rPr sz="2500" spc="40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3.141592</a:t>
            </a: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Hoặc: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50"/>
              </a:spcBef>
            </a:pP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import </a:t>
            </a:r>
            <a:r>
              <a:rPr sz="2500" spc="-1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math </a:t>
            </a: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as</a:t>
            </a:r>
            <a:r>
              <a:rPr sz="2500" b="1" spc="-1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57459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CÁC HÀM XỬ LÝ TOÁN HỌC TRONG PYTHON</a:t>
            </a:r>
          </a:p>
        </p:txBody>
      </p:sp>
      <p:sp>
        <p:nvSpPr>
          <p:cNvPr id="10" name="object 3"/>
          <p:cNvSpPr txBox="1"/>
          <p:nvPr/>
        </p:nvSpPr>
        <p:spPr>
          <a:xfrm>
            <a:off x="227827" y="774667"/>
            <a:ext cx="11798521" cy="4962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30000"/>
              </a:lnSpc>
              <a:buClr>
                <a:srgbClr val="CC9900"/>
              </a:buClr>
              <a:buSzPct val="65217"/>
              <a:tabLst>
                <a:tab pos="354965" algn="l"/>
                <a:tab pos="355600" algn="l"/>
              </a:tabLst>
            </a:pPr>
            <a:r>
              <a:rPr sz="2500" b="1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Lệnh from...import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Nhập một tên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cụ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thể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từ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module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mà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không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cần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nhập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toàn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bộ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module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428625">
              <a:lnSpc>
                <a:spcPct val="130000"/>
              </a:lnSpc>
            </a:pPr>
            <a:r>
              <a:rPr sz="2500" b="1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from </a:t>
            </a:r>
            <a:r>
              <a:rPr sz="250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&lt;tên </a:t>
            </a:r>
            <a:r>
              <a:rPr sz="2500" spc="-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module&gt; </a:t>
            </a:r>
            <a:r>
              <a:rPr sz="2500" b="1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import </a:t>
            </a:r>
            <a:r>
              <a:rPr sz="250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&lt;tên thành</a:t>
            </a:r>
            <a:r>
              <a:rPr sz="2500" spc="-45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solidFill>
                  <a:srgbClr val="FF3399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phần&gt;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>
              <a:lnSpc>
                <a:spcPct val="130000"/>
              </a:lnSpc>
              <a:buClr>
                <a:srgbClr val="CC9900"/>
              </a:buClr>
              <a:buSzPct val="65217"/>
              <a:tabLst>
                <a:tab pos="354965" algn="l"/>
                <a:tab pos="355600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Ví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dụ: Chỉ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nhập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pi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từ module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math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4665345">
              <a:lnSpc>
                <a:spcPct val="130000"/>
              </a:lnSpc>
            </a:pP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from </a:t>
            </a:r>
            <a:r>
              <a:rPr sz="2500" b="1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math</a:t>
            </a:r>
            <a:r>
              <a:rPr sz="2500" spc="-1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import </a:t>
            </a:r>
            <a:r>
              <a:rPr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pi</a:t>
            </a:r>
            <a:r>
              <a:rPr sz="250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print("Giá trị của pi </a:t>
            </a:r>
            <a:r>
              <a:rPr sz="2500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là:</a:t>
            </a:r>
            <a:r>
              <a:rPr sz="2500" spc="-10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",pi)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>
              <a:lnSpc>
                <a:spcPct val="130000"/>
              </a:lnSpc>
            </a:pP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Nhập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nhiều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thuộc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tính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từ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module</a:t>
            </a:r>
            <a:r>
              <a:rPr sz="2500" i="1" spc="-3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math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>
              <a:lnSpc>
                <a:spcPct val="130000"/>
              </a:lnSpc>
            </a:pP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from </a:t>
            </a:r>
            <a:r>
              <a:rPr sz="2500" spc="-1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math </a:t>
            </a: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import </a:t>
            </a:r>
            <a:r>
              <a:rPr sz="250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pi,</a:t>
            </a:r>
            <a:r>
              <a:rPr sz="2500" spc="-1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e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428625">
              <a:lnSpc>
                <a:spcPct val="130000"/>
              </a:lnSpc>
              <a:tabLst>
                <a:tab pos="2539365" algn="l"/>
                <a:tab pos="3670300" algn="l"/>
                <a:tab pos="6301105" algn="l"/>
              </a:tabLst>
            </a:pPr>
            <a:r>
              <a:rPr sz="250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</a:t>
            </a: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"PI="</a:t>
            </a:r>
            <a:r>
              <a:rPr sz="250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,pi,</a:t>
            </a: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"	E="</a:t>
            </a:r>
            <a:r>
              <a:rPr sz="250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,e)	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#Kết quả PI=</a:t>
            </a:r>
            <a:r>
              <a:rPr sz="2500" i="1" spc="-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3.1415	E=</a:t>
            </a:r>
            <a:r>
              <a:rPr sz="2500" i="1" spc="-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2.71828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>
              <a:lnSpc>
                <a:spcPct val="130000"/>
              </a:lnSpc>
            </a:pP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Nhập tất cả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tên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từ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module</a:t>
            </a:r>
            <a:r>
              <a:rPr sz="2500" i="1" spc="-6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math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>
              <a:lnSpc>
                <a:spcPct val="130000"/>
              </a:lnSpc>
            </a:pP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from </a:t>
            </a:r>
            <a:r>
              <a:rPr sz="2500" spc="-1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math </a:t>
            </a:r>
            <a:r>
              <a:rPr sz="2500" b="1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import</a:t>
            </a:r>
            <a:r>
              <a:rPr sz="2500" b="1" spc="-15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solidFill>
                  <a:srgbClr val="3D9104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*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54245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MỘT SỐ HÀM TOÁN HỌC TRONG PYTHON</a:t>
            </a:r>
          </a:p>
        </p:txBody>
      </p:sp>
      <p:sp>
        <p:nvSpPr>
          <p:cNvPr id="10" name="object 3"/>
          <p:cNvSpPr txBox="1"/>
          <p:nvPr/>
        </p:nvSpPr>
        <p:spPr>
          <a:xfrm>
            <a:off x="282491" y="691585"/>
            <a:ext cx="11753795" cy="3939348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475"/>
              </a:spcBef>
            </a:pPr>
            <a:r>
              <a:rPr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math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Các hàm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toán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học (sin()</a:t>
            </a:r>
            <a:r>
              <a:rPr sz="2500" spc="-5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v.v...).</a:t>
            </a:r>
          </a:p>
          <a:p>
            <a:pPr marL="12700">
              <a:lnSpc>
                <a:spcPct val="150000"/>
              </a:lnSpc>
              <a:spcBef>
                <a:spcPts val="1380"/>
              </a:spcBef>
            </a:pPr>
            <a:r>
              <a:rPr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cmath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Các hàm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toán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học cho số</a:t>
            </a:r>
            <a:r>
              <a:rPr sz="2500" spc="-6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phức.</a:t>
            </a:r>
          </a:p>
          <a:p>
            <a:pPr marL="12700" marR="5080">
              <a:lnSpc>
                <a:spcPct val="150000"/>
              </a:lnSpc>
            </a:pPr>
            <a:r>
              <a:rPr sz="2500" b="1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decimal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Khai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báo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của các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dạng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học thập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phân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tổng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quát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</a:t>
            </a: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random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Sinh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các số "giả"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ngẫu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nhiên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với các hàm phân bố xác 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suất thông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thường.</a:t>
            </a:r>
          </a:p>
          <a:p>
            <a:pPr marL="12700" marR="129539">
              <a:lnSpc>
                <a:spcPct val="150000"/>
              </a:lnSpc>
            </a:pPr>
            <a:r>
              <a:rPr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functools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Các hàm và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thao tác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có thứ tự ưu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tiên cao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hơn trên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các 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đối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tượng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gọi</a:t>
            </a:r>
            <a:r>
              <a:rPr sz="2500" spc="-3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được</a:t>
            </a:r>
          </a:p>
          <a:p>
            <a:pPr marL="12700">
              <a:lnSpc>
                <a:spcPct val="150000"/>
              </a:lnSpc>
              <a:spcBef>
                <a:spcPts val="1385"/>
              </a:spcBef>
            </a:pPr>
            <a:r>
              <a:rPr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operator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Tất cả các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toán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tử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chuẩn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của Python được cài đặt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sẵn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6864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MỘT SỐ HÀM TOÁN HỌC TRONG MATH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57645" y="691585"/>
            <a:ext cx="11629555" cy="5007781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50"/>
              </a:spcBef>
              <a:buClr>
                <a:srgbClr val="CC9900"/>
              </a:buClr>
              <a:buSzPct val="65217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sz="2500" b="1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ceil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(x): Trả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về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giá trị cận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trên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của số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thực</a:t>
            </a:r>
            <a:r>
              <a:rPr sz="2500" spc="4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x</a:t>
            </a:r>
          </a:p>
          <a:p>
            <a:pPr marL="469900" indent="-457200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217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fabs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(x):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Giá trị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tuyệt đối của</a:t>
            </a:r>
            <a:r>
              <a:rPr sz="2500" spc="-7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x.</a:t>
            </a:r>
          </a:p>
          <a:p>
            <a:pPr marL="469900" indent="-457200">
              <a:lnSpc>
                <a:spcPct val="100000"/>
              </a:lnSpc>
              <a:spcBef>
                <a:spcPts val="555"/>
              </a:spcBef>
              <a:buClr>
                <a:srgbClr val="CC9900"/>
              </a:buClr>
              <a:buSzPct val="65217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floor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(x): Trả về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giá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trị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cận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dưới của số thực x, tương ứng với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giá</a:t>
            </a:r>
            <a:r>
              <a:rPr sz="2500" spc="-1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trị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nguyên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lớn nhất nhỏ hơn</a:t>
            </a:r>
            <a:r>
              <a:rPr sz="2500" spc="-6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x.</a:t>
            </a:r>
          </a:p>
          <a:p>
            <a:pPr marL="469900" indent="-457200">
              <a:lnSpc>
                <a:spcPct val="100000"/>
              </a:lnSpc>
              <a:spcBef>
                <a:spcPts val="555"/>
              </a:spcBef>
              <a:buClr>
                <a:srgbClr val="CC9900"/>
              </a:buClr>
              <a:buSzPct val="65217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sz="2500" b="1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exp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(x):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Trả về</a:t>
            </a:r>
            <a:r>
              <a:rPr sz="2500" spc="-3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e**x</a:t>
            </a:r>
          </a:p>
          <a:p>
            <a:pPr marL="469900" indent="-457200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217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sz="2500" b="1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pow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(x,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y): Trả về x **</a:t>
            </a:r>
            <a:r>
              <a:rPr sz="2500" spc="-5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y</a:t>
            </a:r>
          </a:p>
          <a:p>
            <a:pPr marL="469900" indent="-457200">
              <a:lnSpc>
                <a:spcPct val="100000"/>
              </a:lnSpc>
              <a:spcBef>
                <a:spcPts val="555"/>
              </a:spcBef>
              <a:buClr>
                <a:srgbClr val="CC9900"/>
              </a:buClr>
              <a:buSzPct val="65217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sqrt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(x): Trả về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căn bậc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của</a:t>
            </a:r>
            <a:r>
              <a:rPr sz="2500" spc="-3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x.</a:t>
            </a:r>
          </a:p>
          <a:p>
            <a:pPr marL="469900" indent="-457200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217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acos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(x): Trả về arc coosin của x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theo</a:t>
            </a:r>
            <a:r>
              <a:rPr sz="2500" spc="-9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radian.</a:t>
            </a:r>
          </a:p>
          <a:p>
            <a:pPr marL="469900" indent="-457200">
              <a:lnSpc>
                <a:spcPct val="100000"/>
              </a:lnSpc>
              <a:spcBef>
                <a:spcPts val="555"/>
              </a:spcBef>
              <a:buClr>
                <a:srgbClr val="CC9900"/>
              </a:buClr>
              <a:buSzPct val="65217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degrees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(x): Chuyển góc x từ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radian sang</a:t>
            </a:r>
            <a:r>
              <a:rPr sz="2500" spc="-4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độ.</a:t>
            </a:r>
          </a:p>
          <a:p>
            <a:pPr marL="469900" indent="-457200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217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sz="25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radians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(x): Chuyển góc x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từ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độ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sang</a:t>
            </a:r>
            <a:r>
              <a:rPr sz="2500" spc="-9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radian.</a:t>
            </a:r>
          </a:p>
          <a:p>
            <a:pPr marL="469900" indent="-457200">
              <a:lnSpc>
                <a:spcPct val="100000"/>
              </a:lnSpc>
              <a:spcBef>
                <a:spcPts val="555"/>
              </a:spcBef>
              <a:buClr>
                <a:srgbClr val="CC9900"/>
              </a:buClr>
              <a:buSzPct val="65217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0364207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Bài</a:t>
            </a:r>
            <a:r>
              <a:rPr lang="en-US" dirty="0"/>
              <a:t> 1-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Giới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thiệu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 -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Biến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</a:t>
            </a:r>
            <a:r>
              <a:rPr lang="en-US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liệu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Nhập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–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BÀI TẬP THỰC HÀNH</a:t>
            </a:r>
          </a:p>
        </p:txBody>
      </p:sp>
      <p:sp>
        <p:nvSpPr>
          <p:cNvPr id="11" name="object 9"/>
          <p:cNvSpPr>
            <a:spLocks noChangeArrowheads="1"/>
          </p:cNvSpPr>
          <p:nvPr/>
        </p:nvSpPr>
        <p:spPr bwMode="auto">
          <a:xfrm>
            <a:off x="1129748" y="930965"/>
            <a:ext cx="2368550" cy="49720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658139" y="2997125"/>
            <a:ext cx="54400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indent="-246063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indent="-246063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87450" indent="-20955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2088" indent="-20955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9192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3764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8336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2908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Xem</a:t>
            </a:r>
            <a:r>
              <a:rPr lang="en-US" altLang="en-US" sz="3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ở file word </a:t>
            </a:r>
            <a:r>
              <a:rPr lang="en-US" altLang="en-US" sz="30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bài</a:t>
            </a:r>
            <a:r>
              <a:rPr lang="en-US" altLang="en-US" sz="3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tập</a:t>
            </a:r>
            <a:r>
              <a:rPr lang="en-US" altLang="en-US" sz="3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6508208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HỌC PHẦN LẬP TRÌNH PYTHON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A475F0-D933-4B37-A9D6-DFD6D783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43" y="755084"/>
            <a:ext cx="1974036" cy="197403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D76142-C743-4DDD-90B9-B7FB62FE3EC2}"/>
              </a:ext>
            </a:extLst>
          </p:cNvPr>
          <p:cNvCxnSpPr/>
          <p:nvPr/>
        </p:nvCxnSpPr>
        <p:spPr>
          <a:xfrm>
            <a:off x="3162300" y="2485714"/>
            <a:ext cx="58674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object 2"/>
          <p:cNvSpPr txBox="1"/>
          <p:nvPr/>
        </p:nvSpPr>
        <p:spPr>
          <a:xfrm>
            <a:off x="4843820" y="1721259"/>
            <a:ext cx="315676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Bài</a:t>
            </a:r>
            <a:r>
              <a:rPr lang="en-US" sz="40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2</a:t>
            </a:r>
            <a:endParaRPr sz="4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7" name="object 3"/>
          <p:cNvSpPr txBox="1"/>
          <p:nvPr/>
        </p:nvSpPr>
        <p:spPr>
          <a:xfrm>
            <a:off x="1578831" y="2622434"/>
            <a:ext cx="9215065" cy="7201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5"/>
              </a:spcBef>
            </a:pPr>
            <a:r>
              <a:rPr lang="en-US" sz="3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 TRÚC ĐIỀU KHIỂN</a:t>
            </a:r>
            <a:endParaRPr sz="3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91240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BÀI 2: CẤU TRÚC ĐIỀU KHIỂN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A475F0-D933-4B37-A9D6-DFD6D783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43" y="755084"/>
            <a:ext cx="1974036" cy="1974036"/>
          </a:xfrm>
          <a:prstGeom prst="rect">
            <a:avLst/>
          </a:prstGeom>
        </p:spPr>
      </p:pic>
      <p:sp>
        <p:nvSpPr>
          <p:cNvPr id="11" name="object 5"/>
          <p:cNvSpPr txBox="1">
            <a:spLocks noGrp="1"/>
          </p:cNvSpPr>
          <p:nvPr>
            <p:ph type="title"/>
          </p:nvPr>
        </p:nvSpPr>
        <p:spPr>
          <a:xfrm>
            <a:off x="5545620" y="754208"/>
            <a:ext cx="19831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MỤC</a:t>
            </a:r>
            <a:r>
              <a:rPr sz="3200" b="1" spc="-14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TIÊU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97564" y="1162464"/>
            <a:ext cx="10933043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bày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vận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trúc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rẽ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nhánh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if</a:t>
            </a:r>
            <a:endParaRPr lang="en-US" sz="25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Nêu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vận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biểu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pass</a:t>
            </a:r>
          </a:p>
          <a:p>
            <a:pPr marR="0"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bày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vận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trúc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vòng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lặp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vi-VN" sz="25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while</a:t>
            </a:r>
            <a:r>
              <a:rPr lang="en-US" sz="25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vi-VN" sz="25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for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Nêu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vận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lệnh</a:t>
            </a:r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break, continue</a:t>
            </a:r>
            <a:endParaRPr lang="vi-VN" sz="2500" b="1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vi-VN" sz="25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4387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RẼ NHÁNH</a:t>
            </a:r>
          </a:p>
        </p:txBody>
      </p:sp>
      <p:sp>
        <p:nvSpPr>
          <p:cNvPr id="10" name="object 3"/>
          <p:cNvSpPr txBox="1"/>
          <p:nvPr/>
        </p:nvSpPr>
        <p:spPr>
          <a:xfrm>
            <a:off x="6927575" y="717916"/>
            <a:ext cx="5088834" cy="4411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hỗ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trợ các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“condition” như</a:t>
            </a:r>
            <a:r>
              <a:rPr sz="2500" b="1" spc="-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sau:</a:t>
            </a:r>
          </a:p>
          <a:p>
            <a:pPr marL="698500" lvl="1" indent="-229235">
              <a:lnSpc>
                <a:spcPct val="100000"/>
              </a:lnSpc>
              <a:spcBef>
                <a:spcPts val="1805"/>
              </a:spcBef>
              <a:buChar char="•"/>
              <a:tabLst>
                <a:tab pos="698500" algn="l"/>
                <a:tab pos="6991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Equals: a ==</a:t>
            </a:r>
            <a:r>
              <a:rPr sz="2500" spc="-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</a:t>
            </a:r>
          </a:p>
          <a:p>
            <a:pPr marL="698500" lvl="1" indent="-229235">
              <a:lnSpc>
                <a:spcPct val="100000"/>
              </a:lnSpc>
              <a:spcBef>
                <a:spcPts val="1689"/>
              </a:spcBef>
              <a:buChar char="•"/>
              <a:tabLst>
                <a:tab pos="698500" algn="l"/>
                <a:tab pos="6991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Not Equals: a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!=</a:t>
            </a:r>
            <a:r>
              <a:rPr sz="2500" spc="-7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</a:t>
            </a:r>
          </a:p>
          <a:p>
            <a:pPr marL="698500" lvl="1" indent="-229235">
              <a:lnSpc>
                <a:spcPct val="100000"/>
              </a:lnSpc>
              <a:spcBef>
                <a:spcPts val="1705"/>
              </a:spcBef>
              <a:buChar char="•"/>
              <a:tabLst>
                <a:tab pos="698500" algn="l"/>
                <a:tab pos="6991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Less than: a &lt;</a:t>
            </a:r>
            <a:r>
              <a:rPr sz="2500" spc="-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</a:t>
            </a:r>
          </a:p>
          <a:p>
            <a:pPr marL="698500" lvl="1" indent="-229235">
              <a:lnSpc>
                <a:spcPct val="100000"/>
              </a:lnSpc>
              <a:spcBef>
                <a:spcPts val="1705"/>
              </a:spcBef>
              <a:buChar char="•"/>
              <a:tabLst>
                <a:tab pos="698500" algn="l"/>
                <a:tab pos="6991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Less than or equal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to: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 &lt;=</a:t>
            </a:r>
            <a:r>
              <a:rPr sz="2500" spc="-1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</a:t>
            </a:r>
          </a:p>
          <a:p>
            <a:pPr marL="698500" lvl="1" indent="-229235">
              <a:lnSpc>
                <a:spcPct val="100000"/>
              </a:lnSpc>
              <a:spcBef>
                <a:spcPts val="1695"/>
              </a:spcBef>
              <a:buChar char="•"/>
              <a:tabLst>
                <a:tab pos="698500" algn="l"/>
                <a:tab pos="6991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Greater than: a &gt;</a:t>
            </a:r>
            <a:r>
              <a:rPr sz="2500" spc="-10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</a:t>
            </a:r>
          </a:p>
          <a:p>
            <a:pPr marL="698500" lvl="1" indent="-229235">
              <a:lnSpc>
                <a:spcPct val="100000"/>
              </a:lnSpc>
              <a:spcBef>
                <a:spcPts val="1705"/>
              </a:spcBef>
              <a:buChar char="•"/>
              <a:tabLst>
                <a:tab pos="698500" algn="l"/>
                <a:tab pos="6991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Greater than or equal to: a &gt;=</a:t>
            </a:r>
            <a:r>
              <a:rPr sz="2500" spc="-1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</a:t>
            </a:r>
          </a:p>
        </p:txBody>
      </p:sp>
      <p:sp>
        <p:nvSpPr>
          <p:cNvPr id="11" name="object 4"/>
          <p:cNvSpPr txBox="1"/>
          <p:nvPr/>
        </p:nvSpPr>
        <p:spPr>
          <a:xfrm>
            <a:off x="198031" y="738421"/>
            <a:ext cx="4870099" cy="151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Cú pháp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câu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</a:t>
            </a:r>
            <a:r>
              <a:rPr sz="2500" b="1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725170">
              <a:lnSpc>
                <a:spcPct val="100000"/>
              </a:lnSpc>
              <a:spcBef>
                <a:spcPts val="1465"/>
              </a:spcBef>
            </a:pP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if</a:t>
            </a:r>
            <a:r>
              <a:rPr sz="2500" b="1" spc="-4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</a:t>
            </a: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condition:</a:t>
            </a:r>
            <a:endParaRPr sz="25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182370">
              <a:lnSpc>
                <a:spcPct val="100000"/>
              </a:lnSpc>
              <a:spcBef>
                <a:spcPts val="1200"/>
              </a:spcBef>
            </a:pPr>
            <a:r>
              <a:rPr lang="en-US"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if - bock</a:t>
            </a:r>
            <a:endParaRPr sz="25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</p:txBody>
      </p:sp>
      <p:sp>
        <p:nvSpPr>
          <p:cNvPr id="14" name="object 3"/>
          <p:cNvSpPr txBox="1"/>
          <p:nvPr/>
        </p:nvSpPr>
        <p:spPr>
          <a:xfrm>
            <a:off x="198031" y="3788083"/>
            <a:ext cx="6282283" cy="1853071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0" lvl="1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217"/>
              <a:tabLst>
                <a:tab pos="698500" algn="l"/>
                <a:tab pos="699135" algn="l"/>
              </a:tabLst>
            </a:pP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Ví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1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457200" lvl="2">
              <a:spcBef>
                <a:spcPts val="550"/>
              </a:spcBef>
              <a:buClr>
                <a:srgbClr val="CC9900"/>
              </a:buClr>
              <a:buSzPct val="65217"/>
              <a:tabLst>
                <a:tab pos="698500" algn="l"/>
                <a:tab pos="699135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 = int(input(‘ a =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‘))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457200" lvl="2">
              <a:spcBef>
                <a:spcPts val="550"/>
              </a:spcBef>
              <a:buClr>
                <a:srgbClr val="CC9900"/>
              </a:buClr>
              <a:buSzPct val="65217"/>
              <a:tabLst>
                <a:tab pos="698500" algn="l"/>
                <a:tab pos="699135" algn="l"/>
              </a:tabLst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if</a:t>
            </a:r>
            <a:r>
              <a:rPr sz="2500" b="1" spc="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a&gt;0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 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kiểm tra a có lớn hơn 0</a:t>
            </a:r>
            <a:r>
              <a:rPr sz="2500" i="1" spc="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không</a:t>
            </a:r>
            <a:endParaRPr lang="en-US" sz="2500" i="1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457200" lvl="2">
              <a:spcBef>
                <a:spcPts val="550"/>
              </a:spcBef>
              <a:buClr>
                <a:srgbClr val="CC9900"/>
              </a:buClr>
              <a:buSzPct val="65217"/>
              <a:tabLst>
                <a:tab pos="698500" algn="l"/>
                <a:tab pos="699135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 , ‘là số</a:t>
            </a:r>
            <a:r>
              <a:rPr sz="2500" b="1" spc="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dương'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513" y="2249639"/>
            <a:ext cx="6738730" cy="1472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  <a:buClr>
                <a:srgbClr val="CC9900"/>
              </a:buClr>
              <a:buSzPct val="65217"/>
              <a:tabLst>
                <a:tab pos="698500" algn="l"/>
                <a:tab pos="699135" algn="l"/>
              </a:tabLst>
            </a:pPr>
            <a:r>
              <a:rPr lang="en-US" sz="23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Nếu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condition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= 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True </a:t>
            </a:r>
            <a:r>
              <a:rPr lang="en-US" sz="23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thì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thực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hiện</a:t>
            </a:r>
            <a:r>
              <a:rPr lang="en-US"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các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câu</a:t>
            </a:r>
            <a:r>
              <a:rPr lang="en-US" sz="2300" spc="-1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lệnh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trong</a:t>
            </a:r>
            <a:r>
              <a:rPr lang="en-US" sz="2300" spc="-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if-block.</a:t>
            </a:r>
          </a:p>
          <a:p>
            <a:pPr marL="0" lvl="1">
              <a:lnSpc>
                <a:spcPct val="130000"/>
              </a:lnSpc>
              <a:buClr>
                <a:srgbClr val="CC9900"/>
              </a:buClr>
              <a:buSzPct val="65217"/>
              <a:tabLst>
                <a:tab pos="698500" algn="l"/>
                <a:tab pos="699135" algn="l"/>
              </a:tabLst>
            </a:pPr>
            <a:r>
              <a:rPr lang="en-US" sz="23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Nếu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condition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= </a:t>
            </a:r>
            <a:r>
              <a:rPr lang="en-US" sz="23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False </a:t>
            </a:r>
            <a:r>
              <a:rPr lang="en-US" sz="23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thì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Python </a:t>
            </a:r>
            <a:r>
              <a:rPr lang="en-US" sz="23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sẽ</a:t>
            </a:r>
            <a:r>
              <a:rPr lang="en-US"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bỏ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qua </a:t>
            </a:r>
            <a:r>
              <a:rPr lang="en-US" sz="23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if-block</a:t>
            </a:r>
            <a:endParaRPr lang="en-US"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78000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RẼ NHÁNH</a:t>
            </a: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D7369DA-091C-43CA-9C14-C854816C811A}"/>
              </a:ext>
            </a:extLst>
          </p:cNvPr>
          <p:cNvSpPr txBox="1"/>
          <p:nvPr/>
        </p:nvSpPr>
        <p:spPr>
          <a:xfrm>
            <a:off x="192156" y="693363"/>
            <a:ext cx="11999844" cy="48538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0" lvl="1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tabLst>
                <a:tab pos="756920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Ví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dụ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2.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Giải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phương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trình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bậc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nhất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ax+b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=0 (b!=0)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6923047" y="5261690"/>
            <a:ext cx="665921" cy="5171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683102" y="5261690"/>
            <a:ext cx="2375452" cy="467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if…else</a:t>
            </a:r>
            <a:endParaRPr lang="en-US" sz="25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7B556BC0-D756-46B2-B24C-E11A3EA6E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283" y="1288607"/>
            <a:ext cx="332740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500" b="1" u="sng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Thuật</a:t>
            </a:r>
            <a:r>
              <a:rPr lang="en-US" altLang="en-US" sz="2500" b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b="1" u="sng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toán</a:t>
            </a:r>
            <a:endParaRPr lang="en-US" altLang="en-US" sz="2500" b="1" u="sng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FDB8680A-9F10-4ABF-AEA1-3EFA9A428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238" y="1190302"/>
            <a:ext cx="3713357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500" b="1" u="sng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en-US" sz="2500" b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b="1" u="sng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trình</a:t>
            </a:r>
            <a:endParaRPr lang="en-US" altLang="en-US" sz="2500" b="1" u="sng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Box 14">
            <a:extLst>
              <a:ext uri="{FF2B5EF4-FFF2-40B4-BE49-F238E27FC236}">
                <a16:creationId xmlns:a16="http://schemas.microsoft.com/office/drawing/2014/main" id="{1C9FE9A1-C15A-462F-B690-A1D11922C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96" y="1921704"/>
            <a:ext cx="439420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B1: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A, B</a:t>
            </a:r>
          </a:p>
        </p:txBody>
      </p:sp>
      <p:sp>
        <p:nvSpPr>
          <p:cNvPr id="25" name="Line 19">
            <a:extLst>
              <a:ext uri="{FF2B5EF4-FFF2-40B4-BE49-F238E27FC236}">
                <a16:creationId xmlns:a16="http://schemas.microsoft.com/office/drawing/2014/main" id="{09A8069C-BBE9-431E-AF13-EFE956783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3460" y="1467887"/>
            <a:ext cx="0" cy="411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Box 22">
            <a:extLst>
              <a:ext uri="{FF2B5EF4-FFF2-40B4-BE49-F238E27FC236}">
                <a16:creationId xmlns:a16="http://schemas.microsoft.com/office/drawing/2014/main" id="{24633B90-3ED9-4C02-9E56-2260C0823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6184" y="2760618"/>
            <a:ext cx="7415311" cy="89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if A == 0 and B != 0: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print(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US" sz="2400" b="1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28" name="Text Box 14">
            <a:extLst>
              <a:ext uri="{FF2B5EF4-FFF2-40B4-BE49-F238E27FC236}">
                <a16:creationId xmlns:a16="http://schemas.microsoft.com/office/drawing/2014/main" id="{B348B6FE-4BAA-4CA9-A9A3-091D7968F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53" y="4223906"/>
            <a:ext cx="426130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B3: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Nếu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khác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0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đưa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ra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báo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Phương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trình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có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nghiệm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9" name="Text Box 15">
            <a:extLst>
              <a:ext uri="{FF2B5EF4-FFF2-40B4-BE49-F238E27FC236}">
                <a16:creationId xmlns:a16="http://schemas.microsoft.com/office/drawing/2014/main" id="{46EDB7BC-B92A-4D18-ABB3-35D5F3547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6184" y="3840151"/>
            <a:ext cx="7392008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Arial" panose="020B0604020202020204" pitchFamily="34" charset="0"/>
              </a:rPr>
              <a:t>if A != 0:</a:t>
            </a:r>
            <a:endParaRPr lang="en-US" sz="2400" b="1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Arial" panose="020B0604020202020204" pitchFamily="34" charset="0"/>
              </a:rPr>
              <a:t>    </a:t>
            </a:r>
            <a:r>
              <a:rPr lang="en-US" sz="2400" b="1" dirty="0">
                <a:latin typeface="Courier New" panose="02070309020205020404" pitchFamily="49" charset="0"/>
                <a:ea typeface="Arial" panose="020B0604020202020204" pitchFamily="34" charset="0"/>
                <a:cs typeface="Courier New" panose="02070309020205020404" pitchFamily="49" charset="0"/>
              </a:rPr>
              <a:t>print(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:”,-B/A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="1" kern="9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30" name="Text Box 21">
            <a:extLst>
              <a:ext uri="{FF2B5EF4-FFF2-40B4-BE49-F238E27FC236}">
                <a16:creationId xmlns:a16="http://schemas.microsoft.com/office/drawing/2014/main" id="{3486429D-6F31-49E9-A3A2-808F08962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53" y="2686748"/>
            <a:ext cx="426130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B2: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Nếu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A =  0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B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khác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0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đưa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ra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báo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Phương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trình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vô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nghiệm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3" name="Text Box 22">
            <a:extLst>
              <a:ext uri="{FF2B5EF4-FFF2-40B4-BE49-F238E27FC236}">
                <a16:creationId xmlns:a16="http://schemas.microsoft.com/office/drawing/2014/main" id="{1F820719-B88E-4174-BA56-3ECAE92EB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7836" y="1776926"/>
            <a:ext cx="7415311" cy="89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A=int(input(“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Nhap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A=“))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B=int(input(“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Nhap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B=“))</a:t>
            </a:r>
          </a:p>
        </p:txBody>
      </p:sp>
    </p:spTree>
    <p:extLst>
      <p:ext uri="{BB962C8B-B14F-4D97-AF65-F5344CB8AC3E}">
        <p14:creationId xmlns:p14="http://schemas.microsoft.com/office/powerpoint/2010/main" val="399452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4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5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80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7" grpId="0"/>
      <p:bldP spid="28" grpId="0"/>
      <p:bldP spid="29" grpId="0"/>
      <p:bldP spid="30" grpId="0"/>
      <p:bldP spid="3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RẼ NHÁNH</a:t>
            </a:r>
          </a:p>
        </p:txBody>
      </p:sp>
      <p:sp>
        <p:nvSpPr>
          <p:cNvPr id="12" name="object 3"/>
          <p:cNvSpPr txBox="1"/>
          <p:nvPr/>
        </p:nvSpPr>
        <p:spPr>
          <a:xfrm>
            <a:off x="238539" y="739880"/>
            <a:ext cx="443928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Cú pháp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câu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</a:t>
            </a:r>
            <a:r>
              <a:rPr sz="2500" b="1" spc="-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if…else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044588F-0794-4A98-A4F0-D71F855EA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77" y="1310554"/>
            <a:ext cx="3000985" cy="3221987"/>
          </a:xfrm>
          <a:prstGeom prst="rect">
            <a:avLst/>
          </a:prstGeom>
        </p:spPr>
      </p:pic>
      <p:sp>
        <p:nvSpPr>
          <p:cNvPr id="24" name="object 3"/>
          <p:cNvSpPr txBox="1"/>
          <p:nvPr/>
        </p:nvSpPr>
        <p:spPr>
          <a:xfrm>
            <a:off x="3783301" y="2803436"/>
            <a:ext cx="7954811" cy="29527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50000"/>
              </a:lnSpc>
              <a:tabLst>
                <a:tab pos="355600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 = int(input(‘ a =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‘))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>
              <a:lnSpc>
                <a:spcPct val="150000"/>
              </a:lnSpc>
              <a:tabLst>
                <a:tab pos="355600" algn="l"/>
              </a:tabLst>
            </a:pP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if</a:t>
            </a:r>
            <a:r>
              <a:rPr sz="2500" b="1" spc="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a%2==0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	</a:t>
            </a: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kiểm tra a có chia hết cho 2</a:t>
            </a:r>
            <a:r>
              <a:rPr sz="2500" i="1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không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>
              <a:lnSpc>
                <a:spcPct val="150000"/>
              </a:lnSpc>
              <a:tabLst>
                <a:tab pos="355600" algn="l"/>
              </a:tabLst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 , ‘là số</a:t>
            </a:r>
            <a:r>
              <a:rPr sz="2500" b="1" spc="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chẵn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’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)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>
              <a:lnSpc>
                <a:spcPct val="150000"/>
              </a:lnSpc>
              <a:tabLst>
                <a:tab pos="355600" algn="l"/>
              </a:tabLst>
            </a:pP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else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</a:t>
            </a: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>
              <a:lnSpc>
                <a:spcPct val="150000"/>
              </a:lnSpc>
              <a:tabLst>
                <a:tab pos="355600" algn="l"/>
              </a:tabLst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 , ‘là số</a:t>
            </a:r>
            <a:r>
              <a:rPr sz="2500" b="1" spc="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lẻ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’)</a:t>
            </a:r>
            <a:endParaRPr lang="en-US" sz="2500" b="1" spc="-5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783301" y="2246230"/>
            <a:ext cx="1301190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355600" algn="l"/>
              </a:tabLst>
            </a:pP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Ví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1:</a:t>
            </a:r>
            <a:endParaRPr lang="vi-VN" sz="2500" b="1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79314" y="1158591"/>
            <a:ext cx="859219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30000"/>
              </a:lnSpc>
              <a:tabLst>
                <a:tab pos="355600" algn="l"/>
              </a:tabLst>
            </a:pPr>
            <a:r>
              <a:rPr lang="vi-VN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Nếu 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condition</a:t>
            </a:r>
            <a:r>
              <a:rPr lang="vi-VN"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nhận giá trị </a:t>
            </a:r>
            <a:r>
              <a:rPr lang="vi-VN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True 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thì thực </a:t>
            </a:r>
            <a:r>
              <a:rPr lang="vi-VN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hiện </a:t>
            </a:r>
            <a:r>
              <a:rPr lang="vi-VN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if-block 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và</a:t>
            </a:r>
            <a:r>
              <a:rPr lang="vi-VN" sz="2500" spc="-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kết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thúc. Ngược lại 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sẽ thực hiện </a:t>
            </a:r>
            <a:r>
              <a:rPr lang="vi-VN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else-block 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và </a:t>
            </a:r>
            <a:r>
              <a:rPr lang="vi-VN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kết</a:t>
            </a:r>
            <a:r>
              <a:rPr lang="vi-VN" sz="2500" spc="-1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thúc.</a:t>
            </a:r>
          </a:p>
        </p:txBody>
      </p:sp>
    </p:spTree>
    <p:extLst>
      <p:ext uri="{BB962C8B-B14F-4D97-AF65-F5344CB8AC3E}">
        <p14:creationId xmlns:p14="http://schemas.microsoft.com/office/powerpoint/2010/main" val="41344533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RẼ NHÁNH</a:t>
            </a:r>
          </a:p>
        </p:txBody>
      </p:sp>
      <p:sp>
        <p:nvSpPr>
          <p:cNvPr id="12" name="object 3"/>
          <p:cNvSpPr txBox="1"/>
          <p:nvPr/>
        </p:nvSpPr>
        <p:spPr>
          <a:xfrm>
            <a:off x="238539" y="739880"/>
            <a:ext cx="443928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Cú pháp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câu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</a:t>
            </a:r>
            <a:r>
              <a:rPr sz="2500" b="1" spc="-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if…else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044588F-0794-4A98-A4F0-D71F855EA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77" y="1310554"/>
            <a:ext cx="3000985" cy="3221987"/>
          </a:xfrm>
          <a:prstGeom prst="rect">
            <a:avLst/>
          </a:prstGeom>
        </p:spPr>
      </p:pic>
      <p:sp>
        <p:nvSpPr>
          <p:cNvPr id="14" name="Text Box 11">
            <a:extLst>
              <a:ext uri="{FF2B5EF4-FFF2-40B4-BE49-F238E27FC236}">
                <a16:creationId xmlns:a16="http://schemas.microsoft.com/office/drawing/2014/main" id="{8B232B37-6E4E-4241-A21E-DE4F5FFBC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801" y="1486020"/>
            <a:ext cx="3713357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500" b="1" u="sng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en-US" sz="2500" b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500" b="1" u="sng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trình</a:t>
            </a:r>
            <a:endParaRPr lang="en-US" altLang="en-US" sz="2500" b="1" u="sng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Box 22">
            <a:extLst>
              <a:ext uri="{FF2B5EF4-FFF2-40B4-BE49-F238E27FC236}">
                <a16:creationId xmlns:a16="http://schemas.microsoft.com/office/drawing/2014/main" id="{5CB65D40-FED8-43AB-9392-DDBAA7417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1453" y="3069277"/>
            <a:ext cx="7415311" cy="89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if A == 0 and B != 0: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print(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US" sz="2400" b="1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BA154117-94E5-4280-B3DA-661CF582B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1453" y="4148810"/>
            <a:ext cx="7392008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Arial" panose="020B0604020202020204" pitchFamily="34" charset="0"/>
              </a:rPr>
              <a:t>else:</a:t>
            </a:r>
            <a:endParaRPr lang="en-US" sz="2400" b="1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Arial" panose="020B0604020202020204" pitchFamily="34" charset="0"/>
              </a:rPr>
              <a:t>    </a:t>
            </a:r>
            <a:r>
              <a:rPr lang="en-US" sz="2400" b="1" dirty="0">
                <a:latin typeface="Courier New" panose="02070309020205020404" pitchFamily="49" charset="0"/>
                <a:ea typeface="Arial" panose="020B0604020202020204" pitchFamily="34" charset="0"/>
                <a:cs typeface="Courier New" panose="02070309020205020404" pitchFamily="49" charset="0"/>
              </a:rPr>
              <a:t>print(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:”,-B/A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="1" kern="9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FE8B860E-D111-46D6-A69A-E8290AC13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3105" y="2085585"/>
            <a:ext cx="7415311" cy="895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A=int(input(“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Nhap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A=“))</a:t>
            </a: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B=int(input(“</a:t>
            </a:r>
            <a:r>
              <a:rPr lang="en-US" sz="24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Nhap</a:t>
            </a:r>
            <a:r>
              <a:rPr lang="en-US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B=“))</a:t>
            </a:r>
          </a:p>
        </p:txBody>
      </p:sp>
      <p:sp>
        <p:nvSpPr>
          <p:cNvPr id="23" name="object 10">
            <a:extLst>
              <a:ext uri="{FF2B5EF4-FFF2-40B4-BE49-F238E27FC236}">
                <a16:creationId xmlns:a16="http://schemas.microsoft.com/office/drawing/2014/main" id="{BAC340D7-98E3-4ED6-B37B-5AB837E1AD37}"/>
              </a:ext>
            </a:extLst>
          </p:cNvPr>
          <p:cNvSpPr txBox="1"/>
          <p:nvPr/>
        </p:nvSpPr>
        <p:spPr>
          <a:xfrm>
            <a:off x="4260063" y="947570"/>
            <a:ext cx="7693398" cy="48538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0" lvl="1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tabLst>
                <a:tab pos="756920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Ví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dụ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2.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Giải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phương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trình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bậc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nhất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ax+b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=0 (b!=0)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2349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9" grpId="0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RẼ NHÁNH</a:t>
            </a:r>
          </a:p>
        </p:txBody>
      </p:sp>
      <p:sp>
        <p:nvSpPr>
          <p:cNvPr id="12" name="object 3"/>
          <p:cNvSpPr txBox="1"/>
          <p:nvPr/>
        </p:nvSpPr>
        <p:spPr>
          <a:xfrm>
            <a:off x="79513" y="691585"/>
            <a:ext cx="443928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Cú pháp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câu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</a:t>
            </a:r>
            <a:r>
              <a:rPr sz="2500" b="1" spc="-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if…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elif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…else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2072" y="1164611"/>
            <a:ext cx="3674165" cy="517064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if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1-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condition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1-if-block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elif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2-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condition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2-if-block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elif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3-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condition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3-if-block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…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elif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condition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n-if-block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else: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n+1-if-block</a:t>
            </a:r>
          </a:p>
        </p:txBody>
      </p:sp>
      <p:sp>
        <p:nvSpPr>
          <p:cNvPr id="11" name="object 3"/>
          <p:cNvSpPr txBox="1"/>
          <p:nvPr/>
        </p:nvSpPr>
        <p:spPr>
          <a:xfrm>
            <a:off x="4300139" y="1027394"/>
            <a:ext cx="7785844" cy="487922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R="305435" indent="12700">
              <a:lnSpc>
                <a:spcPct val="120000"/>
              </a:lnSpc>
            </a:pP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Bước 1: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Kiểm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tra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xem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-</a:t>
            </a:r>
            <a:r>
              <a:rPr lang="en-US"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condition</a:t>
            </a:r>
            <a:r>
              <a:rPr sz="24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=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True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thực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hiện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-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if-block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sau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đó kết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thúc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spc="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khối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spc="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lệnh</a:t>
            </a:r>
            <a:r>
              <a:rPr sz="2400" spc="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ngược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lại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chuyển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sang 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Bước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2.</a:t>
            </a:r>
          </a:p>
          <a:p>
            <a:pPr marL="12700">
              <a:lnSpc>
                <a:spcPct val="120000"/>
              </a:lnSpc>
            </a:pP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Bước 2: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Kiểu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tra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xem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-</a:t>
            </a:r>
            <a:r>
              <a:rPr lang="en-US"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condition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=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True 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thực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hiện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-if-block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sau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đó kết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thúc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khối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lệnh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ngược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lại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sang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Bước</a:t>
            </a:r>
            <a:r>
              <a:rPr sz="2400" spc="-6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3.</a:t>
            </a:r>
          </a:p>
          <a:p>
            <a:pPr marR="72390" indent="12700">
              <a:lnSpc>
                <a:spcPct val="120000"/>
              </a:lnSpc>
            </a:pP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Bước 3: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Kiểm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tra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xem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3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-</a:t>
            </a:r>
            <a:r>
              <a:rPr lang="en-US"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condition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=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True</a:t>
            </a:r>
            <a:r>
              <a:rPr sz="2400" b="1" spc="4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thực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hiện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3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-if-block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sau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đó kết thúc khối,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ngược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lại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sang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Bước</a:t>
            </a:r>
            <a:r>
              <a:rPr sz="2400" spc="-6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4…</a:t>
            </a:r>
          </a:p>
          <a:p>
            <a:pPr marL="12700">
              <a:lnSpc>
                <a:spcPct val="120000"/>
              </a:lnSpc>
            </a:pP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Bước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n: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Kiểm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tra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xem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-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condition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=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True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thực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hiện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-if-block sau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đó kết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thúc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khối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ngược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lại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sang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Bước  n+1</a:t>
            </a:r>
          </a:p>
          <a:p>
            <a:pPr marL="12700">
              <a:lnSpc>
                <a:spcPct val="120000"/>
              </a:lnSpc>
              <a:tabLst>
                <a:tab pos="1339850" algn="l"/>
              </a:tabLst>
            </a:pP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Bước</a:t>
            </a:r>
            <a:r>
              <a:rPr sz="2400" b="1" spc="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n+1:	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Thực thi khối lệnh # n+1-if-block và kết thúc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khối.</a:t>
            </a:r>
          </a:p>
        </p:txBody>
      </p:sp>
    </p:spTree>
    <p:extLst>
      <p:ext uri="{BB962C8B-B14F-4D97-AF65-F5344CB8AC3E}">
        <p14:creationId xmlns:p14="http://schemas.microsoft.com/office/powerpoint/2010/main" val="5363797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RẼ NHÁNH</a:t>
            </a:r>
          </a:p>
        </p:txBody>
      </p:sp>
      <p:sp>
        <p:nvSpPr>
          <p:cNvPr id="12" name="object 3"/>
          <p:cNvSpPr txBox="1"/>
          <p:nvPr/>
        </p:nvSpPr>
        <p:spPr>
          <a:xfrm>
            <a:off x="79513" y="691585"/>
            <a:ext cx="443928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Cú pháp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câu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</a:t>
            </a:r>
            <a:r>
              <a:rPr sz="2500" b="1" spc="-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if…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elif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…else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18798" y="895561"/>
            <a:ext cx="6051157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4965">
              <a:lnSpc>
                <a:spcPct val="150000"/>
              </a:lnSpc>
              <a:spcBef>
                <a:spcPts val="555"/>
              </a:spcBef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Ví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1:</a:t>
            </a:r>
          </a:p>
          <a:p>
            <a:pPr marL="354965">
              <a:lnSpc>
                <a:spcPct val="150000"/>
              </a:lnSpc>
              <a:spcBef>
                <a:spcPts val="555"/>
              </a:spcBef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time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=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int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(input(‘time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=</a:t>
            </a:r>
            <a:r>
              <a:rPr lang="en-US" sz="2500" spc="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‘)</a:t>
            </a:r>
          </a:p>
          <a:p>
            <a:pPr marL="354965">
              <a:lnSpc>
                <a:spcPct val="150000"/>
              </a:lnSpc>
              <a:spcBef>
                <a:spcPts val="555"/>
              </a:spcBef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if 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(time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&lt;</a:t>
            </a:r>
            <a:r>
              <a:rPr lang="en-US" sz="2500" spc="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10):</a:t>
            </a:r>
          </a:p>
          <a:p>
            <a:pPr marL="354965" marR="1423035" indent="571500">
              <a:lnSpc>
                <a:spcPct val="150000"/>
              </a:lnSpc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 ("Good</a:t>
            </a:r>
            <a:r>
              <a:rPr lang="en-US" sz="2500" spc="-8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morning") 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elif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(time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&lt;</a:t>
            </a:r>
            <a:r>
              <a:rPr lang="en-US" sz="2500" spc="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20):</a:t>
            </a:r>
          </a:p>
          <a:p>
            <a:pPr marL="926465">
              <a:lnSpc>
                <a:spcPct val="150000"/>
              </a:lnSpc>
              <a:spcBef>
                <a:spcPts val="550"/>
              </a:spcBef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 ("Good</a:t>
            </a:r>
            <a:r>
              <a:rPr lang="en-US" sz="2500" spc="-4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day")</a:t>
            </a:r>
          </a:p>
          <a:p>
            <a:pPr marL="354965">
              <a:lnSpc>
                <a:spcPct val="150000"/>
              </a:lnSpc>
              <a:spcBef>
                <a:spcPts val="555"/>
              </a:spcBef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else: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926465">
              <a:lnSpc>
                <a:spcPct val="150000"/>
              </a:lnSpc>
              <a:spcBef>
                <a:spcPts val="550"/>
              </a:spcBef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 ("Good</a:t>
            </a:r>
            <a:r>
              <a:rPr lang="en-US" sz="2500" spc="-4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evening")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068471-3B59-4529-8862-68EB43C392F0}"/>
              </a:ext>
            </a:extLst>
          </p:cNvPr>
          <p:cNvSpPr/>
          <p:nvPr/>
        </p:nvSpPr>
        <p:spPr>
          <a:xfrm>
            <a:off x="462072" y="1164611"/>
            <a:ext cx="3674165" cy="517064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if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1-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condition 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1-if-block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elif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2-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condition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2-if-block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elif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3-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condition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3-if-block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…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elif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condition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n-if-block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else: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n+1-if-block</a:t>
            </a:r>
          </a:p>
        </p:txBody>
      </p:sp>
    </p:spTree>
    <p:extLst>
      <p:ext uri="{BB962C8B-B14F-4D97-AF65-F5344CB8AC3E}">
        <p14:creationId xmlns:p14="http://schemas.microsoft.com/office/powerpoint/2010/main" val="38010571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RẼ NHÁNH</a:t>
            </a:r>
          </a:p>
        </p:txBody>
      </p:sp>
      <p:sp>
        <p:nvSpPr>
          <p:cNvPr id="12" name="object 3"/>
          <p:cNvSpPr txBox="1"/>
          <p:nvPr/>
        </p:nvSpPr>
        <p:spPr>
          <a:xfrm>
            <a:off x="79513" y="691585"/>
            <a:ext cx="443928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Cú pháp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câu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</a:t>
            </a:r>
            <a:r>
              <a:rPr sz="2500" b="1" spc="-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if…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elif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…else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21" name="object 4"/>
          <p:cNvSpPr txBox="1"/>
          <p:nvPr/>
        </p:nvSpPr>
        <p:spPr>
          <a:xfrm>
            <a:off x="4418273" y="1174428"/>
            <a:ext cx="7339718" cy="4551886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94"/>
              </a:spcBef>
            </a:pPr>
            <a:r>
              <a:rPr sz="2500" b="1" u="heavy" spc="135" dirty="0" err="1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Ví</a:t>
            </a:r>
            <a:r>
              <a:rPr lang="en-US" sz="2500" b="1" u="heavy" spc="470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u="heavy" spc="55" dirty="0" err="1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</a:t>
            </a:r>
            <a:r>
              <a:rPr lang="en-US" sz="2500" b="1" u="heavy" spc="55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2</a:t>
            </a:r>
            <a:r>
              <a:rPr sz="2500" b="1" u="heavy" spc="55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1080"/>
              </a:spcBef>
            </a:pPr>
            <a:r>
              <a:rPr sz="2500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score=</a:t>
            </a:r>
            <a:r>
              <a:rPr sz="2500" spc="5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80</a:t>
            </a:r>
            <a:r>
              <a:rPr lang="en-US" sz="2500" spc="5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91820" marR="2736215" indent="-500380">
              <a:lnSpc>
                <a:spcPts val="3240"/>
              </a:lnSpc>
              <a:spcBef>
                <a:spcPts val="290"/>
              </a:spcBef>
            </a:pPr>
            <a:r>
              <a:rPr sz="2500" spc="53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 </a:t>
            </a:r>
            <a:r>
              <a:rPr sz="2500" spc="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score&gt;=</a:t>
            </a:r>
            <a:r>
              <a:rPr sz="2500" spc="4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0 </a:t>
            </a:r>
            <a:r>
              <a:rPr sz="2500" spc="-2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and </a:t>
            </a:r>
            <a:r>
              <a:rPr sz="25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score&lt;=</a:t>
            </a:r>
            <a:r>
              <a:rPr sz="2500" spc="8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50</a:t>
            </a:r>
            <a:r>
              <a:rPr sz="25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  </a:t>
            </a:r>
            <a:r>
              <a:rPr sz="2500" spc="25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sz="2500" spc="25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'Level</a:t>
            </a:r>
            <a:r>
              <a:rPr sz="2500" spc="48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6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A'</a:t>
            </a:r>
            <a:r>
              <a:rPr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91820" marR="2486660" indent="-500380">
              <a:lnSpc>
                <a:spcPts val="3240"/>
              </a:lnSpc>
            </a:pPr>
            <a:r>
              <a:rPr sz="2500" spc="40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elif </a:t>
            </a:r>
            <a:r>
              <a:rPr sz="2500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score&gt;</a:t>
            </a:r>
            <a:r>
              <a:rPr sz="2500" spc="5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50 </a:t>
            </a:r>
            <a:r>
              <a:rPr sz="2500" spc="-2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and </a:t>
            </a:r>
            <a:r>
              <a:rPr sz="2500" spc="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score&lt;=</a:t>
            </a:r>
            <a:r>
              <a:rPr sz="2500" spc="8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80</a:t>
            </a:r>
            <a:r>
              <a:rPr sz="2500" spc="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  </a:t>
            </a:r>
            <a:r>
              <a:rPr sz="2500" spc="25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sz="2500" spc="25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'Level</a:t>
            </a:r>
            <a:r>
              <a:rPr sz="2500" spc="48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6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B'</a:t>
            </a:r>
            <a:r>
              <a:rPr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91820" marR="2235200" indent="-500380">
              <a:lnSpc>
                <a:spcPts val="3240"/>
              </a:lnSpc>
            </a:pPr>
            <a:r>
              <a:rPr sz="2500" spc="40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elif </a:t>
            </a:r>
            <a:r>
              <a:rPr sz="2500" spc="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score&gt;=</a:t>
            </a:r>
            <a:r>
              <a:rPr sz="2500" spc="4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80 </a:t>
            </a:r>
            <a:r>
              <a:rPr sz="2500" spc="-1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and </a:t>
            </a:r>
            <a:r>
              <a:rPr sz="2500" spc="7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score&lt;=</a:t>
            </a:r>
            <a:r>
              <a:rPr sz="2500" spc="7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100</a:t>
            </a:r>
            <a:r>
              <a:rPr sz="2500" spc="7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  </a:t>
            </a:r>
            <a:r>
              <a:rPr sz="2500" spc="25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sz="2500" spc="25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'Level</a:t>
            </a:r>
            <a:r>
              <a:rPr sz="2500" spc="48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3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C'</a:t>
            </a:r>
            <a:r>
              <a:rPr sz="2500" spc="2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795"/>
              </a:spcBef>
            </a:pPr>
            <a:r>
              <a:rPr sz="2500" spc="22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else</a:t>
            </a:r>
            <a:r>
              <a:rPr sz="2500" spc="2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1080"/>
              </a:spcBef>
            </a:pPr>
            <a:r>
              <a:rPr sz="2500" spc="2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sz="2500" spc="2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'Score</a:t>
            </a:r>
            <a:r>
              <a:rPr sz="2500" spc="48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44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fail'</a:t>
            </a:r>
            <a:r>
              <a:rPr sz="2500" spc="4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A70863-EFBF-4D32-9BBB-AEDF3DDD37E8}"/>
              </a:ext>
            </a:extLst>
          </p:cNvPr>
          <p:cNvSpPr/>
          <p:nvPr/>
        </p:nvSpPr>
        <p:spPr>
          <a:xfrm>
            <a:off x="462072" y="1164611"/>
            <a:ext cx="3674165" cy="517064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if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1-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condition 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1-if-block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elif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2-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condition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2-if-block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elif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3-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condition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3-if-block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…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elif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n-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condition 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n-if-block</a:t>
            </a:r>
            <a:b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else:</a:t>
            </a:r>
            <a:b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</a:b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	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# n+1-if-block</a:t>
            </a:r>
          </a:p>
        </p:txBody>
      </p:sp>
    </p:spTree>
    <p:extLst>
      <p:ext uri="{BB962C8B-B14F-4D97-AF65-F5344CB8AC3E}">
        <p14:creationId xmlns:p14="http://schemas.microsoft.com/office/powerpoint/2010/main" val="36582081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RẼ NHÁNH</a:t>
            </a:r>
          </a:p>
        </p:txBody>
      </p:sp>
      <p:sp>
        <p:nvSpPr>
          <p:cNvPr id="10" name="object 3"/>
          <p:cNvSpPr txBox="1"/>
          <p:nvPr/>
        </p:nvSpPr>
        <p:spPr>
          <a:xfrm>
            <a:off x="218736" y="723592"/>
            <a:ext cx="11539256" cy="14875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 trường hợp lệnh if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thể viết rút</a:t>
            </a:r>
            <a:r>
              <a:rPr sz="2500" b="1" spc="-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gọn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41020">
              <a:lnSpc>
                <a:spcPct val="100000"/>
              </a:lnSpc>
              <a:spcBef>
                <a:spcPts val="1375"/>
              </a:spcBef>
            </a:pPr>
            <a:r>
              <a:rPr sz="2500" b="1" u="heavy" spc="-114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Trường </a:t>
            </a:r>
            <a:r>
              <a:rPr sz="2500" b="1" u="heavy" spc="-175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hợp</a:t>
            </a:r>
            <a:r>
              <a:rPr sz="2500" b="1" u="heavy" spc="-35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u="heavy" spc="185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41020">
              <a:lnSpc>
                <a:spcPct val="100000"/>
              </a:lnSpc>
              <a:spcBef>
                <a:spcPts val="1080"/>
              </a:spcBef>
            </a:pPr>
            <a:r>
              <a:rPr sz="2500" spc="53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 </a:t>
            </a: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&gt; </a:t>
            </a:r>
            <a:r>
              <a:rPr sz="2500" spc="2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b: </a:t>
            </a:r>
            <a:r>
              <a:rPr sz="2500" spc="26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z="2500" spc="26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"a </a:t>
            </a:r>
            <a:r>
              <a:rPr sz="2500" spc="33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is </a:t>
            </a:r>
            <a:r>
              <a:rPr sz="2500" spc="17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greater </a:t>
            </a:r>
            <a:r>
              <a:rPr sz="2500" spc="11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than</a:t>
            </a:r>
            <a:r>
              <a:rPr sz="2500" spc="17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4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b"</a:t>
            </a:r>
            <a:r>
              <a:rPr sz="2500" spc="2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628294" y="2254377"/>
            <a:ext cx="9102115" cy="169020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b="1" u="heavy" spc="-114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Trường </a:t>
            </a:r>
            <a:r>
              <a:rPr sz="2500" b="1" u="heavy" spc="-175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hợp</a:t>
            </a:r>
            <a:r>
              <a:rPr sz="2500" b="1" u="heavy" spc="-55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u="heavy" spc="-90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2: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</a:t>
            </a:r>
            <a:r>
              <a:rPr sz="2500" spc="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</a:t>
            </a:r>
            <a:r>
              <a:rPr sz="2500" spc="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330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/>
            <a:r>
              <a:rPr sz="2500" spc="26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z="2500" spc="26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"A"</a:t>
            </a:r>
            <a:r>
              <a:rPr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 </a:t>
            </a:r>
            <a:r>
              <a:rPr sz="2500" spc="54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</a:t>
            </a:r>
            <a:r>
              <a:rPr sz="2500" spc="61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</a:t>
            </a:r>
            <a:r>
              <a:rPr lang="en-US"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&gt; </a:t>
            </a:r>
            <a:r>
              <a:rPr lang="en-US"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 </a:t>
            </a:r>
            <a:r>
              <a:rPr lang="en-US" sz="2500" spc="15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else</a:t>
            </a:r>
            <a:r>
              <a:rPr lang="en-US" sz="2500" spc="56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26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lang="en-US"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lang="en-US" sz="2500" spc="26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"B"</a:t>
            </a:r>
            <a:r>
              <a:rPr lang="en-US"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4" name="object 6"/>
          <p:cNvSpPr txBox="1"/>
          <p:nvPr/>
        </p:nvSpPr>
        <p:spPr>
          <a:xfrm>
            <a:off x="628294" y="4238346"/>
            <a:ext cx="9768036" cy="168956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b="1" u="heavy" spc="-114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Trường </a:t>
            </a:r>
            <a:r>
              <a:rPr sz="2500" b="1" u="heavy" spc="-175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hợp</a:t>
            </a:r>
            <a:r>
              <a:rPr sz="2500" b="1" u="heavy" spc="-55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u="heavy" spc="-90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3: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 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</a:t>
            </a:r>
            <a:r>
              <a:rPr sz="2500" spc="-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330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 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</a:t>
            </a:r>
            <a:r>
              <a:rPr sz="2500" spc="-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330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/>
            <a:r>
              <a:rPr sz="2500" spc="26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z="2500" spc="26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"A"</a:t>
            </a:r>
            <a:r>
              <a:rPr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 </a:t>
            </a:r>
            <a:r>
              <a:rPr sz="2500" spc="54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</a:t>
            </a:r>
            <a:r>
              <a:rPr sz="2500" spc="61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</a:t>
            </a:r>
            <a:r>
              <a:rPr lang="en-US"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&gt; </a:t>
            </a:r>
            <a:r>
              <a:rPr lang="en-US"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 </a:t>
            </a:r>
            <a:r>
              <a:rPr lang="en-US" sz="2500" spc="15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else </a:t>
            </a:r>
            <a:r>
              <a:rPr lang="en-US" sz="25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lang="en-US" sz="2500" spc="2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lang="en-US" sz="2500" spc="28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"="</a:t>
            </a:r>
            <a:r>
              <a:rPr lang="en-US" sz="2500" spc="2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 </a:t>
            </a:r>
            <a:r>
              <a:rPr lang="en-US" sz="2500" spc="53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 </a:t>
            </a:r>
            <a:r>
              <a:rPr lang="en-US"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 </a:t>
            </a:r>
            <a:r>
              <a:rPr lang="en-US"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== </a:t>
            </a:r>
            <a:r>
              <a:rPr lang="en-US"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 </a:t>
            </a:r>
            <a:r>
              <a:rPr lang="en-US" sz="2500" spc="16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else</a:t>
            </a:r>
            <a:r>
              <a:rPr lang="en-US" sz="2500" spc="5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26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lang="en-US"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lang="en-US" sz="2500" spc="26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"B"</a:t>
            </a:r>
            <a:r>
              <a:rPr lang="en-US"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307D69-FFAE-4E2A-BAF1-D42D4A36535D}"/>
              </a:ext>
            </a:extLst>
          </p:cNvPr>
          <p:cNvSpPr/>
          <p:nvPr/>
        </p:nvSpPr>
        <p:spPr>
          <a:xfrm>
            <a:off x="6602896" y="2666562"/>
            <a:ext cx="5155096" cy="12780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a&gt;b:</a:t>
            </a:r>
          </a:p>
          <a:p>
            <a:r>
              <a:rPr lang="en-US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print(“a”)</a:t>
            </a:r>
          </a:p>
          <a:p>
            <a:r>
              <a:rPr lang="en-US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else:</a:t>
            </a:r>
          </a:p>
          <a:p>
            <a:r>
              <a:rPr lang="en-US" sz="25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print(“B”)</a:t>
            </a:r>
          </a:p>
        </p:txBody>
      </p:sp>
    </p:spTree>
    <p:extLst>
      <p:ext uri="{BB962C8B-B14F-4D97-AF65-F5344CB8AC3E}">
        <p14:creationId xmlns:p14="http://schemas.microsoft.com/office/powerpoint/2010/main" val="29044959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RẼ NHÁNH</a:t>
            </a: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6D7369DA-091C-43CA-9C14-C854816C811A}"/>
              </a:ext>
            </a:extLst>
          </p:cNvPr>
          <p:cNvSpPr txBox="1"/>
          <p:nvPr/>
        </p:nvSpPr>
        <p:spPr>
          <a:xfrm>
            <a:off x="284084" y="656774"/>
            <a:ext cx="11889197" cy="48538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 algn="just">
              <a:buClr>
                <a:srgbClr val="FF5A33"/>
              </a:buClr>
              <a:tabLst>
                <a:tab pos="756920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Ví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dụ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3: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Hãy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cho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biết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số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ngày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trong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tháng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bất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kỳ</a:t>
            </a:r>
            <a:endParaRPr lang="en-US" sz="2500" b="1" spc="-5" dirty="0"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4084" y="1140217"/>
            <a:ext cx="11782858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Nhập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1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tháng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hãy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xuất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tháng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đó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bao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nhiêu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ngày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1,3,5,7,8,10,12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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31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ngày</a:t>
            </a: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4,6,9,11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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có 30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ngày</a:t>
            </a: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Nếu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tháng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2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thì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yêu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cầu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nhập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thêm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năm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>
              <a:lnSpc>
                <a:spcPct val="130000"/>
              </a:lnSpc>
            </a:pP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Năm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nhuận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thì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tháng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2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29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ngày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năm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nhuận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2300" kern="1600" dirty="0">
                <a:latin typeface="Cambria" panose="02040503050406030204" pitchFamily="18" charset="0"/>
                <a:ea typeface="Cambria" panose="02040503050406030204" pitchFamily="18" charset="0"/>
              </a:rPr>
              <a:t> 28 </a:t>
            </a:r>
            <a:r>
              <a:rPr lang="en-US" sz="2300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ngày</a:t>
            </a: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30000"/>
              </a:lnSpc>
            </a:pPr>
            <a:r>
              <a:rPr lang="en-US" sz="2300" b="1" u="sng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Hướng</a:t>
            </a:r>
            <a:r>
              <a:rPr lang="en-US" sz="2300" b="1" u="sng" kern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b="1" u="sng" kern="1600" dirty="0" err="1">
                <a:latin typeface="Cambria" panose="02040503050406030204" pitchFamily="18" charset="0"/>
                <a:ea typeface="Cambria" panose="02040503050406030204" pitchFamily="18" charset="0"/>
              </a:rPr>
              <a:t>dẫn</a:t>
            </a:r>
            <a:r>
              <a:rPr lang="en-US" sz="2300" b="1" u="sng" kern="16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lnSpc>
                <a:spcPct val="130000"/>
              </a:lnSpc>
            </a:pP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print(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Chương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đếm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ngày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tháng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b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month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en-US" sz="23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(input(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Nhập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 1 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tháng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:"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))</a:t>
            </a:r>
            <a:b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month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3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(1,3,5,7,8,10,12):</a:t>
            </a:r>
            <a:b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    print(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Tháng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 "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, month, 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" 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 31 </a:t>
            </a:r>
            <a:r>
              <a:rPr lang="en-US" sz="2300" b="1" dirty="0" err="1">
                <a:latin typeface="Cambria" panose="02040503050406030204" pitchFamily="18" charset="0"/>
                <a:ea typeface="Cambria" panose="02040503050406030204" pitchFamily="18" charset="0"/>
              </a:rPr>
              <a:t>ngày</a:t>
            </a:r>
            <a:r>
              <a:rPr lang="en-US" sz="2300" b="1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sz="23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26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BIỂU THỨC PASS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9512" y="691585"/>
            <a:ext cx="11986591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vi-VN" sz="2500" dirty="0">
                <a:latin typeface="Cambria" panose="02040503050406030204" pitchFamily="18" charset="0"/>
              </a:rPr>
              <a:t>Biểu thức </a:t>
            </a:r>
            <a:r>
              <a:rPr lang="vi-VN" sz="2500" dirty="0">
                <a:solidFill>
                  <a:srgbClr val="FF0000"/>
                </a:solidFill>
                <a:latin typeface="Cambria" panose="02040503050406030204" pitchFamily="18" charset="0"/>
              </a:rPr>
              <a:t>pass</a:t>
            </a:r>
            <a:r>
              <a:rPr lang="vi-VN" sz="2500" dirty="0">
                <a:latin typeface="Cambria" panose="02040503050406030204" pitchFamily="18" charset="0"/>
              </a:rPr>
              <a:t> khá lợi hại, nó dùng để dành chỗ lập trình. </a:t>
            </a:r>
            <a:endParaRPr lang="en-US" sz="25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500" dirty="0" err="1">
                <a:latin typeface="Cambria" panose="02040503050406030204" pitchFamily="18" charset="0"/>
              </a:rPr>
              <a:t>Sử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dụng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vi-VN" sz="2500" dirty="0">
                <a:solidFill>
                  <a:srgbClr val="FF0000"/>
                </a:solidFill>
                <a:latin typeface="Cambria" panose="02040503050406030204" pitchFamily="18" charset="0"/>
              </a:rPr>
              <a:t>pass</a:t>
            </a:r>
            <a:r>
              <a:rPr lang="vi-VN" sz="2500" dirty="0">
                <a:latin typeface="Cambria" panose="02040503050406030204" pitchFamily="18" charset="0"/>
              </a:rPr>
              <a:t> để đánh dấu vị trí đó.</a:t>
            </a:r>
            <a:endParaRPr lang="en-US" sz="2500" dirty="0">
              <a:latin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0DF445-312E-4323-9515-71746454C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443" y="2515422"/>
            <a:ext cx="4732733" cy="35948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6A143A-9FE7-4314-BDD2-C03E3A3FD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39" y="2044134"/>
            <a:ext cx="5535067" cy="306457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775DAD-4F0B-4F3E-BB90-D77830E92FA9}"/>
              </a:ext>
            </a:extLst>
          </p:cNvPr>
          <p:cNvCxnSpPr/>
          <p:nvPr/>
        </p:nvCxnSpPr>
        <p:spPr>
          <a:xfrm flipH="1">
            <a:off x="1137888" y="2279516"/>
            <a:ext cx="6704086" cy="9820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3B8810E-DF7A-44DC-9F81-3600CF31D277}"/>
              </a:ext>
            </a:extLst>
          </p:cNvPr>
          <p:cNvSpPr txBox="1"/>
          <p:nvPr/>
        </p:nvSpPr>
        <p:spPr>
          <a:xfrm>
            <a:off x="6175513" y="1797637"/>
            <a:ext cx="5890592" cy="446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vi-VN" sz="2300" dirty="0">
                <a:latin typeface="Cambria" panose="02040503050406030204" pitchFamily="18" charset="0"/>
                <a:ea typeface="Cambria" panose="02040503050406030204" pitchFamily="18" charset="0"/>
              </a:rPr>
              <a:t>Lỗi, Python không cho để trống như thế này</a:t>
            </a:r>
            <a:endParaRPr lang="en-US" sz="2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Arrow: Right 15">
            <a:extLst>
              <a:ext uri="{FF2B5EF4-FFF2-40B4-BE49-F238E27FC236}">
                <a16:creationId xmlns:a16="http://schemas.microsoft.com/office/drawing/2014/main" id="{416D42AD-306B-4AD4-B267-F7E648740ABA}"/>
              </a:ext>
            </a:extLst>
          </p:cNvPr>
          <p:cNvSpPr/>
          <p:nvPr/>
        </p:nvSpPr>
        <p:spPr>
          <a:xfrm>
            <a:off x="5635486" y="3716392"/>
            <a:ext cx="884584" cy="46798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4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10" name="Text Box 21">
            <a:extLst>
              <a:ext uri="{FF2B5EF4-FFF2-40B4-BE49-F238E27FC236}">
                <a16:creationId xmlns:a16="http://schemas.microsoft.com/office/drawing/2014/main" id="{064D98FB-A7FB-47D0-8082-FEDA63C90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838" y="655980"/>
            <a:ext cx="30420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sz="2400" b="1" dirty="0" err="1">
                <a:ea typeface="Times New Roman" panose="02020603050405020304" pitchFamily="18" charset="0"/>
              </a:rPr>
              <a:t>Xét</a:t>
            </a:r>
            <a:r>
              <a:rPr lang="en-US" sz="2400" b="1" dirty="0">
                <a:ea typeface="Times New Roman" panose="02020603050405020304" pitchFamily="18" charset="0"/>
              </a:rPr>
              <a:t> 2 </a:t>
            </a:r>
            <a:r>
              <a:rPr lang="en-US" sz="2400" b="1" dirty="0" err="1">
                <a:ea typeface="Times New Roman" panose="02020603050405020304" pitchFamily="18" charset="0"/>
              </a:rPr>
              <a:t>bài</a:t>
            </a:r>
            <a:r>
              <a:rPr lang="en-US" sz="2400" b="1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a typeface="Times New Roman" panose="02020603050405020304" pitchFamily="18" charset="0"/>
              </a:rPr>
              <a:t>toán</a:t>
            </a:r>
            <a:r>
              <a:rPr lang="en-US" sz="2400" b="1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a typeface="Times New Roman" panose="02020603050405020304" pitchFamily="18" charset="0"/>
              </a:rPr>
              <a:t>sau</a:t>
            </a:r>
            <a:r>
              <a:rPr lang="en-US" sz="2400" b="1" dirty="0">
                <a:ea typeface="Times New Roman" panose="02020603050405020304" pitchFamily="18" charset="0"/>
              </a:rPr>
              <a:t>:</a:t>
            </a:r>
          </a:p>
        </p:txBody>
      </p:sp>
      <p:sp>
        <p:nvSpPr>
          <p:cNvPr id="14" name="Text Box 26">
            <a:extLst>
              <a:ext uri="{FF2B5EF4-FFF2-40B4-BE49-F238E27FC236}">
                <a16:creationId xmlns:a16="http://schemas.microsoft.com/office/drawing/2014/main" id="{E8C9D783-23C3-4C4A-9109-50DEC0AA5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73" y="1241058"/>
            <a:ext cx="4366868" cy="2134239"/>
          </a:xfrm>
          <a:custGeom>
            <a:avLst/>
            <a:gdLst>
              <a:gd name="connsiteX0" fmla="*/ 0 w 4366868"/>
              <a:gd name="connsiteY0" fmla="*/ 0 h 2134239"/>
              <a:gd name="connsiteX1" fmla="*/ 589527 w 4366868"/>
              <a:gd name="connsiteY1" fmla="*/ 0 h 2134239"/>
              <a:gd name="connsiteX2" fmla="*/ 1135386 w 4366868"/>
              <a:gd name="connsiteY2" fmla="*/ 0 h 2134239"/>
              <a:gd name="connsiteX3" fmla="*/ 1768582 w 4366868"/>
              <a:gd name="connsiteY3" fmla="*/ 0 h 2134239"/>
              <a:gd name="connsiteX4" fmla="*/ 2358109 w 4366868"/>
              <a:gd name="connsiteY4" fmla="*/ 0 h 2134239"/>
              <a:gd name="connsiteX5" fmla="*/ 2860299 w 4366868"/>
              <a:gd name="connsiteY5" fmla="*/ 0 h 2134239"/>
              <a:gd name="connsiteX6" fmla="*/ 3449826 w 4366868"/>
              <a:gd name="connsiteY6" fmla="*/ 0 h 2134239"/>
              <a:gd name="connsiteX7" fmla="*/ 4366868 w 4366868"/>
              <a:gd name="connsiteY7" fmla="*/ 0 h 2134239"/>
              <a:gd name="connsiteX8" fmla="*/ 4366868 w 4366868"/>
              <a:gd name="connsiteY8" fmla="*/ 533560 h 2134239"/>
              <a:gd name="connsiteX9" fmla="*/ 4366868 w 4366868"/>
              <a:gd name="connsiteY9" fmla="*/ 1024435 h 2134239"/>
              <a:gd name="connsiteX10" fmla="*/ 4366868 w 4366868"/>
              <a:gd name="connsiteY10" fmla="*/ 1515310 h 2134239"/>
              <a:gd name="connsiteX11" fmla="*/ 4366868 w 4366868"/>
              <a:gd name="connsiteY11" fmla="*/ 2134239 h 2134239"/>
              <a:gd name="connsiteX12" fmla="*/ 3908347 w 4366868"/>
              <a:gd name="connsiteY12" fmla="*/ 2134239 h 2134239"/>
              <a:gd name="connsiteX13" fmla="*/ 3449826 w 4366868"/>
              <a:gd name="connsiteY13" fmla="*/ 2134239 h 2134239"/>
              <a:gd name="connsiteX14" fmla="*/ 2991305 w 4366868"/>
              <a:gd name="connsiteY14" fmla="*/ 2134239 h 2134239"/>
              <a:gd name="connsiteX15" fmla="*/ 2358109 w 4366868"/>
              <a:gd name="connsiteY15" fmla="*/ 2134239 h 2134239"/>
              <a:gd name="connsiteX16" fmla="*/ 1855919 w 4366868"/>
              <a:gd name="connsiteY16" fmla="*/ 2134239 h 2134239"/>
              <a:gd name="connsiteX17" fmla="*/ 1441066 w 4366868"/>
              <a:gd name="connsiteY17" fmla="*/ 2134239 h 2134239"/>
              <a:gd name="connsiteX18" fmla="*/ 1026214 w 4366868"/>
              <a:gd name="connsiteY18" fmla="*/ 2134239 h 2134239"/>
              <a:gd name="connsiteX19" fmla="*/ 0 w 4366868"/>
              <a:gd name="connsiteY19" fmla="*/ 2134239 h 2134239"/>
              <a:gd name="connsiteX20" fmla="*/ 0 w 4366868"/>
              <a:gd name="connsiteY20" fmla="*/ 1579337 h 2134239"/>
              <a:gd name="connsiteX21" fmla="*/ 0 w 4366868"/>
              <a:gd name="connsiteY21" fmla="*/ 1067120 h 2134239"/>
              <a:gd name="connsiteX22" fmla="*/ 0 w 4366868"/>
              <a:gd name="connsiteY22" fmla="*/ 490875 h 2134239"/>
              <a:gd name="connsiteX23" fmla="*/ 0 w 4366868"/>
              <a:gd name="connsiteY23" fmla="*/ 0 h 213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366868" h="2134239" extrusionOk="0">
                <a:moveTo>
                  <a:pt x="0" y="0"/>
                </a:moveTo>
                <a:cubicBezTo>
                  <a:pt x="289492" y="-36156"/>
                  <a:pt x="306250" y="26605"/>
                  <a:pt x="589527" y="0"/>
                </a:cubicBezTo>
                <a:cubicBezTo>
                  <a:pt x="872804" y="-26605"/>
                  <a:pt x="924603" y="46783"/>
                  <a:pt x="1135386" y="0"/>
                </a:cubicBezTo>
                <a:cubicBezTo>
                  <a:pt x="1346169" y="-46783"/>
                  <a:pt x="1614983" y="51083"/>
                  <a:pt x="1768582" y="0"/>
                </a:cubicBezTo>
                <a:cubicBezTo>
                  <a:pt x="1922181" y="-51083"/>
                  <a:pt x="2124801" y="38015"/>
                  <a:pt x="2358109" y="0"/>
                </a:cubicBezTo>
                <a:cubicBezTo>
                  <a:pt x="2591417" y="-38015"/>
                  <a:pt x="2662061" y="48169"/>
                  <a:pt x="2860299" y="0"/>
                </a:cubicBezTo>
                <a:cubicBezTo>
                  <a:pt x="3058537" y="-48169"/>
                  <a:pt x="3272443" y="4976"/>
                  <a:pt x="3449826" y="0"/>
                </a:cubicBezTo>
                <a:cubicBezTo>
                  <a:pt x="3627209" y="-4976"/>
                  <a:pt x="4142418" y="34199"/>
                  <a:pt x="4366868" y="0"/>
                </a:cubicBezTo>
                <a:cubicBezTo>
                  <a:pt x="4378936" y="142389"/>
                  <a:pt x="4363452" y="315214"/>
                  <a:pt x="4366868" y="533560"/>
                </a:cubicBezTo>
                <a:cubicBezTo>
                  <a:pt x="4370284" y="751906"/>
                  <a:pt x="4352357" y="803502"/>
                  <a:pt x="4366868" y="1024435"/>
                </a:cubicBezTo>
                <a:cubicBezTo>
                  <a:pt x="4381379" y="1245369"/>
                  <a:pt x="4340912" y="1353048"/>
                  <a:pt x="4366868" y="1515310"/>
                </a:cubicBezTo>
                <a:cubicBezTo>
                  <a:pt x="4392824" y="1677572"/>
                  <a:pt x="4296745" y="1870739"/>
                  <a:pt x="4366868" y="2134239"/>
                </a:cubicBezTo>
                <a:cubicBezTo>
                  <a:pt x="4259336" y="2181946"/>
                  <a:pt x="4073225" y="2099220"/>
                  <a:pt x="3908347" y="2134239"/>
                </a:cubicBezTo>
                <a:cubicBezTo>
                  <a:pt x="3743469" y="2169258"/>
                  <a:pt x="3553958" y="2120081"/>
                  <a:pt x="3449826" y="2134239"/>
                </a:cubicBezTo>
                <a:cubicBezTo>
                  <a:pt x="3345694" y="2148397"/>
                  <a:pt x="3169196" y="2114381"/>
                  <a:pt x="2991305" y="2134239"/>
                </a:cubicBezTo>
                <a:cubicBezTo>
                  <a:pt x="2813414" y="2154097"/>
                  <a:pt x="2564971" y="2119104"/>
                  <a:pt x="2358109" y="2134239"/>
                </a:cubicBezTo>
                <a:cubicBezTo>
                  <a:pt x="2151247" y="2149374"/>
                  <a:pt x="1991991" y="2080248"/>
                  <a:pt x="1855919" y="2134239"/>
                </a:cubicBezTo>
                <a:cubicBezTo>
                  <a:pt x="1719847" y="2188230"/>
                  <a:pt x="1615325" y="2098227"/>
                  <a:pt x="1441066" y="2134239"/>
                </a:cubicBezTo>
                <a:cubicBezTo>
                  <a:pt x="1266807" y="2170251"/>
                  <a:pt x="1229435" y="2090429"/>
                  <a:pt x="1026214" y="2134239"/>
                </a:cubicBezTo>
                <a:cubicBezTo>
                  <a:pt x="822993" y="2178049"/>
                  <a:pt x="379595" y="2093872"/>
                  <a:pt x="0" y="2134239"/>
                </a:cubicBezTo>
                <a:cubicBezTo>
                  <a:pt x="-25084" y="1969202"/>
                  <a:pt x="43701" y="1833965"/>
                  <a:pt x="0" y="1579337"/>
                </a:cubicBezTo>
                <a:cubicBezTo>
                  <a:pt x="-43701" y="1324709"/>
                  <a:pt x="11886" y="1216189"/>
                  <a:pt x="0" y="1067120"/>
                </a:cubicBezTo>
                <a:cubicBezTo>
                  <a:pt x="-11886" y="918051"/>
                  <a:pt x="59758" y="673989"/>
                  <a:pt x="0" y="490875"/>
                </a:cubicBezTo>
                <a:cubicBezTo>
                  <a:pt x="-59758" y="307762"/>
                  <a:pt x="21867" y="237037"/>
                  <a:pt x="0" y="0"/>
                </a:cubicBezTo>
                <a:close/>
              </a:path>
            </a:pathLst>
          </a:custGeom>
          <a:noFill/>
          <a:ln w="31750">
            <a:solidFill>
              <a:schemeClr val="bg2">
                <a:lumMod val="75000"/>
              </a:schemeClr>
            </a:solidFill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1079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 err="1"/>
              <a:t>Bài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toán</a:t>
            </a:r>
            <a:r>
              <a:rPr lang="en-US" altLang="en-US" sz="2400" dirty="0"/>
              <a:t> 1: </a:t>
            </a:r>
          </a:p>
          <a:p>
            <a:pPr marL="457200" indent="-4572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AutoNum type="alphaLcPeriod"/>
            </a:pPr>
            <a:r>
              <a:rPr lang="en-US" altLang="en-US" sz="2400" dirty="0"/>
              <a:t>In ra </a:t>
            </a:r>
            <a:r>
              <a:rPr lang="en-US" altLang="en-US" sz="2400" dirty="0" err="1"/>
              <a:t>màn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hình</a:t>
            </a:r>
            <a:r>
              <a:rPr lang="en-US" altLang="en-US" sz="2400" dirty="0"/>
              <a:t> 10 </a:t>
            </a:r>
            <a:r>
              <a:rPr lang="en-US" altLang="en-US" sz="2400" dirty="0" err="1"/>
              <a:t>dòng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chữ</a:t>
            </a:r>
            <a:r>
              <a:rPr lang="en-US" altLang="en-US" sz="2400" dirty="0"/>
              <a:t>: “</a:t>
            </a:r>
            <a:r>
              <a:rPr lang="en-US" altLang="en-US" sz="2400" dirty="0" err="1"/>
              <a:t>Lập</a:t>
            </a:r>
            <a:r>
              <a:rPr lang="en-US" altLang="en-US" sz="2400" dirty="0"/>
              <a:t>  </a:t>
            </a:r>
            <a:r>
              <a:rPr lang="en-US" altLang="en-US" sz="2400" dirty="0" err="1"/>
              <a:t>trình</a:t>
            </a:r>
            <a:r>
              <a:rPr lang="en-US" altLang="en-US" sz="2400" dirty="0"/>
              <a:t> Python”</a:t>
            </a:r>
          </a:p>
          <a:p>
            <a:pPr marL="457200" indent="-4572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AutoNum type="alphaLcPeriod"/>
            </a:pPr>
            <a:r>
              <a:rPr lang="en-US" altLang="en-US" sz="2400" dirty="0" err="1"/>
              <a:t>Tính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tổng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số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từ</a:t>
            </a:r>
            <a:r>
              <a:rPr lang="en-US" altLang="en-US" sz="2400" dirty="0"/>
              <a:t> 1 </a:t>
            </a:r>
            <a:r>
              <a:rPr lang="en-US" altLang="en-US" sz="2400" dirty="0" err="1"/>
              <a:t>đến</a:t>
            </a:r>
            <a:r>
              <a:rPr lang="en-US" altLang="en-US" sz="2400" dirty="0"/>
              <a:t> 5</a:t>
            </a:r>
          </a:p>
        </p:txBody>
      </p:sp>
      <p:sp>
        <p:nvSpPr>
          <p:cNvPr id="15" name="Text Box 27">
            <a:extLst>
              <a:ext uri="{FF2B5EF4-FFF2-40B4-BE49-F238E27FC236}">
                <a16:creationId xmlns:a16="http://schemas.microsoft.com/office/drawing/2014/main" id="{6D3588DC-41EE-4629-AEE3-58BC5B481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1454" y="1201641"/>
            <a:ext cx="7078146" cy="2269660"/>
          </a:xfrm>
          <a:custGeom>
            <a:avLst/>
            <a:gdLst>
              <a:gd name="connsiteX0" fmla="*/ 0 w 7078146"/>
              <a:gd name="connsiteY0" fmla="*/ 0 h 2269660"/>
              <a:gd name="connsiteX1" fmla="*/ 519064 w 7078146"/>
              <a:gd name="connsiteY1" fmla="*/ 0 h 2269660"/>
              <a:gd name="connsiteX2" fmla="*/ 896565 w 7078146"/>
              <a:gd name="connsiteY2" fmla="*/ 0 h 2269660"/>
              <a:gd name="connsiteX3" fmla="*/ 1627974 w 7078146"/>
              <a:gd name="connsiteY3" fmla="*/ 0 h 2269660"/>
              <a:gd name="connsiteX4" fmla="*/ 2147038 w 7078146"/>
              <a:gd name="connsiteY4" fmla="*/ 0 h 2269660"/>
              <a:gd name="connsiteX5" fmla="*/ 2666102 w 7078146"/>
              <a:gd name="connsiteY5" fmla="*/ 0 h 2269660"/>
              <a:gd name="connsiteX6" fmla="*/ 3397510 w 7078146"/>
              <a:gd name="connsiteY6" fmla="*/ 0 h 2269660"/>
              <a:gd name="connsiteX7" fmla="*/ 3845793 w 7078146"/>
              <a:gd name="connsiteY7" fmla="*/ 0 h 2269660"/>
              <a:gd name="connsiteX8" fmla="*/ 4577201 w 7078146"/>
              <a:gd name="connsiteY8" fmla="*/ 0 h 2269660"/>
              <a:gd name="connsiteX9" fmla="*/ 5308610 w 7078146"/>
              <a:gd name="connsiteY9" fmla="*/ 0 h 2269660"/>
              <a:gd name="connsiteX10" fmla="*/ 5898455 w 7078146"/>
              <a:gd name="connsiteY10" fmla="*/ 0 h 2269660"/>
              <a:gd name="connsiteX11" fmla="*/ 7078146 w 7078146"/>
              <a:gd name="connsiteY11" fmla="*/ 0 h 2269660"/>
              <a:gd name="connsiteX12" fmla="*/ 7078146 w 7078146"/>
              <a:gd name="connsiteY12" fmla="*/ 544718 h 2269660"/>
              <a:gd name="connsiteX13" fmla="*/ 7078146 w 7078146"/>
              <a:gd name="connsiteY13" fmla="*/ 1044044 h 2269660"/>
              <a:gd name="connsiteX14" fmla="*/ 7078146 w 7078146"/>
              <a:gd name="connsiteY14" fmla="*/ 1611459 h 2269660"/>
              <a:gd name="connsiteX15" fmla="*/ 7078146 w 7078146"/>
              <a:gd name="connsiteY15" fmla="*/ 2269660 h 2269660"/>
              <a:gd name="connsiteX16" fmla="*/ 6488301 w 7078146"/>
              <a:gd name="connsiteY16" fmla="*/ 2269660 h 2269660"/>
              <a:gd name="connsiteX17" fmla="*/ 5756892 w 7078146"/>
              <a:gd name="connsiteY17" fmla="*/ 2269660 h 2269660"/>
              <a:gd name="connsiteX18" fmla="*/ 5167047 w 7078146"/>
              <a:gd name="connsiteY18" fmla="*/ 2269660 h 2269660"/>
              <a:gd name="connsiteX19" fmla="*/ 4789545 w 7078146"/>
              <a:gd name="connsiteY19" fmla="*/ 2269660 h 2269660"/>
              <a:gd name="connsiteX20" fmla="*/ 4341263 w 7078146"/>
              <a:gd name="connsiteY20" fmla="*/ 2269660 h 2269660"/>
              <a:gd name="connsiteX21" fmla="*/ 3609854 w 7078146"/>
              <a:gd name="connsiteY21" fmla="*/ 2269660 h 2269660"/>
              <a:gd name="connsiteX22" fmla="*/ 3020009 w 7078146"/>
              <a:gd name="connsiteY22" fmla="*/ 2269660 h 2269660"/>
              <a:gd name="connsiteX23" fmla="*/ 2571726 w 7078146"/>
              <a:gd name="connsiteY23" fmla="*/ 2269660 h 2269660"/>
              <a:gd name="connsiteX24" fmla="*/ 1981881 w 7078146"/>
              <a:gd name="connsiteY24" fmla="*/ 2269660 h 2269660"/>
              <a:gd name="connsiteX25" fmla="*/ 1604380 w 7078146"/>
              <a:gd name="connsiteY25" fmla="*/ 2269660 h 2269660"/>
              <a:gd name="connsiteX26" fmla="*/ 1226879 w 7078146"/>
              <a:gd name="connsiteY26" fmla="*/ 2269660 h 2269660"/>
              <a:gd name="connsiteX27" fmla="*/ 637033 w 7078146"/>
              <a:gd name="connsiteY27" fmla="*/ 2269660 h 2269660"/>
              <a:gd name="connsiteX28" fmla="*/ 0 w 7078146"/>
              <a:gd name="connsiteY28" fmla="*/ 2269660 h 2269660"/>
              <a:gd name="connsiteX29" fmla="*/ 0 w 7078146"/>
              <a:gd name="connsiteY29" fmla="*/ 1679548 h 2269660"/>
              <a:gd name="connsiteX30" fmla="*/ 0 w 7078146"/>
              <a:gd name="connsiteY30" fmla="*/ 1134830 h 2269660"/>
              <a:gd name="connsiteX31" fmla="*/ 0 w 7078146"/>
              <a:gd name="connsiteY31" fmla="*/ 635505 h 2269660"/>
              <a:gd name="connsiteX32" fmla="*/ 0 w 7078146"/>
              <a:gd name="connsiteY32" fmla="*/ 0 h 226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078146" h="2269660" extrusionOk="0">
                <a:moveTo>
                  <a:pt x="0" y="0"/>
                </a:moveTo>
                <a:cubicBezTo>
                  <a:pt x="222215" y="-27199"/>
                  <a:pt x="361226" y="26488"/>
                  <a:pt x="519064" y="0"/>
                </a:cubicBezTo>
                <a:cubicBezTo>
                  <a:pt x="676902" y="-26488"/>
                  <a:pt x="749866" y="17051"/>
                  <a:pt x="896565" y="0"/>
                </a:cubicBezTo>
                <a:cubicBezTo>
                  <a:pt x="1043264" y="-17051"/>
                  <a:pt x="1277938" y="52407"/>
                  <a:pt x="1627974" y="0"/>
                </a:cubicBezTo>
                <a:cubicBezTo>
                  <a:pt x="1978010" y="-52407"/>
                  <a:pt x="1985983" y="38620"/>
                  <a:pt x="2147038" y="0"/>
                </a:cubicBezTo>
                <a:cubicBezTo>
                  <a:pt x="2308093" y="-38620"/>
                  <a:pt x="2415298" y="784"/>
                  <a:pt x="2666102" y="0"/>
                </a:cubicBezTo>
                <a:cubicBezTo>
                  <a:pt x="2916906" y="-784"/>
                  <a:pt x="3211635" y="21530"/>
                  <a:pt x="3397510" y="0"/>
                </a:cubicBezTo>
                <a:cubicBezTo>
                  <a:pt x="3583385" y="-21530"/>
                  <a:pt x="3644132" y="30783"/>
                  <a:pt x="3845793" y="0"/>
                </a:cubicBezTo>
                <a:cubicBezTo>
                  <a:pt x="4047454" y="-30783"/>
                  <a:pt x="4295008" y="64192"/>
                  <a:pt x="4577201" y="0"/>
                </a:cubicBezTo>
                <a:cubicBezTo>
                  <a:pt x="4859394" y="-64192"/>
                  <a:pt x="5043369" y="44243"/>
                  <a:pt x="5308610" y="0"/>
                </a:cubicBezTo>
                <a:cubicBezTo>
                  <a:pt x="5573851" y="-44243"/>
                  <a:pt x="5711340" y="4895"/>
                  <a:pt x="5898455" y="0"/>
                </a:cubicBezTo>
                <a:cubicBezTo>
                  <a:pt x="6085570" y="-4895"/>
                  <a:pt x="6543570" y="99423"/>
                  <a:pt x="7078146" y="0"/>
                </a:cubicBezTo>
                <a:cubicBezTo>
                  <a:pt x="7114956" y="244265"/>
                  <a:pt x="7016222" y="276466"/>
                  <a:pt x="7078146" y="544718"/>
                </a:cubicBezTo>
                <a:cubicBezTo>
                  <a:pt x="7140070" y="812970"/>
                  <a:pt x="7069445" y="936245"/>
                  <a:pt x="7078146" y="1044044"/>
                </a:cubicBezTo>
                <a:cubicBezTo>
                  <a:pt x="7086847" y="1151843"/>
                  <a:pt x="7039905" y="1471612"/>
                  <a:pt x="7078146" y="1611459"/>
                </a:cubicBezTo>
                <a:cubicBezTo>
                  <a:pt x="7116387" y="1751306"/>
                  <a:pt x="7051395" y="1978304"/>
                  <a:pt x="7078146" y="2269660"/>
                </a:cubicBezTo>
                <a:cubicBezTo>
                  <a:pt x="6876822" y="2317404"/>
                  <a:pt x="6679430" y="2244518"/>
                  <a:pt x="6488301" y="2269660"/>
                </a:cubicBezTo>
                <a:cubicBezTo>
                  <a:pt x="6297172" y="2294802"/>
                  <a:pt x="6002614" y="2225474"/>
                  <a:pt x="5756892" y="2269660"/>
                </a:cubicBezTo>
                <a:cubicBezTo>
                  <a:pt x="5511170" y="2313846"/>
                  <a:pt x="5435834" y="2215622"/>
                  <a:pt x="5167047" y="2269660"/>
                </a:cubicBezTo>
                <a:cubicBezTo>
                  <a:pt x="4898260" y="2323698"/>
                  <a:pt x="4938787" y="2261975"/>
                  <a:pt x="4789545" y="2269660"/>
                </a:cubicBezTo>
                <a:cubicBezTo>
                  <a:pt x="4640303" y="2277345"/>
                  <a:pt x="4483905" y="2218101"/>
                  <a:pt x="4341263" y="2269660"/>
                </a:cubicBezTo>
                <a:cubicBezTo>
                  <a:pt x="4198621" y="2321219"/>
                  <a:pt x="3880830" y="2248203"/>
                  <a:pt x="3609854" y="2269660"/>
                </a:cubicBezTo>
                <a:cubicBezTo>
                  <a:pt x="3338878" y="2291117"/>
                  <a:pt x="3262499" y="2258053"/>
                  <a:pt x="3020009" y="2269660"/>
                </a:cubicBezTo>
                <a:cubicBezTo>
                  <a:pt x="2777519" y="2281267"/>
                  <a:pt x="2749567" y="2217559"/>
                  <a:pt x="2571726" y="2269660"/>
                </a:cubicBezTo>
                <a:cubicBezTo>
                  <a:pt x="2393885" y="2321761"/>
                  <a:pt x="2120810" y="2219593"/>
                  <a:pt x="1981881" y="2269660"/>
                </a:cubicBezTo>
                <a:cubicBezTo>
                  <a:pt x="1842953" y="2319727"/>
                  <a:pt x="1772569" y="2261166"/>
                  <a:pt x="1604380" y="2269660"/>
                </a:cubicBezTo>
                <a:cubicBezTo>
                  <a:pt x="1436191" y="2278154"/>
                  <a:pt x="1414929" y="2237205"/>
                  <a:pt x="1226879" y="2269660"/>
                </a:cubicBezTo>
                <a:cubicBezTo>
                  <a:pt x="1038829" y="2302115"/>
                  <a:pt x="909304" y="2225801"/>
                  <a:pt x="637033" y="2269660"/>
                </a:cubicBezTo>
                <a:cubicBezTo>
                  <a:pt x="364762" y="2313519"/>
                  <a:pt x="313298" y="2217515"/>
                  <a:pt x="0" y="2269660"/>
                </a:cubicBezTo>
                <a:cubicBezTo>
                  <a:pt x="-27767" y="2047376"/>
                  <a:pt x="3040" y="1900504"/>
                  <a:pt x="0" y="1679548"/>
                </a:cubicBezTo>
                <a:cubicBezTo>
                  <a:pt x="-3040" y="1458592"/>
                  <a:pt x="46004" y="1384562"/>
                  <a:pt x="0" y="1134830"/>
                </a:cubicBezTo>
                <a:cubicBezTo>
                  <a:pt x="-46004" y="885098"/>
                  <a:pt x="12783" y="737907"/>
                  <a:pt x="0" y="635505"/>
                </a:cubicBezTo>
                <a:cubicBezTo>
                  <a:pt x="-12783" y="533104"/>
                  <a:pt x="7773" y="194800"/>
                  <a:pt x="0" y="0"/>
                </a:cubicBezTo>
                <a:close/>
              </a:path>
            </a:pathLst>
          </a:custGeom>
          <a:noFill/>
          <a:ln w="31750">
            <a:solidFill>
              <a:schemeClr val="bg2">
                <a:lumMod val="75000"/>
              </a:schemeClr>
            </a:solidFill>
            <a:miter lim="800000"/>
            <a:headEnd/>
            <a:tailE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indent="1079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ea typeface="Times New Roman" panose="02020603050405020304" pitchFamily="18" charset="0"/>
              </a:rPr>
              <a:t>Bài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toán</a:t>
            </a:r>
            <a:r>
              <a:rPr lang="en-US" sz="2400" dirty="0">
                <a:ea typeface="Times New Roman" panose="02020603050405020304" pitchFamily="18" charset="0"/>
              </a:rPr>
              <a:t> 2: </a:t>
            </a:r>
            <a:r>
              <a:rPr lang="en-US" sz="2400" dirty="0" err="1">
                <a:ea typeface="Times New Roman" panose="02020603050405020304" pitchFamily="18" charset="0"/>
              </a:rPr>
              <a:t>Yêu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cầu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người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dùng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nhập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mật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khẩu</a:t>
            </a:r>
            <a:r>
              <a:rPr lang="en-US" sz="2400" dirty="0">
                <a:ea typeface="Times New Roman" panose="02020603050405020304" pitchFamily="18" charset="0"/>
              </a:rPr>
              <a:t>. Khi </a:t>
            </a:r>
            <a:r>
              <a:rPr lang="en-US" sz="2400" dirty="0" err="1">
                <a:ea typeface="Times New Roman" panose="02020603050405020304" pitchFamily="18" charset="0"/>
              </a:rPr>
              <a:t>mật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khẩu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mà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người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dùng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gõ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vẫn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sai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thì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vẫn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yêu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cầu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nhập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lại</a:t>
            </a:r>
            <a:r>
              <a:rPr lang="en-US" sz="2400" dirty="0">
                <a:ea typeface="Times New Roman" panose="02020603050405020304" pitchFamily="18" charset="0"/>
              </a:rPr>
              <a:t>. Cho </a:t>
            </a:r>
            <a:r>
              <a:rPr lang="en-US" sz="2400" dirty="0" err="1">
                <a:ea typeface="Times New Roman" panose="02020603050405020304" pitchFamily="18" charset="0"/>
              </a:rPr>
              <a:t>đến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khi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người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dùng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nhập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đúng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mật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khẩu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là</a:t>
            </a:r>
            <a:r>
              <a:rPr lang="en-US" sz="2400" dirty="0">
                <a:ea typeface="Times New Roman" panose="02020603050405020304" pitchFamily="18" charset="0"/>
              </a:rPr>
              <a:t>: abcd1234 </a:t>
            </a:r>
            <a:r>
              <a:rPr lang="en-US" sz="2400" dirty="0" err="1">
                <a:ea typeface="Times New Roman" panose="02020603050405020304" pitchFamily="18" charset="0"/>
              </a:rPr>
              <a:t>thì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thông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báo</a:t>
            </a:r>
            <a:r>
              <a:rPr lang="en-US" sz="2400" dirty="0">
                <a:ea typeface="Times New Roman" panose="02020603050405020304" pitchFamily="18" charset="0"/>
              </a:rPr>
              <a:t>: “</a:t>
            </a:r>
            <a:r>
              <a:rPr lang="en-US" sz="2400" dirty="0" err="1">
                <a:ea typeface="Times New Roman" panose="02020603050405020304" pitchFamily="18" charset="0"/>
              </a:rPr>
              <a:t>Bạn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đã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nhập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đúng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mật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khẩu</a:t>
            </a:r>
            <a:r>
              <a:rPr lang="en-US" sz="2400" dirty="0">
                <a:ea typeface="Times New Roman" panose="02020603050405020304" pitchFamily="18" charset="0"/>
              </a:rPr>
              <a:t>”. </a:t>
            </a:r>
            <a:endParaRPr lang="en-US" altLang="en-US" sz="2400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C2954D2-7F9F-4AC9-8426-0897E9DBB969}"/>
              </a:ext>
            </a:extLst>
          </p:cNvPr>
          <p:cNvSpPr/>
          <p:nvPr/>
        </p:nvSpPr>
        <p:spPr>
          <a:xfrm>
            <a:off x="415630" y="4568585"/>
            <a:ext cx="762181" cy="600891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bliqueBottomRight"/>
            <a:lightRig rig="soft" dir="t">
              <a:rot lat="0" lon="0" rev="18900000"/>
            </a:lightRig>
          </a:scene3d>
          <a:sp3d prstMaterial="metal">
            <a:bevelT w="127000" h="254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7500" lnSpcReduction="20000"/>
            <a:flatTx/>
          </a:bodyPr>
          <a:lstStyle/>
          <a:p>
            <a:pPr algn="ctr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1D74FBE4-30C8-43AE-BF00-B1F2734CA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7811" y="5057657"/>
            <a:ext cx="107093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sz="2400" dirty="0" err="1">
                <a:ea typeface="Times New Roman" panose="02020603050405020304" pitchFamily="18" charset="0"/>
              </a:rPr>
              <a:t>Có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hai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loại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cấu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trúc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lặp</a:t>
            </a:r>
            <a:r>
              <a:rPr lang="en-US" sz="2400" dirty="0">
                <a:ea typeface="Times New Roman" panose="02020603050405020304" pitchFamily="18" charset="0"/>
              </a:rPr>
              <a:t>: </a:t>
            </a:r>
            <a:r>
              <a:rPr lang="en-US" sz="2400" dirty="0" err="1">
                <a:ea typeface="Times New Roman" panose="02020603050405020304" pitchFamily="18" charset="0"/>
              </a:rPr>
              <a:t>Lặp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khi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biết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trước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số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lần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lặp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và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lặp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theo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điều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kiện</a:t>
            </a:r>
            <a:endParaRPr lang="en-US" sz="2400" dirty="0">
              <a:ea typeface="Times New Roman" panose="02020603050405020304" pitchFamily="18" charset="0"/>
            </a:endParaRP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B8D9E530-1C67-48FB-BE14-885C35166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7811" y="4153087"/>
            <a:ext cx="1086178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sz="2400" dirty="0">
                <a:ea typeface="Times New Roman" panose="02020603050405020304" pitchFamily="18" charset="0"/>
              </a:rPr>
              <a:t>Khi </a:t>
            </a:r>
            <a:r>
              <a:rPr lang="en-US" sz="2400" dirty="0" err="1">
                <a:ea typeface="Times New Roman" panose="02020603050405020304" pitchFamily="18" charset="0"/>
              </a:rPr>
              <a:t>có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một</a:t>
            </a:r>
            <a:r>
              <a:rPr lang="en-US" sz="2400" dirty="0">
                <a:ea typeface="Times New Roman" panose="02020603050405020304" pitchFamily="18" charset="0"/>
              </a:rPr>
              <a:t> (hay </a:t>
            </a:r>
            <a:r>
              <a:rPr lang="en-US" sz="2400" dirty="0" err="1">
                <a:ea typeface="Times New Roman" panose="02020603050405020304" pitchFamily="18" charset="0"/>
              </a:rPr>
              <a:t>nhiều</a:t>
            </a:r>
            <a:r>
              <a:rPr lang="en-US" sz="2400" dirty="0">
                <a:ea typeface="Times New Roman" panose="02020603050405020304" pitchFamily="18" charset="0"/>
              </a:rPr>
              <a:t>) </a:t>
            </a:r>
            <a:r>
              <a:rPr lang="en-US" sz="2400" dirty="0" err="1">
                <a:ea typeface="Times New Roman" panose="02020603050405020304" pitchFamily="18" charset="0"/>
              </a:rPr>
              <a:t>thao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tác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được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thực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hiện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lặp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lại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một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số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lần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trong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quá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trình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thực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hiện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thuật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toán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thì</a:t>
            </a:r>
            <a:r>
              <a:rPr lang="en-US" sz="2400" dirty="0">
                <a:ea typeface="Times New Roman" panose="02020603050405020304" pitchFamily="18" charset="0"/>
              </a:rPr>
              <a:t> ta </a:t>
            </a:r>
            <a:r>
              <a:rPr lang="en-US" sz="2400" dirty="0" err="1">
                <a:ea typeface="Times New Roman" panose="02020603050405020304" pitchFamily="18" charset="0"/>
              </a:rPr>
              <a:t>dùng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cấu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trúc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lặp</a:t>
            </a:r>
            <a:r>
              <a:rPr lang="en-US" sz="2400" dirty="0">
                <a:ea typeface="Times New Roman" panose="02020603050405020304" pitchFamily="18" charset="0"/>
              </a:rPr>
              <a:t>. </a:t>
            </a:r>
            <a:endParaRPr lang="en-US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319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  <p:bldP spid="15" grpId="0" animBg="1"/>
      <p:bldP spid="16" grpId="0" animBg="1"/>
      <p:bldP spid="17" grpId="0"/>
      <p:bldP spid="1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12" name="object 3"/>
          <p:cNvSpPr txBox="1"/>
          <p:nvPr/>
        </p:nvSpPr>
        <p:spPr>
          <a:xfrm>
            <a:off x="169040" y="691585"/>
            <a:ext cx="11827490" cy="16158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 cung cấp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hai lệnh lặp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cơ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bản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698500" lvl="1" indent="-229235">
              <a:lnSpc>
                <a:spcPct val="100000"/>
              </a:lnSpc>
              <a:spcBef>
                <a:spcPts val="1805"/>
              </a:spcBef>
              <a:buFont typeface="Wingdings"/>
              <a:buChar char=""/>
              <a:tabLst>
                <a:tab pos="6991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sz="2500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698500" lvl="1" indent="-229235">
              <a:lnSpc>
                <a:spcPct val="100000"/>
              </a:lnSpc>
              <a:spcBef>
                <a:spcPts val="1689"/>
              </a:spcBef>
              <a:buFont typeface="Wingdings"/>
              <a:buChar char=""/>
              <a:tabLst>
                <a:tab pos="6991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sz="2500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" y="2452730"/>
            <a:ext cx="7096539" cy="2080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tabLst>
                <a:tab pos="241935" algn="l"/>
              </a:tabLst>
            </a:pPr>
            <a:r>
              <a:rPr lang="en-US" sz="25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lang="en-US" sz="2500" b="1" spc="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</a:t>
            </a:r>
            <a:endParaRPr lang="en-US" sz="25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698500" lvl="1" indent="-469900">
              <a:lnSpc>
                <a:spcPct val="100000"/>
              </a:lnSpc>
              <a:spcBef>
                <a:spcPts val="1795"/>
              </a:spcBef>
              <a:buFont typeface="Wingdings"/>
              <a:buChar char=""/>
              <a:tabLst>
                <a:tab pos="699135" algn="l"/>
              </a:tabLst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Thực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khối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kiện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vẫn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còn</a:t>
            </a:r>
            <a:r>
              <a:rPr lang="en-US" sz="2500" spc="-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đúng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698500" lvl="1" indent="-469900">
              <a:lnSpc>
                <a:spcPct val="100000"/>
              </a:lnSpc>
              <a:spcBef>
                <a:spcPts val="1700"/>
              </a:spcBef>
              <a:buFont typeface="Wingdings"/>
              <a:buChar char=""/>
              <a:tabLst>
                <a:tab pos="699135" algn="l"/>
              </a:tabLst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Cú</a:t>
            </a:r>
            <a:r>
              <a:rPr lang="en-US" sz="2500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pháp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2387711" y="3608500"/>
            <a:ext cx="4351020" cy="2611612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65"/>
              </a:spcBef>
            </a:pPr>
            <a:r>
              <a:rPr sz="2500" b="1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while</a:t>
            </a:r>
            <a:r>
              <a:rPr sz="2500" b="1" spc="-2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condition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006475">
              <a:lnSpc>
                <a:spcPct val="100000"/>
              </a:lnSpc>
              <a:spcBef>
                <a:spcPts val="1080"/>
              </a:spcBef>
            </a:pP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statements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1080"/>
              </a:spcBef>
            </a:pPr>
            <a:r>
              <a:rPr sz="2500" b="1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[else:</a:t>
            </a:r>
            <a:endParaRPr sz="25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006475">
              <a:lnSpc>
                <a:spcPct val="100000"/>
              </a:lnSpc>
              <a:spcBef>
                <a:spcPts val="1085"/>
              </a:spcBef>
            </a:pP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statements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1080"/>
              </a:spcBef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]</a:t>
            </a:r>
          </a:p>
        </p:txBody>
      </p:sp>
      <p:sp>
        <p:nvSpPr>
          <p:cNvPr id="13" name="object 3"/>
          <p:cNvSpPr txBox="1"/>
          <p:nvPr/>
        </p:nvSpPr>
        <p:spPr>
          <a:xfrm>
            <a:off x="7458719" y="788368"/>
            <a:ext cx="4537811" cy="462306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R="635">
              <a:lnSpc>
                <a:spcPct val="100000"/>
              </a:lnSpc>
              <a:spcBef>
                <a:spcPts val="650"/>
              </a:spcBef>
              <a:buClr>
                <a:srgbClr val="CC9900"/>
              </a:buClr>
              <a:buSzPct val="65217"/>
              <a:tabLst>
                <a:tab pos="342265" algn="l"/>
                <a:tab pos="355600" algn="l"/>
                <a:tab pos="1828800" algn="l"/>
              </a:tabLst>
            </a:pP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Ví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1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 =</a:t>
            </a:r>
            <a:r>
              <a:rPr sz="2500" spc="-7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5</a:t>
            </a:r>
          </a:p>
          <a:p>
            <a:pPr marL="8255" algn="ctr">
              <a:lnSpc>
                <a:spcPct val="100000"/>
              </a:lnSpc>
              <a:spcBef>
                <a:spcPts val="550"/>
              </a:spcBef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while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(k &gt;</a:t>
            </a:r>
            <a:r>
              <a:rPr sz="2500" spc="-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0):</a:t>
            </a:r>
          </a:p>
          <a:p>
            <a:pPr marL="927100">
              <a:lnSpc>
                <a:spcPct val="100000"/>
              </a:lnSpc>
              <a:spcBef>
                <a:spcPts val="555"/>
              </a:spcBef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         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print('k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=',</a:t>
            </a:r>
            <a:r>
              <a:rPr sz="2500" spc="-4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k)</a:t>
            </a:r>
          </a:p>
          <a:p>
            <a:pPr marL="927100">
              <a:lnSpc>
                <a:spcPct val="100000"/>
              </a:lnSpc>
              <a:spcBef>
                <a:spcPts val="555"/>
              </a:spcBef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k-=1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#Kết</a:t>
            </a:r>
            <a:r>
              <a:rPr sz="2500" i="1" spc="-1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quả: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55"/>
              </a:spcBef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 =</a:t>
            </a:r>
            <a:r>
              <a:rPr sz="2500" spc="-9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5</a:t>
            </a:r>
          </a:p>
          <a:p>
            <a:pPr marL="355600">
              <a:lnSpc>
                <a:spcPct val="100000"/>
              </a:lnSpc>
              <a:spcBef>
                <a:spcPts val="550"/>
              </a:spcBef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 =</a:t>
            </a:r>
            <a:r>
              <a:rPr sz="2500" spc="-9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4</a:t>
            </a:r>
          </a:p>
          <a:p>
            <a:pPr marL="355600">
              <a:lnSpc>
                <a:spcPct val="100000"/>
              </a:lnSpc>
              <a:spcBef>
                <a:spcPts val="555"/>
              </a:spcBef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 =</a:t>
            </a:r>
            <a:r>
              <a:rPr sz="2500" spc="-9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3</a:t>
            </a:r>
          </a:p>
          <a:p>
            <a:pPr marL="355600">
              <a:lnSpc>
                <a:spcPct val="100000"/>
              </a:lnSpc>
              <a:spcBef>
                <a:spcPts val="550"/>
              </a:spcBef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 =</a:t>
            </a:r>
            <a:r>
              <a:rPr sz="2500" spc="-9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2</a:t>
            </a:r>
          </a:p>
          <a:p>
            <a:pPr marL="355600">
              <a:lnSpc>
                <a:spcPct val="100000"/>
              </a:lnSpc>
              <a:spcBef>
                <a:spcPts val="555"/>
              </a:spcBef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 =</a:t>
            </a:r>
            <a:r>
              <a:rPr sz="2500" spc="-1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300598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09828"/>
            <a:ext cx="655982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tabLst>
                <a:tab pos="241935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lang="en-US" sz="2500" b="1" spc="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6D7369DA-091C-43CA-9C14-C854816C811A}"/>
              </a:ext>
            </a:extLst>
          </p:cNvPr>
          <p:cNvSpPr txBox="1"/>
          <p:nvPr/>
        </p:nvSpPr>
        <p:spPr>
          <a:xfrm>
            <a:off x="216369" y="1244853"/>
            <a:ext cx="11899431" cy="1254831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 algn="just">
              <a:lnSpc>
                <a:spcPct val="150000"/>
              </a:lnSpc>
              <a:buClr>
                <a:srgbClr val="FF5A33"/>
              </a:buClr>
              <a:tabLst>
                <a:tab pos="756920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Ví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dụ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2.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Giải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thích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các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câu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lệnh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của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chương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trình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sau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</a:p>
          <a:p>
            <a:pPr marL="12700" algn="just">
              <a:lnSpc>
                <a:spcPct val="150000"/>
              </a:lnSpc>
              <a:buClr>
                <a:srgbClr val="FF5A33"/>
              </a:buClr>
              <a:tabLst>
                <a:tab pos="756920" algn="l"/>
              </a:tabLst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dự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đoán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kết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quả</a:t>
            </a:r>
            <a:endParaRPr lang="en-US" sz="2500" b="1" spc="-5" dirty="0">
              <a:latin typeface="Cambria" panose="02040503050406030204" pitchFamily="18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547" y="740816"/>
            <a:ext cx="4064083" cy="30658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object 10">
            <a:extLst>
              <a:ext uri="{FF2B5EF4-FFF2-40B4-BE49-F238E27FC236}">
                <a16:creationId xmlns:a16="http://schemas.microsoft.com/office/drawing/2014/main" id="{6D7369DA-091C-43CA-9C14-C854816C811A}"/>
              </a:ext>
            </a:extLst>
          </p:cNvPr>
          <p:cNvSpPr txBox="1"/>
          <p:nvPr/>
        </p:nvSpPr>
        <p:spPr>
          <a:xfrm>
            <a:off x="216369" y="2554029"/>
            <a:ext cx="11819918" cy="356315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 algn="just">
              <a:buClr>
                <a:srgbClr val="FF5A33"/>
              </a:buClr>
              <a:tabLst>
                <a:tab pos="756920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Ví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dụ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3.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Giải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thích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các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câu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lệnh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của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chương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trình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sau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</a:p>
          <a:p>
            <a:pPr marL="12700" algn="just">
              <a:buClr>
                <a:srgbClr val="FF5A33"/>
              </a:buClr>
              <a:tabLst>
                <a:tab pos="756920" algn="l"/>
              </a:tabLst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dự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đoán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kết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quả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</a:p>
          <a:p>
            <a:pPr marL="12700" algn="just">
              <a:buClr>
                <a:srgbClr val="FF5A33"/>
              </a:buClr>
              <a:tabLst>
                <a:tab pos="756920" algn="l"/>
              </a:tabLst>
            </a:pP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marL="12700" algn="just">
              <a:buClr>
                <a:srgbClr val="FF5A33"/>
              </a:buClr>
              <a:tabLst>
                <a:tab pos="756920" algn="l"/>
              </a:tabLst>
            </a:pP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marL="12700" algn="just">
              <a:buClr>
                <a:srgbClr val="FF5A33"/>
              </a:buClr>
              <a:tabLst>
                <a:tab pos="756920" algn="l"/>
              </a:tabLst>
            </a:pP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marL="12700" algn="just">
              <a:buClr>
                <a:srgbClr val="FF5A33"/>
              </a:buClr>
              <a:tabLst>
                <a:tab pos="756920" algn="l"/>
              </a:tabLst>
            </a:pP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marL="12700" algn="just">
              <a:buClr>
                <a:srgbClr val="FF5A33"/>
              </a:buClr>
              <a:tabLst>
                <a:tab pos="756920" algn="l"/>
              </a:tabLst>
            </a:pP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marL="12700" algn="just">
              <a:buClr>
                <a:srgbClr val="FF5A33"/>
              </a:buClr>
              <a:tabLst>
                <a:tab pos="756920" algn="l"/>
              </a:tabLst>
            </a:pPr>
            <a:endParaRPr lang="en-US" sz="2500" spc="-5" dirty="0">
              <a:latin typeface="Cambria" panose="02040503050406030204" pitchFamily="18" charset="0"/>
              <a:ea typeface="Cambria" panose="02040503050406030204" pitchFamily="18" charset="0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marL="355600" indent="-342900" algn="just">
              <a:buClr>
                <a:srgbClr val="FF5A33"/>
              </a:buClr>
              <a:buFont typeface="Wingdings"/>
              <a:buChar char="à"/>
              <a:tabLst>
                <a:tab pos="756920" algn="l"/>
              </a:tabLst>
            </a:pP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sửa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lỗi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chương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trình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để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được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kết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quả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in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ra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màn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hình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  <a:sym typeface="Wingdings" panose="05000000000000000000" pitchFamily="2" charset="2"/>
              </a:rPr>
              <a:t>: 2  4 6 8 10 12 14 16 18 20</a:t>
            </a:r>
            <a:endParaRPr lang="en-US" sz="2500" b="1" spc="-5" dirty="0">
              <a:latin typeface="Cambria" panose="02040503050406030204" pitchFamily="18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015" y="3088555"/>
            <a:ext cx="4187254" cy="244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74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09828"/>
            <a:ext cx="655982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tabLst>
                <a:tab pos="241935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lang="en-US" sz="2500" b="1" spc="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while/else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82217" y="1186882"/>
            <a:ext cx="11827566" cy="450408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500" dirty="0" err="1">
                <a:latin typeface="Cambria" panose="02040503050406030204" pitchFamily="18" charset="0"/>
              </a:rPr>
              <a:t>Khối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Lệnh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sau</a:t>
            </a:r>
            <a:r>
              <a:rPr lang="en-US" sz="2500" dirty="0">
                <a:latin typeface="Cambria" panose="02040503050406030204" pitchFamily="18" charset="0"/>
              </a:rPr>
              <a:t> else </a:t>
            </a:r>
            <a:r>
              <a:rPr lang="en-US" sz="2500" dirty="0" err="1">
                <a:latin typeface="Cambria" panose="02040503050406030204" pitchFamily="18" charset="0"/>
              </a:rPr>
              <a:t>sẽ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được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thực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hiện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khi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vòng</a:t>
            </a:r>
            <a:r>
              <a:rPr lang="en-US" sz="2500" dirty="0">
                <a:latin typeface="Cambria" panose="02040503050406030204" pitchFamily="18" charset="0"/>
              </a:rPr>
              <a:t> while </a:t>
            </a:r>
            <a:r>
              <a:rPr lang="en-US" sz="2500" dirty="0" err="1">
                <a:latin typeface="Cambria" panose="02040503050406030204" pitchFamily="18" charset="0"/>
              </a:rPr>
              <a:t>kết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thúc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một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cách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bình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</a:t>
            </a:r>
            <a:r>
              <a:rPr lang="vi-VN" sz="2500" dirty="0">
                <a:latin typeface="Cambria" panose="02040503050406030204" pitchFamily="18" charset="0"/>
              </a:rPr>
              <a:t>ư</a:t>
            </a:r>
            <a:r>
              <a:rPr lang="en-US" sz="2500" dirty="0" err="1">
                <a:latin typeface="Cambria" panose="02040503050406030204" pitchFamily="18" charset="0"/>
              </a:rPr>
              <a:t>ờng</a:t>
            </a:r>
            <a:r>
              <a:rPr lang="en-US" sz="2500" dirty="0">
                <a:latin typeface="Cambria" panose="02040503050406030204" pitchFamily="18" charset="0"/>
              </a:rPr>
              <a:t> (</a:t>
            </a:r>
            <a:r>
              <a:rPr lang="en-US" sz="2500" b="1" i="1" dirty="0" err="1">
                <a:latin typeface="Cambria" panose="02040503050406030204" pitchFamily="18" charset="0"/>
              </a:rPr>
              <a:t>tức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là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không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phải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dùng</a:t>
            </a:r>
            <a:r>
              <a:rPr lang="en-US" sz="2500" b="1" i="1" dirty="0">
                <a:latin typeface="Cambria" panose="02040503050406030204" pitchFamily="18" charset="0"/>
              </a:rPr>
              <a:t> break </a:t>
            </a:r>
            <a:r>
              <a:rPr lang="en-US" sz="2500" b="1" i="1" dirty="0" err="1">
                <a:latin typeface="Cambria" panose="02040503050406030204" pitchFamily="18" charset="0"/>
              </a:rPr>
              <a:t>để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kết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thúc</a:t>
            </a:r>
            <a:r>
              <a:rPr lang="en-US" sz="2500" dirty="0">
                <a:latin typeface="Cambria" panose="02040503050406030204" pitchFamily="18" charset="0"/>
              </a:rPr>
              <a:t>)</a:t>
            </a:r>
          </a:p>
        </p:txBody>
      </p:sp>
      <p:sp>
        <p:nvSpPr>
          <p:cNvPr id="15" name="object 4"/>
          <p:cNvSpPr txBox="1"/>
          <p:nvPr/>
        </p:nvSpPr>
        <p:spPr>
          <a:xfrm>
            <a:off x="416408" y="2254712"/>
            <a:ext cx="4351020" cy="2611612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65"/>
              </a:spcBef>
            </a:pPr>
            <a:r>
              <a:rPr sz="2500" b="1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while</a:t>
            </a:r>
            <a:r>
              <a:rPr sz="2500" b="1" spc="-2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condition: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006475">
              <a:lnSpc>
                <a:spcPct val="100000"/>
              </a:lnSpc>
              <a:spcBef>
                <a:spcPts val="1080"/>
              </a:spcBef>
            </a:pP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statements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1080"/>
              </a:spcBef>
            </a:pP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[</a:t>
            </a:r>
            <a:r>
              <a:rPr sz="2500" b="1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else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006475">
              <a:lnSpc>
                <a:spcPct val="100000"/>
              </a:lnSpc>
              <a:spcBef>
                <a:spcPts val="1085"/>
              </a:spcBef>
            </a:pP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statements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1080"/>
              </a:spcBef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]</a:t>
            </a:r>
          </a:p>
        </p:txBody>
      </p:sp>
      <p:sp>
        <p:nvSpPr>
          <p:cNvPr id="16" name="object 7"/>
          <p:cNvSpPr txBox="1"/>
          <p:nvPr/>
        </p:nvSpPr>
        <p:spPr>
          <a:xfrm>
            <a:off x="5110948" y="2160455"/>
            <a:ext cx="6380921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62505"/>
            <a:r>
              <a:rPr sz="2500" b="1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b="1" spc="-22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</a:t>
            </a:r>
            <a:r>
              <a:rPr sz="2500" b="1" spc="6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15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</a:t>
            </a:r>
            <a:r>
              <a:rPr sz="2500" b="1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135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</a:t>
            </a:r>
            <a:r>
              <a:rPr lang="en-US" sz="2500" b="1" spc="13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16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else  </a:t>
            </a:r>
            <a:endParaRPr lang="en-US" sz="2500" b="1" spc="160" dirty="0">
              <a:solidFill>
                <a:srgbClr val="538235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 marR="2262505"/>
            <a:r>
              <a:rPr sz="2500" spc="58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</a:t>
            </a:r>
            <a:r>
              <a:rPr sz="2500" spc="5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</a:t>
            </a:r>
            <a:r>
              <a:rPr sz="2500" spc="3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262255" marR="3140075" indent="-250190"/>
            <a:r>
              <a:rPr sz="2500" spc="16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 </a:t>
            </a:r>
            <a:r>
              <a:rPr sz="2500" spc="5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&lt; </a:t>
            </a:r>
            <a:r>
              <a:rPr sz="2500" spc="229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6</a:t>
            </a:r>
            <a:r>
              <a:rPr sz="2500" spc="229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  </a:t>
            </a:r>
            <a:r>
              <a:rPr sz="2500" spc="34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500" spc="3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(i)  </a:t>
            </a:r>
            <a:endParaRPr lang="en-US" sz="2500" spc="345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262255" marR="3140075" indent="-250190"/>
            <a:r>
              <a:rPr lang="en-US" sz="2500" spc="3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	</a:t>
            </a:r>
            <a:r>
              <a:rPr sz="2500" spc="58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</a:t>
            </a:r>
            <a:r>
              <a:rPr sz="2500" spc="5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+=</a:t>
            </a:r>
            <a:r>
              <a:rPr sz="2500" spc="3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/>
            <a:r>
              <a:rPr sz="2500" spc="22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else</a:t>
            </a:r>
            <a:r>
              <a:rPr sz="2500" spc="2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262255"/>
            <a:r>
              <a:rPr sz="2500" spc="34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500" spc="3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z="2500" spc="34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"i </a:t>
            </a:r>
            <a:r>
              <a:rPr sz="2500" spc="33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is </a:t>
            </a:r>
            <a:r>
              <a:rPr sz="2500" spc="-1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no </a:t>
            </a:r>
            <a:r>
              <a:rPr sz="2500" spc="15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longer </a:t>
            </a:r>
            <a:r>
              <a:rPr sz="2500" spc="18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less </a:t>
            </a:r>
            <a:r>
              <a:rPr sz="2500" spc="11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than</a:t>
            </a:r>
            <a:r>
              <a:rPr sz="2500" spc="7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2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6"</a:t>
            </a:r>
            <a:r>
              <a:rPr sz="2500" spc="2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67231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09828"/>
            <a:ext cx="655982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tabLst>
                <a:tab pos="241935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lang="en-US" sz="2500" b="1" spc="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while/else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9513" y="4340074"/>
            <a:ext cx="11754678" cy="14709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500" dirty="0" err="1">
                <a:latin typeface="Cambria" panose="02040503050406030204" pitchFamily="18" charset="0"/>
              </a:rPr>
              <a:t>Nếu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nhập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số</a:t>
            </a:r>
            <a:r>
              <a:rPr lang="en-US" sz="2500" dirty="0">
                <a:latin typeface="Cambria" panose="02040503050406030204" pitchFamily="18" charset="0"/>
              </a:rPr>
              <a:t> &lt;0 </a:t>
            </a:r>
            <a:r>
              <a:rPr lang="en-US" sz="2500" dirty="0" err="1">
                <a:latin typeface="Cambria" panose="02040503050406030204" pitchFamily="18" charset="0"/>
              </a:rPr>
              <a:t>thì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sẽ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thoát</a:t>
            </a:r>
            <a:r>
              <a:rPr lang="en-US" sz="2500" dirty="0">
                <a:latin typeface="Cambria" panose="02040503050406030204" pitchFamily="18" charset="0"/>
              </a:rPr>
              <a:t> while </a:t>
            </a:r>
            <a:r>
              <a:rPr lang="en-US" sz="2500" dirty="0" err="1">
                <a:latin typeface="Cambria" panose="02040503050406030204" pitchFamily="18" charset="0"/>
              </a:rPr>
              <a:t>và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bên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trong</a:t>
            </a:r>
            <a:r>
              <a:rPr lang="en-US" sz="2500" dirty="0">
                <a:latin typeface="Cambria" panose="02040503050406030204" pitchFamily="18" charset="0"/>
              </a:rPr>
              <a:t> else </a:t>
            </a:r>
            <a:r>
              <a:rPr lang="en-US" sz="2500" dirty="0" err="1">
                <a:latin typeface="Cambria" panose="02040503050406030204" pitchFamily="18" charset="0"/>
              </a:rPr>
              <a:t>cũng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không</a:t>
            </a:r>
            <a:r>
              <a:rPr lang="en-US" sz="2500" dirty="0">
                <a:latin typeface="Cambria" panose="02040503050406030204" pitchFamily="18" charset="0"/>
              </a:rPr>
              <a:t> đ</a:t>
            </a:r>
            <a:r>
              <a:rPr lang="vi-VN" sz="2500" dirty="0">
                <a:latin typeface="Cambria" panose="02040503050406030204" pitchFamily="18" charset="0"/>
              </a:rPr>
              <a:t>ư</a:t>
            </a:r>
            <a:r>
              <a:rPr lang="en-US" sz="2500" dirty="0" err="1">
                <a:latin typeface="Cambria" panose="02040503050406030204" pitchFamily="18" charset="0"/>
              </a:rPr>
              <a:t>ợc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thực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thi</a:t>
            </a:r>
            <a:r>
              <a:rPr lang="en-US" sz="2500" dirty="0">
                <a:latin typeface="Cambria" panose="02040503050406030204" pitchFamily="18" charset="0"/>
              </a:rPr>
              <a:t> (do </a:t>
            </a:r>
            <a:r>
              <a:rPr lang="en-US" sz="2500" dirty="0" err="1">
                <a:latin typeface="Cambria" panose="02040503050406030204" pitchFamily="18" charset="0"/>
              </a:rPr>
              <a:t>kết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thúc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bằng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lệnh</a:t>
            </a:r>
            <a:r>
              <a:rPr lang="en-US" sz="2500" dirty="0">
                <a:latin typeface="Cambria" panose="02040503050406030204" pitchFamily="18" charset="0"/>
              </a:rPr>
              <a:t> break). </a:t>
            </a:r>
          </a:p>
          <a:p>
            <a:pPr marL="0" indent="0" algn="just">
              <a:buNone/>
            </a:pPr>
            <a:r>
              <a:rPr lang="en-US" sz="2500" dirty="0" err="1">
                <a:latin typeface="Cambria" panose="02040503050406030204" pitchFamily="18" charset="0"/>
              </a:rPr>
              <a:t>Nếu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nhập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đúng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toàn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bộ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giá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trị</a:t>
            </a:r>
            <a:r>
              <a:rPr lang="en-US" sz="2500" dirty="0">
                <a:latin typeface="Cambria" panose="02040503050406030204" pitchFamily="18" charset="0"/>
              </a:rPr>
              <a:t>, </a:t>
            </a:r>
            <a:r>
              <a:rPr lang="en-US" sz="2500" dirty="0" err="1">
                <a:latin typeface="Cambria" panose="02040503050406030204" pitchFamily="18" charset="0"/>
              </a:rPr>
              <a:t>sau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khi</a:t>
            </a:r>
            <a:r>
              <a:rPr lang="en-US" sz="2500" dirty="0">
                <a:latin typeface="Cambria" panose="02040503050406030204" pitchFamily="18" charset="0"/>
              </a:rPr>
              <a:t> while </a:t>
            </a:r>
            <a:r>
              <a:rPr lang="en-US" sz="2500" dirty="0" err="1">
                <a:latin typeface="Cambria" panose="02040503050406030204" pitchFamily="18" charset="0"/>
              </a:rPr>
              <a:t>chạy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xong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thì</a:t>
            </a:r>
            <a:r>
              <a:rPr lang="en-US" sz="2500" dirty="0">
                <a:latin typeface="Cambria" panose="02040503050406030204" pitchFamily="18" charset="0"/>
              </a:rPr>
              <a:t> else </a:t>
            </a:r>
            <a:r>
              <a:rPr lang="en-US" sz="2500" dirty="0" err="1">
                <a:latin typeface="Cambria" panose="02040503050406030204" pitchFamily="18" charset="0"/>
              </a:rPr>
              <a:t>sẽ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tự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động</a:t>
            </a:r>
            <a:r>
              <a:rPr lang="en-US" sz="2500" dirty="0">
                <a:latin typeface="Cambria" panose="02040503050406030204" pitchFamily="18" charset="0"/>
              </a:rPr>
              <a:t> đ</a:t>
            </a:r>
            <a:r>
              <a:rPr lang="vi-VN" sz="2500" dirty="0">
                <a:latin typeface="Cambria" panose="02040503050406030204" pitchFamily="18" charset="0"/>
              </a:rPr>
              <a:t>ư</a:t>
            </a:r>
            <a:r>
              <a:rPr lang="en-US" sz="2500" dirty="0" err="1">
                <a:latin typeface="Cambria" panose="02040503050406030204" pitchFamily="18" charset="0"/>
              </a:rPr>
              <a:t>ợc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gọi</a:t>
            </a:r>
            <a:r>
              <a:rPr lang="en-US" sz="2500" dirty="0">
                <a:latin typeface="Cambria" panose="02040503050406030204" pitchFamily="18" charset="0"/>
              </a:rPr>
              <a:t> (</a:t>
            </a:r>
            <a:r>
              <a:rPr lang="en-US" sz="2500" dirty="0" err="1">
                <a:latin typeface="Cambria" panose="02040503050406030204" pitchFamily="18" charset="0"/>
              </a:rPr>
              <a:t>kết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thúc</a:t>
            </a:r>
            <a:r>
              <a:rPr lang="en-US" sz="2500" dirty="0">
                <a:latin typeface="Cambria" panose="02040503050406030204" pitchFamily="18" charset="0"/>
              </a:rPr>
              <a:t> while </a:t>
            </a:r>
            <a:r>
              <a:rPr lang="en-US" sz="2500" dirty="0" err="1">
                <a:latin typeface="Cambria" panose="02040503050406030204" pitchFamily="18" charset="0"/>
              </a:rPr>
              <a:t>bình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</a:t>
            </a:r>
            <a:r>
              <a:rPr lang="vi-VN" sz="2500" dirty="0">
                <a:latin typeface="Cambria" panose="02040503050406030204" pitchFamily="18" charset="0"/>
              </a:rPr>
              <a:t>ư</a:t>
            </a:r>
            <a:r>
              <a:rPr lang="en-US" sz="2500" dirty="0" err="1">
                <a:latin typeface="Cambria" panose="02040503050406030204" pitchFamily="18" charset="0"/>
              </a:rPr>
              <a:t>ờng</a:t>
            </a:r>
            <a:r>
              <a:rPr lang="en-US" sz="2500" dirty="0">
                <a:latin typeface="Cambria" panose="02040503050406030204" pitchFamily="18" charset="0"/>
              </a:rPr>
              <a:t>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DD7FFA-8CF3-4B54-A1DB-91C5D943C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913" y="783528"/>
            <a:ext cx="69056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138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065DEB77-1472-451E-820F-849A88160F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0921" y="1479999"/>
          <a:ext cx="5756913" cy="821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840" imgH="507960" progId="Equation.3">
                  <p:embed/>
                </p:oleObj>
              </mc:Choice>
              <mc:Fallback>
                <p:oleObj name="Equation" r:id="rId2" imgW="2031840" imgH="507960" progId="Equation.3">
                  <p:embed/>
                  <p:pic>
                    <p:nvPicPr>
                      <p:cNvPr id="13" name="Object 24">
                        <a:extLst>
                          <a:ext uri="{FF2B5EF4-FFF2-40B4-BE49-F238E27FC236}">
                            <a16:creationId xmlns:a16="http://schemas.microsoft.com/office/drawing/2014/main" id="{065DEB77-1472-451E-820F-849A88160F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921" y="1479999"/>
                        <a:ext cx="5756913" cy="821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3C5F8AC1-0095-4965-9B1D-24A75597C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71" y="2500509"/>
            <a:ext cx="5829042" cy="3324195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788B7784-015D-4E8C-8DDD-BEB5595EA681}"/>
              </a:ext>
            </a:extLst>
          </p:cNvPr>
          <p:cNvSpPr txBox="1">
            <a:spLocks/>
          </p:cNvSpPr>
          <p:nvPr/>
        </p:nvSpPr>
        <p:spPr>
          <a:xfrm>
            <a:off x="6295423" y="2464904"/>
            <a:ext cx="3564308" cy="9364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95B7"/>
              </a:buClr>
              <a:buSzPct val="100000"/>
              <a:buFont typeface="Patrick Hand SC"/>
              <a:buNone/>
              <a:defRPr sz="8000" b="0" i="0" u="none" strike="noStrike" cap="none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1pPr>
            <a:lvl2pPr lvl="1">
              <a:spcBef>
                <a:spcPts val="0"/>
              </a:spcBef>
              <a:buClr>
                <a:srgbClr val="2A95B7"/>
              </a:buClr>
              <a:buSzPct val="100000"/>
              <a:buFont typeface="Patrick Hand SC"/>
              <a:buNone/>
              <a:defRPr sz="8000" b="0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2pPr>
            <a:lvl3pPr lvl="2">
              <a:spcBef>
                <a:spcPts val="0"/>
              </a:spcBef>
              <a:buClr>
                <a:srgbClr val="2A95B7"/>
              </a:buClr>
              <a:buSzPct val="100000"/>
              <a:buFont typeface="Patrick Hand SC"/>
              <a:buNone/>
              <a:defRPr sz="8000" b="0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3pPr>
            <a:lvl4pPr lvl="3">
              <a:spcBef>
                <a:spcPts val="0"/>
              </a:spcBef>
              <a:buClr>
                <a:srgbClr val="2A95B7"/>
              </a:buClr>
              <a:buSzPct val="100000"/>
              <a:buFont typeface="Patrick Hand SC"/>
              <a:buNone/>
              <a:defRPr sz="8000" b="0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4pPr>
            <a:lvl5pPr lvl="4">
              <a:spcBef>
                <a:spcPts val="0"/>
              </a:spcBef>
              <a:buClr>
                <a:srgbClr val="2A95B7"/>
              </a:buClr>
              <a:buSzPct val="100000"/>
              <a:buFont typeface="Patrick Hand SC"/>
              <a:buNone/>
              <a:defRPr sz="8000" b="0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5pPr>
            <a:lvl6pPr lvl="5">
              <a:spcBef>
                <a:spcPts val="0"/>
              </a:spcBef>
              <a:buClr>
                <a:srgbClr val="2A95B7"/>
              </a:buClr>
              <a:buSzPct val="100000"/>
              <a:buFont typeface="Patrick Hand SC"/>
              <a:buNone/>
              <a:defRPr sz="8000" b="0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6pPr>
            <a:lvl7pPr lvl="6">
              <a:spcBef>
                <a:spcPts val="0"/>
              </a:spcBef>
              <a:buClr>
                <a:srgbClr val="2A95B7"/>
              </a:buClr>
              <a:buSzPct val="100000"/>
              <a:buFont typeface="Patrick Hand SC"/>
              <a:buNone/>
              <a:defRPr sz="8000" b="0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7pPr>
            <a:lvl8pPr lvl="7">
              <a:spcBef>
                <a:spcPts val="0"/>
              </a:spcBef>
              <a:buClr>
                <a:srgbClr val="2A95B7"/>
              </a:buClr>
              <a:buSzPct val="100000"/>
              <a:buFont typeface="Patrick Hand SC"/>
              <a:buNone/>
              <a:defRPr sz="8000" b="0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8pPr>
            <a:lvl9pPr lvl="8">
              <a:spcBef>
                <a:spcPts val="0"/>
              </a:spcBef>
              <a:buClr>
                <a:srgbClr val="2A95B7"/>
              </a:buClr>
              <a:buSzPct val="100000"/>
              <a:buFont typeface="Patrick Hand SC"/>
              <a:buNone/>
              <a:defRPr sz="8000" b="0">
                <a:solidFill>
                  <a:srgbClr val="2A95B7"/>
                </a:solidFill>
                <a:latin typeface="Patrick Hand SC"/>
                <a:ea typeface="Patrick Hand SC"/>
                <a:cs typeface="Patrick Hand SC"/>
                <a:sym typeface="Patrick Hand SC"/>
              </a:defRPr>
            </a:lvl9pPr>
          </a:lstStyle>
          <a:p>
            <a:pPr indent="269875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schemeClr val="tx1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38DC1F-2574-4D8E-9820-58C5EDCB95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400" y="3661337"/>
            <a:ext cx="2181225" cy="9048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4863108-5944-4068-9650-15B754FBE6B4}"/>
              </a:ext>
            </a:extLst>
          </p:cNvPr>
          <p:cNvSpPr txBox="1"/>
          <p:nvPr/>
        </p:nvSpPr>
        <p:spPr>
          <a:xfrm>
            <a:off x="252045" y="818393"/>
            <a:ext cx="1147103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Viết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chương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tổng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S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N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nhập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bàn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phím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06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13" y="691585"/>
            <a:ext cx="655982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tabLst>
                <a:tab pos="241935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lang="en-US" sz="2500" b="1" spc="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lang="en-US"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2" name="object 3"/>
          <p:cNvSpPr txBox="1"/>
          <p:nvPr/>
        </p:nvSpPr>
        <p:spPr>
          <a:xfrm>
            <a:off x="178978" y="1274559"/>
            <a:ext cx="9471918" cy="10002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lvl="1" indent="-229235">
              <a:lnSpc>
                <a:spcPct val="100000"/>
              </a:lnSpc>
              <a:spcBef>
                <a:spcPts val="1805"/>
              </a:spcBef>
              <a:buFont typeface="Wingdings"/>
              <a:buChar char=""/>
              <a:tabLst>
                <a:tab pos="699135" algn="l"/>
              </a:tabLst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qua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sequence (list, tuple, </a:t>
            </a: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dictionary,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set,</a:t>
            </a:r>
            <a:r>
              <a:rPr sz="2500" spc="-1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string).</a:t>
            </a:r>
          </a:p>
          <a:p>
            <a:pPr marL="698500" lvl="1" indent="-229235">
              <a:lnSpc>
                <a:spcPct val="100000"/>
              </a:lnSpc>
              <a:spcBef>
                <a:spcPts val="1689"/>
              </a:spcBef>
              <a:buFont typeface="Wingdings"/>
              <a:buChar char=""/>
              <a:tabLst>
                <a:tab pos="699135" algn="l"/>
              </a:tabLst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Cú</a:t>
            </a:r>
            <a:r>
              <a:rPr sz="2500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pháp</a:t>
            </a:r>
          </a:p>
        </p:txBody>
      </p:sp>
      <p:sp>
        <p:nvSpPr>
          <p:cNvPr id="18" name="object 4"/>
          <p:cNvSpPr txBox="1"/>
          <p:nvPr/>
        </p:nvSpPr>
        <p:spPr>
          <a:xfrm>
            <a:off x="2167657" y="1788198"/>
            <a:ext cx="5162290" cy="2407710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1005840" marR="836294" indent="-914400">
              <a:lnSpc>
                <a:spcPts val="3240"/>
              </a:lnSpc>
              <a:spcBef>
                <a:spcPts val="175"/>
              </a:spcBef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for </a:t>
            </a:r>
            <a:r>
              <a:rPr sz="25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var_name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 </a:t>
            </a:r>
            <a:r>
              <a:rPr sz="2500" b="1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in </a:t>
            </a:r>
            <a:r>
              <a:rPr sz="25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sequence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:  </a:t>
            </a:r>
            <a:endParaRPr lang="en-US" sz="2500" spc="-1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005840" marR="836294" indent="-914400">
              <a:lnSpc>
                <a:spcPts val="3240"/>
              </a:lnSpc>
              <a:spcBef>
                <a:spcPts val="175"/>
              </a:spcBef>
            </a:pP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	statements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790"/>
              </a:spcBef>
            </a:pP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[</a:t>
            </a:r>
            <a:r>
              <a:rPr sz="2500" b="1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else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005840">
              <a:lnSpc>
                <a:spcPct val="100000"/>
              </a:lnSpc>
              <a:spcBef>
                <a:spcPts val="1080"/>
              </a:spcBef>
            </a:pP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statements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1085"/>
              </a:spcBef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675" y="4784752"/>
            <a:ext cx="708327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555"/>
              </a:spcBef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st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=</a:t>
            </a:r>
            <a:r>
              <a:rPr lang="vi-VN" sz="2500" spc="-1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5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['bố','mẹ','em']</a:t>
            </a:r>
            <a:endParaRPr lang="vi-VN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for </a:t>
            </a:r>
            <a:r>
              <a:rPr lang="en-US" sz="25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in</a:t>
            </a:r>
            <a:r>
              <a:rPr lang="vi-VN" sz="2500" spc="-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st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  </a:t>
            </a:r>
            <a:r>
              <a:rPr lang="vi-VN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print('Anh yêu’,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</a:t>
            </a:r>
            <a:r>
              <a:rPr lang="vi-VN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)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lang="vi-VN"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#Lặp từ trong</a:t>
            </a:r>
            <a:r>
              <a:rPr lang="vi-VN" sz="2500" i="1" spc="-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chuỗi</a:t>
            </a:r>
            <a:endParaRPr lang="vi-VN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22" name="object 10">
            <a:extLst>
              <a:ext uri="{FF2B5EF4-FFF2-40B4-BE49-F238E27FC236}">
                <a16:creationId xmlns:a16="http://schemas.microsoft.com/office/drawing/2014/main" id="{6D7369DA-091C-43CA-9C14-C854816C811A}"/>
              </a:ext>
            </a:extLst>
          </p:cNvPr>
          <p:cNvSpPr txBox="1"/>
          <p:nvPr/>
        </p:nvSpPr>
        <p:spPr>
          <a:xfrm>
            <a:off x="349475" y="4170260"/>
            <a:ext cx="1759999" cy="47000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69900" lvl="1" indent="-469900">
              <a:spcBef>
                <a:spcPts val="580"/>
              </a:spcBef>
              <a:buClr>
                <a:srgbClr val="FF5A33"/>
              </a:buClr>
              <a:tabLst>
                <a:tab pos="756920" algn="l"/>
              </a:tabLst>
            </a:pPr>
            <a:r>
              <a:rPr lang="en-US"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Ví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dụ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1:</a:t>
            </a:r>
            <a:endParaRPr sz="2400" b="1" spc="-5" dirty="0">
              <a:latin typeface="Cambria" panose="02040503050406030204" pitchFamily="18" charset="0"/>
              <a:ea typeface="Cambria" panose="02040503050406030204" pitchFamily="18" charset="0"/>
              <a:cs typeface="Segoe UI"/>
            </a:endParaRPr>
          </a:p>
        </p:txBody>
      </p:sp>
      <p:sp>
        <p:nvSpPr>
          <p:cNvPr id="23" name="object 4"/>
          <p:cNvSpPr/>
          <p:nvPr/>
        </p:nvSpPr>
        <p:spPr>
          <a:xfrm>
            <a:off x="7040266" y="4370766"/>
            <a:ext cx="4240759" cy="1839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835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13" y="691585"/>
            <a:ext cx="655982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tabLst>
                <a:tab pos="241935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lang="en-US" sz="2500" b="1" spc="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lang="en-US"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248544" y="1298519"/>
            <a:ext cx="11797682" cy="2417328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 marR="105410">
              <a:lnSpc>
                <a:spcPct val="150000"/>
              </a:lnSpc>
              <a:spcBef>
                <a:spcPts val="250"/>
              </a:spcBef>
            </a:pPr>
            <a:r>
              <a:rPr sz="25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18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 </a:t>
            </a:r>
            <a:r>
              <a:rPr sz="25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qua 1 </a:t>
            </a:r>
            <a:r>
              <a:rPr sz="2500" spc="15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tập </a:t>
            </a:r>
            <a:r>
              <a:rPr sz="2500" spc="-75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hợp</a:t>
            </a:r>
            <a:r>
              <a:rPr sz="2500" spc="-7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 </a:t>
            </a:r>
            <a:endParaRPr lang="en-US" sz="2500" spc="-75" dirty="0">
              <a:solidFill>
                <a:srgbClr val="538235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 marR="105410">
              <a:lnSpc>
                <a:spcPct val="150000"/>
              </a:lnSpc>
              <a:spcBef>
                <a:spcPts val="250"/>
              </a:spcBef>
            </a:pPr>
            <a:r>
              <a:rPr sz="25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fruits=[</a:t>
            </a:r>
            <a:r>
              <a:rPr sz="2500" spc="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"Cam"</a:t>
            </a:r>
            <a:r>
              <a:rPr sz="25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500" spc="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"Bưởi"</a:t>
            </a:r>
            <a:r>
              <a:rPr sz="25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500" spc="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"Quýt"</a:t>
            </a:r>
            <a:r>
              <a:rPr sz="25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500" spc="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"Xoài"</a:t>
            </a:r>
            <a:r>
              <a:rPr sz="25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500" spc="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"Chôm </a:t>
            </a:r>
            <a:r>
              <a:rPr sz="2500" spc="6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chôm"</a:t>
            </a:r>
            <a:r>
              <a:rPr sz="2500" spc="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  </a:t>
            </a:r>
            <a:endParaRPr lang="en-US" sz="2500" spc="6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 marR="105410">
              <a:lnSpc>
                <a:spcPct val="150000"/>
              </a:lnSpc>
              <a:spcBef>
                <a:spcPts val="250"/>
              </a:spcBef>
            </a:pPr>
            <a:r>
              <a:rPr sz="2500" spc="2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500" spc="48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 </a:t>
            </a:r>
            <a:r>
              <a:rPr sz="2500" spc="2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</a:t>
            </a:r>
            <a:r>
              <a:rPr sz="2500" spc="6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3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fruits: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90550">
              <a:lnSpc>
                <a:spcPct val="150000"/>
              </a:lnSpc>
            </a:pPr>
            <a:r>
              <a:rPr sz="2500" spc="3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3" name="object 5"/>
          <p:cNvSpPr txBox="1"/>
          <p:nvPr/>
        </p:nvSpPr>
        <p:spPr>
          <a:xfrm>
            <a:off x="248544" y="4060702"/>
            <a:ext cx="11797682" cy="1801775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 marR="1007744">
              <a:lnSpc>
                <a:spcPct val="150000"/>
              </a:lnSpc>
              <a:spcBef>
                <a:spcPts val="250"/>
              </a:spcBef>
            </a:pPr>
            <a:r>
              <a:rPr sz="25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18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 </a:t>
            </a:r>
            <a:r>
              <a:rPr sz="25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qua </a:t>
            </a:r>
            <a:r>
              <a:rPr sz="2500" spc="5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</a:t>
            </a:r>
            <a:r>
              <a:rPr sz="2500" spc="8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ký </a:t>
            </a:r>
            <a:r>
              <a:rPr sz="2500" spc="13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tự </a:t>
            </a:r>
            <a:r>
              <a:rPr sz="2500" spc="16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</a:t>
            </a:r>
            <a:r>
              <a:rPr sz="2500" spc="125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</a:t>
            </a:r>
            <a:r>
              <a:rPr sz="2500" spc="12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 </a:t>
            </a:r>
            <a:endParaRPr lang="en-US" sz="2500" spc="125" dirty="0">
              <a:solidFill>
                <a:srgbClr val="538235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 marR="1007744">
              <a:lnSpc>
                <a:spcPct val="150000"/>
              </a:lnSpc>
              <a:spcBef>
                <a:spcPts val="250"/>
              </a:spcBef>
            </a:pPr>
            <a:r>
              <a:rPr sz="2500" spc="2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lang="en-US" sz="2500" spc="-1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</a:t>
            </a:r>
            <a:r>
              <a:rPr lang="en-US"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500" spc="30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'</a:t>
            </a:r>
            <a:r>
              <a:rPr sz="2500" spc="300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Lại</a:t>
            </a:r>
            <a:r>
              <a:rPr lang="en-US" sz="2500" spc="83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5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Đức</a:t>
            </a:r>
            <a:r>
              <a:rPr sz="2500" spc="-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-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10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Chung'</a:t>
            </a:r>
            <a:r>
              <a:rPr sz="2500" spc="10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91820">
              <a:lnSpc>
                <a:spcPct val="150000"/>
              </a:lnSpc>
            </a:pPr>
            <a:r>
              <a:rPr sz="2500" spc="2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lang="en-US" sz="2500" spc="27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</a:t>
            </a:r>
            <a:r>
              <a:rPr sz="2500" spc="2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76325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13" y="691585"/>
            <a:ext cx="655982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tabLst>
                <a:tab pos="241935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lang="en-US" sz="2500" b="1" spc="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lang="en-US"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Python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D7369DA-091C-43CA-9C14-C854816C811A}"/>
              </a:ext>
            </a:extLst>
          </p:cNvPr>
          <p:cNvSpPr txBox="1"/>
          <p:nvPr/>
        </p:nvSpPr>
        <p:spPr>
          <a:xfrm>
            <a:off x="193811" y="1194715"/>
            <a:ext cx="11718235" cy="47000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69900" lvl="1" indent="-469900">
              <a:spcBef>
                <a:spcPts val="580"/>
              </a:spcBef>
              <a:buClr>
                <a:srgbClr val="FF5A33"/>
              </a:buClr>
              <a:tabLst>
                <a:tab pos="756920" algn="l"/>
              </a:tabLst>
            </a:pPr>
            <a:r>
              <a:rPr lang="en-US"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Ví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</a:t>
            </a:r>
            <a:r>
              <a:rPr lang="en-US"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dụ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 1: </a:t>
            </a:r>
            <a:r>
              <a:rPr lang="en-US" sz="2400" b="1" dirty="0">
                <a:latin typeface="Times New Roman"/>
                <a:cs typeface="Times New Roman"/>
              </a:rPr>
              <a:t>T</a:t>
            </a:r>
            <a:r>
              <a:rPr lang="vi-VN" sz="2400" b="1" dirty="0">
                <a:latin typeface="Times New Roman"/>
                <a:cs typeface="Times New Roman"/>
              </a:rPr>
              <a:t>ính </a:t>
            </a:r>
            <a:r>
              <a:rPr lang="vi-VN" sz="2400" b="1" spc="-5" dirty="0">
                <a:latin typeface="Times New Roman"/>
                <a:cs typeface="Times New Roman"/>
              </a:rPr>
              <a:t>tổng tất cả </a:t>
            </a:r>
            <a:r>
              <a:rPr lang="vi-VN" sz="2400" b="1" dirty="0">
                <a:latin typeface="Times New Roman"/>
                <a:cs typeface="Times New Roman"/>
              </a:rPr>
              <a:t>các </a:t>
            </a:r>
            <a:r>
              <a:rPr lang="vi-VN" sz="2400" b="1" spc="-5" dirty="0">
                <a:latin typeface="Times New Roman"/>
                <a:cs typeface="Times New Roman"/>
              </a:rPr>
              <a:t>số </a:t>
            </a:r>
            <a:r>
              <a:rPr lang="vi-VN" sz="2400" b="1" dirty="0">
                <a:latin typeface="Times New Roman"/>
                <a:cs typeface="Times New Roman"/>
              </a:rPr>
              <a:t>trong </a:t>
            </a:r>
            <a:r>
              <a:rPr lang="en-US" sz="2400" b="1" dirty="0">
                <a:latin typeface="Times New Roman"/>
                <a:cs typeface="Times New Roman"/>
              </a:rPr>
              <a:t>ds</a:t>
            </a:r>
            <a:r>
              <a:rPr lang="vi-VN" sz="2400" b="1" dirty="0">
                <a:latin typeface="Times New Roman"/>
                <a:cs typeface="Times New Roman"/>
              </a:rPr>
              <a:t>A</a:t>
            </a:r>
            <a:r>
              <a:rPr lang="en-US" sz="2400" b="1" dirty="0">
                <a:latin typeface="Times New Roman"/>
                <a:cs typeface="Times New Roman"/>
              </a:rPr>
              <a:t> </a:t>
            </a:r>
            <a:r>
              <a:rPr lang="vi-VN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= [1, 3, 5, 9, 11, 2, 6, 8,</a:t>
            </a:r>
            <a:r>
              <a:rPr lang="vi-VN" sz="2400" spc="-9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4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10]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477" y="1707372"/>
            <a:ext cx="11608905" cy="377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354965" algn="l"/>
              </a:tabLst>
            </a:pP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</a:t>
            </a:r>
            <a:r>
              <a:rPr lang="vi-VN" sz="23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Biến </a:t>
            </a: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để </a:t>
            </a:r>
            <a:r>
              <a:rPr lang="vi-VN" sz="23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lưu </a:t>
            </a: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trữ tổng </a:t>
            </a:r>
            <a:r>
              <a:rPr lang="vi-VN" sz="23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các số </a:t>
            </a: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là </a:t>
            </a:r>
            <a:r>
              <a:rPr lang="vi-VN" sz="23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tong, </a:t>
            </a: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gán giá trị ban đầu bằng</a:t>
            </a:r>
            <a:r>
              <a:rPr lang="vi-VN" sz="2300" i="1" spc="-3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0</a:t>
            </a:r>
            <a:endParaRPr lang="vi-VN"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>
              <a:lnSpc>
                <a:spcPct val="130000"/>
              </a:lnSpc>
            </a:pP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lang="vi-VN" sz="2300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tong = 0</a:t>
            </a:r>
          </a:p>
          <a:p>
            <a:pPr>
              <a:lnSpc>
                <a:spcPct val="130000"/>
              </a:lnSpc>
            </a:pP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Vòng lặp </a:t>
            </a:r>
            <a:r>
              <a:rPr lang="vi-VN" sz="23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for, </a:t>
            </a: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a là </a:t>
            </a:r>
            <a:r>
              <a:rPr lang="vi-VN" sz="23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biến</a:t>
            </a:r>
            <a:r>
              <a:rPr lang="vi-VN" sz="2300" i="1" spc="-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3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endParaRPr lang="vi-VN"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lvl="2">
              <a:lnSpc>
                <a:spcPct val="130000"/>
              </a:lnSpc>
            </a:pPr>
            <a:r>
              <a:rPr lang="vi-VN" sz="23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for a </a:t>
            </a:r>
            <a:r>
              <a:rPr lang="vi-VN" sz="2300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in</a:t>
            </a:r>
            <a:r>
              <a:rPr lang="vi-VN" sz="2300" spc="-2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dsA</a:t>
            </a:r>
            <a:r>
              <a:rPr lang="vi-VN" sz="23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</a:t>
            </a:r>
            <a:endParaRPr lang="vi-VN"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lvl="2">
              <a:lnSpc>
                <a:spcPct val="130000"/>
              </a:lnSpc>
            </a:pPr>
            <a:r>
              <a:rPr lang="en-US" sz="23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lang="vi-VN" sz="23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tong =</a:t>
            </a:r>
            <a:r>
              <a:rPr lang="vi-VN" sz="2300" spc="-1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3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tong+a</a:t>
            </a:r>
            <a:endParaRPr lang="vi-VN"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lvl="2">
              <a:lnSpc>
                <a:spcPct val="130000"/>
              </a:lnSpc>
            </a:pPr>
            <a:r>
              <a:rPr lang="en-US" sz="2300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lang="vi-VN" sz="2300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print("Tổng </a:t>
            </a:r>
            <a:r>
              <a:rPr lang="vi-VN" sz="23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các </a:t>
            </a:r>
            <a:r>
              <a:rPr lang="vi-VN" sz="2300" spc="-5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là", </a:t>
            </a:r>
            <a:r>
              <a:rPr lang="vi-VN" sz="23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tong) </a:t>
            </a:r>
            <a:endParaRPr lang="en-US" sz="23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>
              <a:lnSpc>
                <a:spcPct val="130000"/>
              </a:lnSpc>
            </a:pP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# </a:t>
            </a:r>
            <a:r>
              <a:rPr lang="en-US" sz="2300" i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Kết</a:t>
            </a:r>
            <a:r>
              <a:rPr lang="en-US" sz="23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300" i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quả</a:t>
            </a: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endParaRPr lang="en-US" sz="2300" i="1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>
              <a:lnSpc>
                <a:spcPct val="130000"/>
              </a:lnSpc>
            </a:pPr>
            <a:r>
              <a:rPr lang="en-US" sz="23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lang="vi-VN" sz="23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Tổng </a:t>
            </a: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các </a:t>
            </a:r>
            <a:r>
              <a:rPr lang="vi-VN" sz="23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</a:t>
            </a: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là</a:t>
            </a:r>
            <a:r>
              <a:rPr lang="vi-VN" sz="2300" i="1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3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55</a:t>
            </a:r>
            <a:endParaRPr lang="vi-VN" sz="23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25968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13" y="691585"/>
            <a:ext cx="655982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tabLst>
                <a:tab pos="241935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lang="en-US" sz="2500" b="1" spc="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for/else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79512" y="1128343"/>
            <a:ext cx="12112487" cy="508776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500" dirty="0" err="1">
                <a:latin typeface="Cambria" panose="02040503050406030204" pitchFamily="18" charset="0"/>
              </a:rPr>
              <a:t>Khối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Lệnh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sau</a:t>
            </a:r>
            <a:r>
              <a:rPr lang="en-US" sz="2500" dirty="0">
                <a:latin typeface="Cambria" panose="02040503050406030204" pitchFamily="18" charset="0"/>
              </a:rPr>
              <a:t> else </a:t>
            </a:r>
            <a:r>
              <a:rPr lang="en-US" sz="2500" dirty="0" err="1">
                <a:latin typeface="Cambria" panose="02040503050406030204" pitchFamily="18" charset="0"/>
              </a:rPr>
              <a:t>sẽ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được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thực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hiện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khi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vòng</a:t>
            </a:r>
            <a:r>
              <a:rPr lang="en-US" sz="2500" dirty="0">
                <a:latin typeface="Cambria" panose="02040503050406030204" pitchFamily="18" charset="0"/>
              </a:rPr>
              <a:t> for </a:t>
            </a:r>
            <a:r>
              <a:rPr lang="en-US" sz="2500" dirty="0" err="1">
                <a:latin typeface="Cambria" panose="02040503050406030204" pitchFamily="18" charset="0"/>
              </a:rPr>
              <a:t>kết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thúc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một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cách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bình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</a:t>
            </a:r>
            <a:r>
              <a:rPr lang="vi-VN" sz="2500" dirty="0">
                <a:latin typeface="Cambria" panose="02040503050406030204" pitchFamily="18" charset="0"/>
              </a:rPr>
              <a:t>ư</a:t>
            </a:r>
            <a:r>
              <a:rPr lang="en-US" sz="2500" dirty="0" err="1">
                <a:latin typeface="Cambria" panose="02040503050406030204" pitchFamily="18" charset="0"/>
              </a:rPr>
              <a:t>ờng</a:t>
            </a:r>
            <a:r>
              <a:rPr lang="en-US" sz="2500" dirty="0">
                <a:latin typeface="Cambria" panose="02040503050406030204" pitchFamily="18" charset="0"/>
              </a:rPr>
              <a:t> (</a:t>
            </a:r>
            <a:r>
              <a:rPr lang="en-US" sz="2500" b="1" i="1" dirty="0" err="1">
                <a:latin typeface="Cambria" panose="02040503050406030204" pitchFamily="18" charset="0"/>
              </a:rPr>
              <a:t>tức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là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không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phải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dùng</a:t>
            </a:r>
            <a:r>
              <a:rPr lang="en-US" sz="2500" b="1" i="1" dirty="0">
                <a:latin typeface="Cambria" panose="02040503050406030204" pitchFamily="18" charset="0"/>
              </a:rPr>
              <a:t> break </a:t>
            </a:r>
            <a:r>
              <a:rPr lang="en-US" sz="2500" b="1" i="1" dirty="0" err="1">
                <a:latin typeface="Cambria" panose="02040503050406030204" pitchFamily="18" charset="0"/>
              </a:rPr>
              <a:t>để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kết</a:t>
            </a:r>
            <a:r>
              <a:rPr lang="en-US" sz="2500" b="1" i="1" dirty="0">
                <a:latin typeface="Cambria" panose="02040503050406030204" pitchFamily="18" charset="0"/>
              </a:rPr>
              <a:t> </a:t>
            </a:r>
            <a:r>
              <a:rPr lang="en-US" sz="2500" b="1" i="1" dirty="0" err="1">
                <a:latin typeface="Cambria" panose="02040503050406030204" pitchFamily="18" charset="0"/>
              </a:rPr>
              <a:t>thúc</a:t>
            </a:r>
            <a:r>
              <a:rPr lang="en-US" sz="2500" dirty="0">
                <a:latin typeface="Cambria" panose="02040503050406030204" pitchFamily="18" charset="0"/>
              </a:rPr>
              <a:t>)</a:t>
            </a:r>
          </a:p>
        </p:txBody>
      </p:sp>
      <p:sp>
        <p:nvSpPr>
          <p:cNvPr id="13" name="object 4"/>
          <p:cNvSpPr txBox="1"/>
          <p:nvPr/>
        </p:nvSpPr>
        <p:spPr>
          <a:xfrm>
            <a:off x="261446" y="2734173"/>
            <a:ext cx="5162290" cy="2382062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1005840" marR="836294" indent="-914400">
              <a:lnSpc>
                <a:spcPts val="3240"/>
              </a:lnSpc>
              <a:spcBef>
                <a:spcPts val="175"/>
              </a:spcBef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for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var_name </a:t>
            </a:r>
            <a:r>
              <a:rPr sz="2500" b="1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in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sequence:  statements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790"/>
              </a:spcBef>
            </a:pP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[</a:t>
            </a:r>
            <a:r>
              <a:rPr sz="2500" b="1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else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1005840">
              <a:lnSpc>
                <a:spcPct val="100000"/>
              </a:lnSpc>
              <a:spcBef>
                <a:spcPts val="1080"/>
              </a:spcBef>
            </a:pP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statements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1085"/>
              </a:spcBef>
            </a:pP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Courier New"/>
              </a:rPr>
              <a:t>]</a:t>
            </a:r>
          </a:p>
        </p:txBody>
      </p:sp>
      <p:sp>
        <p:nvSpPr>
          <p:cNvPr id="14" name="object 6"/>
          <p:cNvSpPr txBox="1"/>
          <p:nvPr/>
        </p:nvSpPr>
        <p:spPr>
          <a:xfrm>
            <a:off x="5605366" y="2734173"/>
            <a:ext cx="6405003" cy="2534027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2075" marR="2898775">
              <a:lnSpc>
                <a:spcPct val="130000"/>
              </a:lnSpc>
            </a:pPr>
            <a:r>
              <a:rPr sz="25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-22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</a:t>
            </a:r>
            <a:r>
              <a:rPr sz="2500" spc="6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 </a:t>
            </a:r>
            <a:r>
              <a:rPr sz="2500" spc="13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 </a:t>
            </a:r>
            <a:r>
              <a:rPr sz="2500" spc="16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else  </a:t>
            </a:r>
            <a:r>
              <a:rPr sz="25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5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sz="25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</a:t>
            </a:r>
            <a:r>
              <a:rPr sz="2500" spc="47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17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[2,4,6]</a:t>
            </a:r>
            <a:r>
              <a:rPr sz="2500" spc="1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341630">
              <a:lnSpc>
                <a:spcPct val="130000"/>
              </a:lnSpc>
            </a:pPr>
            <a:r>
              <a:rPr sz="2500" spc="28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500" spc="2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(x)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>
              <a:lnSpc>
                <a:spcPct val="130000"/>
              </a:lnSpc>
            </a:pPr>
            <a:r>
              <a:rPr sz="2500" spc="22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else</a:t>
            </a:r>
            <a:r>
              <a:rPr sz="2500" spc="2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341630">
              <a:lnSpc>
                <a:spcPct val="130000"/>
              </a:lnSpc>
            </a:pPr>
            <a:r>
              <a:rPr sz="2500" spc="27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500" spc="27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z="2500" spc="27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"Finally</a:t>
            </a:r>
            <a:r>
              <a:rPr sz="2500" spc="48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6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finished!"</a:t>
            </a:r>
            <a:r>
              <a:rPr sz="2500" spc="2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53625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13" y="691585"/>
            <a:ext cx="655982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>
              <a:lnSpc>
                <a:spcPct val="100000"/>
              </a:lnSpc>
              <a:tabLst>
                <a:tab pos="241935" algn="l"/>
              </a:tabLst>
            </a:pP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r>
              <a:rPr lang="en-US" sz="2500" b="1" spc="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for/else</a:t>
            </a:r>
            <a:endParaRPr lang="en-US"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76726" y="1352794"/>
            <a:ext cx="11646918" cy="462946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500" b="1" u="sng" dirty="0" err="1">
                <a:latin typeface="Cambria" panose="02040503050406030204" pitchFamily="18" charset="0"/>
              </a:rPr>
              <a:t>Ví</a:t>
            </a:r>
            <a:r>
              <a:rPr lang="en-US" sz="2500" b="1" u="sng" dirty="0">
                <a:latin typeface="Cambria" panose="02040503050406030204" pitchFamily="18" charset="0"/>
              </a:rPr>
              <a:t> </a:t>
            </a:r>
            <a:r>
              <a:rPr lang="en-US" sz="2500" b="1" u="sng" dirty="0" err="1">
                <a:latin typeface="Cambria" panose="02040503050406030204" pitchFamily="18" charset="0"/>
              </a:rPr>
              <a:t>dụ</a:t>
            </a:r>
            <a:r>
              <a:rPr lang="en-US" sz="2500" b="1" u="sng" dirty="0">
                <a:latin typeface="Cambria" panose="02040503050406030204" pitchFamily="18" charset="0"/>
              </a:rPr>
              <a:t>:</a:t>
            </a:r>
          </a:p>
          <a:p>
            <a:pPr marL="0" indent="0" algn="just">
              <a:buNone/>
            </a:pPr>
            <a:endParaRPr lang="en-US" sz="25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5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5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5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5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5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5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500" dirty="0" err="1">
                <a:latin typeface="Cambria" panose="02040503050406030204" pitchFamily="18" charset="0"/>
              </a:rPr>
              <a:t>Nếu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nhập</a:t>
            </a:r>
            <a:r>
              <a:rPr lang="en-US" sz="2500" dirty="0">
                <a:latin typeface="Cambria" panose="02040503050406030204" pitchFamily="18" charset="0"/>
              </a:rPr>
              <a:t> a </a:t>
            </a:r>
            <a:r>
              <a:rPr lang="en-US" sz="2500" dirty="0" err="1">
                <a:latin typeface="Cambria" panose="02040503050406030204" pitchFamily="18" charset="0"/>
              </a:rPr>
              <a:t>là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số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lẻ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thì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tính</a:t>
            </a:r>
            <a:r>
              <a:rPr lang="en-US" sz="2500" dirty="0">
                <a:latin typeface="Cambria" panose="02040503050406030204" pitchFamily="18" charset="0"/>
              </a:rPr>
              <a:t> ra sum, </a:t>
            </a:r>
            <a:r>
              <a:rPr lang="en-US" sz="2500" dirty="0" err="1">
                <a:latin typeface="Cambria" panose="02040503050406030204" pitchFamily="18" charset="0"/>
              </a:rPr>
              <a:t>còn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số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chẵn</a:t>
            </a:r>
            <a:r>
              <a:rPr lang="en-US" sz="2500" dirty="0">
                <a:latin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</a:rPr>
              <a:t>không</a:t>
            </a:r>
            <a:r>
              <a:rPr lang="en-US" sz="2500" dirty="0">
                <a:latin typeface="Cambria" panose="02040503050406030204" pitchFamily="18" charset="0"/>
              </a:rPr>
              <a:t> ra sum (do </a:t>
            </a:r>
            <a:r>
              <a:rPr lang="en-US" sz="2500" dirty="0" err="1">
                <a:latin typeface="Cambria" panose="02040503050406030204" pitchFamily="18" charset="0"/>
              </a:rPr>
              <a:t>ngừng</a:t>
            </a:r>
            <a:r>
              <a:rPr lang="en-US" sz="2500" dirty="0">
                <a:latin typeface="Cambria" panose="02040503050406030204" pitchFamily="18" charset="0"/>
              </a:rPr>
              <a:t> for </a:t>
            </a:r>
            <a:r>
              <a:rPr lang="en-US" sz="2500" dirty="0" err="1">
                <a:latin typeface="Cambria" panose="02040503050406030204" pitchFamily="18" charset="0"/>
              </a:rPr>
              <a:t>bằng</a:t>
            </a:r>
            <a:r>
              <a:rPr lang="en-US" sz="2500" dirty="0">
                <a:latin typeface="Cambria" panose="02040503050406030204" pitchFamily="18" charset="0"/>
              </a:rPr>
              <a:t> break)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1BFEB5-7CE8-4002-99FF-7450613C2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2297" y="875739"/>
            <a:ext cx="3972271" cy="393954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a=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input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Nhập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a:"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))</a:t>
            </a:r>
            <a:b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s=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b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range(6)</a:t>
            </a:r>
            <a:b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a%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==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b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print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Ngừng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for"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b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break</a:t>
            </a:r>
            <a:b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s=</a:t>
            </a:r>
            <a:r>
              <a:rPr kumimoji="0" lang="en-US" altLang="en-US" sz="2500" b="1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s+i</a:t>
            </a:r>
            <a:b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else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b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print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"sum="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s)</a:t>
            </a:r>
            <a:b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9434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11" name="object 3"/>
          <p:cNvSpPr txBox="1"/>
          <p:nvPr/>
        </p:nvSpPr>
        <p:spPr>
          <a:xfrm>
            <a:off x="217888" y="764806"/>
            <a:ext cx="11768704" cy="31803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2752725" indent="-915035">
              <a:lnSpc>
                <a:spcPct val="12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Hàm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range() được dùng để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tạo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 </a:t>
            </a:r>
            <a:r>
              <a:rPr sz="2500" b="1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một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dãy</a:t>
            </a:r>
            <a:r>
              <a:rPr sz="2500" b="1" spc="-4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spc="-12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</a:t>
            </a:r>
            <a:r>
              <a:rPr sz="2500" b="1" spc="-1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.</a:t>
            </a:r>
            <a:endParaRPr lang="en-US" sz="2500" b="1" spc="-125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927100" marR="2752725" indent="-915035">
              <a:lnSpc>
                <a:spcPct val="12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lang="en-US" sz="2500" spc="-1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			</a:t>
            </a:r>
            <a:r>
              <a:rPr sz="2500" spc="-1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12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range(start, end </a:t>
            </a:r>
            <a:r>
              <a:rPr sz="25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[,</a:t>
            </a:r>
            <a:r>
              <a:rPr sz="25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step])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217"/>
              <a:tabLst>
                <a:tab pos="354965" algn="l"/>
                <a:tab pos="355600" algn="l"/>
              </a:tabLst>
            </a:pPr>
            <a:r>
              <a:rPr sz="2500" i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Trong</a:t>
            </a:r>
            <a:r>
              <a:rPr sz="2500" i="1" spc="-2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i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đó: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422909">
              <a:lnSpc>
                <a:spcPct val="120000"/>
              </a:lnSpc>
              <a:spcBef>
                <a:spcPts val="5"/>
              </a:spcBef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start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Chỉ định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bắt đầu, nếu không có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thì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mặc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định bát đầu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từ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0  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422909">
              <a:lnSpc>
                <a:spcPct val="120000"/>
              </a:lnSpc>
              <a:spcBef>
                <a:spcPts val="5"/>
              </a:spcBef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end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Chỉ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định số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kết</a:t>
            </a:r>
            <a:r>
              <a:rPr sz="2500" spc="-1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thúc</a:t>
            </a:r>
          </a:p>
          <a:p>
            <a:pPr marL="355600">
              <a:lnSpc>
                <a:spcPct val="100000"/>
              </a:lnSpc>
              <a:spcBef>
                <a:spcPts val="550"/>
              </a:spcBef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step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Chỉ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định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khoảng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cách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giữa hai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start và end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 nếu không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có</a:t>
            </a:r>
            <a:r>
              <a:rPr sz="2500" spc="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thì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Python sẽ hiểu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mặc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định nó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bằng</a:t>
            </a:r>
            <a:r>
              <a:rPr sz="2500" spc="-3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4ABDC-EBAA-4ED7-B812-D6D0E2D1D691}"/>
              </a:ext>
            </a:extLst>
          </p:cNvPr>
          <p:cNvSpPr txBox="1"/>
          <p:nvPr/>
        </p:nvSpPr>
        <p:spPr>
          <a:xfrm>
            <a:off x="292426" y="4641653"/>
            <a:ext cx="4963712" cy="944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374775">
              <a:lnSpc>
                <a:spcPct val="110000"/>
              </a:lnSpc>
              <a:spcBef>
                <a:spcPts val="280"/>
              </a:spcBef>
              <a:buClr>
                <a:srgbClr val="CC9900"/>
              </a:buClr>
              <a:buSzPct val="65217"/>
              <a:tabLst>
                <a:tab pos="354965" algn="l"/>
                <a:tab pos="355600" algn="l"/>
                <a:tab pos="2860040" algn="l"/>
              </a:tabLst>
            </a:pPr>
            <a:r>
              <a:rPr lang="en-US" sz="25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lang="en-US" sz="25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lang="en-US" sz="25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lang="en-US" sz="2500" spc="1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</a:t>
            </a:r>
            <a:r>
              <a:rPr lang="en-US" sz="2500" spc="1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lang="en-US" sz="2500" b="1" spc="18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15</a:t>
            </a:r>
            <a:r>
              <a:rPr lang="en-US" sz="2500" spc="1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):  </a:t>
            </a:r>
          </a:p>
          <a:p>
            <a:pPr marR="1374775">
              <a:lnSpc>
                <a:spcPct val="110000"/>
              </a:lnSpc>
              <a:spcBef>
                <a:spcPts val="280"/>
              </a:spcBef>
              <a:buClr>
                <a:srgbClr val="CC9900"/>
              </a:buClr>
              <a:buSzPct val="65217"/>
              <a:tabLst>
                <a:tab pos="354965" algn="l"/>
                <a:tab pos="355600" algn="l"/>
                <a:tab pos="2860040" algn="l"/>
              </a:tabLst>
            </a:pPr>
            <a:r>
              <a:rPr lang="en-US" sz="2500" spc="28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lang="en-US" sz="2500" spc="2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(x)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BB143C-12C5-4D32-B0C3-1498FD8E6973}"/>
              </a:ext>
            </a:extLst>
          </p:cNvPr>
          <p:cNvSpPr txBox="1"/>
          <p:nvPr/>
        </p:nvSpPr>
        <p:spPr>
          <a:xfrm>
            <a:off x="3960352" y="3761506"/>
            <a:ext cx="4963712" cy="944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374775">
              <a:lnSpc>
                <a:spcPct val="110000"/>
              </a:lnSpc>
              <a:spcBef>
                <a:spcPts val="280"/>
              </a:spcBef>
              <a:buClr>
                <a:srgbClr val="CC9900"/>
              </a:buClr>
              <a:buSzPct val="65217"/>
              <a:tabLst>
                <a:tab pos="354965" algn="l"/>
                <a:tab pos="355600" algn="l"/>
                <a:tab pos="2860040" algn="l"/>
              </a:tabLst>
            </a:pPr>
            <a:r>
              <a:rPr lang="en-US" sz="25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lang="en-US" sz="25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lang="en-US" sz="25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lang="en-US" sz="2500" spc="1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</a:t>
            </a:r>
            <a:r>
              <a:rPr lang="en-US" sz="2500" spc="1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lang="en-US" sz="2500" b="1" spc="18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2,15</a:t>
            </a:r>
            <a:r>
              <a:rPr lang="en-US" sz="2500" spc="1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):  </a:t>
            </a:r>
          </a:p>
          <a:p>
            <a:pPr marR="1374775">
              <a:lnSpc>
                <a:spcPct val="110000"/>
              </a:lnSpc>
              <a:spcBef>
                <a:spcPts val="280"/>
              </a:spcBef>
              <a:buClr>
                <a:srgbClr val="CC9900"/>
              </a:buClr>
              <a:buSzPct val="65217"/>
              <a:tabLst>
                <a:tab pos="354965" algn="l"/>
                <a:tab pos="355600" algn="l"/>
                <a:tab pos="2860040" algn="l"/>
              </a:tabLst>
            </a:pPr>
            <a:r>
              <a:rPr lang="en-US" sz="2500" spc="28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lang="en-US" sz="2500" spc="2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(x)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5F6225-C268-492D-894E-20369A7F7F0E}"/>
              </a:ext>
            </a:extLst>
          </p:cNvPr>
          <p:cNvSpPr txBox="1"/>
          <p:nvPr/>
        </p:nvSpPr>
        <p:spPr>
          <a:xfrm>
            <a:off x="7667145" y="4218170"/>
            <a:ext cx="5343177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374775">
              <a:lnSpc>
                <a:spcPct val="110000"/>
              </a:lnSpc>
              <a:spcBef>
                <a:spcPts val="280"/>
              </a:spcBef>
              <a:buClr>
                <a:srgbClr val="CC9900"/>
              </a:buClr>
              <a:buSzPct val="65217"/>
              <a:tabLst>
                <a:tab pos="355600" algn="l"/>
              </a:tabLst>
            </a:pPr>
            <a:r>
              <a:rPr lang="en-US" sz="25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lang="en-US" sz="25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lang="en-US" sz="25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lang="en-US" sz="2500" spc="1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</a:t>
            </a:r>
            <a:r>
              <a:rPr lang="en-US" sz="2500" spc="1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lang="en-US" sz="2500" spc="18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2,15,3</a:t>
            </a:r>
            <a:r>
              <a:rPr lang="en-US" sz="2500" spc="1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):  </a:t>
            </a:r>
          </a:p>
          <a:p>
            <a:pPr marR="1374775">
              <a:lnSpc>
                <a:spcPct val="110000"/>
              </a:lnSpc>
              <a:spcBef>
                <a:spcPts val="280"/>
              </a:spcBef>
              <a:buClr>
                <a:srgbClr val="CC9900"/>
              </a:buClr>
              <a:buSzPct val="65217"/>
              <a:tabLst>
                <a:tab pos="354965" algn="l"/>
                <a:tab pos="355600" algn="l"/>
                <a:tab pos="2860040" algn="l"/>
              </a:tabLst>
            </a:pPr>
            <a:r>
              <a:rPr lang="en-US" sz="2500" spc="28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lang="en-US" sz="2500" spc="2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(x)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13791" y="5665116"/>
            <a:ext cx="151074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Ví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dụ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7077" y="4735845"/>
            <a:ext cx="151074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Ví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dụ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4562" y="5188530"/>
            <a:ext cx="151074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Ví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dụ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5554632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147955" y="692201"/>
            <a:ext cx="11818758" cy="271420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  <a:buClr>
                <a:srgbClr val="CC9900"/>
              </a:buClr>
              <a:buSzPct val="65217"/>
              <a:tabLst>
                <a:tab pos="354965" algn="l"/>
                <a:tab pos="355600" algn="l"/>
              </a:tabLst>
            </a:pP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Ví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4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In ra các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số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từ 1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đến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10,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tính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tổng của</a:t>
            </a:r>
            <a:r>
              <a:rPr sz="2500" spc="-4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nó</a:t>
            </a:r>
          </a:p>
          <a:p>
            <a:pPr marL="692150">
              <a:lnSpc>
                <a:spcPct val="100000"/>
              </a:lnSpc>
              <a:spcBef>
                <a:spcPts val="530"/>
              </a:spcBef>
            </a:pPr>
            <a:r>
              <a:rPr sz="25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S=0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692150">
              <a:lnSpc>
                <a:spcPct val="100000"/>
              </a:lnSpc>
              <a:spcBef>
                <a:spcPts val="530"/>
              </a:spcBef>
            </a:pPr>
            <a:r>
              <a:rPr sz="25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for i in</a:t>
            </a:r>
            <a:r>
              <a:rPr sz="2500" spc="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range(1,11):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026160">
              <a:lnSpc>
                <a:spcPct val="100000"/>
              </a:lnSpc>
              <a:spcBef>
                <a:spcPts val="490"/>
              </a:spcBef>
            </a:pPr>
            <a:r>
              <a:rPr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print(i)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026160">
              <a:lnSpc>
                <a:spcPct val="100000"/>
              </a:lnSpc>
              <a:spcBef>
                <a:spcPts val="480"/>
              </a:spcBef>
            </a:pPr>
            <a:r>
              <a:rPr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S=S+i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692150">
              <a:lnSpc>
                <a:spcPct val="100000"/>
              </a:lnSpc>
              <a:spcBef>
                <a:spcPts val="520"/>
              </a:spcBef>
            </a:pPr>
            <a:r>
              <a:rPr sz="25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print(‘Tong S = ‘,</a:t>
            </a:r>
            <a:r>
              <a:rPr sz="2500" spc="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0" name="object 4"/>
          <p:cNvSpPr txBox="1"/>
          <p:nvPr/>
        </p:nvSpPr>
        <p:spPr>
          <a:xfrm>
            <a:off x="175591" y="3518128"/>
            <a:ext cx="11840817" cy="20903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0"/>
              </a:spcBef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Hàm range() có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thể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kết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hợp </a:t>
            </a:r>
            <a:r>
              <a:rPr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với</a:t>
            </a:r>
            <a:r>
              <a:rPr sz="2500" b="1" spc="-6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sz="25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hàm</a:t>
            </a:r>
            <a:r>
              <a:rPr lang="en-US"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len</a:t>
            </a:r>
            <a:r>
              <a:rPr lang="en-US"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()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để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qua</a:t>
            </a:r>
            <a:r>
              <a:rPr lang="en-US" sz="2500" b="1" spc="-6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spc="-1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một</a:t>
            </a:r>
            <a:r>
              <a:rPr lang="en-US" sz="2500" b="1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dãy </a:t>
            </a:r>
            <a:r>
              <a:rPr lang="vi-VN"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sử </a:t>
            </a:r>
            <a:r>
              <a:rPr lang="vi-VN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dụng </a:t>
            </a:r>
            <a:r>
              <a:rPr lang="vi-VN"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index</a:t>
            </a:r>
          </a:p>
          <a:p>
            <a:pPr marL="12700">
              <a:lnSpc>
                <a:spcPct val="100000"/>
              </a:lnSpc>
              <a:spcBef>
                <a:spcPts val="550"/>
              </a:spcBef>
              <a:buClr>
                <a:srgbClr val="CC9900"/>
              </a:buClr>
              <a:buSzPct val="65217"/>
              <a:tabLst>
                <a:tab pos="354965" algn="l"/>
                <a:tab pos="355600" algn="l"/>
              </a:tabLst>
            </a:pPr>
            <a:r>
              <a:rPr lang="vi-VN"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Ví </a:t>
            </a:r>
            <a:r>
              <a:rPr lang="vi-VN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dụ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3</a:t>
            </a:r>
            <a:r>
              <a:rPr lang="vi-VN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555"/>
              </a:spcBef>
              <a:buClr>
                <a:srgbClr val="CC9900"/>
              </a:buClr>
              <a:buSzPct val="65217"/>
              <a:tabLst>
                <a:tab pos="354965" algn="l"/>
                <a:tab pos="355600" algn="l"/>
              </a:tabLst>
            </a:pPr>
            <a:r>
              <a:rPr lang="en-US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lang="en-US" sz="25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st</a:t>
            </a:r>
            <a:r>
              <a:rPr lang="vi-VN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=</a:t>
            </a:r>
            <a:r>
              <a:rPr lang="vi-VN" sz="25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500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['bố','mẹ','em']</a:t>
            </a:r>
            <a:endParaRPr lang="vi-VN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648335" marR="1190625" indent="-293370">
              <a:lnSpc>
                <a:spcPct val="100000"/>
              </a:lnSpc>
            </a:pPr>
            <a:r>
              <a:rPr lang="vi-VN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for </a:t>
            </a:r>
            <a:r>
              <a:rPr lang="en-US" sz="25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</a:t>
            </a:r>
            <a:r>
              <a:rPr lang="vi-VN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5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in </a:t>
            </a:r>
            <a:r>
              <a:rPr lang="vi-VN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range(len(</a:t>
            </a:r>
            <a:r>
              <a:rPr lang="en-US" sz="25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st</a:t>
            </a:r>
            <a:r>
              <a:rPr lang="vi-VN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)):  </a:t>
            </a:r>
            <a:endParaRPr lang="en-US" sz="25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648335" marR="1190625" indent="-293370">
              <a:lnSpc>
                <a:spcPct val="100000"/>
              </a:lnSpc>
            </a:pPr>
            <a:r>
              <a:rPr lang="en-US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lang="vi-VN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print("Anh</a:t>
            </a:r>
            <a:r>
              <a:rPr lang="vi-VN" sz="2500" spc="-8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vi-VN" sz="25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yêu",</a:t>
            </a:r>
            <a:r>
              <a:rPr lang="en-US" sz="2500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st</a:t>
            </a:r>
            <a:r>
              <a:rPr lang="vi-VN" sz="25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[</a:t>
            </a:r>
            <a:r>
              <a:rPr lang="en-US" sz="2500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i</a:t>
            </a:r>
            <a:r>
              <a:rPr lang="vi-VN" sz="2500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])</a:t>
            </a:r>
            <a:endParaRPr lang="vi-VN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63640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11" name="object 4"/>
          <p:cNvSpPr txBox="1"/>
          <p:nvPr/>
        </p:nvSpPr>
        <p:spPr>
          <a:xfrm>
            <a:off x="172277" y="829635"/>
            <a:ext cx="6019799" cy="1048363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-22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</a:t>
            </a:r>
            <a:r>
              <a:rPr sz="2200" spc="6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 </a:t>
            </a:r>
            <a:r>
              <a:rPr sz="2200" spc="-18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hàm </a:t>
            </a:r>
            <a:r>
              <a:rPr sz="2200" spc="6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 </a:t>
            </a:r>
            <a:r>
              <a:rPr sz="2200" spc="13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 </a:t>
            </a:r>
            <a:r>
              <a:rPr sz="2200" spc="12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0-6 </a:t>
            </a:r>
            <a:r>
              <a:rPr sz="2200" spc="16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</a:t>
            </a:r>
            <a:r>
              <a:rPr sz="2200" spc="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sz="2200" spc="37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18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340995" marR="3326129" indent="-250190">
              <a:lnSpc>
                <a:spcPct val="100000"/>
              </a:lnSpc>
            </a:pPr>
            <a:r>
              <a:rPr sz="22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2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sz="22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</a:t>
            </a:r>
            <a:r>
              <a:rPr lang="en-US" sz="22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17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</a:t>
            </a:r>
            <a:r>
              <a:rPr sz="2200" spc="1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z="2200" spc="17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6</a:t>
            </a:r>
            <a:r>
              <a:rPr sz="2200" spc="1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):  </a:t>
            </a:r>
            <a:r>
              <a:rPr sz="2200" spc="28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200" spc="2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(x)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6321286" y="858514"/>
            <a:ext cx="5754756" cy="1048363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-22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</a:t>
            </a:r>
            <a:r>
              <a:rPr sz="2200" spc="6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 </a:t>
            </a:r>
            <a:r>
              <a:rPr sz="2200" spc="-18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hàm </a:t>
            </a:r>
            <a:r>
              <a:rPr sz="2200" spc="6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 </a:t>
            </a:r>
            <a:r>
              <a:rPr sz="2200" spc="13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 </a:t>
            </a:r>
            <a:r>
              <a:rPr sz="2200" spc="12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2-6 </a:t>
            </a:r>
            <a:r>
              <a:rPr sz="2200" spc="16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</a:t>
            </a:r>
            <a:r>
              <a:rPr sz="2200" spc="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sz="2200" spc="36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18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342265" marR="2773680" indent="-250190">
              <a:lnSpc>
                <a:spcPct val="100000"/>
              </a:lnSpc>
            </a:pPr>
            <a:r>
              <a:rPr sz="22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2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sz="22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200" spc="1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</a:t>
            </a:r>
            <a:r>
              <a:rPr sz="2200" spc="1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z="2200" spc="18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2,6</a:t>
            </a:r>
            <a:r>
              <a:rPr sz="2200" spc="1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):  </a:t>
            </a:r>
            <a:r>
              <a:rPr sz="2200" spc="28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200" spc="2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(x)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6192076" y="2051651"/>
            <a:ext cx="5754757" cy="1726114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2075" marR="2898775">
              <a:lnSpc>
                <a:spcPct val="100000"/>
              </a:lnSpc>
              <a:spcBef>
                <a:spcPts val="260"/>
              </a:spcBef>
            </a:pP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-22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</a:t>
            </a:r>
            <a:r>
              <a:rPr sz="2200" spc="6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 </a:t>
            </a:r>
            <a:r>
              <a:rPr sz="2200" spc="13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 </a:t>
            </a:r>
            <a:r>
              <a:rPr sz="2200" spc="16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else  </a:t>
            </a:r>
            <a:r>
              <a:rPr sz="22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2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sz="22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</a:t>
            </a:r>
            <a:r>
              <a:rPr sz="2200" spc="47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17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</a:t>
            </a:r>
            <a:r>
              <a:rPr sz="2200" spc="1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z="2200" spc="17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6</a:t>
            </a:r>
            <a:r>
              <a:rPr sz="2200" spc="1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):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341630">
              <a:lnSpc>
                <a:spcPct val="100000"/>
              </a:lnSpc>
            </a:pPr>
            <a:r>
              <a:rPr sz="2200" spc="28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200" spc="2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(x)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sz="2200" spc="22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else</a:t>
            </a:r>
            <a:r>
              <a:rPr sz="2200" spc="2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341630">
              <a:lnSpc>
                <a:spcPct val="100000"/>
              </a:lnSpc>
              <a:spcBef>
                <a:spcPts val="5"/>
              </a:spcBef>
            </a:pPr>
            <a:r>
              <a:rPr sz="2200" spc="27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200" spc="27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z="2200" spc="275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"Finally</a:t>
            </a:r>
            <a:r>
              <a:rPr sz="2200" spc="48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260" dirty="0">
                <a:solidFill>
                  <a:srgbClr val="A42A2A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finished!"</a:t>
            </a:r>
            <a:r>
              <a:rPr sz="2200" spc="2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4" name="object 7"/>
          <p:cNvSpPr txBox="1"/>
          <p:nvPr/>
        </p:nvSpPr>
        <p:spPr>
          <a:xfrm>
            <a:off x="168964" y="2213655"/>
            <a:ext cx="5850835" cy="1087477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0805" marR="318135">
              <a:lnSpc>
                <a:spcPct val="100000"/>
              </a:lnSpc>
              <a:spcBef>
                <a:spcPts val="260"/>
              </a:spcBef>
            </a:pP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-22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</a:t>
            </a:r>
            <a:r>
              <a:rPr sz="2200" spc="6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 </a:t>
            </a:r>
            <a:r>
              <a:rPr sz="2200" spc="-18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hàm </a:t>
            </a:r>
            <a:r>
              <a:rPr sz="2200" spc="6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 </a:t>
            </a:r>
            <a:r>
              <a:rPr sz="2200" spc="13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 </a:t>
            </a:r>
            <a:r>
              <a:rPr sz="2200" spc="8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2-30 </a:t>
            </a:r>
            <a:r>
              <a:rPr sz="2200" spc="2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mỗi </a:t>
            </a:r>
            <a:r>
              <a:rPr sz="2200" spc="185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lần</a:t>
            </a:r>
            <a:r>
              <a:rPr sz="2200" spc="18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110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</a:t>
            </a:r>
            <a:r>
              <a:rPr lang="en-US" sz="2200" spc="110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ăng</a:t>
            </a:r>
            <a:r>
              <a:rPr sz="2200" spc="11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  </a:t>
            </a:r>
            <a:endParaRPr lang="en-US" sz="2200" spc="-15" dirty="0">
              <a:solidFill>
                <a:srgbClr val="538235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 marR="318135">
              <a:lnSpc>
                <a:spcPct val="100000"/>
              </a:lnSpc>
              <a:spcBef>
                <a:spcPts val="260"/>
              </a:spcBef>
            </a:pPr>
            <a:r>
              <a:rPr sz="22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2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sz="22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200" spc="14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range</a:t>
            </a:r>
            <a:r>
              <a:rPr sz="2200" spc="1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z="2200" spc="14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</a:t>
            </a:r>
            <a:r>
              <a:rPr sz="2200" spc="1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 </a:t>
            </a:r>
            <a:r>
              <a:rPr sz="2200" spc="15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30</a:t>
            </a:r>
            <a:r>
              <a:rPr sz="2200" spc="1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200" spc="39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28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</a:t>
            </a:r>
            <a:r>
              <a:rPr sz="2200" spc="2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):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340360">
              <a:lnSpc>
                <a:spcPct val="100000"/>
              </a:lnSpc>
            </a:pPr>
            <a:r>
              <a:rPr sz="2200" spc="28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200" spc="2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(x)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5" name="object 8"/>
          <p:cNvSpPr txBox="1"/>
          <p:nvPr/>
        </p:nvSpPr>
        <p:spPr>
          <a:xfrm>
            <a:off x="4367462" y="4144369"/>
            <a:ext cx="7579371" cy="2101857"/>
          </a:xfrm>
          <a:prstGeom prst="rect">
            <a:avLst/>
          </a:prstGeom>
          <a:ln w="9144">
            <a:solidFill>
              <a:schemeClr val="tx1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 marR="179705">
              <a:lnSpc>
                <a:spcPct val="100000"/>
              </a:lnSpc>
              <a:spcBef>
                <a:spcPts val="250"/>
              </a:spcBef>
            </a:pP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1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 </a:t>
            </a:r>
            <a:r>
              <a:rPr sz="2200" spc="18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 </a:t>
            </a:r>
            <a:r>
              <a:rPr sz="2200" spc="13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lồng </a:t>
            </a:r>
            <a:r>
              <a:rPr sz="2200" spc="-15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nhau</a:t>
            </a: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 </a:t>
            </a:r>
            <a:endParaRPr lang="en-US" sz="2200" spc="-15" dirty="0">
              <a:solidFill>
                <a:srgbClr val="538235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 marR="179705">
              <a:lnSpc>
                <a:spcPct val="100000"/>
              </a:lnSpc>
              <a:spcBef>
                <a:spcPts val="250"/>
              </a:spcBef>
            </a:pPr>
            <a:r>
              <a:rPr sz="22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fruits=[</a:t>
            </a:r>
            <a:r>
              <a:rPr sz="2200" spc="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"Cam"</a:t>
            </a:r>
            <a:r>
              <a:rPr sz="22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200" spc="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"Bưởi"</a:t>
            </a:r>
            <a:r>
              <a:rPr sz="22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200" spc="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"Quýt"</a:t>
            </a:r>
            <a:r>
              <a:rPr sz="22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200" spc="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"Xoài"</a:t>
            </a:r>
            <a:r>
              <a:rPr sz="22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200" spc="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sz="2200" spc="155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Chôm</a:t>
            </a:r>
            <a:r>
              <a:rPr sz="2200" spc="15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25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</a:t>
            </a:r>
            <a:r>
              <a:rPr sz="2200" spc="70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ôm</a:t>
            </a:r>
            <a:r>
              <a:rPr sz="2200" spc="7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sz="2200" spc="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 marR="2184400">
              <a:lnSpc>
                <a:spcPct val="100000"/>
              </a:lnSpc>
            </a:pPr>
            <a:r>
              <a:rPr lang="en-US" sz="2200" spc="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colors</a:t>
            </a:r>
            <a:r>
              <a:rPr sz="2200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</a:t>
            </a:r>
            <a:r>
              <a:rPr sz="2200" spc="49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[</a:t>
            </a:r>
            <a:r>
              <a:rPr sz="2200" spc="9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"Đỏ</a:t>
            </a:r>
            <a:r>
              <a:rPr sz="2200" spc="7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sz="2200" spc="47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200" spc="34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sz="2200" spc="-2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</a:t>
            </a:r>
            <a:r>
              <a:rPr sz="2200" spc="-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à</a:t>
            </a:r>
            <a:r>
              <a:rPr sz="2200" spc="-1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</a:t>
            </a:r>
            <a:r>
              <a:rPr sz="2200" spc="-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</a:t>
            </a:r>
            <a:r>
              <a:rPr sz="2200" spc="34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sz="2200" spc="49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200" spc="34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sz="2200" spc="-2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</a:t>
            </a:r>
            <a:r>
              <a:rPr sz="2200" spc="-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</a:t>
            </a:r>
            <a:r>
              <a:rPr sz="2200" spc="-1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</a:t>
            </a:r>
            <a:r>
              <a:rPr sz="2200" spc="-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</a:t>
            </a:r>
            <a:r>
              <a:rPr sz="2200" spc="34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sz="2200" spc="48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  </a:t>
            </a:r>
            <a:endParaRPr lang="en-US" sz="2200" spc="484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 marR="2184400">
              <a:lnSpc>
                <a:spcPct val="100000"/>
              </a:lnSpc>
            </a:pPr>
            <a:r>
              <a:rPr sz="2200" spc="2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200" spc="48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 </a:t>
            </a:r>
            <a:r>
              <a:rPr sz="2200" spc="2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</a:t>
            </a:r>
            <a:r>
              <a:rPr sz="2200" spc="67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3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fruits: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90550">
              <a:lnSpc>
                <a:spcPct val="100000"/>
              </a:lnSpc>
              <a:spcBef>
                <a:spcPts val="5"/>
              </a:spcBef>
            </a:pPr>
            <a:r>
              <a:rPr sz="2200" spc="28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2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 </a:t>
            </a:r>
            <a:r>
              <a:rPr sz="2200" spc="28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</a:t>
            </a:r>
            <a:r>
              <a:rPr sz="2200" spc="49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2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colors: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093470">
              <a:lnSpc>
                <a:spcPct val="100000"/>
              </a:lnSpc>
            </a:pPr>
            <a:r>
              <a:rPr sz="2200" spc="3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print(f,c)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6" name="object 9"/>
          <p:cNvSpPr txBox="1"/>
          <p:nvPr/>
        </p:nvSpPr>
        <p:spPr>
          <a:xfrm>
            <a:off x="168964" y="3619867"/>
            <a:ext cx="5927036" cy="1049004"/>
          </a:xfrm>
          <a:prstGeom prst="rect">
            <a:avLst/>
          </a:prstGeom>
          <a:ln w="9144">
            <a:noFill/>
          </a:ln>
        </p:spPr>
        <p:txBody>
          <a:bodyPr vert="horz" wrap="square" lIns="0" tIns="33019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9"/>
              </a:spcBef>
            </a:pPr>
            <a:r>
              <a:rPr sz="22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13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 </a:t>
            </a:r>
            <a:r>
              <a:rPr sz="2200" spc="3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pass </a:t>
            </a:r>
            <a:r>
              <a:rPr sz="2200" spc="16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</a:t>
            </a:r>
            <a:r>
              <a:rPr sz="2200" spc="1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 </a:t>
            </a:r>
            <a:r>
              <a:rPr sz="2200" spc="19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 </a:t>
            </a:r>
            <a:r>
              <a:rPr sz="2200" spc="3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sẽ </a:t>
            </a:r>
            <a:r>
              <a:rPr sz="2200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</a:t>
            </a:r>
            <a:r>
              <a:rPr sz="2200" spc="-10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15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làm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229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gì</a:t>
            </a:r>
            <a:r>
              <a:rPr lang="en-US" sz="2200" spc="47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25" dirty="0" err="1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cả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342265" marR="2891155" indent="-250190">
              <a:lnSpc>
                <a:spcPct val="100000"/>
              </a:lnSpc>
            </a:pPr>
            <a:r>
              <a:rPr sz="22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2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 </a:t>
            </a:r>
            <a:r>
              <a:rPr sz="2200" spc="28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200" spc="3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[</a:t>
            </a:r>
            <a:r>
              <a:rPr sz="2200" spc="3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0</a:t>
            </a:r>
            <a:r>
              <a:rPr sz="2200" spc="3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 </a:t>
            </a:r>
            <a:r>
              <a:rPr sz="2200" spc="23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r>
              <a:rPr sz="2200" spc="2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 </a:t>
            </a:r>
            <a:r>
              <a:rPr sz="2200" spc="3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</a:t>
            </a:r>
            <a:r>
              <a:rPr sz="2200" spc="3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]:  </a:t>
            </a:r>
            <a:endParaRPr lang="en-US" sz="2200" spc="315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342265" marR="2891155" indent="-250190">
              <a:lnSpc>
                <a:spcPct val="100000"/>
              </a:lnSpc>
            </a:pPr>
            <a:r>
              <a:rPr lang="en-US" sz="2200" spc="31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	</a:t>
            </a:r>
            <a:r>
              <a:rPr sz="2200" spc="3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pass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026290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026" y="705676"/>
            <a:ext cx="11837504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Lệnh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break, continue</a:t>
            </a:r>
          </a:p>
          <a:p>
            <a:pPr marL="355600" marR="102235" indent="-342900">
              <a:lnSpc>
                <a:spcPct val="130000"/>
              </a:lnSpc>
              <a:buClr>
                <a:srgbClr val="CC9900"/>
              </a:buClr>
              <a:buSzPct val="65217"/>
              <a:buFont typeface="Wingdings"/>
              <a:buChar char=""/>
              <a:tabLst>
                <a:tab pos="354965" algn="l"/>
                <a:tab pos="355600" algn="l"/>
                <a:tab pos="858519" algn="l"/>
              </a:tabLst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Lệnh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break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dùng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để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kết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thúc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vòng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máy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sẽ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thoát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ngay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khỏi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vòng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khi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chạy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nếu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gặp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lệnh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này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.</a:t>
            </a:r>
          </a:p>
          <a:p>
            <a:pPr marL="355600" indent="-342900">
              <a:lnSpc>
                <a:spcPct val="130000"/>
              </a:lnSpc>
              <a:buClr>
                <a:srgbClr val="CC9900"/>
              </a:buClr>
              <a:buSzPct val="65217"/>
              <a:buFont typeface="Wingdings"/>
              <a:buChar char=""/>
              <a:tabLst>
                <a:tab pos="354965" algn="l"/>
                <a:tab pos="355600" algn="l"/>
              </a:tabLst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Lệnh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continue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quay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về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điều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khiển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tới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phần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ban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đầu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của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vòng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</a:t>
            </a:r>
            <a:r>
              <a:rPr lang="en-US" sz="2500" spc="-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bỏ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qua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lần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hiện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tại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và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bắt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buộc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lần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tiếp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theo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của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vòng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diễn</a:t>
            </a:r>
            <a:r>
              <a:rPr lang="en-US" sz="2500" spc="9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5434027" y="3530114"/>
            <a:ext cx="5190904" cy="233397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-22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</a:t>
            </a:r>
            <a:r>
              <a:rPr sz="2500" spc="60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 </a:t>
            </a:r>
            <a:r>
              <a:rPr sz="2500" spc="135" dirty="0">
                <a:solidFill>
                  <a:srgbClr val="53823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 continue  </a:t>
            </a:r>
            <a:endParaRPr lang="en-US" sz="2500" spc="135" dirty="0">
              <a:solidFill>
                <a:srgbClr val="538235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spc="58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</a:t>
            </a:r>
            <a:r>
              <a:rPr sz="2500" spc="5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</a:t>
            </a:r>
            <a:r>
              <a:rPr sz="2500" spc="3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0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262255" marR="1383665" indent="-250190">
              <a:lnSpc>
                <a:spcPct val="100000"/>
              </a:lnSpc>
            </a:pPr>
            <a:r>
              <a:rPr sz="2500" spc="16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while </a:t>
            </a:r>
            <a:r>
              <a:rPr sz="2500" spc="5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&lt; </a:t>
            </a:r>
            <a:r>
              <a:rPr sz="2500" spc="229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6</a:t>
            </a:r>
            <a:r>
              <a:rPr sz="2500" spc="229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 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262255" marR="1383665" indent="-250190">
              <a:lnSpc>
                <a:spcPct val="100000"/>
              </a:lnSpc>
            </a:pPr>
            <a:r>
              <a:rPr lang="en-US" sz="2500" spc="5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	</a:t>
            </a:r>
            <a:r>
              <a:rPr sz="2500" spc="58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</a:t>
            </a:r>
            <a:r>
              <a:rPr sz="2500" spc="5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+=</a:t>
            </a:r>
            <a:r>
              <a:rPr sz="2500" spc="3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12445" marR="1381125" indent="-250190">
              <a:lnSpc>
                <a:spcPct val="100000"/>
              </a:lnSpc>
            </a:pPr>
            <a:r>
              <a:rPr sz="2500" spc="53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 </a:t>
            </a:r>
            <a:r>
              <a:rPr sz="2500" spc="5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 </a:t>
            </a:r>
            <a:r>
              <a:rPr sz="2500" spc="-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==</a:t>
            </a:r>
            <a:r>
              <a:rPr sz="2500" spc="25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29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</a:t>
            </a:r>
            <a:r>
              <a:rPr sz="2500" spc="229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  </a:t>
            </a:r>
            <a:r>
              <a:rPr sz="2500" spc="90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</a:t>
            </a:r>
            <a:r>
              <a:rPr sz="2500" spc="-1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</a:t>
            </a:r>
            <a:r>
              <a:rPr sz="2500" spc="-2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</a:t>
            </a:r>
            <a:r>
              <a:rPr lang="en-US" sz="2500" spc="-2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</a:t>
            </a:r>
            <a:r>
              <a:rPr sz="2500" spc="16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</a:t>
            </a:r>
            <a:r>
              <a:rPr lang="en-US" sz="2500" spc="16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</a:t>
            </a:r>
            <a:r>
              <a:rPr sz="2500" spc="-1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ue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262255">
              <a:lnSpc>
                <a:spcPct val="100000"/>
              </a:lnSpc>
            </a:pPr>
            <a:r>
              <a:rPr sz="2500" spc="345" dirty="0">
                <a:solidFill>
                  <a:srgbClr val="0000CD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500" spc="3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(i)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98295"/>
              </p:ext>
            </p:extLst>
          </p:nvPr>
        </p:nvGraphicFramePr>
        <p:xfrm>
          <a:off x="546654" y="3505875"/>
          <a:ext cx="4651511" cy="23863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51511">
                  <a:extLst>
                    <a:ext uri="{9D8B030D-6E8A-4147-A177-3AD203B41FA5}">
                      <a16:colId xmlns:a16="http://schemas.microsoft.com/office/drawing/2014/main" val="1676658891"/>
                    </a:ext>
                  </a:extLst>
                </a:gridCol>
              </a:tblGrid>
              <a:tr h="55419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500" spc="-15" dirty="0">
                          <a:solidFill>
                            <a:srgbClr val="53823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# </a:t>
                      </a:r>
                      <a:r>
                        <a:rPr sz="2500" spc="-220" dirty="0">
                          <a:solidFill>
                            <a:srgbClr val="53823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Sử </a:t>
                      </a:r>
                      <a:r>
                        <a:rPr sz="2500" spc="-15" dirty="0">
                          <a:solidFill>
                            <a:srgbClr val="53823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dụng </a:t>
                      </a:r>
                      <a:r>
                        <a:rPr sz="2500" spc="135" dirty="0">
                          <a:solidFill>
                            <a:srgbClr val="53823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lệnh</a:t>
                      </a:r>
                      <a:r>
                        <a:rPr sz="2500" spc="335" dirty="0">
                          <a:solidFill>
                            <a:srgbClr val="53823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85" dirty="0">
                          <a:solidFill>
                            <a:srgbClr val="538235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break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3175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BEBEBE"/>
                      </a:solidFill>
                      <a:prstDash val="solid"/>
                    </a:lnR>
                    <a:lnT w="9525">
                      <a:solidFill>
                        <a:srgbClr val="BEBEB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90948480"/>
                  </a:ext>
                </a:extLst>
              </a:tr>
              <a:tr h="289950">
                <a:tc>
                  <a:txBody>
                    <a:bodyPr/>
                    <a:lstStyle/>
                    <a:p>
                      <a:pPr marL="91440">
                        <a:lnSpc>
                          <a:spcPts val="1805"/>
                        </a:lnSpc>
                      </a:pPr>
                      <a:r>
                        <a:rPr sz="2500" spc="5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i </a:t>
                      </a:r>
                      <a:r>
                        <a:rPr sz="2500" spc="-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=</a:t>
                      </a:r>
                      <a:r>
                        <a:rPr sz="2500" spc="3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-15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1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BEBEBE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26183007"/>
                  </a:ext>
                </a:extLst>
              </a:tr>
              <a:tr h="289951">
                <a:tc>
                  <a:txBody>
                    <a:bodyPr/>
                    <a:lstStyle/>
                    <a:p>
                      <a:pPr marL="91440">
                        <a:lnSpc>
                          <a:spcPts val="1805"/>
                        </a:lnSpc>
                      </a:pPr>
                      <a:r>
                        <a:rPr sz="2500" spc="160" dirty="0">
                          <a:solidFill>
                            <a:srgbClr val="0000C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while </a:t>
                      </a:r>
                      <a:r>
                        <a:rPr sz="2500" spc="5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i </a:t>
                      </a:r>
                      <a:r>
                        <a:rPr sz="2500" spc="-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&lt;</a:t>
                      </a:r>
                      <a:r>
                        <a:rPr sz="2500" spc="4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229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6</a:t>
                      </a:r>
                      <a:r>
                        <a:rPr sz="2500" spc="229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: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BEBEBE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20011402"/>
                  </a:ext>
                </a:extLst>
              </a:tr>
              <a:tr h="289951">
                <a:tc>
                  <a:txBody>
                    <a:bodyPr/>
                    <a:lstStyle/>
                    <a:p>
                      <a:pPr marL="341630">
                        <a:lnSpc>
                          <a:spcPts val="1805"/>
                        </a:lnSpc>
                      </a:pPr>
                      <a:r>
                        <a:rPr sz="2500" spc="345" dirty="0">
                          <a:solidFill>
                            <a:srgbClr val="0000C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print</a:t>
                      </a:r>
                      <a:r>
                        <a:rPr sz="2500" spc="3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(i)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BEBEBE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92289700"/>
                  </a:ext>
                </a:extLst>
              </a:tr>
              <a:tr h="317940">
                <a:tc>
                  <a:txBody>
                    <a:bodyPr/>
                    <a:lstStyle/>
                    <a:p>
                      <a:pPr marL="341630">
                        <a:lnSpc>
                          <a:spcPts val="1805"/>
                        </a:lnSpc>
                      </a:pPr>
                      <a:r>
                        <a:rPr sz="2500" spc="530" dirty="0">
                          <a:solidFill>
                            <a:srgbClr val="0000C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if </a:t>
                      </a:r>
                      <a:r>
                        <a:rPr sz="2500" spc="5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i </a:t>
                      </a:r>
                      <a:r>
                        <a:rPr sz="2500" spc="-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==</a:t>
                      </a:r>
                      <a:r>
                        <a:rPr sz="2500" spc="3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229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3</a:t>
                      </a:r>
                      <a:r>
                        <a:rPr sz="2500" spc="229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: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BEBEBE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98862369"/>
                  </a:ext>
                </a:extLst>
              </a:tr>
              <a:tr h="644335">
                <a:tc>
                  <a:txBody>
                    <a:bodyPr/>
                    <a:lstStyle/>
                    <a:p>
                      <a:pPr marL="591185">
                        <a:lnSpc>
                          <a:spcPts val="1805"/>
                        </a:lnSpc>
                      </a:pPr>
                      <a:r>
                        <a:rPr sz="2500" spc="85" dirty="0">
                          <a:solidFill>
                            <a:srgbClr val="0000C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break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  <a:p>
                      <a:pPr marL="341630">
                        <a:lnSpc>
                          <a:spcPct val="100000"/>
                        </a:lnSpc>
                      </a:pPr>
                      <a:r>
                        <a:rPr sz="2500" spc="5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i </a:t>
                      </a:r>
                      <a:r>
                        <a:rPr sz="2500" spc="-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+=</a:t>
                      </a:r>
                      <a:r>
                        <a:rPr sz="2500" spc="3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-15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1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BEBEBE"/>
                      </a:solidFill>
                      <a:prstDash val="solid"/>
                    </a:lnL>
                    <a:lnR w="9525">
                      <a:solidFill>
                        <a:srgbClr val="BEBEBE"/>
                      </a:solidFill>
                      <a:prstDash val="solid"/>
                    </a:lnR>
                    <a:lnB w="9525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933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39795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 –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Cấu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trúc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CẤU TRÚC VÒNG LẶP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026" y="705676"/>
            <a:ext cx="11837504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Lệnh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break, continue</a:t>
            </a:r>
          </a:p>
          <a:p>
            <a:pPr marL="355600" marR="102235" indent="-342900">
              <a:lnSpc>
                <a:spcPct val="130000"/>
              </a:lnSpc>
              <a:buClr>
                <a:srgbClr val="CC9900"/>
              </a:buClr>
              <a:buSzPct val="65217"/>
              <a:buFont typeface="Wingdings"/>
              <a:buChar char=""/>
              <a:tabLst>
                <a:tab pos="354965" algn="l"/>
                <a:tab pos="355600" algn="l"/>
                <a:tab pos="858519" algn="l"/>
              </a:tabLst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Lệnh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break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dùng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để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kết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thúc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vòng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máy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sẽ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thoát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ngay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khỏi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vòng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	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khi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chạy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nếu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gặp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lệnh</a:t>
            </a:r>
            <a:r>
              <a:rPr lang="en-US" sz="25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này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.</a:t>
            </a:r>
          </a:p>
          <a:p>
            <a:pPr marL="355600" indent="-342900">
              <a:lnSpc>
                <a:spcPct val="130000"/>
              </a:lnSpc>
              <a:buClr>
                <a:srgbClr val="CC9900"/>
              </a:buClr>
              <a:buSzPct val="65217"/>
              <a:buFont typeface="Wingdings"/>
              <a:buChar char=""/>
              <a:tabLst>
                <a:tab pos="354965" algn="l"/>
                <a:tab pos="355600" algn="l"/>
              </a:tabLst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Lệnh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continue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quay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về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điều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khiển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tới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phần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ban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đầu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của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vòng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,</a:t>
            </a:r>
            <a:r>
              <a:rPr lang="en-US" sz="2500" spc="-2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bỏ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qua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lần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hiện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tại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và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bắt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buộc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lần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tiếp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theo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của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vòng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lặp</a:t>
            </a: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spc="-5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diễn</a:t>
            </a:r>
            <a:r>
              <a:rPr lang="en-US" sz="2500" spc="95" dirty="0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  <a:cs typeface="Times New Roman"/>
              </a:rPr>
              <a:t>ra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6897758" y="3246666"/>
            <a:ext cx="4562060" cy="30931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s=0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 range(1,16,2):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if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==3 or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==11: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   continue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s=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s+i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print(s)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927" y="3246666"/>
            <a:ext cx="3654159" cy="300395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7" name="object 10">
            <a:extLst>
              <a:ext uri="{FF2B5EF4-FFF2-40B4-BE49-F238E27FC236}">
                <a16:creationId xmlns:a16="http://schemas.microsoft.com/office/drawing/2014/main" id="{6D7369DA-091C-43CA-9C14-C854816C811A}"/>
              </a:ext>
            </a:extLst>
          </p:cNvPr>
          <p:cNvSpPr txBox="1"/>
          <p:nvPr/>
        </p:nvSpPr>
        <p:spPr>
          <a:xfrm>
            <a:off x="871331" y="4607185"/>
            <a:ext cx="1219200" cy="4853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wrap="square" lIns="0" tIns="99695" rIns="0" bIns="0" rtlCol="0">
            <a:spAutoFit/>
          </a:bodyPr>
          <a:lstStyle/>
          <a:p>
            <a:pPr marL="12700" algn="ctr">
              <a:spcBef>
                <a:spcPts val="575"/>
              </a:spcBef>
              <a:buClr>
                <a:srgbClr val="FF5A33"/>
              </a:buClr>
              <a:tabLst>
                <a:tab pos="756920" algn="l"/>
              </a:tabLst>
            </a:pPr>
            <a:r>
              <a:rPr lang="en-US" sz="25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S=15</a:t>
            </a:r>
          </a:p>
        </p:txBody>
      </p:sp>
    </p:spTree>
    <p:extLst>
      <p:ext uri="{BB962C8B-B14F-4D97-AF65-F5344CB8AC3E}">
        <p14:creationId xmlns:p14="http://schemas.microsoft.com/office/powerpoint/2010/main" val="225681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2: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trúc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BÀI TẬP THỰC HÀNH</a:t>
            </a:r>
          </a:p>
        </p:txBody>
      </p:sp>
      <p:sp>
        <p:nvSpPr>
          <p:cNvPr id="11" name="object 9"/>
          <p:cNvSpPr>
            <a:spLocks noChangeArrowheads="1"/>
          </p:cNvSpPr>
          <p:nvPr/>
        </p:nvSpPr>
        <p:spPr bwMode="auto">
          <a:xfrm>
            <a:off x="1129748" y="930965"/>
            <a:ext cx="2368550" cy="49720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658139" y="2997125"/>
            <a:ext cx="54400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indent="-246063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indent="-246063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87450" indent="-20955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2088" indent="-20955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9192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3764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8336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2908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Xem</a:t>
            </a:r>
            <a:r>
              <a:rPr lang="en-US" altLang="en-US" sz="3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ở file word </a:t>
            </a:r>
            <a:r>
              <a:rPr lang="en-US" altLang="en-US" sz="30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bài</a:t>
            </a:r>
            <a:r>
              <a:rPr lang="en-US" altLang="en-US" sz="3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tập</a:t>
            </a:r>
            <a:r>
              <a:rPr lang="en-US" altLang="en-US" sz="3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A475F0-D933-4B37-A9D6-DFD6D783A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157" y="691585"/>
            <a:ext cx="1974036" cy="197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709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HỌC PHẦN LẬP TRÌNH PYTHON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A475F0-D933-4B37-A9D6-DFD6D783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43" y="755084"/>
            <a:ext cx="1974036" cy="197403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D76142-C743-4DDD-90B9-B7FB62FE3EC2}"/>
              </a:ext>
            </a:extLst>
          </p:cNvPr>
          <p:cNvCxnSpPr/>
          <p:nvPr/>
        </p:nvCxnSpPr>
        <p:spPr>
          <a:xfrm>
            <a:off x="3162300" y="2485714"/>
            <a:ext cx="58674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object 2"/>
          <p:cNvSpPr txBox="1"/>
          <p:nvPr/>
        </p:nvSpPr>
        <p:spPr>
          <a:xfrm>
            <a:off x="4843820" y="1721259"/>
            <a:ext cx="315676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4000" b="1" spc="-5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Bài</a:t>
            </a:r>
            <a:r>
              <a:rPr lang="en-US" sz="40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3</a:t>
            </a:r>
            <a:endParaRPr sz="4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7" name="object 3"/>
          <p:cNvSpPr txBox="1"/>
          <p:nvPr/>
        </p:nvSpPr>
        <p:spPr>
          <a:xfrm>
            <a:off x="1578831" y="2622434"/>
            <a:ext cx="9215065" cy="3002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0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STRING TRONG PYTHON</a:t>
            </a:r>
          </a:p>
          <a:p>
            <a:pPr marL="12700" algn="ctr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0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DATE &amp; TIME</a:t>
            </a:r>
          </a:p>
          <a:p>
            <a:pPr marL="12700" algn="ctr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0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HANDLING ERROR </a:t>
            </a:r>
          </a:p>
          <a:p>
            <a:pPr marL="12700" algn="ctr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0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  <a:p>
            <a:pPr marL="12700" algn="ctr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000" b="1" spc="-5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HÀM &amp; MODUL</a:t>
            </a:r>
          </a:p>
        </p:txBody>
      </p:sp>
    </p:spTree>
    <p:extLst>
      <p:ext uri="{BB962C8B-B14F-4D97-AF65-F5344CB8AC3E}">
        <p14:creationId xmlns:p14="http://schemas.microsoft.com/office/powerpoint/2010/main" val="12645630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sz="2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sz="28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sz="2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A475F0-D933-4B37-A9D6-DFD6D783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243" y="755084"/>
            <a:ext cx="1974036" cy="1974036"/>
          </a:xfrm>
          <a:prstGeom prst="rect">
            <a:avLst/>
          </a:prstGeom>
        </p:spPr>
      </p:pic>
      <p:sp>
        <p:nvSpPr>
          <p:cNvPr id="11" name="object 5"/>
          <p:cNvSpPr txBox="1">
            <a:spLocks noGrp="1"/>
          </p:cNvSpPr>
          <p:nvPr>
            <p:ph type="title"/>
          </p:nvPr>
        </p:nvSpPr>
        <p:spPr>
          <a:xfrm>
            <a:off x="5545620" y="754208"/>
            <a:ext cx="198310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MỤC TIÊU</a:t>
            </a:r>
            <a:endParaRPr sz="3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97564" y="1162464"/>
            <a:ext cx="10933043" cy="36480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bày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string</a:t>
            </a:r>
          </a:p>
          <a:p>
            <a:pPr marR="0" lv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Date &amp; time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Python</a:t>
            </a:r>
          </a:p>
          <a:p>
            <a:pPr marR="0" lv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Nêu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lỗi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(try…except)</a:t>
            </a:r>
          </a:p>
          <a:p>
            <a:pPr marR="0" lv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Nêu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3000" b="1" dirty="0">
                <a:latin typeface="Cambria" panose="02040503050406030204" pitchFamily="18" charset="0"/>
                <a:ea typeface="Cambria" panose="02040503050406030204" pitchFamily="18" charset="0"/>
              </a:rPr>
              <a:t>và sử dụng được các collection trong python</a:t>
            </a:r>
          </a:p>
          <a:p>
            <a:pPr marR="0" lv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bày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modul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86765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STRING TRONG PYTHON</a:t>
            </a:r>
          </a:p>
        </p:txBody>
      </p:sp>
      <p:sp>
        <p:nvSpPr>
          <p:cNvPr id="10" name="object 3"/>
          <p:cNvSpPr txBox="1"/>
          <p:nvPr/>
        </p:nvSpPr>
        <p:spPr>
          <a:xfrm>
            <a:off x="99466" y="681609"/>
            <a:ext cx="1042416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String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kiểu dữ liệu phổ biến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</a:t>
            </a:r>
          </a:p>
        </p:txBody>
      </p:sp>
      <p:sp>
        <p:nvSpPr>
          <p:cNvPr id="14" name="object 4"/>
          <p:cNvSpPr txBox="1"/>
          <p:nvPr/>
        </p:nvSpPr>
        <p:spPr>
          <a:xfrm>
            <a:off x="322045" y="1079154"/>
            <a:ext cx="11706936" cy="50486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82445">
              <a:lnSpc>
                <a:spcPct val="120000"/>
              </a:lnSpc>
            </a:pP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-4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Tạo </a:t>
            </a:r>
            <a:r>
              <a:rPr sz="2500" spc="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 </a:t>
            </a:r>
            <a:r>
              <a:rPr sz="25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dùng </a:t>
            </a:r>
            <a:r>
              <a:rPr sz="2500" spc="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cặp </a:t>
            </a:r>
            <a:r>
              <a:rPr sz="2500" spc="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nháy </a:t>
            </a:r>
            <a:r>
              <a:rPr sz="2500" spc="56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''  </a:t>
            </a:r>
            <a:r>
              <a:rPr sz="2500" spc="1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st1=</a:t>
            </a:r>
            <a:r>
              <a:rPr sz="2500" spc="11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'Python</a:t>
            </a:r>
            <a:r>
              <a:rPr sz="2500" spc="41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5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Programming'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 marR="1782445">
              <a:lnSpc>
                <a:spcPct val="120000"/>
              </a:lnSpc>
            </a:pP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-4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Tạo </a:t>
            </a:r>
            <a:r>
              <a:rPr sz="2500" spc="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 </a:t>
            </a:r>
            <a:r>
              <a:rPr sz="25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dùng </a:t>
            </a:r>
            <a:r>
              <a:rPr sz="2500" spc="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cặp </a:t>
            </a:r>
            <a:r>
              <a:rPr sz="2500" spc="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nháy </a:t>
            </a:r>
            <a:r>
              <a:rPr sz="2500" spc="30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""  </a:t>
            </a:r>
            <a:r>
              <a:rPr sz="2500" spc="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st2=</a:t>
            </a:r>
            <a:r>
              <a:rPr sz="2500" spc="8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"Python </a:t>
            </a:r>
            <a:r>
              <a:rPr sz="2500" spc="29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is </a:t>
            </a:r>
            <a:r>
              <a:rPr sz="2500" spc="11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very</a:t>
            </a:r>
            <a:r>
              <a:rPr sz="2500" spc="35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2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hot!"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 marR="1005205">
              <a:lnSpc>
                <a:spcPct val="120000"/>
              </a:lnSpc>
            </a:pP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20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truy </a:t>
            </a:r>
            <a:r>
              <a:rPr sz="2500" spc="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cập </a:t>
            </a:r>
            <a:r>
              <a:rPr sz="2500" spc="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</a:t>
            </a:r>
            <a:r>
              <a:rPr sz="2500"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giá </a:t>
            </a:r>
            <a:r>
              <a:rPr sz="2500" spc="42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trị </a:t>
            </a:r>
            <a:r>
              <a:rPr sz="2500" spc="1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</a:t>
            </a:r>
            <a:r>
              <a:rPr sz="2500" spc="105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</a:t>
            </a:r>
            <a:r>
              <a:rPr sz="2500" spc="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 </a:t>
            </a:r>
            <a:endParaRPr lang="en-US" sz="2500" spc="105" dirty="0">
              <a:solidFill>
                <a:srgbClr val="008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marR="1005205" lvl="1">
              <a:lnSpc>
                <a:spcPct val="120000"/>
              </a:lnSpc>
            </a:pPr>
            <a:r>
              <a:rPr sz="2500" spc="2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 (st1[</a:t>
            </a:r>
            <a:r>
              <a:rPr sz="2500" spc="25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0</a:t>
            </a:r>
            <a:r>
              <a:rPr sz="2500" spc="2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]) </a:t>
            </a:r>
            <a:r>
              <a:rPr lang="en-US" sz="2500" spc="2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1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lấy </a:t>
            </a:r>
            <a:r>
              <a:rPr sz="2500" spc="7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ký </a:t>
            </a:r>
            <a:r>
              <a:rPr sz="25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tự </a:t>
            </a:r>
            <a:r>
              <a:rPr sz="25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đầu</a:t>
            </a:r>
            <a:r>
              <a:rPr sz="2500" spc="-7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2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tiên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marR="5080" lvl="1">
              <a:lnSpc>
                <a:spcPct val="120000"/>
              </a:lnSpc>
            </a:pPr>
            <a:r>
              <a:rPr sz="2500" spc="2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print(st1[</a:t>
            </a:r>
            <a:r>
              <a:rPr sz="2500" spc="24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</a:t>
            </a:r>
            <a:r>
              <a:rPr sz="2500" spc="2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r>
              <a:rPr sz="2500" spc="24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6</a:t>
            </a:r>
            <a:r>
              <a:rPr sz="2500" spc="2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]) 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1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lấy </a:t>
            </a:r>
            <a:r>
              <a:rPr sz="25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 </a:t>
            </a:r>
            <a:r>
              <a:rPr sz="2500" spc="7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ký </a:t>
            </a:r>
            <a:r>
              <a:rPr sz="25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tự 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 đến </a:t>
            </a:r>
            <a:r>
              <a:rPr sz="2500" spc="7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ký </a:t>
            </a:r>
            <a:r>
              <a:rPr sz="25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tự 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6  </a:t>
            </a:r>
            <a:endParaRPr lang="en-US" sz="2500" spc="-15" dirty="0">
              <a:solidFill>
                <a:srgbClr val="008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marR="5080" lvl="1">
              <a:lnSpc>
                <a:spcPct val="120000"/>
              </a:lnSpc>
            </a:pPr>
            <a:r>
              <a:rPr sz="2500" spc="2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print(st1[:</a:t>
            </a:r>
            <a:r>
              <a:rPr sz="2500" spc="26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6</a:t>
            </a:r>
            <a:r>
              <a:rPr sz="2500" spc="2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]) 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1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lấy </a:t>
            </a:r>
            <a:r>
              <a:rPr sz="25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 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0 </a:t>
            </a:r>
            <a:r>
              <a:rPr sz="25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đến</a:t>
            </a:r>
            <a:r>
              <a:rPr sz="2500" spc="-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6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>
              <a:lnSpc>
                <a:spcPct val="120000"/>
              </a:lnSpc>
            </a:pP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nối</a:t>
            </a:r>
            <a:r>
              <a:rPr sz="2500" spc="4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chuối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lvl="1">
              <a:lnSpc>
                <a:spcPct val="120000"/>
              </a:lnSpc>
            </a:pPr>
            <a:r>
              <a:rPr sz="2500" spc="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st=st1+st2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marR="2560955" lvl="1">
              <a:lnSpc>
                <a:spcPct val="120000"/>
              </a:lnSpc>
            </a:pPr>
            <a:r>
              <a:rPr sz="2500" spc="2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print(st)  </a:t>
            </a:r>
            <a:endParaRPr lang="en-US" sz="2500" spc="27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marR="2560955" lvl="1">
              <a:lnSpc>
                <a:spcPct val="120000"/>
              </a:lnSpc>
            </a:pPr>
            <a:r>
              <a:rPr sz="2500" spc="16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</a:t>
            </a:r>
            <a:r>
              <a:rPr sz="2500" spc="1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=st1+st2[</a:t>
            </a:r>
            <a:r>
              <a:rPr sz="2500" spc="-2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0</a:t>
            </a:r>
            <a:r>
              <a:rPr sz="2500" spc="4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r>
              <a:rPr sz="2500" spc="-3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6</a:t>
            </a:r>
            <a:r>
              <a:rPr sz="2500" spc="1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]+</a:t>
            </a:r>
            <a:r>
              <a:rPr sz="2500" spc="48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'!!!'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700">
              <a:lnSpc>
                <a:spcPct val="120000"/>
              </a:lnSpc>
            </a:pPr>
            <a:r>
              <a:rPr lang="en-US" sz="2500" spc="2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    </a:t>
            </a:r>
            <a:r>
              <a:rPr sz="2500" spc="2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500" spc="4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(st)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88373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STRING TRONG PYTHON</a:t>
            </a:r>
          </a:p>
        </p:txBody>
      </p:sp>
      <p:sp>
        <p:nvSpPr>
          <p:cNvPr id="11" name="object 3"/>
          <p:cNvSpPr txBox="1"/>
          <p:nvPr/>
        </p:nvSpPr>
        <p:spPr>
          <a:xfrm>
            <a:off x="99466" y="681609"/>
            <a:ext cx="6818169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 tử thương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dùng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với</a:t>
            </a:r>
            <a:r>
              <a:rPr sz="2500" b="1" spc="-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</a:t>
            </a:r>
          </a:p>
        </p:txBody>
      </p:sp>
      <p:graphicFrame>
        <p:nvGraphicFramePr>
          <p:cNvPr id="12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047528"/>
              </p:ext>
            </p:extLst>
          </p:nvPr>
        </p:nvGraphicFramePr>
        <p:xfrm>
          <a:off x="328942" y="1239202"/>
          <a:ext cx="11446510" cy="3256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4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506">
                <a:tc>
                  <a:txBody>
                    <a:bodyPr/>
                    <a:lstStyle/>
                    <a:p>
                      <a:pPr marL="69151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b="1" spc="-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Toán</a:t>
                      </a:r>
                      <a:r>
                        <a:rPr sz="25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 </a:t>
                      </a:r>
                      <a:r>
                        <a:rPr sz="2500" b="1" spc="-1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tử</a:t>
                      </a:r>
                      <a:endParaRPr sz="25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Mô</a:t>
                      </a:r>
                      <a:r>
                        <a:rPr sz="2500" b="1" spc="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 </a:t>
                      </a:r>
                      <a:r>
                        <a:rPr sz="2500" b="1" spc="-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tả</a:t>
                      </a:r>
                      <a:endParaRPr sz="25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0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+</a:t>
                      </a:r>
                      <a:endParaRPr sz="250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spc="-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Nối </a:t>
                      </a:r>
                      <a:r>
                        <a:rPr sz="2500" spc="-9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2 </a:t>
                      </a:r>
                      <a:r>
                        <a:rPr sz="2500" spc="-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chuỗi </a:t>
                      </a:r>
                      <a:r>
                        <a:rPr sz="2500" spc="-8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với</a:t>
                      </a:r>
                      <a:r>
                        <a:rPr sz="2500" spc="-1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-8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nhau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33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*</a:t>
                      </a:r>
                      <a:endParaRPr sz="250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Nhân </a:t>
                      </a:r>
                      <a:r>
                        <a:rPr sz="2500" spc="-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chuỗi </a:t>
                      </a:r>
                      <a:r>
                        <a:rPr sz="2500" spc="-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thành </a:t>
                      </a:r>
                      <a:r>
                        <a:rPr sz="2500" spc="-5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nhiều</a:t>
                      </a:r>
                      <a:r>
                        <a:rPr sz="2500" spc="-1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-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lần</a:t>
                      </a:r>
                      <a:endParaRPr sz="250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05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[]</a:t>
                      </a:r>
                      <a:endParaRPr sz="250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spc="-17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Lấy </a:t>
                      </a:r>
                      <a:r>
                        <a:rPr sz="2500" spc="-8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ra </a:t>
                      </a:r>
                      <a:r>
                        <a:rPr sz="2500" spc="-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ký </a:t>
                      </a:r>
                      <a:r>
                        <a:rPr sz="25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tự </a:t>
                      </a:r>
                      <a:r>
                        <a:rPr sz="2500" spc="-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trong</a:t>
                      </a:r>
                      <a:r>
                        <a:rPr sz="2500" spc="-114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-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chuỗi</a:t>
                      </a:r>
                      <a:endParaRPr sz="250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506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[ : ]</a:t>
                      </a: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spc="-17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Lấy </a:t>
                      </a:r>
                      <a:r>
                        <a:rPr sz="2500" spc="-8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ra </a:t>
                      </a:r>
                      <a:r>
                        <a:rPr sz="2500" spc="-1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các </a:t>
                      </a:r>
                      <a:r>
                        <a:rPr sz="2500" spc="-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ký </a:t>
                      </a:r>
                      <a:r>
                        <a:rPr sz="25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tự </a:t>
                      </a:r>
                      <a:r>
                        <a:rPr sz="2500" spc="-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trong</a:t>
                      </a:r>
                      <a:r>
                        <a:rPr sz="2500" spc="-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-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đoạn</a:t>
                      </a:r>
                      <a:endParaRPr sz="250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in</a:t>
                      </a:r>
                      <a:endParaRPr sz="250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spc="-1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Trả </a:t>
                      </a:r>
                      <a:r>
                        <a:rPr sz="2500" spc="-10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về </a:t>
                      </a:r>
                      <a:r>
                        <a:rPr sz="2500" spc="-1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true </a:t>
                      </a:r>
                      <a:r>
                        <a:rPr sz="2500" spc="-7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nếu </a:t>
                      </a:r>
                      <a:r>
                        <a:rPr sz="25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tồn </a:t>
                      </a:r>
                      <a:r>
                        <a:rPr sz="25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tại </a:t>
                      </a:r>
                      <a:r>
                        <a:rPr sz="2500" spc="-8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ký </a:t>
                      </a:r>
                      <a:r>
                        <a:rPr sz="25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tự </a:t>
                      </a:r>
                      <a:r>
                        <a:rPr sz="2500" spc="-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trong</a:t>
                      </a:r>
                      <a:r>
                        <a:rPr sz="2500" spc="-3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-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chuỗi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506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5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not</a:t>
                      </a:r>
                      <a:r>
                        <a:rPr sz="25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 </a:t>
                      </a:r>
                      <a:r>
                        <a:rPr sz="25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in</a:t>
                      </a:r>
                      <a:endParaRPr sz="250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26669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500" spc="-1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Trả </a:t>
                      </a:r>
                      <a:r>
                        <a:rPr sz="2500" spc="-10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về </a:t>
                      </a:r>
                      <a:r>
                        <a:rPr sz="2500" spc="-1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true </a:t>
                      </a:r>
                      <a:r>
                        <a:rPr sz="2500" spc="-7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nếu </a:t>
                      </a:r>
                      <a:r>
                        <a:rPr sz="2500" spc="-8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không </a:t>
                      </a:r>
                      <a:r>
                        <a:rPr sz="25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tồn </a:t>
                      </a:r>
                      <a:r>
                        <a:rPr sz="25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tại </a:t>
                      </a:r>
                      <a:r>
                        <a:rPr sz="2500" spc="-9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ký </a:t>
                      </a:r>
                      <a:r>
                        <a:rPr sz="25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tự </a:t>
                      </a:r>
                      <a:r>
                        <a:rPr sz="2500" spc="-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trong</a:t>
                      </a:r>
                      <a:r>
                        <a:rPr sz="2500" spc="-3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-6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chuỗi</a:t>
                      </a:r>
                      <a:endParaRPr sz="250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26669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%</a:t>
                      </a: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2500" spc="-7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Định </a:t>
                      </a:r>
                      <a:r>
                        <a:rPr sz="2500" spc="-10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dạng</a:t>
                      </a:r>
                      <a:r>
                        <a:rPr sz="2500" spc="-1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 </a:t>
                      </a:r>
                      <a:r>
                        <a:rPr sz="2500" spc="-6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/>
                        </a:rPr>
                        <a:t>chuỗi</a:t>
                      </a:r>
                      <a:endParaRPr sz="25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26034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object 5"/>
          <p:cNvSpPr txBox="1"/>
          <p:nvPr/>
        </p:nvSpPr>
        <p:spPr>
          <a:xfrm>
            <a:off x="209672" y="4656157"/>
            <a:ext cx="11441696" cy="1187504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90805" marR="4241800">
              <a:lnSpc>
                <a:spcPct val="100000"/>
              </a:lnSpc>
              <a:spcBef>
                <a:spcPts val="259"/>
              </a:spcBef>
            </a:pP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1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toán </a:t>
            </a:r>
            <a:r>
              <a:rPr sz="2500" spc="1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nhân  </a:t>
            </a:r>
            <a:r>
              <a:rPr sz="2500" spc="2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</a:t>
            </a:r>
            <a:r>
              <a:rPr sz="2500" spc="4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(st*</a:t>
            </a:r>
            <a:r>
              <a:rPr sz="2500" spc="26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</a:t>
            </a:r>
            <a:r>
              <a:rPr sz="2500" spc="2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 marR="3489960">
              <a:lnSpc>
                <a:spcPct val="100000"/>
              </a:lnSpc>
            </a:pP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500" spc="1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định </a:t>
            </a:r>
            <a:r>
              <a:rPr sz="25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dạng </a:t>
            </a:r>
            <a:r>
              <a:rPr sz="25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  </a:t>
            </a:r>
            <a:r>
              <a:rPr sz="2500" spc="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name=</a:t>
            </a:r>
            <a:r>
              <a:rPr sz="2500" spc="2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lang="en-US" sz="2500" spc="25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Đỗ</a:t>
            </a:r>
            <a:r>
              <a:rPr lang="en-US" sz="2500" spc="2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500" spc="25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Phương</a:t>
            </a:r>
            <a:r>
              <a:rPr lang="en-US" sz="2500" spc="2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Dung</a:t>
            </a:r>
            <a:r>
              <a:rPr sz="2500" spc="-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  </a:t>
            </a:r>
            <a:r>
              <a:rPr sz="2500" spc="-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age=</a:t>
            </a:r>
            <a:r>
              <a:rPr sz="2500" spc="-2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40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sz="2500" spc="19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sz="2500" spc="19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"Bạn </a:t>
            </a:r>
            <a:r>
              <a:rPr sz="2500" spc="-26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%s </a:t>
            </a:r>
            <a:r>
              <a:rPr lang="en-US" sz="2500" spc="-26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85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năm</a:t>
            </a:r>
            <a:r>
              <a:rPr sz="2500" spc="-18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nay </a:t>
            </a:r>
            <a:r>
              <a:rPr sz="2500" spc="-3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%d</a:t>
            </a:r>
            <a:r>
              <a:rPr lang="en-US" sz="2500" spc="-3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32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27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tuổi" </a:t>
            </a:r>
            <a:r>
              <a:rPr sz="2500" spc="-6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%</a:t>
            </a:r>
            <a:r>
              <a:rPr sz="2500" spc="48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(name,</a:t>
            </a:r>
            <a:r>
              <a:rPr sz="2500" spc="17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1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age))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13924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STRING TRONG PYTHON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687146"/>
            <a:ext cx="4899917" cy="3981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41300" algn="l"/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số phương thức của</a:t>
            </a:r>
            <a:r>
              <a:rPr sz="2500" b="1" spc="-1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String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39" y="1085332"/>
            <a:ext cx="9727966" cy="524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1650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STRING TRONG PYTHON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687146"/>
            <a:ext cx="4899917" cy="3981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41300" algn="l"/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số phương thức của</a:t>
            </a:r>
            <a:r>
              <a:rPr sz="2500" b="1" spc="-1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String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57" y="1085332"/>
            <a:ext cx="10869311" cy="516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0294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STRING TRONG PYTHON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687146"/>
            <a:ext cx="4899917" cy="3981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41300" algn="l"/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số phương thức của</a:t>
            </a:r>
            <a:r>
              <a:rPr sz="2500" b="1" spc="-16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String</a:t>
            </a:r>
          </a:p>
        </p:txBody>
      </p:sp>
      <p:sp>
        <p:nvSpPr>
          <p:cNvPr id="11" name="object 4"/>
          <p:cNvSpPr txBox="1"/>
          <p:nvPr/>
        </p:nvSpPr>
        <p:spPr>
          <a:xfrm>
            <a:off x="99466" y="1085332"/>
            <a:ext cx="5550535" cy="5214248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90805" marR="1226820">
              <a:lnSpc>
                <a:spcPts val="2880"/>
              </a:lnSpc>
              <a:spcBef>
                <a:spcPts val="220"/>
              </a:spcBef>
            </a:pPr>
            <a:r>
              <a:rPr spc="27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#----------Ví </a:t>
            </a: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 </a:t>
            </a:r>
            <a:r>
              <a:rPr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 </a:t>
            </a:r>
            <a:r>
              <a:rPr spc="26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chuỗi-----------  </a:t>
            </a:r>
            <a:r>
              <a:rPr spc="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caption=</a:t>
            </a:r>
            <a:r>
              <a:rPr spc="11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'một </a:t>
            </a:r>
            <a:r>
              <a:rPr spc="2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 </a:t>
            </a:r>
            <a:r>
              <a:rPr spc="-7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phương </a:t>
            </a:r>
            <a:r>
              <a:rPr spc="7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thức </a:t>
            </a:r>
            <a:r>
              <a:rPr spc="1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của </a:t>
            </a:r>
            <a:r>
              <a:rPr spc="18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chuỗi'  </a:t>
            </a: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viết </a:t>
            </a:r>
            <a:r>
              <a:rPr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hoa </a:t>
            </a:r>
            <a:r>
              <a:rPr spc="7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ký </a:t>
            </a:r>
            <a:r>
              <a:rPr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tự </a:t>
            </a:r>
            <a:r>
              <a:rPr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đầu </a:t>
            </a:r>
            <a:r>
              <a:rPr spc="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của </a:t>
            </a:r>
            <a:r>
              <a:rPr spc="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  </a:t>
            </a:r>
            <a:r>
              <a:rPr spc="2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print(caption.capitalize())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 marR="2338705">
              <a:lnSpc>
                <a:spcPts val="2880"/>
              </a:lnSpc>
              <a:spcBef>
                <a:spcPts val="5"/>
              </a:spcBef>
            </a:pP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pc="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chuyển </a:t>
            </a:r>
            <a:r>
              <a:rPr spc="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 </a:t>
            </a:r>
            <a:r>
              <a:rPr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về </a:t>
            </a:r>
            <a:r>
              <a:rPr spc="-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chữ </a:t>
            </a:r>
            <a:r>
              <a:rPr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thường  </a:t>
            </a:r>
            <a:r>
              <a:rPr spc="1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print(caption.casefold())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 marR="671830">
              <a:lnSpc>
                <a:spcPts val="2880"/>
              </a:lnSpc>
            </a:pP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pc="-16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đếm </a:t>
            </a:r>
            <a:r>
              <a:rPr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 </a:t>
            </a:r>
            <a:r>
              <a:rPr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lần </a:t>
            </a:r>
            <a:r>
              <a:rPr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xuất hiện </a:t>
            </a:r>
            <a:r>
              <a:rPr spc="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của </a:t>
            </a: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 </a:t>
            </a:r>
            <a:r>
              <a:rPr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 </a:t>
            </a:r>
            <a:r>
              <a:rPr spc="1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</a:t>
            </a:r>
            <a:r>
              <a:rPr spc="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  </a:t>
            </a:r>
            <a:r>
              <a:rPr spc="1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print(caption.count(</a:t>
            </a:r>
            <a:r>
              <a:rPr spc="19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"ch"</a:t>
            </a:r>
            <a:r>
              <a:rPr spc="1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 marR="115570">
              <a:lnSpc>
                <a:spcPts val="2880"/>
              </a:lnSpc>
            </a:pP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pc="1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sinh </a:t>
            </a:r>
            <a:r>
              <a:rPr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 </a:t>
            </a: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 </a:t>
            </a:r>
            <a:r>
              <a:rPr spc="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 </a:t>
            </a:r>
            <a:r>
              <a:rPr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</a:t>
            </a: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độ </a:t>
            </a:r>
            <a:r>
              <a:rPr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dài </a:t>
            </a:r>
            <a:r>
              <a:rPr spc="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xác </a:t>
            </a:r>
            <a:r>
              <a:rPr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định </a:t>
            </a:r>
            <a:r>
              <a:rPr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 </a:t>
            </a:r>
            <a:r>
              <a:rPr spc="12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đặt </a:t>
            </a:r>
            <a:r>
              <a:rPr spc="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  </a:t>
            </a:r>
            <a:r>
              <a:rPr spc="5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 </a:t>
            </a:r>
            <a:r>
              <a:rPr spc="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vào </a:t>
            </a:r>
            <a:r>
              <a:rPr spc="7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giữa </a:t>
            </a:r>
            <a:r>
              <a:rPr spc="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</a:t>
            </a:r>
            <a:r>
              <a:rPr spc="7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ký</a:t>
            </a:r>
            <a:r>
              <a:rPr spc="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pc="1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tự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spc="2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spc="21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caption.center</a:t>
            </a:r>
            <a:r>
              <a:rPr spc="2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</a:t>
            </a:r>
            <a:r>
              <a:rPr spc="21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50</a:t>
            </a:r>
            <a:r>
              <a:rPr spc="2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pc="21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"-"</a:t>
            </a:r>
            <a:r>
              <a:rPr spc="2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))</a:t>
            </a:r>
            <a:endParaRPr lang="en-US" spc="21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lang="en-US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lang="en-US" spc="-16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Join </a:t>
            </a:r>
            <a:r>
              <a:rPr lang="en-US" spc="-165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</a:t>
            </a:r>
            <a:endParaRPr lang="en-US" spc="-165" dirty="0">
              <a:solidFill>
                <a:srgbClr val="008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lang="en-US" spc="-16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S1</a:t>
            </a:r>
            <a:r>
              <a:rPr lang="en-US" dirty="0"/>
              <a:t>= ' ' </a:t>
            </a:r>
          </a:p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lang="en-US" dirty="0"/>
              <a:t>S2 = ‘DUNG' print(S1.join(S2))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5888480" y="689113"/>
            <a:ext cx="6157746" cy="5166158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25"/>
              </a:spcBef>
            </a:pP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b="1" spc="114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format</a:t>
            </a:r>
            <a:r>
              <a:rPr b="1" spc="44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b="1" spc="10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</a:t>
            </a:r>
            <a:endParaRPr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 marR="1331595">
              <a:lnSpc>
                <a:spcPct val="150000"/>
              </a:lnSpc>
            </a:pPr>
            <a:r>
              <a:rPr lang="en-US" spc="-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</a:t>
            </a:r>
            <a:r>
              <a:rPr spc="-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pc="-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</a:t>
            </a:r>
            <a:r>
              <a:rPr lang="en-US" spc="13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344.567</a:t>
            </a:r>
          </a:p>
          <a:p>
            <a:pPr marL="92075" marR="1331595">
              <a:lnSpc>
                <a:spcPct val="150000"/>
              </a:lnSpc>
            </a:pPr>
            <a:r>
              <a:rPr spc="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print(format(</a:t>
            </a:r>
            <a:r>
              <a:rPr lang="en-US" spc="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x,”.2f”</a:t>
            </a:r>
            <a:r>
              <a:rPr spc="17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 marR="2444750">
              <a:lnSpc>
                <a:spcPts val="2880"/>
              </a:lnSpc>
              <a:spcBef>
                <a:spcPts val="254"/>
              </a:spcBef>
            </a:pP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pc="2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kiểm </a:t>
            </a:r>
            <a:r>
              <a:rPr spc="25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tra </a:t>
            </a:r>
            <a:r>
              <a:rPr spc="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 </a:t>
            </a:r>
            <a:r>
              <a:rPr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</a:t>
            </a:r>
            <a:r>
              <a:rPr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</a:t>
            </a:r>
            <a:r>
              <a:rPr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 </a:t>
            </a:r>
            <a:r>
              <a:rPr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  </a:t>
            </a:r>
            <a:r>
              <a:rPr spc="2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spc="24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"1234"</a:t>
            </a:r>
            <a:r>
              <a:rPr spc="2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.isdigit())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 marR="1220470">
              <a:lnSpc>
                <a:spcPts val="2880"/>
              </a:lnSpc>
              <a:spcBef>
                <a:spcPts val="5"/>
              </a:spcBef>
            </a:pP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tách </a:t>
            </a:r>
            <a:r>
              <a:rPr spc="1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 </a:t>
            </a:r>
            <a:r>
              <a:rPr spc="1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với </a:t>
            </a:r>
            <a:r>
              <a:rPr spc="-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khoảng </a:t>
            </a:r>
            <a:r>
              <a:rPr spc="1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trắng </a:t>
            </a:r>
            <a:r>
              <a:rPr spc="7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thành </a:t>
            </a: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 </a:t>
            </a:r>
            <a:r>
              <a:rPr spc="38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list  </a:t>
            </a:r>
            <a:r>
              <a:rPr spc="2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print(caption.split())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705"/>
              </a:spcBef>
            </a:pP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tách </a:t>
            </a:r>
            <a:r>
              <a:rPr spc="1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 </a:t>
            </a:r>
            <a:r>
              <a:rPr spc="1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với </a:t>
            </a:r>
            <a:r>
              <a:rPr spc="7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ký </a:t>
            </a:r>
            <a:r>
              <a:rPr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tự</a:t>
            </a:r>
            <a:r>
              <a:rPr spc="-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xuống </a:t>
            </a: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dòng </a:t>
            </a:r>
            <a:r>
              <a:rPr spc="7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thành </a:t>
            </a: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 </a:t>
            </a:r>
            <a:r>
              <a:rPr spc="38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list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 marR="109220">
              <a:lnSpc>
                <a:spcPct val="150000"/>
              </a:lnSpc>
            </a:pPr>
            <a:r>
              <a:rPr spc="1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str=</a:t>
            </a:r>
            <a:r>
              <a:rPr spc="10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"Thank </a:t>
            </a:r>
            <a:r>
              <a:rPr spc="1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you </a:t>
            </a:r>
            <a:r>
              <a:rPr spc="25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pc="13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the </a:t>
            </a:r>
            <a:r>
              <a:rPr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music\n</a:t>
            </a:r>
            <a:r>
              <a:rPr lang="en-US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Welcome </a:t>
            </a:r>
            <a:r>
              <a:rPr spc="20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 </a:t>
            </a:r>
            <a:r>
              <a:rPr spc="13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the </a:t>
            </a:r>
            <a:r>
              <a:rPr spc="18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jungle"  </a:t>
            </a:r>
            <a:r>
              <a:rPr spc="2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print(str.splitlines())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960"/>
              </a:spcBef>
            </a:pP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thay </a:t>
            </a:r>
            <a:r>
              <a:rPr spc="1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thế</a:t>
            </a:r>
            <a:r>
              <a:rPr spc="18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pc="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chuỗi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960"/>
              </a:spcBef>
            </a:pPr>
            <a:r>
              <a:rPr spc="20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str1 </a:t>
            </a:r>
            <a:r>
              <a:rPr spc="-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</a:t>
            </a:r>
            <a:r>
              <a:rPr spc="37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"I </a:t>
            </a:r>
            <a:r>
              <a:rPr spc="27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like </a:t>
            </a:r>
            <a:r>
              <a:rPr spc="5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bananas, </a:t>
            </a:r>
            <a:r>
              <a:rPr spc="1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because </a:t>
            </a:r>
            <a:r>
              <a:rPr spc="-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bananas </a:t>
            </a:r>
            <a:r>
              <a:rPr spc="11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very</a:t>
            </a:r>
            <a:r>
              <a:rPr spc="20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pc="4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good"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960"/>
              </a:spcBef>
            </a:pPr>
            <a:r>
              <a:rPr spc="1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print(str1.replace(</a:t>
            </a:r>
            <a:r>
              <a:rPr spc="17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"bananas"</a:t>
            </a:r>
            <a:r>
              <a:rPr spc="1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pc="4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pc="18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"apples"</a:t>
            </a:r>
            <a:r>
              <a:rPr spc="1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932610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DATE &amp; TIME</a:t>
            </a:r>
          </a:p>
        </p:txBody>
      </p:sp>
      <p:sp>
        <p:nvSpPr>
          <p:cNvPr id="10" name="object 3"/>
          <p:cNvSpPr txBox="1"/>
          <p:nvPr/>
        </p:nvSpPr>
        <p:spPr>
          <a:xfrm>
            <a:off x="99465" y="649604"/>
            <a:ext cx="11976577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spcBef>
                <a:spcPts val="100"/>
              </a:spcBef>
              <a:tabLst>
                <a:tab pos="241935" algn="l"/>
              </a:tabLst>
            </a:pP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Date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&amp; time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 phải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kiểu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 liệu trong Python,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tuy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nhiên bạn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thể </a:t>
            </a: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import  </a:t>
            </a:r>
            <a:r>
              <a:rPr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module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“datetime”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vào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để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</a:t>
            </a:r>
            <a:r>
              <a:rPr sz="2500" spc="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dụng.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3" name="object 4"/>
          <p:cNvSpPr txBox="1"/>
          <p:nvPr/>
        </p:nvSpPr>
        <p:spPr>
          <a:xfrm>
            <a:off x="229990" y="1521878"/>
            <a:ext cx="5345862" cy="4278735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25"/>
              </a:spcBef>
            </a:pPr>
            <a:r>
              <a:rPr spc="13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import</a:t>
            </a:r>
            <a:r>
              <a:rPr spc="42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pc="10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datetime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 marR="906780">
              <a:lnSpc>
                <a:spcPct val="150000"/>
              </a:lnSpc>
            </a:pP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pc="1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lấy </a:t>
            </a:r>
            <a:r>
              <a:rPr spc="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ngày </a:t>
            </a:r>
            <a:r>
              <a:rPr spc="10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giờ </a:t>
            </a:r>
            <a:r>
              <a:rPr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hiện </a:t>
            </a:r>
            <a:r>
              <a:rPr spc="3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tại </a:t>
            </a:r>
            <a:r>
              <a:rPr spc="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của </a:t>
            </a: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hệ </a:t>
            </a:r>
            <a:r>
              <a:rPr spc="7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thống  </a:t>
            </a:r>
            <a:r>
              <a:rPr spc="9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now=datetime.datetime.now()  </a:t>
            </a:r>
            <a:r>
              <a:rPr spc="1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print(now)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 marR="347345">
              <a:lnSpc>
                <a:spcPts val="2880"/>
              </a:lnSpc>
              <a:spcBef>
                <a:spcPts val="254"/>
              </a:spcBef>
            </a:pPr>
            <a:r>
              <a:rPr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pc="1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lấy </a:t>
            </a:r>
            <a:r>
              <a:rPr spc="4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từng </a:t>
            </a:r>
            <a:r>
              <a:rPr spc="7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thành </a:t>
            </a:r>
            <a:r>
              <a:rPr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phần năm, </a:t>
            </a:r>
            <a:r>
              <a:rPr spc="1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tháng, </a:t>
            </a:r>
            <a:r>
              <a:rPr spc="1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ngày...  </a:t>
            </a:r>
            <a:r>
              <a:rPr spc="1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print(now.year)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 marR="3018790">
              <a:lnSpc>
                <a:spcPts val="2880"/>
              </a:lnSpc>
              <a:spcBef>
                <a:spcPts val="5"/>
              </a:spcBef>
            </a:pPr>
            <a:r>
              <a:rPr spc="1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print(now.month)  </a:t>
            </a:r>
            <a:r>
              <a:rPr spc="1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print(now.day)  </a:t>
            </a:r>
            <a:r>
              <a:rPr spc="1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print(now.hour)  </a:t>
            </a:r>
            <a:r>
              <a:rPr spc="1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print(now.min</a:t>
            </a:r>
            <a:r>
              <a:rPr spc="1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</a:t>
            </a:r>
            <a:r>
              <a:rPr spc="2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te)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705"/>
              </a:spcBef>
            </a:pPr>
            <a:r>
              <a:rPr spc="1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print(now.second)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5575852" y="1563619"/>
            <a:ext cx="6616148" cy="3663823"/>
          </a:xfrm>
          <a:prstGeom prst="rect">
            <a:avLst/>
          </a:prstGeom>
          <a:ln w="9144">
            <a:solidFill>
              <a:srgbClr val="BEBEBE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92075" marR="1104265">
              <a:lnSpc>
                <a:spcPct val="150000"/>
              </a:lnSpc>
            </a:pPr>
            <a:r>
              <a:rPr sz="175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1750" spc="1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tạo </a:t>
            </a:r>
            <a:r>
              <a:rPr sz="1750"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đối </a:t>
            </a:r>
            <a:r>
              <a:rPr sz="17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tượng </a:t>
            </a:r>
            <a:r>
              <a:rPr sz="1750" spc="9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date </a:t>
            </a:r>
            <a:r>
              <a:rPr sz="1750" spc="1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với </a:t>
            </a:r>
            <a:r>
              <a:rPr sz="1750" spc="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</a:t>
            </a:r>
            <a:r>
              <a:rPr sz="1750" spc="7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thông </a:t>
            </a:r>
            <a:r>
              <a:rPr sz="1750"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 cụ </a:t>
            </a:r>
            <a:r>
              <a:rPr sz="1750" spc="1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thể  </a:t>
            </a:r>
            <a:r>
              <a:rPr sz="1750" spc="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birthday=datetime.date(</a:t>
            </a:r>
            <a:r>
              <a:rPr sz="1750" spc="12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1980</a:t>
            </a:r>
            <a:r>
              <a:rPr sz="1750" spc="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1750" spc="12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11</a:t>
            </a:r>
            <a:r>
              <a:rPr sz="1750" spc="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1750" spc="12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26</a:t>
            </a:r>
            <a:r>
              <a:rPr sz="1750" spc="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  </a:t>
            </a:r>
            <a:r>
              <a:rPr sz="1750" spc="2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print(birthday)</a:t>
            </a:r>
            <a:endParaRPr sz="175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 marR="1993264">
              <a:lnSpc>
                <a:spcPct val="150000"/>
              </a:lnSpc>
            </a:pPr>
            <a:r>
              <a:rPr sz="175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175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định </a:t>
            </a:r>
            <a:r>
              <a:rPr sz="175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dạng </a:t>
            </a:r>
            <a:r>
              <a:rPr sz="1750" spc="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ngày </a:t>
            </a:r>
            <a:r>
              <a:rPr sz="1750" spc="7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tháng  </a:t>
            </a:r>
            <a:r>
              <a:rPr sz="1750" spc="1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print(birthday.strftime(</a:t>
            </a:r>
            <a:r>
              <a:rPr sz="1750" spc="14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"%d/%m/%Y"</a:t>
            </a:r>
            <a:r>
              <a:rPr sz="1750" spc="1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))</a:t>
            </a:r>
            <a:endParaRPr sz="175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>
              <a:lnSpc>
                <a:spcPct val="150000"/>
              </a:lnSpc>
            </a:pPr>
            <a:r>
              <a:rPr sz="1750" spc="20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print(birthday.strftime(</a:t>
            </a:r>
            <a:r>
              <a:rPr sz="1750" spc="204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"%c"</a:t>
            </a:r>
            <a:r>
              <a:rPr sz="1750" spc="20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))</a:t>
            </a:r>
            <a:endParaRPr sz="175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 marR="1548130">
              <a:lnSpc>
                <a:spcPct val="150000"/>
              </a:lnSpc>
            </a:pPr>
            <a:r>
              <a:rPr sz="175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1750" spc="9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tăng </a:t>
            </a:r>
            <a:r>
              <a:rPr sz="1750" spc="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giảm </a:t>
            </a:r>
            <a:r>
              <a:rPr sz="1750" spc="18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thời </a:t>
            </a:r>
            <a:r>
              <a:rPr sz="175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gian </a:t>
            </a:r>
            <a:r>
              <a:rPr sz="1750" spc="-6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 </a:t>
            </a:r>
            <a:r>
              <a:rPr sz="175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 </a:t>
            </a:r>
            <a:r>
              <a:rPr sz="1750" spc="1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timedelta  </a:t>
            </a:r>
            <a:r>
              <a:rPr sz="1750" spc="1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print(now+datetime.timedelta(days=</a:t>
            </a:r>
            <a:r>
              <a:rPr sz="1750" spc="13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5</a:t>
            </a:r>
            <a:r>
              <a:rPr sz="1750" spc="1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))  </a:t>
            </a:r>
            <a:r>
              <a:rPr sz="1750" spc="1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print(now-datetime.timedelta(minutes=</a:t>
            </a:r>
            <a:r>
              <a:rPr sz="1750" spc="14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2</a:t>
            </a:r>
            <a:r>
              <a:rPr sz="1750" spc="1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))</a:t>
            </a:r>
            <a:endParaRPr sz="175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35390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HANDLING ERROR 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662406"/>
            <a:ext cx="11966638" cy="132087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300"/>
              </a:spcBef>
              <a:tabLst>
                <a:tab pos="241300" algn="l"/>
                <a:tab pos="241935" algn="l"/>
              </a:tabLst>
            </a:pPr>
            <a:r>
              <a:rPr lang="en-US"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	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Ngoại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lệ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thể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bất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kỳ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điều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kiện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bất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thường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nào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chương trình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phá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vỡ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luồng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thực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thi</a:t>
            </a:r>
            <a:r>
              <a:rPr sz="2500" spc="-20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chương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trình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đó.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Bất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cứ khi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nào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ngoại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 xuất hiện,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chương trình sẽ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ngừng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thực thi, chuyển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qua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quá</a:t>
            </a:r>
            <a:r>
              <a:rPr sz="2500" spc="-2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trình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gọi và in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lỗi đến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nó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được xử</a:t>
            </a:r>
            <a:r>
              <a:rPr sz="2500" spc="-9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lý.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2940507" y="2161610"/>
            <a:ext cx="6253188" cy="39807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5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00028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HANDLING ERROR 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814196"/>
            <a:ext cx="11986517" cy="3981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41300" algn="l"/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 cung cấp khối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try…except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để điều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 ngoại</a:t>
            </a:r>
            <a:r>
              <a:rPr sz="2500" b="1" spc="-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318051" y="1644354"/>
            <a:ext cx="6221896" cy="2639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5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851" y="1370596"/>
            <a:ext cx="4737380" cy="473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9057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HANDLING ERROR 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814196"/>
            <a:ext cx="11986517" cy="3981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41300" algn="l"/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 cung cấp khối </a:t>
            </a:r>
            <a:r>
              <a:rPr sz="25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try…except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để điều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 ngoại</a:t>
            </a:r>
            <a:r>
              <a:rPr sz="2500" b="1" spc="-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0" name="object 5"/>
          <p:cNvSpPr/>
          <p:nvPr/>
        </p:nvSpPr>
        <p:spPr>
          <a:xfrm>
            <a:off x="392130" y="1370596"/>
            <a:ext cx="6048427" cy="3797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5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718" y="1212382"/>
            <a:ext cx="4819962" cy="502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0105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HANDLING ERROR 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814196"/>
            <a:ext cx="11986517" cy="3981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41300" algn="l"/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 cung cấp khối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lệnh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try…except…finally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để điều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khiển ngoại</a:t>
            </a:r>
            <a:r>
              <a:rPr sz="2500" b="1" spc="-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lệ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1" name="object 4"/>
          <p:cNvSpPr/>
          <p:nvPr/>
        </p:nvSpPr>
        <p:spPr>
          <a:xfrm>
            <a:off x="319944" y="1395952"/>
            <a:ext cx="5703169" cy="42884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019" y="1510811"/>
            <a:ext cx="5544165" cy="401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71903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701880" y="769377"/>
            <a:ext cx="1094726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Collection </a:t>
            </a: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dạng dữ liệu kiểu </a:t>
            </a:r>
            <a:r>
              <a:rPr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tập </a:t>
            </a: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hợp được </a:t>
            </a:r>
            <a:r>
              <a:rPr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chia </a:t>
            </a: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làm </a:t>
            </a:r>
            <a:r>
              <a:rPr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4 </a:t>
            </a: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loại trong</a:t>
            </a:r>
            <a:r>
              <a:rPr sz="2500" b="1" spc="14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Python</a:t>
            </a:r>
            <a:endParaRPr sz="25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grpSp>
        <p:nvGrpSpPr>
          <p:cNvPr id="6" name="object 4"/>
          <p:cNvGrpSpPr/>
          <p:nvPr/>
        </p:nvGrpSpPr>
        <p:grpSpPr>
          <a:xfrm>
            <a:off x="1033670" y="1474413"/>
            <a:ext cx="4255129" cy="1840992"/>
            <a:chOff x="1652016" y="1751076"/>
            <a:chExt cx="3557270" cy="1431290"/>
          </a:xfrm>
        </p:grpSpPr>
        <p:sp>
          <p:nvSpPr>
            <p:cNvPr id="10" name="object 5"/>
            <p:cNvSpPr/>
            <p:nvPr/>
          </p:nvSpPr>
          <p:spPr>
            <a:xfrm>
              <a:off x="1655064" y="1754124"/>
              <a:ext cx="3550920" cy="142493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5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" name="object 6"/>
            <p:cNvSpPr/>
            <p:nvPr/>
          </p:nvSpPr>
          <p:spPr>
            <a:xfrm>
              <a:off x="1655064" y="1754124"/>
              <a:ext cx="3550920" cy="1424940"/>
            </a:xfrm>
            <a:custGeom>
              <a:avLst/>
              <a:gdLst/>
              <a:ahLst/>
              <a:cxnLst/>
              <a:rect l="l" t="t" r="r" b="b"/>
              <a:pathLst>
                <a:path w="3550920" h="1424939">
                  <a:moveTo>
                    <a:pt x="0" y="237489"/>
                  </a:moveTo>
                  <a:lnTo>
                    <a:pt x="4823" y="189619"/>
                  </a:lnTo>
                  <a:lnTo>
                    <a:pt x="18659" y="145035"/>
                  </a:lnTo>
                  <a:lnTo>
                    <a:pt x="40551" y="104694"/>
                  </a:lnTo>
                  <a:lnTo>
                    <a:pt x="69548" y="69548"/>
                  </a:lnTo>
                  <a:lnTo>
                    <a:pt x="104694" y="40551"/>
                  </a:lnTo>
                  <a:lnTo>
                    <a:pt x="145035" y="18659"/>
                  </a:lnTo>
                  <a:lnTo>
                    <a:pt x="189619" y="4823"/>
                  </a:lnTo>
                  <a:lnTo>
                    <a:pt x="237490" y="0"/>
                  </a:lnTo>
                  <a:lnTo>
                    <a:pt x="3313430" y="0"/>
                  </a:lnTo>
                  <a:lnTo>
                    <a:pt x="3361300" y="4823"/>
                  </a:lnTo>
                  <a:lnTo>
                    <a:pt x="3405884" y="18659"/>
                  </a:lnTo>
                  <a:lnTo>
                    <a:pt x="3446225" y="40551"/>
                  </a:lnTo>
                  <a:lnTo>
                    <a:pt x="3481371" y="69548"/>
                  </a:lnTo>
                  <a:lnTo>
                    <a:pt x="3510368" y="104694"/>
                  </a:lnTo>
                  <a:lnTo>
                    <a:pt x="3532260" y="145035"/>
                  </a:lnTo>
                  <a:lnTo>
                    <a:pt x="3546096" y="189619"/>
                  </a:lnTo>
                  <a:lnTo>
                    <a:pt x="3550920" y="237489"/>
                  </a:lnTo>
                  <a:lnTo>
                    <a:pt x="3550920" y="1187450"/>
                  </a:lnTo>
                  <a:lnTo>
                    <a:pt x="3546096" y="1235320"/>
                  </a:lnTo>
                  <a:lnTo>
                    <a:pt x="3532260" y="1279904"/>
                  </a:lnTo>
                  <a:lnTo>
                    <a:pt x="3510368" y="1320245"/>
                  </a:lnTo>
                  <a:lnTo>
                    <a:pt x="3481371" y="1355391"/>
                  </a:lnTo>
                  <a:lnTo>
                    <a:pt x="3446225" y="1384388"/>
                  </a:lnTo>
                  <a:lnTo>
                    <a:pt x="3405884" y="1406280"/>
                  </a:lnTo>
                  <a:lnTo>
                    <a:pt x="3361300" y="1420116"/>
                  </a:lnTo>
                  <a:lnTo>
                    <a:pt x="3313430" y="1424939"/>
                  </a:lnTo>
                  <a:lnTo>
                    <a:pt x="237490" y="1424939"/>
                  </a:lnTo>
                  <a:lnTo>
                    <a:pt x="189619" y="1420116"/>
                  </a:lnTo>
                  <a:lnTo>
                    <a:pt x="145035" y="1406280"/>
                  </a:lnTo>
                  <a:lnTo>
                    <a:pt x="104694" y="1384388"/>
                  </a:lnTo>
                  <a:lnTo>
                    <a:pt x="69548" y="1355391"/>
                  </a:lnTo>
                  <a:lnTo>
                    <a:pt x="40551" y="1320245"/>
                  </a:lnTo>
                  <a:lnTo>
                    <a:pt x="18659" y="1279904"/>
                  </a:lnTo>
                  <a:lnTo>
                    <a:pt x="4823" y="1235320"/>
                  </a:lnTo>
                  <a:lnTo>
                    <a:pt x="0" y="1187450"/>
                  </a:lnTo>
                  <a:lnTo>
                    <a:pt x="0" y="237489"/>
                  </a:lnTo>
                  <a:close/>
                </a:path>
              </a:pathLst>
            </a:custGeom>
            <a:ln w="6096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 sz="25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2" name="object 7"/>
          <p:cNvSpPr txBox="1"/>
          <p:nvPr/>
        </p:nvSpPr>
        <p:spPr>
          <a:xfrm>
            <a:off x="1090782" y="1757409"/>
            <a:ext cx="4093749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b="1" spc="-1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List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là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một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collection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có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thứ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tự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,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có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thể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thay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đổi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. Cho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phép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chứa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dữ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liệu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trùng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1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lặp</a:t>
            </a:r>
            <a:r>
              <a:rPr lang="en-US" sz="2500" b="1" spc="-1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.</a:t>
            </a:r>
            <a:endParaRPr sz="2500" b="1" spc="-1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rlito"/>
            </a:endParaRPr>
          </a:p>
        </p:txBody>
      </p:sp>
      <p:grpSp>
        <p:nvGrpSpPr>
          <p:cNvPr id="13" name="object 8"/>
          <p:cNvGrpSpPr/>
          <p:nvPr/>
        </p:nvGrpSpPr>
        <p:grpSpPr>
          <a:xfrm>
            <a:off x="5995901" y="1549563"/>
            <a:ext cx="4680026" cy="1696792"/>
            <a:chOff x="5928249" y="1744313"/>
            <a:chExt cx="3578463" cy="1434751"/>
          </a:xfrm>
        </p:grpSpPr>
        <p:sp>
          <p:nvSpPr>
            <p:cNvPr id="14" name="object 9"/>
            <p:cNvSpPr/>
            <p:nvPr/>
          </p:nvSpPr>
          <p:spPr>
            <a:xfrm>
              <a:off x="5928249" y="1744313"/>
              <a:ext cx="3550919" cy="14249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5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5" name="object 10"/>
            <p:cNvSpPr/>
            <p:nvPr/>
          </p:nvSpPr>
          <p:spPr>
            <a:xfrm>
              <a:off x="5955792" y="1754124"/>
              <a:ext cx="3550920" cy="1424940"/>
            </a:xfrm>
            <a:custGeom>
              <a:avLst/>
              <a:gdLst/>
              <a:ahLst/>
              <a:cxnLst/>
              <a:rect l="l" t="t" r="r" b="b"/>
              <a:pathLst>
                <a:path w="3550920" h="1424939">
                  <a:moveTo>
                    <a:pt x="0" y="237489"/>
                  </a:moveTo>
                  <a:lnTo>
                    <a:pt x="4823" y="189619"/>
                  </a:lnTo>
                  <a:lnTo>
                    <a:pt x="18659" y="145035"/>
                  </a:lnTo>
                  <a:lnTo>
                    <a:pt x="40551" y="104694"/>
                  </a:lnTo>
                  <a:lnTo>
                    <a:pt x="69548" y="69548"/>
                  </a:lnTo>
                  <a:lnTo>
                    <a:pt x="104694" y="40551"/>
                  </a:lnTo>
                  <a:lnTo>
                    <a:pt x="145035" y="18659"/>
                  </a:lnTo>
                  <a:lnTo>
                    <a:pt x="189619" y="4823"/>
                  </a:lnTo>
                  <a:lnTo>
                    <a:pt x="237490" y="0"/>
                  </a:lnTo>
                  <a:lnTo>
                    <a:pt x="3313430" y="0"/>
                  </a:lnTo>
                  <a:lnTo>
                    <a:pt x="3361300" y="4823"/>
                  </a:lnTo>
                  <a:lnTo>
                    <a:pt x="3405884" y="18659"/>
                  </a:lnTo>
                  <a:lnTo>
                    <a:pt x="3446225" y="40551"/>
                  </a:lnTo>
                  <a:lnTo>
                    <a:pt x="3481371" y="69548"/>
                  </a:lnTo>
                  <a:lnTo>
                    <a:pt x="3510368" y="104694"/>
                  </a:lnTo>
                  <a:lnTo>
                    <a:pt x="3532260" y="145035"/>
                  </a:lnTo>
                  <a:lnTo>
                    <a:pt x="3546096" y="189619"/>
                  </a:lnTo>
                  <a:lnTo>
                    <a:pt x="3550919" y="237489"/>
                  </a:lnTo>
                  <a:lnTo>
                    <a:pt x="3550919" y="1187450"/>
                  </a:lnTo>
                  <a:lnTo>
                    <a:pt x="3546096" y="1235320"/>
                  </a:lnTo>
                  <a:lnTo>
                    <a:pt x="3532260" y="1279904"/>
                  </a:lnTo>
                  <a:lnTo>
                    <a:pt x="3510368" y="1320245"/>
                  </a:lnTo>
                  <a:lnTo>
                    <a:pt x="3481371" y="1355391"/>
                  </a:lnTo>
                  <a:lnTo>
                    <a:pt x="3446225" y="1384388"/>
                  </a:lnTo>
                  <a:lnTo>
                    <a:pt x="3405884" y="1406280"/>
                  </a:lnTo>
                  <a:lnTo>
                    <a:pt x="3361300" y="1420116"/>
                  </a:lnTo>
                  <a:lnTo>
                    <a:pt x="3313430" y="1424939"/>
                  </a:lnTo>
                  <a:lnTo>
                    <a:pt x="237490" y="1424939"/>
                  </a:lnTo>
                  <a:lnTo>
                    <a:pt x="189619" y="1420116"/>
                  </a:lnTo>
                  <a:lnTo>
                    <a:pt x="145035" y="1406280"/>
                  </a:lnTo>
                  <a:lnTo>
                    <a:pt x="104694" y="1384388"/>
                  </a:lnTo>
                  <a:lnTo>
                    <a:pt x="69548" y="1355391"/>
                  </a:lnTo>
                  <a:lnTo>
                    <a:pt x="40551" y="1320245"/>
                  </a:lnTo>
                  <a:lnTo>
                    <a:pt x="18659" y="1279904"/>
                  </a:lnTo>
                  <a:lnTo>
                    <a:pt x="4823" y="1235320"/>
                  </a:lnTo>
                  <a:lnTo>
                    <a:pt x="0" y="1187450"/>
                  </a:lnTo>
                  <a:lnTo>
                    <a:pt x="0" y="237489"/>
                  </a:lnTo>
                  <a:close/>
                </a:path>
              </a:pathLst>
            </a:custGeom>
            <a:ln w="6096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 sz="25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6" name="object 11"/>
          <p:cNvSpPr txBox="1"/>
          <p:nvPr/>
        </p:nvSpPr>
        <p:spPr>
          <a:xfrm>
            <a:off x="6162074" y="1750626"/>
            <a:ext cx="4495842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b="1" spc="-2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Tuple</a:t>
            </a:r>
            <a:r>
              <a:rPr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dirty="0"/>
              <a:t> 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là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một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collection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có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thứ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tự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,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không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thể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thay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đổi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. Cho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phép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chứa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dữ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liệu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trùng</a:t>
            </a:r>
            <a:r>
              <a:rPr lang="en-US" sz="2500" b="1" spc="-2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spc="-2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lặp</a:t>
            </a:r>
            <a:endParaRPr sz="2500" b="1" spc="-20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rlito"/>
            </a:endParaRPr>
          </a:p>
        </p:txBody>
      </p:sp>
      <p:grpSp>
        <p:nvGrpSpPr>
          <p:cNvPr id="17" name="object 12"/>
          <p:cNvGrpSpPr/>
          <p:nvPr/>
        </p:nvGrpSpPr>
        <p:grpSpPr>
          <a:xfrm>
            <a:off x="1037315" y="3700942"/>
            <a:ext cx="4247533" cy="1727455"/>
            <a:chOff x="1652016" y="3596640"/>
            <a:chExt cx="3557270" cy="1431290"/>
          </a:xfrm>
        </p:grpSpPr>
        <p:sp>
          <p:nvSpPr>
            <p:cNvPr id="18" name="object 13"/>
            <p:cNvSpPr/>
            <p:nvPr/>
          </p:nvSpPr>
          <p:spPr>
            <a:xfrm>
              <a:off x="1655064" y="3599688"/>
              <a:ext cx="3550920" cy="142493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5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9" name="object 14"/>
            <p:cNvSpPr/>
            <p:nvPr/>
          </p:nvSpPr>
          <p:spPr>
            <a:xfrm>
              <a:off x="1655064" y="3599688"/>
              <a:ext cx="3550920" cy="1424940"/>
            </a:xfrm>
            <a:custGeom>
              <a:avLst/>
              <a:gdLst/>
              <a:ahLst/>
              <a:cxnLst/>
              <a:rect l="l" t="t" r="r" b="b"/>
              <a:pathLst>
                <a:path w="3550920" h="1424939">
                  <a:moveTo>
                    <a:pt x="0" y="237489"/>
                  </a:moveTo>
                  <a:lnTo>
                    <a:pt x="4823" y="189619"/>
                  </a:lnTo>
                  <a:lnTo>
                    <a:pt x="18659" y="145035"/>
                  </a:lnTo>
                  <a:lnTo>
                    <a:pt x="40551" y="104694"/>
                  </a:lnTo>
                  <a:lnTo>
                    <a:pt x="69548" y="69548"/>
                  </a:lnTo>
                  <a:lnTo>
                    <a:pt x="104694" y="40551"/>
                  </a:lnTo>
                  <a:lnTo>
                    <a:pt x="145035" y="18659"/>
                  </a:lnTo>
                  <a:lnTo>
                    <a:pt x="189619" y="4823"/>
                  </a:lnTo>
                  <a:lnTo>
                    <a:pt x="237490" y="0"/>
                  </a:lnTo>
                  <a:lnTo>
                    <a:pt x="3313430" y="0"/>
                  </a:lnTo>
                  <a:lnTo>
                    <a:pt x="3361300" y="4823"/>
                  </a:lnTo>
                  <a:lnTo>
                    <a:pt x="3405884" y="18659"/>
                  </a:lnTo>
                  <a:lnTo>
                    <a:pt x="3446225" y="40551"/>
                  </a:lnTo>
                  <a:lnTo>
                    <a:pt x="3481371" y="69548"/>
                  </a:lnTo>
                  <a:lnTo>
                    <a:pt x="3510368" y="104694"/>
                  </a:lnTo>
                  <a:lnTo>
                    <a:pt x="3532260" y="145035"/>
                  </a:lnTo>
                  <a:lnTo>
                    <a:pt x="3546096" y="189619"/>
                  </a:lnTo>
                  <a:lnTo>
                    <a:pt x="3550920" y="237489"/>
                  </a:lnTo>
                  <a:lnTo>
                    <a:pt x="3550920" y="1187450"/>
                  </a:lnTo>
                  <a:lnTo>
                    <a:pt x="3546096" y="1235320"/>
                  </a:lnTo>
                  <a:lnTo>
                    <a:pt x="3532260" y="1279904"/>
                  </a:lnTo>
                  <a:lnTo>
                    <a:pt x="3510368" y="1320245"/>
                  </a:lnTo>
                  <a:lnTo>
                    <a:pt x="3481371" y="1355391"/>
                  </a:lnTo>
                  <a:lnTo>
                    <a:pt x="3446225" y="1384388"/>
                  </a:lnTo>
                  <a:lnTo>
                    <a:pt x="3405884" y="1406280"/>
                  </a:lnTo>
                  <a:lnTo>
                    <a:pt x="3361300" y="1420116"/>
                  </a:lnTo>
                  <a:lnTo>
                    <a:pt x="3313430" y="1424939"/>
                  </a:lnTo>
                  <a:lnTo>
                    <a:pt x="237490" y="1424939"/>
                  </a:lnTo>
                  <a:lnTo>
                    <a:pt x="189619" y="1420116"/>
                  </a:lnTo>
                  <a:lnTo>
                    <a:pt x="145035" y="1406280"/>
                  </a:lnTo>
                  <a:lnTo>
                    <a:pt x="104694" y="1384388"/>
                  </a:lnTo>
                  <a:lnTo>
                    <a:pt x="69548" y="1355391"/>
                  </a:lnTo>
                  <a:lnTo>
                    <a:pt x="40551" y="1320245"/>
                  </a:lnTo>
                  <a:lnTo>
                    <a:pt x="18659" y="1279904"/>
                  </a:lnTo>
                  <a:lnTo>
                    <a:pt x="4823" y="1235320"/>
                  </a:lnTo>
                  <a:lnTo>
                    <a:pt x="0" y="1187450"/>
                  </a:lnTo>
                  <a:lnTo>
                    <a:pt x="0" y="237489"/>
                  </a:lnTo>
                  <a:close/>
                </a:path>
              </a:pathLst>
            </a:custGeom>
            <a:ln w="6096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 sz="25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20" name="object 15"/>
          <p:cNvSpPr txBox="1"/>
          <p:nvPr/>
        </p:nvSpPr>
        <p:spPr>
          <a:xfrm>
            <a:off x="1285673" y="3789584"/>
            <a:ext cx="3906224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Set </a:t>
            </a:r>
            <a:r>
              <a:rPr lang="en-US" dirty="0"/>
              <a:t> 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là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một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collection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không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có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thứ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tự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,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không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có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chỉ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mục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.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Không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cho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phép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chứa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dữ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liệu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trùng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lặp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.</a:t>
            </a:r>
            <a:endParaRPr sz="25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rlito"/>
            </a:endParaRPr>
          </a:p>
        </p:txBody>
      </p:sp>
      <p:grpSp>
        <p:nvGrpSpPr>
          <p:cNvPr id="21" name="object 16"/>
          <p:cNvGrpSpPr/>
          <p:nvPr/>
        </p:nvGrpSpPr>
        <p:grpSpPr>
          <a:xfrm>
            <a:off x="5995901" y="3621744"/>
            <a:ext cx="4680026" cy="1793770"/>
            <a:chOff x="5905496" y="3561543"/>
            <a:chExt cx="3647440" cy="1529080"/>
          </a:xfrm>
        </p:grpSpPr>
        <p:sp>
          <p:nvSpPr>
            <p:cNvPr id="22" name="object 17"/>
            <p:cNvSpPr/>
            <p:nvPr/>
          </p:nvSpPr>
          <p:spPr>
            <a:xfrm>
              <a:off x="5905496" y="3561543"/>
              <a:ext cx="3646939" cy="152861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5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3" name="object 18"/>
            <p:cNvSpPr/>
            <p:nvPr/>
          </p:nvSpPr>
          <p:spPr>
            <a:xfrm>
              <a:off x="5920739" y="3596627"/>
              <a:ext cx="3528060" cy="114301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5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object 19"/>
            <p:cNvSpPr/>
            <p:nvPr/>
          </p:nvSpPr>
          <p:spPr>
            <a:xfrm>
              <a:off x="5955791" y="3592068"/>
              <a:ext cx="3550919" cy="142494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5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25" name="object 20"/>
          <p:cNvSpPr txBox="1"/>
          <p:nvPr/>
        </p:nvSpPr>
        <p:spPr>
          <a:xfrm>
            <a:off x="6231835" y="3767638"/>
            <a:ext cx="4408069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Dictionary</a:t>
            </a:r>
            <a:r>
              <a:rPr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là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một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collection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không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có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thứ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tự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,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có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thể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thay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đổi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và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lập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chỉ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mục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.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Không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có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thành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viên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trùng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lặp</a:t>
            </a:r>
            <a:r>
              <a:rPr lang="en-US" sz="2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rlito"/>
              </a:rPr>
              <a:t>.</a:t>
            </a:r>
            <a:endParaRPr sz="25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1484387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sp>
        <p:nvSpPr>
          <p:cNvPr id="26" name="object 3"/>
          <p:cNvSpPr txBox="1"/>
          <p:nvPr/>
        </p:nvSpPr>
        <p:spPr>
          <a:xfrm>
            <a:off x="328066" y="793671"/>
            <a:ext cx="1165852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lang="en-US"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LIST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 </a:t>
            </a:r>
            <a:r>
              <a:rPr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tập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hợp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thứ tự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thể thay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đổi, dữ liệu được liệt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kê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cặp </a:t>
            </a:r>
            <a:r>
              <a:rPr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[</a:t>
            </a:r>
            <a:r>
              <a:rPr sz="2400" b="1" spc="-4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</a:t>
            </a:r>
          </a:p>
        </p:txBody>
      </p:sp>
      <p:sp>
        <p:nvSpPr>
          <p:cNvPr id="27" name="object 4"/>
          <p:cNvSpPr txBox="1"/>
          <p:nvPr/>
        </p:nvSpPr>
        <p:spPr>
          <a:xfrm>
            <a:off x="220449" y="1257575"/>
            <a:ext cx="6998208" cy="4824397"/>
          </a:xfrm>
          <a:prstGeom prst="rect">
            <a:avLst/>
          </a:prstGeom>
          <a:ln w="9144">
            <a:solidFill>
              <a:srgbClr val="A6A6A6"/>
            </a:solidFill>
          </a:ln>
        </p:spPr>
        <p:txBody>
          <a:bodyPr vert="horz" wrap="square" lIns="0" tIns="11683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9"/>
              </a:spcBef>
            </a:pPr>
            <a:r>
              <a:rPr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000" spc="1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tạo </a:t>
            </a:r>
            <a:r>
              <a:rPr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r>
              <a:rPr sz="2000" spc="16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000" spc="38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list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960"/>
              </a:spcBef>
            </a:pPr>
            <a:r>
              <a:rPr sz="2000" spc="1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flowers </a:t>
            </a:r>
            <a:r>
              <a:rPr sz="2000" spc="-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 </a:t>
            </a:r>
            <a:r>
              <a:rPr sz="2000" spc="2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[</a:t>
            </a:r>
            <a:r>
              <a:rPr sz="2000" spc="20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"Lan"</a:t>
            </a:r>
            <a:r>
              <a:rPr sz="2000" spc="2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 </a:t>
            </a:r>
            <a:r>
              <a:rPr sz="2000" spc="10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"Hồng"</a:t>
            </a:r>
            <a:r>
              <a:rPr sz="2000" spc="1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000" spc="4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000" spc="16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"Cúc"</a:t>
            </a:r>
            <a:r>
              <a:rPr sz="2000" spc="1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000" spc="16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"Ly"</a:t>
            </a:r>
            <a:r>
              <a:rPr sz="2000" spc="1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000" spc="16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"Đào"</a:t>
            </a:r>
            <a:r>
              <a:rPr sz="2000" spc="1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,</a:t>
            </a:r>
            <a:r>
              <a:rPr sz="2000" spc="16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"Mai"</a:t>
            </a:r>
            <a:r>
              <a:rPr sz="2000" spc="1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960"/>
              </a:spcBef>
            </a:pPr>
            <a:r>
              <a:rPr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0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000" spc="9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toàn </a:t>
            </a:r>
            <a:r>
              <a:rPr sz="2000" spc="-15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bộ</a:t>
            </a:r>
            <a:r>
              <a:rPr sz="2000" spc="39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000" spc="38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list</a:t>
            </a:r>
            <a:r>
              <a:rPr lang="en-US" sz="2000" spc="38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	</a:t>
            </a:r>
            <a:r>
              <a:rPr sz="2000" spc="2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print(flowers)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 marR="4270375">
              <a:lnSpc>
                <a:spcPct val="150000"/>
              </a:lnSpc>
            </a:pPr>
            <a:r>
              <a:rPr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0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0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phần </a:t>
            </a:r>
            <a:r>
              <a:rPr sz="20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</a:t>
            </a:r>
            <a:r>
              <a:rPr sz="2000" spc="70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thứ</a:t>
            </a:r>
            <a:r>
              <a:rPr sz="2000" spc="7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000" spc="2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print(flowers[</a:t>
            </a:r>
            <a:r>
              <a:rPr sz="2000" spc="22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r>
              <a:rPr sz="2000" spc="2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])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960"/>
              </a:spcBef>
            </a:pPr>
            <a:r>
              <a:rPr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0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phần </a:t>
            </a:r>
            <a:r>
              <a:rPr sz="20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</a:t>
            </a:r>
            <a:r>
              <a:rPr sz="2000" spc="1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cuối </a:t>
            </a:r>
            <a:r>
              <a:rPr sz="2000" spc="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cùng </a:t>
            </a:r>
            <a:r>
              <a:rPr sz="2000" spc="28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(in </a:t>
            </a:r>
            <a:r>
              <a:rPr sz="2000" spc="3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lùi </a:t>
            </a:r>
            <a:r>
              <a:rPr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thêm dấu</a:t>
            </a:r>
            <a:r>
              <a:rPr sz="2000" spc="28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000" spc="3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"-")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 marR="4159250">
              <a:lnSpc>
                <a:spcPct val="150000"/>
              </a:lnSpc>
            </a:pPr>
            <a:r>
              <a:rPr sz="2000" spc="2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print(flowers[-</a:t>
            </a:r>
            <a:r>
              <a:rPr sz="2000" spc="22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r>
              <a:rPr sz="2000" spc="2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])  </a:t>
            </a:r>
            <a:r>
              <a:rPr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0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0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 </a:t>
            </a:r>
            <a:r>
              <a:rPr sz="20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phần </a:t>
            </a:r>
            <a:r>
              <a:rPr sz="2000" spc="1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</a:t>
            </a:r>
            <a:r>
              <a:rPr sz="2000" spc="10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3-5  </a:t>
            </a:r>
            <a:r>
              <a:rPr sz="2000" spc="2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print(flowers</a:t>
            </a:r>
            <a:r>
              <a:rPr sz="2000" spc="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[</a:t>
            </a:r>
            <a:r>
              <a:rPr sz="2000" spc="-2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</a:t>
            </a:r>
            <a:r>
              <a:rPr sz="2000" spc="4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</a:t>
            </a:r>
            <a:r>
              <a:rPr sz="2000" spc="-20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5</a:t>
            </a:r>
            <a:r>
              <a:rPr sz="2000" spc="3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])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 marR="3937000">
              <a:lnSpc>
                <a:spcPts val="2880"/>
              </a:lnSpc>
              <a:spcBef>
                <a:spcPts val="254"/>
              </a:spcBef>
            </a:pPr>
            <a:r>
              <a:rPr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0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0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 </a:t>
            </a:r>
            <a:r>
              <a:rPr sz="20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đầu </a:t>
            </a:r>
            <a:r>
              <a:rPr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 </a:t>
            </a:r>
            <a:r>
              <a:rPr sz="20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phần </a:t>
            </a:r>
            <a:r>
              <a:rPr sz="2000" spc="1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 </a:t>
            </a:r>
            <a:r>
              <a:rPr sz="2000" spc="2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print(flowers[:</a:t>
            </a:r>
            <a:r>
              <a:rPr sz="2000" spc="23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</a:t>
            </a:r>
            <a:r>
              <a:rPr sz="2000" spc="2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])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28" name="object 5"/>
          <p:cNvSpPr txBox="1"/>
          <p:nvPr/>
        </p:nvSpPr>
        <p:spPr>
          <a:xfrm>
            <a:off x="7327987" y="1273069"/>
            <a:ext cx="4864013" cy="3231013"/>
          </a:xfrm>
          <a:prstGeom prst="rect">
            <a:avLst/>
          </a:prstGeom>
          <a:ln w="9144">
            <a:solidFill>
              <a:srgbClr val="A6A6A6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92710" marR="1000125">
              <a:lnSpc>
                <a:spcPts val="2880"/>
              </a:lnSpc>
              <a:spcBef>
                <a:spcPts val="215"/>
              </a:spcBef>
            </a:pP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2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 </a:t>
            </a:r>
            <a:r>
              <a:rPr sz="22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phần </a:t>
            </a:r>
            <a:r>
              <a:rPr sz="2200" spc="1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</a:t>
            </a: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 </a:t>
            </a:r>
            <a:r>
              <a:rPr sz="22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đến </a:t>
            </a:r>
            <a:r>
              <a:rPr sz="2200" spc="1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cuối  </a:t>
            </a:r>
            <a:r>
              <a:rPr sz="2200" spc="229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print(flowers[</a:t>
            </a:r>
            <a:r>
              <a:rPr sz="2200" spc="229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3</a:t>
            </a:r>
            <a:r>
              <a:rPr sz="2200" spc="229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:])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710">
              <a:lnSpc>
                <a:spcPct val="100000"/>
              </a:lnSpc>
              <a:spcBef>
                <a:spcPts val="705"/>
              </a:spcBef>
            </a:pP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3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2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từ </a:t>
            </a: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phần </a:t>
            </a:r>
            <a:r>
              <a:rPr sz="22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</a:t>
            </a:r>
            <a:r>
              <a:rPr sz="2200" spc="16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-5 </a:t>
            </a: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đến</a:t>
            </a:r>
            <a:r>
              <a:rPr sz="2200" spc="28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16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-1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710" marR="1556385">
              <a:lnSpc>
                <a:spcPct val="150000"/>
              </a:lnSpc>
              <a:spcBef>
                <a:spcPts val="5"/>
              </a:spcBef>
            </a:pPr>
            <a:r>
              <a:rPr sz="2200" spc="229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print(flowers[-</a:t>
            </a:r>
            <a:r>
              <a:rPr sz="2200" spc="229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5</a:t>
            </a:r>
            <a:r>
              <a:rPr sz="2200" spc="229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:-</a:t>
            </a:r>
            <a:r>
              <a:rPr sz="2200" spc="229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1</a:t>
            </a:r>
            <a:r>
              <a:rPr sz="2200" spc="229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])  </a:t>
            </a: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-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sửa </a:t>
            </a:r>
            <a:r>
              <a:rPr sz="2200"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đổi </a:t>
            </a:r>
            <a:r>
              <a:rPr sz="22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phần </a:t>
            </a:r>
            <a:r>
              <a:rPr sz="2200" spc="1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 </a:t>
            </a:r>
            <a:r>
              <a:rPr sz="2200" spc="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flowers[</a:t>
            </a:r>
            <a:r>
              <a:rPr sz="2200" spc="125" dirty="0">
                <a:solidFill>
                  <a:srgbClr val="098557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5</a:t>
            </a:r>
            <a:r>
              <a:rPr sz="2200" spc="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]=</a:t>
            </a:r>
            <a:r>
              <a:rPr sz="2200" spc="12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"Súng"  </a:t>
            </a:r>
            <a:r>
              <a:rPr sz="2200" spc="2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print(flowers)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100679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sp>
        <p:nvSpPr>
          <p:cNvPr id="26" name="object 3"/>
          <p:cNvSpPr txBox="1"/>
          <p:nvPr/>
        </p:nvSpPr>
        <p:spPr>
          <a:xfrm>
            <a:off x="328066" y="793671"/>
            <a:ext cx="1165852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lang="en-US"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LIST </a:t>
            </a:r>
            <a:r>
              <a:rPr lang="en-US"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lặp</a:t>
            </a:r>
            <a:endParaRPr sz="24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0" name="object 4"/>
          <p:cNvSpPr txBox="1"/>
          <p:nvPr/>
        </p:nvSpPr>
        <p:spPr>
          <a:xfrm>
            <a:off x="328066" y="1272264"/>
            <a:ext cx="11429925" cy="5124864"/>
          </a:xfrm>
          <a:prstGeom prst="rect">
            <a:avLst/>
          </a:prstGeom>
          <a:ln w="9144">
            <a:noFill/>
          </a:ln>
        </p:spPr>
        <p:txBody>
          <a:bodyPr vert="horz" wrap="square" lIns="0" tIns="27305" rIns="0" bIns="0" rtlCol="0">
            <a:spAutoFit/>
          </a:bodyPr>
          <a:lstStyle/>
          <a:p>
            <a:pPr marL="91440" marR="893444">
              <a:lnSpc>
                <a:spcPts val="2880"/>
              </a:lnSpc>
            </a:pP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200" spc="4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</a:t>
            </a: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phần </a:t>
            </a:r>
            <a:r>
              <a:rPr sz="22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</a:t>
            </a:r>
            <a:r>
              <a:rPr sz="2200" spc="14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</a:t>
            </a:r>
            <a:r>
              <a:rPr sz="2200" spc="1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flowers </a:t>
            </a:r>
            <a:r>
              <a:rPr sz="2200" spc="18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trên </a:t>
            </a:r>
            <a:r>
              <a:rPr sz="2200" spc="-15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dòng</a:t>
            </a: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 </a:t>
            </a:r>
            <a:endParaRPr lang="en-US" sz="2200" spc="-15" dirty="0">
              <a:solidFill>
                <a:srgbClr val="008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 marR="893444">
              <a:lnSpc>
                <a:spcPts val="2880"/>
              </a:lnSpc>
            </a:pPr>
            <a:r>
              <a:rPr sz="2200" spc="25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200" spc="4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 </a:t>
            </a:r>
            <a:r>
              <a:rPr sz="2200" spc="25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</a:t>
            </a:r>
            <a:r>
              <a:rPr sz="2200" spc="59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1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flowers:</a:t>
            </a:r>
            <a:endParaRPr lang="en-US" sz="2200" spc="185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 marR="893444">
              <a:lnSpc>
                <a:spcPct val="130000"/>
              </a:lnSpc>
            </a:pPr>
            <a:r>
              <a:rPr lang="en-US" sz="2200" spc="1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	</a:t>
            </a:r>
            <a:r>
              <a:rPr sz="2200" spc="2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print(f)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 marR="682625">
              <a:lnSpc>
                <a:spcPct val="150000"/>
              </a:lnSpc>
            </a:pP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duyệt </a:t>
            </a:r>
            <a:r>
              <a:rPr sz="2200"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 </a:t>
            </a:r>
            <a:r>
              <a:rPr sz="2200" spc="1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lấy </a:t>
            </a:r>
            <a:r>
              <a:rPr sz="2200"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ra </a:t>
            </a:r>
            <a:r>
              <a:rPr sz="2200" spc="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</a:t>
            </a:r>
            <a:r>
              <a:rPr sz="2200"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flower </a:t>
            </a:r>
            <a:r>
              <a:rPr sz="2200"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</a:t>
            </a:r>
            <a:r>
              <a:rPr sz="2200" spc="-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chứa </a:t>
            </a:r>
            <a:r>
              <a:rPr sz="2200" spc="-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chữ </a:t>
            </a: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  </a:t>
            </a:r>
            <a:endParaRPr lang="en-US" sz="2200" spc="-15" dirty="0">
              <a:solidFill>
                <a:srgbClr val="008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 marR="682625">
              <a:lnSpc>
                <a:spcPct val="150000"/>
              </a:lnSpc>
            </a:pPr>
            <a:r>
              <a:rPr sz="2200" spc="114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newflowers</a:t>
            </a:r>
            <a:r>
              <a:rPr sz="2200" spc="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=[]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314325" marR="3462020" indent="-222885">
              <a:lnSpc>
                <a:spcPct val="150000"/>
              </a:lnSpc>
            </a:pPr>
            <a:r>
              <a:rPr sz="2200" spc="25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200" spc="4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 </a:t>
            </a:r>
            <a:r>
              <a:rPr sz="2200" spc="25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200" spc="1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flowers: </a:t>
            </a:r>
            <a:endParaRPr lang="en-US" sz="2200" spc="185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314325" marR="3462020" indent="-222885">
              <a:lnSpc>
                <a:spcPct val="150000"/>
              </a:lnSpc>
            </a:pPr>
            <a:r>
              <a:rPr sz="2200" spc="1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200" spc="18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	</a:t>
            </a:r>
            <a:r>
              <a:rPr sz="2200" spc="47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 </a:t>
            </a:r>
            <a:r>
              <a:rPr sz="2200" spc="19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"a" </a:t>
            </a:r>
            <a:r>
              <a:rPr sz="2200" spc="25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</a:t>
            </a:r>
            <a:r>
              <a:rPr sz="2200" spc="-6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4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f: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37210">
              <a:lnSpc>
                <a:spcPct val="100000"/>
              </a:lnSpc>
            </a:pPr>
            <a:r>
              <a:rPr sz="2200" spc="10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newflowers.append(f)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22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print(newflowers)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200" spc="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</a:t>
            </a:r>
            <a:r>
              <a:rPr sz="2200" spc="13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thể </a:t>
            </a:r>
            <a:r>
              <a:rPr sz="2200" spc="25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viết rút </a:t>
            </a:r>
            <a:r>
              <a:rPr sz="22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gọn</a:t>
            </a:r>
            <a:r>
              <a:rPr sz="220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inline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2200" spc="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newflowers=[f </a:t>
            </a:r>
            <a:r>
              <a:rPr sz="2200" spc="25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for </a:t>
            </a:r>
            <a:r>
              <a:rPr sz="2200" spc="4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 </a:t>
            </a:r>
            <a:r>
              <a:rPr sz="2200" spc="25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 </a:t>
            </a:r>
            <a:r>
              <a:rPr sz="2200" spc="1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flowers </a:t>
            </a:r>
            <a:r>
              <a:rPr sz="2200" spc="47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 </a:t>
            </a:r>
            <a:r>
              <a:rPr sz="2200" spc="37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'a' </a:t>
            </a:r>
            <a:r>
              <a:rPr sz="2200" spc="25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</a:t>
            </a:r>
            <a:r>
              <a:rPr sz="2200" spc="204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200" spc="4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f]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2200" spc="15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print(newflowers)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6306515" y="1396926"/>
            <a:ext cx="5759589" cy="2169184"/>
          </a:xfrm>
          <a:prstGeom prst="rect">
            <a:avLst/>
          </a:prstGeom>
          <a:ln w="9144">
            <a:solidFill>
              <a:srgbClr val="A6A6A6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15"/>
              </a:spcBef>
            </a:pPr>
            <a:r>
              <a:rPr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sz="2000" spc="2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kiểm </a:t>
            </a:r>
            <a:r>
              <a:rPr sz="20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tra </a:t>
            </a:r>
            <a:r>
              <a:rPr sz="2000" spc="-6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sự </a:t>
            </a:r>
            <a:r>
              <a:rPr sz="2000" spc="13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tồn </a:t>
            </a:r>
            <a:r>
              <a:rPr sz="2000" spc="3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tại </a:t>
            </a:r>
            <a:r>
              <a:rPr sz="2000" spc="1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của </a:t>
            </a:r>
            <a:r>
              <a:rPr sz="2000" spc="-2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phần </a:t>
            </a:r>
            <a:r>
              <a:rPr sz="2000" spc="114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</a:t>
            </a:r>
            <a:r>
              <a:rPr sz="2000" spc="1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</a:t>
            </a:r>
            <a:r>
              <a:rPr sz="2000" spc="24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0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List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960"/>
              </a:spcBef>
            </a:pPr>
            <a:r>
              <a:rPr sz="2000" spc="475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if </a:t>
            </a:r>
            <a:r>
              <a:rPr sz="2000" spc="13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"Mai" </a:t>
            </a:r>
            <a:r>
              <a:rPr sz="2000" spc="25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</a:t>
            </a:r>
            <a:r>
              <a:rPr sz="2000" spc="9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000" spc="18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flowers: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37210">
              <a:lnSpc>
                <a:spcPct val="100000"/>
              </a:lnSpc>
              <a:spcBef>
                <a:spcPts val="965"/>
              </a:spcBef>
            </a:pPr>
            <a:r>
              <a:rPr sz="2000" spc="15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print(</a:t>
            </a:r>
            <a:r>
              <a:rPr sz="2000" spc="15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"</a:t>
            </a:r>
            <a:r>
              <a:rPr sz="2000" spc="150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Chúc</a:t>
            </a:r>
            <a:r>
              <a:rPr sz="2000" spc="150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000" spc="-175" dirty="0" err="1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mừng</a:t>
            </a:r>
            <a:r>
              <a:rPr lang="en-US" sz="2000" spc="-17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000" spc="-16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000" spc="135" dirty="0">
                <a:solidFill>
                  <a:srgbClr val="A2151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Mai"</a:t>
            </a:r>
            <a:r>
              <a:rPr sz="2000" spc="1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36575" indent="-536575">
              <a:lnSpc>
                <a:spcPct val="100000"/>
              </a:lnSpc>
              <a:spcBef>
                <a:spcPts val="965"/>
              </a:spcBef>
            </a:pPr>
            <a:r>
              <a:rPr lang="en-US"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# </a:t>
            </a:r>
            <a:r>
              <a:rPr lang="en-US" sz="2000" spc="190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lấy</a:t>
            </a:r>
            <a:r>
              <a:rPr lang="en-US" sz="2000" spc="19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000" spc="-15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độ</a:t>
            </a:r>
            <a:r>
              <a:rPr lang="en-US" sz="2000" spc="-15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000" spc="160" dirty="0" err="1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dài</a:t>
            </a:r>
            <a:r>
              <a:rPr lang="en-US" sz="2000" spc="16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000" spc="250" dirty="0">
                <a:solidFill>
                  <a:srgbClr val="008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List</a:t>
            </a:r>
          </a:p>
          <a:p>
            <a:pPr marL="536575" indent="-536575">
              <a:spcBef>
                <a:spcPts val="965"/>
              </a:spcBef>
            </a:pPr>
            <a:r>
              <a:rPr lang="en-US" sz="2000" spc="20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      print(</a:t>
            </a:r>
            <a:r>
              <a:rPr lang="en-US" sz="2000" spc="204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len</a:t>
            </a:r>
            <a:r>
              <a:rPr lang="en-US" sz="2000" spc="20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(flo</a:t>
            </a:r>
            <a:r>
              <a:rPr lang="en-US" sz="2000" spc="37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w</a:t>
            </a:r>
            <a:r>
              <a:rPr lang="en-US" sz="2000" spc="2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ers))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59606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sp>
        <p:nvSpPr>
          <p:cNvPr id="26" name="object 3"/>
          <p:cNvSpPr txBox="1"/>
          <p:nvPr/>
        </p:nvSpPr>
        <p:spPr>
          <a:xfrm>
            <a:off x="202207" y="717597"/>
            <a:ext cx="562324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phương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thức của</a:t>
            </a:r>
            <a:r>
              <a:rPr sz="2500" b="1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List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graphicFrame>
        <p:nvGraphicFramePr>
          <p:cNvPr id="27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333413"/>
              </p:ext>
            </p:extLst>
          </p:nvPr>
        </p:nvGraphicFramePr>
        <p:xfrm>
          <a:off x="202207" y="1183263"/>
          <a:ext cx="11437620" cy="4449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3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4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319">
                <a:tc>
                  <a:txBody>
                    <a:bodyPr/>
                    <a:lstStyle/>
                    <a:p>
                      <a:pPr marL="15176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Method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Description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append()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</a:t>
                      </a:r>
                      <a:r>
                        <a:rPr lang="vi-VN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hêm đối tượng obj vào cuối list</a:t>
                      </a:r>
                      <a:endParaRPr sz="2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192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clear()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Xóa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bỏ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hết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tất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cả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các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phần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tử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trong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list.</a:t>
                      </a:r>
                      <a:endParaRPr sz="2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192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b="1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count()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Đếm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xem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có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bao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nhiêu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lần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mà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obj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xuất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hiện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trong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list</a:t>
                      </a:r>
                      <a:endParaRPr sz="2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609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b="1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extend()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Phụ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thêm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các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nội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dung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seq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vào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cuối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list</a:t>
                      </a:r>
                      <a:endParaRPr sz="2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19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b="1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index()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Trả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về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chỉ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mục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thấp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nhất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trong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list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mà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tại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đó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obj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xuất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hiện</a:t>
                      </a:r>
                      <a:endParaRPr sz="2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193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2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insert()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lang="vi-VN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Chèn đối tượng obj vào trong list tại index đã cho</a:t>
                      </a:r>
                      <a:endParaRPr sz="2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319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pop()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Xóa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bỏ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phần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tử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trong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list 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dựa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trên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index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của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lang="en-US" sz="2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nó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.</a:t>
                      </a:r>
                      <a:endParaRPr sz="2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66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1319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200" b="1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remove()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lang="vi-VN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Xóa đối tượng obj từ list</a:t>
                      </a:r>
                      <a:endParaRPr sz="2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218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200" b="1" spc="-1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reverse()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lang="vi-VN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Đảo ngược thứ tự các đối tượng trong list</a:t>
                      </a:r>
                      <a:endParaRPr sz="2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1269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200" b="1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rlito"/>
                        </a:rPr>
                        <a:t>sort()</a:t>
                      </a:r>
                      <a:endParaRPr sz="22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lang="vi-VN" sz="2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Sắp xếp các đối tượng của list, sử dụng hàm so sánh nếu được cung cấp</a:t>
                      </a:r>
                      <a:endParaRPr sz="2200" dirty="0">
                        <a:latin typeface="Cambria" panose="02040503050406030204" pitchFamily="18" charset="0"/>
                        <a:ea typeface="Cambria" panose="02040503050406030204" pitchFamily="18" charset="0"/>
                        <a:cs typeface="Carlito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19312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sp>
        <p:nvSpPr>
          <p:cNvPr id="26" name="object 3"/>
          <p:cNvSpPr txBox="1"/>
          <p:nvPr/>
        </p:nvSpPr>
        <p:spPr>
          <a:xfrm>
            <a:off x="202207" y="717597"/>
            <a:ext cx="562324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phương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thức của</a:t>
            </a:r>
            <a:r>
              <a:rPr sz="2500" b="1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List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25" y="1213325"/>
            <a:ext cx="11523318" cy="503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9607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sp>
        <p:nvSpPr>
          <p:cNvPr id="26" name="object 3"/>
          <p:cNvSpPr txBox="1"/>
          <p:nvPr/>
        </p:nvSpPr>
        <p:spPr>
          <a:xfrm>
            <a:off x="202207" y="717597"/>
            <a:ext cx="562324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các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phương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thức của</a:t>
            </a:r>
            <a:r>
              <a:rPr sz="2500" b="1" spc="-7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List</a:t>
            </a:r>
            <a:endParaRPr sz="2500" b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82" y="1275364"/>
            <a:ext cx="11830466" cy="473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358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sp>
        <p:nvSpPr>
          <p:cNvPr id="11" name="object 3"/>
          <p:cNvSpPr txBox="1"/>
          <p:nvPr/>
        </p:nvSpPr>
        <p:spPr>
          <a:xfrm>
            <a:off x="99466" y="649604"/>
            <a:ext cx="11926882" cy="4982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5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400" b="1" spc="-2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Tuple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tập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hợp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thứ tự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nhưng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 thể thay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đổi, dữ liệu được liệt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kê trong  cặp (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82" y="1347200"/>
            <a:ext cx="11814204" cy="432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095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300227" y="813598"/>
            <a:ext cx="545453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Vòng lặp </a:t>
            </a:r>
            <a:r>
              <a:rPr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với </a:t>
            </a:r>
            <a:r>
              <a:rPr sz="2400" b="1" spc="-2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Tuple </a:t>
            </a:r>
            <a:r>
              <a:rPr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tương tự</a:t>
            </a:r>
            <a:r>
              <a:rPr sz="2400" b="1" spc="-6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List</a:t>
            </a:r>
            <a:endParaRPr sz="24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19" y="1269472"/>
            <a:ext cx="11775799" cy="419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5706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sp>
        <p:nvSpPr>
          <p:cNvPr id="10" name="object 3"/>
          <p:cNvSpPr txBox="1"/>
          <p:nvPr/>
        </p:nvSpPr>
        <p:spPr>
          <a:xfrm>
            <a:off x="99465" y="649604"/>
            <a:ext cx="1197657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5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Set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tập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hợp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 có thứ tự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đánh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chỉ số,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 liệu được liệt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kê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cặp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{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}.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14" y="1223659"/>
            <a:ext cx="11801526" cy="425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1661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14" y="1216425"/>
            <a:ext cx="6661725" cy="5021503"/>
          </a:xfrm>
          <a:prstGeom prst="rect">
            <a:avLst/>
          </a:prstGeom>
        </p:spPr>
      </p:pic>
      <p:sp>
        <p:nvSpPr>
          <p:cNvPr id="6" name="object 3"/>
          <p:cNvSpPr txBox="1"/>
          <p:nvPr/>
        </p:nvSpPr>
        <p:spPr>
          <a:xfrm>
            <a:off x="99465" y="649604"/>
            <a:ext cx="1197657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5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Set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tập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hợp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 có thứ tự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đánh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chỉ số,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 liệu được liệt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kê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cặp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{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}.</a:t>
            </a:r>
          </a:p>
        </p:txBody>
      </p:sp>
    </p:spTree>
    <p:extLst>
      <p:ext uri="{BB962C8B-B14F-4D97-AF65-F5344CB8AC3E}">
        <p14:creationId xmlns:p14="http://schemas.microsoft.com/office/powerpoint/2010/main" val="31113363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649604"/>
            <a:ext cx="1198651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5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Dictionary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là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tập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hợp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 có thứ tự, có thể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thay đổi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đánh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chỉ mục, mỗi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phần 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tử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gồm </a:t>
            </a:r>
            <a:r>
              <a:rPr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key và value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được liệt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kê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cặp {</a:t>
            </a:r>
            <a:r>
              <a:rPr sz="2400" spc="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}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35" y="1770423"/>
            <a:ext cx="11649676" cy="444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1022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COLLECTIONS TRONG PYTHON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89" y="1176252"/>
            <a:ext cx="10643242" cy="5147626"/>
          </a:xfrm>
          <a:prstGeom prst="rect">
            <a:avLst/>
          </a:prstGeom>
        </p:spPr>
      </p:pic>
      <p:sp>
        <p:nvSpPr>
          <p:cNvPr id="10" name="object 3"/>
          <p:cNvSpPr txBox="1"/>
          <p:nvPr/>
        </p:nvSpPr>
        <p:spPr>
          <a:xfrm>
            <a:off x="99464" y="677974"/>
            <a:ext cx="11986517" cy="4982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5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Dictionary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378230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HÀM TRONG PYTHON</a:t>
            </a:r>
          </a:p>
        </p:txBody>
      </p:sp>
      <p:sp>
        <p:nvSpPr>
          <p:cNvPr id="5" name="object 3"/>
          <p:cNvSpPr txBox="1"/>
          <p:nvPr/>
        </p:nvSpPr>
        <p:spPr>
          <a:xfrm>
            <a:off x="99466" y="832484"/>
            <a:ext cx="6589395" cy="20133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30000"/>
              </a:lnSpc>
              <a:buChar char="•"/>
              <a:tabLst>
                <a:tab pos="241935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Hàm là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khối code và chỉ chạy khi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được</a:t>
            </a:r>
            <a:r>
              <a:rPr sz="2500" spc="-7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gọi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241300" indent="-229235">
              <a:lnSpc>
                <a:spcPct val="130000"/>
              </a:lnSpc>
              <a:buChar char="•"/>
              <a:tabLst>
                <a:tab pos="241935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Hàm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thể có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tham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số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hoặc</a:t>
            </a:r>
            <a:r>
              <a:rPr sz="2500" spc="-3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241300" indent="-229235">
              <a:lnSpc>
                <a:spcPct val="130000"/>
              </a:lnSpc>
              <a:buChar char="•"/>
              <a:tabLst>
                <a:tab pos="241935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Hàm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thể trả về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dữ liệu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hoặc</a:t>
            </a:r>
            <a:r>
              <a:rPr sz="2500" spc="-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không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241300" indent="-229235">
              <a:lnSpc>
                <a:spcPct val="130000"/>
              </a:lnSpc>
              <a:buChar char="•"/>
              <a:tabLst>
                <a:tab pos="241935" algn="l"/>
              </a:tabLst>
            </a:pP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Hàm phải được </a:t>
            </a:r>
            <a:r>
              <a:rPr sz="25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tạo trước khi </a:t>
            </a:r>
            <a:r>
              <a:rPr sz="25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gọi</a:t>
            </a:r>
            <a:endParaRPr sz="25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278370" y="2972919"/>
            <a:ext cx="140652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Cú</a:t>
            </a:r>
            <a:r>
              <a:rPr sz="2500" b="1" spc="-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5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pháp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70" y="3474214"/>
            <a:ext cx="4172164" cy="13589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284" y="2802834"/>
            <a:ext cx="6996519" cy="31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9227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HÀM TRONG PYTHON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56" y="840672"/>
            <a:ext cx="11860132" cy="537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033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HÀM TRONG PYTHON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585"/>
            <a:ext cx="11971876" cy="554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5756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MODUL TRONG PYTHON</a:t>
            </a:r>
          </a:p>
        </p:txBody>
      </p:sp>
      <p:sp>
        <p:nvSpPr>
          <p:cNvPr id="12" name="object 3"/>
          <p:cNvSpPr txBox="1"/>
          <p:nvPr/>
        </p:nvSpPr>
        <p:spPr>
          <a:xfrm>
            <a:off x="99466" y="649604"/>
            <a:ext cx="1173924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5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Module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tệp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tin python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đuôi là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“.py”,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đó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chứa một tập các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hàm. Module 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thể coi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như là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thư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viện, 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cần </a:t>
            </a:r>
            <a:r>
              <a:rPr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import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vào tệp </a:t>
            </a:r>
            <a:r>
              <a:rPr sz="24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muốn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12" y="1770424"/>
            <a:ext cx="11822776" cy="432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1649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60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660"/>
              </a:spcBef>
              <a:buClr>
                <a:srgbClr val="FF5A33"/>
              </a:buClr>
              <a:tabLst>
                <a:tab pos="355600" algn="l"/>
              </a:tabLst>
            </a:pPr>
            <a:r>
              <a:rPr lang="en-US" sz="3200" b="1" spc="-5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/>
              </a:rPr>
              <a:t>MODUL TRONG PYTHON</a:t>
            </a:r>
          </a:p>
        </p:txBody>
      </p:sp>
      <p:sp>
        <p:nvSpPr>
          <p:cNvPr id="12" name="object 3"/>
          <p:cNvSpPr txBox="1"/>
          <p:nvPr/>
        </p:nvSpPr>
        <p:spPr>
          <a:xfrm>
            <a:off x="168965" y="649604"/>
            <a:ext cx="1166974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50000"/>
              </a:lnSpc>
              <a:spcBef>
                <a:spcPts val="100"/>
              </a:spcBef>
              <a:tabLst>
                <a:tab pos="241935" algn="l"/>
              </a:tabLst>
            </a:pP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Module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tệp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tin python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đuôi là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“.py”,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trong đó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chứa một tập các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hàm. Module 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có thể coi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như là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một thư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viện, 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cần </a:t>
            </a:r>
            <a:r>
              <a:rPr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import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vào tệp </a:t>
            </a:r>
            <a:r>
              <a:rPr sz="24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muốn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sử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 err="1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dụng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8965" y="1777657"/>
            <a:ext cx="107541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B1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tệp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Python (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modul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def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cong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a,b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   return (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a+b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B2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Gọi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 err="1">
                <a:latin typeface="Cambria" panose="02040503050406030204" pitchFamily="18" charset="0"/>
                <a:ea typeface="Cambria" panose="02040503050406030204" pitchFamily="18" charset="0"/>
              </a:rPr>
              <a:t>modul</a:t>
            </a: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 Cong</a:t>
            </a:r>
          </a:p>
          <a:p>
            <a:pPr>
              <a:lnSpc>
                <a:spcPct val="120000"/>
              </a:lnSpc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%run 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cong.ipynb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a=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(input("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Nhap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a:"))</a:t>
            </a:r>
          </a:p>
          <a:p>
            <a:pPr>
              <a:lnSpc>
                <a:spcPct val="120000"/>
              </a:lnSpc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b=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(input("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Nhap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b:"))</a:t>
            </a:r>
          </a:p>
          <a:p>
            <a:pPr>
              <a:lnSpc>
                <a:spcPct val="120000"/>
              </a:lnSpc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print(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cong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a,b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61316942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10739"/>
            <a:ext cx="12192000" cy="44726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3 – String - Date &amp; time - Handling Error – Collections -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Hàm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-1"/>
            <a:ext cx="12192000" cy="6559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9513" y="3560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BÀI TẬP THỰC HÀNH</a:t>
            </a:r>
          </a:p>
        </p:txBody>
      </p:sp>
      <p:sp>
        <p:nvSpPr>
          <p:cNvPr id="11" name="object 9"/>
          <p:cNvSpPr>
            <a:spLocks noChangeArrowheads="1"/>
          </p:cNvSpPr>
          <p:nvPr/>
        </p:nvSpPr>
        <p:spPr bwMode="auto">
          <a:xfrm>
            <a:off x="1129748" y="930965"/>
            <a:ext cx="2368550" cy="49720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658139" y="2997125"/>
            <a:ext cx="54400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39763" indent="-246063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indent="-246063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87450" indent="-20955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2088" indent="-20955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9192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3764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8336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290888" indent="-2095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Xem</a:t>
            </a:r>
            <a:r>
              <a:rPr lang="en-US" altLang="en-US" sz="3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ở file word </a:t>
            </a:r>
            <a:r>
              <a:rPr lang="en-US" altLang="en-US" sz="30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bài</a:t>
            </a:r>
            <a:r>
              <a:rPr lang="en-US" altLang="en-US" sz="3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altLang="en-US" sz="30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tập</a:t>
            </a:r>
            <a:r>
              <a:rPr lang="en-US" altLang="en-US" sz="3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A475F0-D933-4B37-A9D6-DFD6D783A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157" y="691585"/>
            <a:ext cx="1974036" cy="197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2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9501</Words>
  <Application>Microsoft Office PowerPoint</Application>
  <PresentationFormat>Widescreen</PresentationFormat>
  <Paragraphs>1135</Paragraphs>
  <Slides>116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116</vt:i4>
      </vt:variant>
    </vt:vector>
  </HeadingPairs>
  <TitlesOfParts>
    <vt:vector size="129" baseType="lpstr">
      <vt:lpstr>Arial</vt:lpstr>
      <vt:lpstr>Calibri</vt:lpstr>
      <vt:lpstr>Calibri Light</vt:lpstr>
      <vt:lpstr>Cambria</vt:lpstr>
      <vt:lpstr>Carlito</vt:lpstr>
      <vt:lpstr>Consolas</vt:lpstr>
      <vt:lpstr>Courier New</vt:lpstr>
      <vt:lpstr>Symbol</vt:lpstr>
      <vt:lpstr>Times New Roman</vt:lpstr>
      <vt:lpstr>Wingdings</vt:lpstr>
      <vt:lpstr>Office Theme</vt:lpstr>
      <vt:lpstr>Bitmap Image</vt:lpstr>
      <vt:lpstr>Equation</vt:lpstr>
      <vt:lpstr>PowerPoint Presentation</vt:lpstr>
      <vt:lpstr>PowerPoint Presentation</vt:lpstr>
      <vt:lpstr>PowerPoint Presentation</vt:lpstr>
      <vt:lpstr>PowerPoint Presentation</vt:lpstr>
      <vt:lpstr>MỤC TIÊU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MỤC TIÊU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MỤC TIÊU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dung phuong</dc:creator>
  <cp:lastModifiedBy>Hue Tran Thi</cp:lastModifiedBy>
  <cp:revision>85</cp:revision>
  <dcterms:created xsi:type="dcterms:W3CDTF">2023-02-10T07:23:51Z</dcterms:created>
  <dcterms:modified xsi:type="dcterms:W3CDTF">2024-08-10T08:54:38Z</dcterms:modified>
</cp:coreProperties>
</file>