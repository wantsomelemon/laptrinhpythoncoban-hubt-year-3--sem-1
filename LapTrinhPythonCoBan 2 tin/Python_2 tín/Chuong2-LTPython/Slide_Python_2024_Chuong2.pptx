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257" r:id="rId2"/>
    <p:sldId id="264" r:id="rId3"/>
    <p:sldId id="394" r:id="rId4"/>
    <p:sldId id="395" r:id="rId5"/>
    <p:sldId id="398" r:id="rId6"/>
    <p:sldId id="399" r:id="rId7"/>
    <p:sldId id="427" r:id="rId8"/>
    <p:sldId id="400" r:id="rId9"/>
    <p:sldId id="401" r:id="rId10"/>
    <p:sldId id="402" r:id="rId11"/>
    <p:sldId id="434" r:id="rId12"/>
    <p:sldId id="410" r:id="rId13"/>
    <p:sldId id="403" r:id="rId14"/>
    <p:sldId id="429" r:id="rId15"/>
    <p:sldId id="430" r:id="rId16"/>
    <p:sldId id="404" r:id="rId17"/>
    <p:sldId id="407" r:id="rId18"/>
    <p:sldId id="436" r:id="rId19"/>
    <p:sldId id="408" r:id="rId20"/>
    <p:sldId id="405" r:id="rId21"/>
    <p:sldId id="406" r:id="rId22"/>
    <p:sldId id="409" r:id="rId23"/>
    <p:sldId id="411" r:id="rId24"/>
    <p:sldId id="416" r:id="rId25"/>
    <p:sldId id="417" r:id="rId26"/>
    <p:sldId id="418" r:id="rId27"/>
    <p:sldId id="437" r:id="rId28"/>
    <p:sldId id="412" r:id="rId29"/>
    <p:sldId id="413" r:id="rId30"/>
    <p:sldId id="414" r:id="rId31"/>
    <p:sldId id="432" r:id="rId32"/>
    <p:sldId id="433" r:id="rId33"/>
    <p:sldId id="419" r:id="rId34"/>
    <p:sldId id="420" r:id="rId35"/>
    <p:sldId id="421" r:id="rId36"/>
    <p:sldId id="422" r:id="rId37"/>
    <p:sldId id="442" r:id="rId38"/>
    <p:sldId id="443" r:id="rId39"/>
    <p:sldId id="439" r:id="rId40"/>
    <p:sldId id="440" r:id="rId41"/>
    <p:sldId id="444" r:id="rId42"/>
    <p:sldId id="445" r:id="rId43"/>
    <p:sldId id="397"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554DC"/>
    <a:srgbClr val="5241F1"/>
    <a:srgbClr val="E67F4C"/>
    <a:srgbClr val="8E69C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659" autoAdjust="0"/>
    <p:restoredTop sz="93883" autoAdjust="0"/>
  </p:normalViewPr>
  <p:slideViewPr>
    <p:cSldViewPr snapToGrid="0">
      <p:cViewPr varScale="1">
        <p:scale>
          <a:sx n="63" d="100"/>
          <a:sy n="63" d="100"/>
        </p:scale>
        <p:origin x="278" y="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CE26B9-A8D4-4904-ABD7-D6526D5DA4EF}" type="datetimeFigureOut">
              <a:rPr lang="en-US" smtClean="0"/>
              <a:t>08/08/24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97D3EE-C3E8-45C0-931F-56F9DA477572}" type="slidenum">
              <a:rPr lang="en-US" smtClean="0"/>
              <a:t>‹#›</a:t>
            </a:fld>
            <a:endParaRPr lang="en-US"/>
          </a:p>
        </p:txBody>
      </p:sp>
    </p:spTree>
    <p:extLst>
      <p:ext uri="{BB962C8B-B14F-4D97-AF65-F5344CB8AC3E}">
        <p14:creationId xmlns:p14="http://schemas.microsoft.com/office/powerpoint/2010/main" val="28996884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200" b="1">
                <a:latin typeface="Cambria" panose="02040503050406030204" pitchFamily="18" charset="0"/>
                <a:ea typeface="Cambria" panose="02040503050406030204" pitchFamily="18" charset="0"/>
                <a:cs typeface="Tahoma" panose="020B0604030504040204" pitchFamily="34" charset="0"/>
              </a:rPr>
              <a:t>Self </a:t>
            </a:r>
            <a:r>
              <a:rPr lang="vi-VN" sz="1200">
                <a:latin typeface="Cambria" panose="02040503050406030204" pitchFamily="18" charset="0"/>
                <a:ea typeface="Cambria" panose="02040503050406030204" pitchFamily="18" charset="0"/>
                <a:cs typeface="Tahoma" panose="020B0604030504040204" pitchFamily="34" charset="0"/>
              </a:rPr>
              <a:t>chính là biến trỏ đến chính đối tượng đó, nếu trong C, C++, C# hay PHP thì nó được gọi là </a:t>
            </a:r>
            <a:r>
              <a:rPr lang="vi-VN" sz="1200" b="1">
                <a:latin typeface="Cambria" panose="02040503050406030204" pitchFamily="18" charset="0"/>
                <a:ea typeface="Cambria" panose="02040503050406030204" pitchFamily="18" charset="0"/>
                <a:cs typeface="Tahoma" panose="020B0604030504040204" pitchFamily="34" charset="0"/>
              </a:rPr>
              <a:t>this</a:t>
            </a:r>
            <a:endParaRPr lang="en-US" sz="1200">
              <a:latin typeface="Cambria" panose="02040503050406030204" pitchFamily="18" charset="0"/>
              <a:ea typeface="Cambria" panose="02040503050406030204" pitchFamily="18" charset="0"/>
              <a:cs typeface="Tahoma" panose="020B0604030504040204" pitchFamily="34" charset="0"/>
            </a:endParaRPr>
          </a:p>
          <a:p>
            <a:endParaRPr lang="en-US"/>
          </a:p>
        </p:txBody>
      </p:sp>
      <p:sp>
        <p:nvSpPr>
          <p:cNvPr id="4" name="Slide Number Placeholder 3"/>
          <p:cNvSpPr>
            <a:spLocks noGrp="1"/>
          </p:cNvSpPr>
          <p:nvPr>
            <p:ph type="sldNum" sz="quarter" idx="10"/>
          </p:nvPr>
        </p:nvSpPr>
        <p:spPr/>
        <p:txBody>
          <a:bodyPr/>
          <a:lstStyle/>
          <a:p>
            <a:fld id="{2197D3EE-C3E8-45C0-931F-56F9DA477572}" type="slidenum">
              <a:rPr lang="en-US" smtClean="0"/>
              <a:t>10</a:t>
            </a:fld>
            <a:endParaRPr lang="en-US"/>
          </a:p>
        </p:txBody>
      </p:sp>
    </p:spTree>
    <p:extLst>
      <p:ext uri="{BB962C8B-B14F-4D97-AF65-F5344CB8AC3E}">
        <p14:creationId xmlns:p14="http://schemas.microsoft.com/office/powerpoint/2010/main" val="18756340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200" b="1">
                <a:latin typeface="Cambria" panose="02040503050406030204" pitchFamily="18" charset="0"/>
                <a:ea typeface="Cambria" panose="02040503050406030204" pitchFamily="18" charset="0"/>
                <a:cs typeface="Tahoma" panose="020B0604030504040204" pitchFamily="34" charset="0"/>
              </a:rPr>
              <a:t>Self </a:t>
            </a:r>
            <a:r>
              <a:rPr lang="vi-VN" sz="1200">
                <a:latin typeface="Cambria" panose="02040503050406030204" pitchFamily="18" charset="0"/>
                <a:ea typeface="Cambria" panose="02040503050406030204" pitchFamily="18" charset="0"/>
                <a:cs typeface="Tahoma" panose="020B0604030504040204" pitchFamily="34" charset="0"/>
              </a:rPr>
              <a:t>chính là biến trỏ đến chính đối tượng đó, nếu trong C, C++, C# hay PHP thì nó được gọi là </a:t>
            </a:r>
            <a:r>
              <a:rPr lang="vi-VN" sz="1200" b="1">
                <a:latin typeface="Cambria" panose="02040503050406030204" pitchFamily="18" charset="0"/>
                <a:ea typeface="Cambria" panose="02040503050406030204" pitchFamily="18" charset="0"/>
                <a:cs typeface="Tahoma" panose="020B0604030504040204" pitchFamily="34" charset="0"/>
              </a:rPr>
              <a:t>this</a:t>
            </a:r>
            <a:endParaRPr lang="en-US" sz="1200">
              <a:latin typeface="Cambria" panose="02040503050406030204" pitchFamily="18" charset="0"/>
              <a:ea typeface="Cambria" panose="02040503050406030204" pitchFamily="18" charset="0"/>
              <a:cs typeface="Tahoma" panose="020B0604030504040204" pitchFamily="34" charset="0"/>
            </a:endParaRPr>
          </a:p>
          <a:p>
            <a:endParaRPr lang="en-US"/>
          </a:p>
        </p:txBody>
      </p:sp>
      <p:sp>
        <p:nvSpPr>
          <p:cNvPr id="4" name="Slide Number Placeholder 3"/>
          <p:cNvSpPr>
            <a:spLocks noGrp="1"/>
          </p:cNvSpPr>
          <p:nvPr>
            <p:ph type="sldNum" sz="quarter" idx="10"/>
          </p:nvPr>
        </p:nvSpPr>
        <p:spPr/>
        <p:txBody>
          <a:bodyPr/>
          <a:lstStyle/>
          <a:p>
            <a:fld id="{2197D3EE-C3E8-45C0-931F-56F9DA477572}" type="slidenum">
              <a:rPr lang="en-US" smtClean="0"/>
              <a:t>11</a:t>
            </a:fld>
            <a:endParaRPr lang="en-US"/>
          </a:p>
        </p:txBody>
      </p:sp>
    </p:spTree>
    <p:extLst>
      <p:ext uri="{BB962C8B-B14F-4D97-AF65-F5344CB8AC3E}">
        <p14:creationId xmlns:p14="http://schemas.microsoft.com/office/powerpoint/2010/main" val="41938826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200" b="1">
                <a:latin typeface="Cambria" panose="02040503050406030204" pitchFamily="18" charset="0"/>
                <a:ea typeface="Cambria" panose="02040503050406030204" pitchFamily="18" charset="0"/>
                <a:cs typeface="Tahoma" panose="020B0604030504040204" pitchFamily="34" charset="0"/>
              </a:rPr>
              <a:t>Self </a:t>
            </a:r>
            <a:r>
              <a:rPr lang="vi-VN" sz="1200">
                <a:latin typeface="Cambria" panose="02040503050406030204" pitchFamily="18" charset="0"/>
                <a:ea typeface="Cambria" panose="02040503050406030204" pitchFamily="18" charset="0"/>
                <a:cs typeface="Tahoma" panose="020B0604030504040204" pitchFamily="34" charset="0"/>
              </a:rPr>
              <a:t>chính là biến trỏ đến chính đối tượng đó, nếu trong C, C++, C# hay PHP thì nó được gọi là </a:t>
            </a:r>
            <a:r>
              <a:rPr lang="vi-VN" sz="1200" b="1">
                <a:latin typeface="Cambria" panose="02040503050406030204" pitchFamily="18" charset="0"/>
                <a:ea typeface="Cambria" panose="02040503050406030204" pitchFamily="18" charset="0"/>
                <a:cs typeface="Tahoma" panose="020B0604030504040204" pitchFamily="34" charset="0"/>
              </a:rPr>
              <a:t>this</a:t>
            </a:r>
            <a:endParaRPr lang="en-US" sz="1200">
              <a:latin typeface="Cambria" panose="02040503050406030204" pitchFamily="18" charset="0"/>
              <a:ea typeface="Cambria" panose="02040503050406030204" pitchFamily="18" charset="0"/>
              <a:cs typeface="Tahoma" panose="020B0604030504040204" pitchFamily="34" charset="0"/>
            </a:endParaRPr>
          </a:p>
          <a:p>
            <a:endParaRPr lang="en-US"/>
          </a:p>
        </p:txBody>
      </p:sp>
      <p:sp>
        <p:nvSpPr>
          <p:cNvPr id="4" name="Slide Number Placeholder 3"/>
          <p:cNvSpPr>
            <a:spLocks noGrp="1"/>
          </p:cNvSpPr>
          <p:nvPr>
            <p:ph type="sldNum" sz="quarter" idx="10"/>
          </p:nvPr>
        </p:nvSpPr>
        <p:spPr/>
        <p:txBody>
          <a:bodyPr/>
          <a:lstStyle/>
          <a:p>
            <a:fld id="{2197D3EE-C3E8-45C0-931F-56F9DA477572}" type="slidenum">
              <a:rPr lang="en-US" smtClean="0"/>
              <a:t>12</a:t>
            </a:fld>
            <a:endParaRPr lang="en-US"/>
          </a:p>
        </p:txBody>
      </p:sp>
    </p:spTree>
    <p:extLst>
      <p:ext uri="{BB962C8B-B14F-4D97-AF65-F5344CB8AC3E}">
        <p14:creationId xmlns:p14="http://schemas.microsoft.com/office/powerpoint/2010/main" val="37520336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AA06C466-7F14-41BA-9DF4-83118A4FB4CA}" type="datetimeFigureOut">
              <a:rPr lang="en-US" smtClean="0"/>
              <a:t>08/08/24</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228F1007-5EDD-44B1-AA2F-448725C9F2E2}" type="slidenum">
              <a:rPr lang="en-US" smtClean="0"/>
              <a:t>‹#›</a:t>
            </a:fld>
            <a:endParaRPr lang="en-US"/>
          </a:p>
        </p:txBody>
      </p:sp>
    </p:spTree>
    <p:extLst>
      <p:ext uri="{BB962C8B-B14F-4D97-AF65-F5344CB8AC3E}">
        <p14:creationId xmlns:p14="http://schemas.microsoft.com/office/powerpoint/2010/main" val="15270423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AA06C466-7F14-41BA-9DF4-83118A4FB4CA}" type="datetimeFigureOut">
              <a:rPr lang="en-US" smtClean="0"/>
              <a:t>08/08/24</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228F1007-5EDD-44B1-AA2F-448725C9F2E2}" type="slidenum">
              <a:rPr lang="en-US" smtClean="0"/>
              <a:t>‹#›</a:t>
            </a:fld>
            <a:endParaRPr lang="en-US"/>
          </a:p>
        </p:txBody>
      </p:sp>
    </p:spTree>
    <p:extLst>
      <p:ext uri="{BB962C8B-B14F-4D97-AF65-F5344CB8AC3E}">
        <p14:creationId xmlns:p14="http://schemas.microsoft.com/office/powerpoint/2010/main" val="29356800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AA06C466-7F14-41BA-9DF4-83118A4FB4CA}" type="datetimeFigureOut">
              <a:rPr lang="en-US" smtClean="0"/>
              <a:t>08/08/24</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228F1007-5EDD-44B1-AA2F-448725C9F2E2}" type="slidenum">
              <a:rPr lang="en-US" smtClean="0"/>
              <a:t>‹#›</a:t>
            </a:fld>
            <a:endParaRPr lang="en-US"/>
          </a:p>
        </p:txBody>
      </p:sp>
    </p:spTree>
    <p:extLst>
      <p:ext uri="{BB962C8B-B14F-4D97-AF65-F5344CB8AC3E}">
        <p14:creationId xmlns:p14="http://schemas.microsoft.com/office/powerpoint/2010/main" val="39563525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AA06C466-7F14-41BA-9DF4-83118A4FB4CA}" type="datetimeFigureOut">
              <a:rPr lang="en-US" smtClean="0"/>
              <a:t>08/08/24</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228F1007-5EDD-44B1-AA2F-448725C9F2E2}" type="slidenum">
              <a:rPr lang="en-US" smtClean="0"/>
              <a:t>‹#›</a:t>
            </a:fld>
            <a:endParaRPr lang="en-US"/>
          </a:p>
        </p:txBody>
      </p:sp>
    </p:spTree>
    <p:extLst>
      <p:ext uri="{BB962C8B-B14F-4D97-AF65-F5344CB8AC3E}">
        <p14:creationId xmlns:p14="http://schemas.microsoft.com/office/powerpoint/2010/main" val="20476338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AA06C466-7F14-41BA-9DF4-83118A4FB4CA}" type="datetimeFigureOut">
              <a:rPr lang="en-US" smtClean="0"/>
              <a:t>08/08/24</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228F1007-5EDD-44B1-AA2F-448725C9F2E2}" type="slidenum">
              <a:rPr lang="en-US" smtClean="0"/>
              <a:t>‹#›</a:t>
            </a:fld>
            <a:endParaRPr lang="en-US"/>
          </a:p>
        </p:txBody>
      </p:sp>
    </p:spTree>
    <p:extLst>
      <p:ext uri="{BB962C8B-B14F-4D97-AF65-F5344CB8AC3E}">
        <p14:creationId xmlns:p14="http://schemas.microsoft.com/office/powerpoint/2010/main" val="2568783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AA06C466-7F14-41BA-9DF4-83118A4FB4CA}" type="datetimeFigureOut">
              <a:rPr lang="en-US" smtClean="0"/>
              <a:t>08/08/24</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228F1007-5EDD-44B1-AA2F-448725C9F2E2}" type="slidenum">
              <a:rPr lang="en-US" smtClean="0"/>
              <a:t>‹#›</a:t>
            </a:fld>
            <a:endParaRPr lang="en-US"/>
          </a:p>
        </p:txBody>
      </p:sp>
    </p:spTree>
    <p:extLst>
      <p:ext uri="{BB962C8B-B14F-4D97-AF65-F5344CB8AC3E}">
        <p14:creationId xmlns:p14="http://schemas.microsoft.com/office/powerpoint/2010/main" val="3501930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AA06C466-7F14-41BA-9DF4-83118A4FB4CA}" type="datetimeFigureOut">
              <a:rPr lang="en-US" smtClean="0"/>
              <a:t>08/08/24</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228F1007-5EDD-44B1-AA2F-448725C9F2E2}" type="slidenum">
              <a:rPr lang="en-US" smtClean="0"/>
              <a:t>‹#›</a:t>
            </a:fld>
            <a:endParaRPr lang="en-US"/>
          </a:p>
        </p:txBody>
      </p:sp>
    </p:spTree>
    <p:extLst>
      <p:ext uri="{BB962C8B-B14F-4D97-AF65-F5344CB8AC3E}">
        <p14:creationId xmlns:p14="http://schemas.microsoft.com/office/powerpoint/2010/main" val="683223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AA06C466-7F14-41BA-9DF4-83118A4FB4CA}" type="datetimeFigureOut">
              <a:rPr lang="en-US" smtClean="0"/>
              <a:t>08/08/24</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228F1007-5EDD-44B1-AA2F-448725C9F2E2}" type="slidenum">
              <a:rPr lang="en-US" smtClean="0"/>
              <a:t>‹#›</a:t>
            </a:fld>
            <a:endParaRPr lang="en-US"/>
          </a:p>
        </p:txBody>
      </p:sp>
    </p:spTree>
    <p:extLst>
      <p:ext uri="{BB962C8B-B14F-4D97-AF65-F5344CB8AC3E}">
        <p14:creationId xmlns:p14="http://schemas.microsoft.com/office/powerpoint/2010/main" val="1788120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AA06C466-7F14-41BA-9DF4-83118A4FB4CA}" type="datetimeFigureOut">
              <a:rPr lang="en-US" smtClean="0"/>
              <a:t>08/08/24</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228F1007-5EDD-44B1-AA2F-448725C9F2E2}" type="slidenum">
              <a:rPr lang="en-US" smtClean="0"/>
              <a:t>‹#›</a:t>
            </a:fld>
            <a:endParaRPr lang="en-US"/>
          </a:p>
        </p:txBody>
      </p:sp>
    </p:spTree>
    <p:extLst>
      <p:ext uri="{BB962C8B-B14F-4D97-AF65-F5344CB8AC3E}">
        <p14:creationId xmlns:p14="http://schemas.microsoft.com/office/powerpoint/2010/main" val="12449739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AA06C466-7F14-41BA-9DF4-83118A4FB4CA}" type="datetimeFigureOut">
              <a:rPr lang="en-US" smtClean="0"/>
              <a:t>08/08/24</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228F1007-5EDD-44B1-AA2F-448725C9F2E2}" type="slidenum">
              <a:rPr lang="en-US" smtClean="0"/>
              <a:t>‹#›</a:t>
            </a:fld>
            <a:endParaRPr lang="en-US"/>
          </a:p>
        </p:txBody>
      </p:sp>
    </p:spTree>
    <p:extLst>
      <p:ext uri="{BB962C8B-B14F-4D97-AF65-F5344CB8AC3E}">
        <p14:creationId xmlns:p14="http://schemas.microsoft.com/office/powerpoint/2010/main" val="11589914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AA06C466-7F14-41BA-9DF4-83118A4FB4CA}" type="datetimeFigureOut">
              <a:rPr lang="en-US" smtClean="0"/>
              <a:t>08/08/24</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228F1007-5EDD-44B1-AA2F-448725C9F2E2}" type="slidenum">
              <a:rPr lang="en-US" smtClean="0"/>
              <a:t>‹#›</a:t>
            </a:fld>
            <a:endParaRPr lang="en-US"/>
          </a:p>
        </p:txBody>
      </p:sp>
    </p:spTree>
    <p:extLst>
      <p:ext uri="{BB962C8B-B14F-4D97-AF65-F5344CB8AC3E}">
        <p14:creationId xmlns:p14="http://schemas.microsoft.com/office/powerpoint/2010/main" val="29521100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1"/>
            <a:ext cx="12192000" cy="462116"/>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0" y="462116"/>
            <a:ext cx="12192000" cy="639588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CFC885-1840-43F6-AE5B-EADCF259E2C1}" type="slidenum">
              <a:rPr lang="en-US" smtClean="0"/>
              <a:t>‹#›</a:t>
            </a:fld>
            <a:endParaRPr lang="en-US"/>
          </a:p>
        </p:txBody>
      </p:sp>
    </p:spTree>
    <p:extLst>
      <p:ext uri="{BB962C8B-B14F-4D97-AF65-F5344CB8AC3E}">
        <p14:creationId xmlns:p14="http://schemas.microsoft.com/office/powerpoint/2010/main" val="5475678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gochocit.com/ngon-ngu-lap-trinh/xay-dung-lop-class-va-tao-doi-tuong-object-trong-python#2-1-tham-so-self-cua-class-trong-python"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a:solidFill>
                  <a:schemeClr val="bg1"/>
                </a:solidFill>
                <a:latin typeface="Cambria" panose="02040503050406030204" pitchFamily="18" charset="0"/>
                <a:ea typeface="Cambria" panose="02040503050406030204" pitchFamily="18" charset="0"/>
              </a:rPr>
              <a:t>HỌC PHẦN LẬP TRÌNH PYTHON</a:t>
            </a:r>
          </a:p>
        </p:txBody>
      </p:sp>
      <p:pic>
        <p:nvPicPr>
          <p:cNvPr id="10" name="Picture 9">
            <a:extLst>
              <a:ext uri="{FF2B5EF4-FFF2-40B4-BE49-F238E27FC236}">
                <a16:creationId xmlns:a16="http://schemas.microsoft.com/office/drawing/2014/main" id="{87A475F0-D933-4B37-A9D6-DFD6D783A8A7}"/>
              </a:ext>
            </a:extLst>
          </p:cNvPr>
          <p:cNvPicPr>
            <a:picLocks noChangeAspect="1"/>
          </p:cNvPicPr>
          <p:nvPr/>
        </p:nvPicPr>
        <p:blipFill>
          <a:blip r:embed="rId2"/>
          <a:stretch>
            <a:fillRect/>
          </a:stretch>
        </p:blipFill>
        <p:spPr>
          <a:xfrm>
            <a:off x="10128243" y="755084"/>
            <a:ext cx="1974036" cy="1974036"/>
          </a:xfrm>
          <a:prstGeom prst="rect">
            <a:avLst/>
          </a:prstGeom>
        </p:spPr>
      </p:pic>
      <p:sp>
        <p:nvSpPr>
          <p:cNvPr id="11" name="TextBox 10">
            <a:extLst>
              <a:ext uri="{FF2B5EF4-FFF2-40B4-BE49-F238E27FC236}">
                <a16:creationId xmlns:a16="http://schemas.microsoft.com/office/drawing/2014/main" id="{5ADF5B30-AA8A-4C50-AD8E-9E9561A31B47}"/>
              </a:ext>
            </a:extLst>
          </p:cNvPr>
          <p:cNvSpPr txBox="1"/>
          <p:nvPr/>
        </p:nvSpPr>
        <p:spPr>
          <a:xfrm>
            <a:off x="2286001" y="832345"/>
            <a:ext cx="7937782" cy="630942"/>
          </a:xfrm>
          <a:prstGeom prst="rect">
            <a:avLst/>
          </a:prstGeom>
          <a:noFill/>
        </p:spPr>
        <p:txBody>
          <a:bodyPr wrap="square">
            <a:spAutoFit/>
          </a:bodyPr>
          <a:lstStyle/>
          <a:p>
            <a:pPr algn="ctr"/>
            <a:r>
              <a:rPr lang="en-US" sz="3500" b="1">
                <a:solidFill>
                  <a:srgbClr val="C00000"/>
                </a:solidFill>
                <a:latin typeface="Cambria" panose="02040503050406030204" pitchFamily="18" charset="0"/>
                <a:ea typeface="Cambria" panose="02040503050406030204" pitchFamily="18" charset="0"/>
              </a:rPr>
              <a:t>NỘI DUNG</a:t>
            </a:r>
            <a:endParaRPr lang="vi-VN" sz="3500" b="1">
              <a:solidFill>
                <a:srgbClr val="C00000"/>
              </a:solidFill>
              <a:latin typeface="Cambria" panose="02040503050406030204" pitchFamily="18" charset="0"/>
              <a:ea typeface="Cambria" panose="02040503050406030204" pitchFamily="18" charset="0"/>
            </a:endParaRPr>
          </a:p>
        </p:txBody>
      </p:sp>
      <p:sp>
        <p:nvSpPr>
          <p:cNvPr id="12" name="TextBox 11">
            <a:extLst>
              <a:ext uri="{FF2B5EF4-FFF2-40B4-BE49-F238E27FC236}">
                <a16:creationId xmlns:a16="http://schemas.microsoft.com/office/drawing/2014/main" id="{A3027B0F-90DE-48F9-94C6-2C2FECA2A908}"/>
              </a:ext>
            </a:extLst>
          </p:cNvPr>
          <p:cNvSpPr txBox="1"/>
          <p:nvPr/>
        </p:nvSpPr>
        <p:spPr>
          <a:xfrm>
            <a:off x="2395330" y="1619182"/>
            <a:ext cx="8806070" cy="2631490"/>
          </a:xfrm>
          <a:prstGeom prst="rect">
            <a:avLst/>
          </a:prstGeom>
          <a:noFill/>
        </p:spPr>
        <p:txBody>
          <a:bodyPr wrap="square">
            <a:spAutoFit/>
          </a:bodyPr>
          <a:lstStyle/>
          <a:p>
            <a:pPr>
              <a:spcBef>
                <a:spcPts val="600"/>
              </a:spcBef>
              <a:spcAft>
                <a:spcPts val="1200"/>
              </a:spcAft>
            </a:pPr>
            <a:r>
              <a:rPr lang="vi-VN" sz="3000" b="1" dirty="0">
                <a:solidFill>
                  <a:srgbClr val="C00000"/>
                </a:solidFill>
                <a:latin typeface="Cambria" panose="02040503050406030204" pitchFamily="18" charset="0"/>
                <a:ea typeface="Cambria" panose="02040503050406030204" pitchFamily="18" charset="0"/>
                <a:cs typeface="Aharoni" panose="02010803020104030203" pitchFamily="2" charset="-79"/>
              </a:rPr>
              <a:t>Chương </a:t>
            </a:r>
            <a:r>
              <a:rPr lang="en-US" sz="3000" b="1" dirty="0">
                <a:solidFill>
                  <a:srgbClr val="C00000"/>
                </a:solidFill>
                <a:latin typeface="Cambria" panose="02040503050406030204" pitchFamily="18" charset="0"/>
                <a:ea typeface="Cambria" panose="02040503050406030204" pitchFamily="18" charset="0"/>
                <a:cs typeface="Aharoni" panose="02010803020104030203" pitchFamily="2" charset="-79"/>
              </a:rPr>
              <a:t>1. </a:t>
            </a:r>
            <a:r>
              <a:rPr lang="en-US" sz="3000" b="1" dirty="0" err="1">
                <a:solidFill>
                  <a:srgbClr val="C00000"/>
                </a:solidFill>
                <a:latin typeface="Cambria" panose="02040503050406030204" pitchFamily="18" charset="0"/>
                <a:ea typeface="Cambria" panose="02040503050406030204" pitchFamily="18" charset="0"/>
                <a:cs typeface="Aharoni" panose="02010803020104030203" pitchFamily="2" charset="-79"/>
              </a:rPr>
              <a:t>Lập</a:t>
            </a:r>
            <a:r>
              <a:rPr lang="en-US" sz="3000" b="1" dirty="0">
                <a:solidFill>
                  <a:srgbClr val="C00000"/>
                </a:solidFill>
                <a:latin typeface="Cambria" panose="02040503050406030204" pitchFamily="18" charset="0"/>
                <a:ea typeface="Cambria" panose="02040503050406030204" pitchFamily="18" charset="0"/>
                <a:cs typeface="Aharoni" panose="02010803020104030203" pitchFamily="2" charset="-79"/>
              </a:rPr>
              <a:t> </a:t>
            </a:r>
            <a:r>
              <a:rPr lang="en-US" sz="3000" b="1" dirty="0" err="1">
                <a:solidFill>
                  <a:srgbClr val="C00000"/>
                </a:solidFill>
                <a:latin typeface="Cambria" panose="02040503050406030204" pitchFamily="18" charset="0"/>
                <a:ea typeface="Cambria" panose="02040503050406030204" pitchFamily="18" charset="0"/>
                <a:cs typeface="Aharoni" panose="02010803020104030203" pitchFamily="2" charset="-79"/>
              </a:rPr>
              <a:t>trình</a:t>
            </a:r>
            <a:r>
              <a:rPr lang="en-US" sz="3000" b="1" dirty="0">
                <a:solidFill>
                  <a:srgbClr val="C00000"/>
                </a:solidFill>
                <a:latin typeface="Cambria" panose="02040503050406030204" pitchFamily="18" charset="0"/>
                <a:ea typeface="Cambria" panose="02040503050406030204" pitchFamily="18" charset="0"/>
                <a:cs typeface="Aharoni" panose="02010803020104030203" pitchFamily="2" charset="-79"/>
              </a:rPr>
              <a:t> </a:t>
            </a:r>
            <a:r>
              <a:rPr lang="en-US" sz="3000" b="1" dirty="0" err="1">
                <a:solidFill>
                  <a:srgbClr val="C00000"/>
                </a:solidFill>
                <a:latin typeface="Cambria" panose="02040503050406030204" pitchFamily="18" charset="0"/>
                <a:ea typeface="Cambria" panose="02040503050406030204" pitchFamily="18" charset="0"/>
                <a:cs typeface="Aharoni" panose="02010803020104030203" pitchFamily="2" charset="-79"/>
              </a:rPr>
              <a:t>cơ</a:t>
            </a:r>
            <a:r>
              <a:rPr lang="en-US" sz="3000" b="1" dirty="0">
                <a:solidFill>
                  <a:srgbClr val="C00000"/>
                </a:solidFill>
                <a:latin typeface="Cambria" panose="02040503050406030204" pitchFamily="18" charset="0"/>
                <a:ea typeface="Cambria" panose="02040503050406030204" pitchFamily="18" charset="0"/>
                <a:cs typeface="Aharoni" panose="02010803020104030203" pitchFamily="2" charset="-79"/>
              </a:rPr>
              <a:t> </a:t>
            </a:r>
            <a:r>
              <a:rPr lang="en-US" sz="3000" b="1" dirty="0" err="1">
                <a:solidFill>
                  <a:srgbClr val="C00000"/>
                </a:solidFill>
                <a:latin typeface="Cambria" panose="02040503050406030204" pitchFamily="18" charset="0"/>
                <a:ea typeface="Cambria" panose="02040503050406030204" pitchFamily="18" charset="0"/>
                <a:cs typeface="Aharoni" panose="02010803020104030203" pitchFamily="2" charset="-79"/>
              </a:rPr>
              <a:t>bản</a:t>
            </a:r>
            <a:r>
              <a:rPr lang="en-US" sz="3000" b="1" dirty="0">
                <a:solidFill>
                  <a:srgbClr val="C00000"/>
                </a:solidFill>
                <a:latin typeface="Cambria" panose="02040503050406030204" pitchFamily="18" charset="0"/>
                <a:ea typeface="Cambria" panose="02040503050406030204" pitchFamily="18" charset="0"/>
                <a:cs typeface="Aharoni" panose="02010803020104030203" pitchFamily="2" charset="-79"/>
              </a:rPr>
              <a:t> </a:t>
            </a:r>
            <a:r>
              <a:rPr lang="en-US" sz="3000" b="1" dirty="0" err="1">
                <a:solidFill>
                  <a:srgbClr val="C00000"/>
                </a:solidFill>
                <a:latin typeface="Cambria" panose="02040503050406030204" pitchFamily="18" charset="0"/>
                <a:ea typeface="Cambria" panose="02040503050406030204" pitchFamily="18" charset="0"/>
                <a:cs typeface="Aharoni" panose="02010803020104030203" pitchFamily="2" charset="-79"/>
              </a:rPr>
              <a:t>với</a:t>
            </a:r>
            <a:r>
              <a:rPr lang="en-US" sz="3000" b="1" dirty="0">
                <a:solidFill>
                  <a:srgbClr val="C00000"/>
                </a:solidFill>
                <a:latin typeface="Cambria" panose="02040503050406030204" pitchFamily="18" charset="0"/>
                <a:ea typeface="Cambria" panose="02040503050406030204" pitchFamily="18" charset="0"/>
                <a:cs typeface="Aharoni" panose="02010803020104030203" pitchFamily="2" charset="-79"/>
              </a:rPr>
              <a:t> python</a:t>
            </a:r>
          </a:p>
          <a:p>
            <a:pPr>
              <a:spcBef>
                <a:spcPts val="600"/>
              </a:spcBef>
              <a:spcAft>
                <a:spcPts val="1200"/>
              </a:spcAft>
            </a:pPr>
            <a:r>
              <a:rPr lang="vi-VN" sz="3000" b="1" dirty="0">
                <a:solidFill>
                  <a:srgbClr val="C00000"/>
                </a:solidFill>
                <a:latin typeface="Cambria" panose="02040503050406030204" pitchFamily="18" charset="0"/>
                <a:ea typeface="Cambria" panose="02040503050406030204" pitchFamily="18" charset="0"/>
                <a:cs typeface="Aharoni" panose="02010803020104030203" pitchFamily="2" charset="-79"/>
              </a:rPr>
              <a:t>Chương 2. Lập trình OOP với Python</a:t>
            </a:r>
            <a:endParaRPr lang="en-US" sz="3000" b="1" dirty="0">
              <a:solidFill>
                <a:srgbClr val="C00000"/>
              </a:solidFill>
              <a:latin typeface="Cambria" panose="02040503050406030204" pitchFamily="18" charset="0"/>
              <a:ea typeface="Cambria" panose="02040503050406030204" pitchFamily="18" charset="0"/>
              <a:cs typeface="Aharoni" panose="02010803020104030203" pitchFamily="2" charset="-79"/>
            </a:endParaRPr>
          </a:p>
          <a:p>
            <a:pPr>
              <a:spcBef>
                <a:spcPts val="600"/>
              </a:spcBef>
              <a:spcAft>
                <a:spcPts val="1200"/>
              </a:spcAft>
            </a:pPr>
            <a:r>
              <a:rPr lang="vi-VN" sz="3000" b="1" dirty="0">
                <a:solidFill>
                  <a:srgbClr val="C00000"/>
                </a:solidFill>
                <a:latin typeface="Cambria" panose="02040503050406030204" pitchFamily="18" charset="0"/>
                <a:ea typeface="Cambria" panose="02040503050406030204" pitchFamily="18" charset="0"/>
                <a:cs typeface="Aharoni" panose="02010803020104030203" pitchFamily="2" charset="-79"/>
              </a:rPr>
              <a:t>Chương 3. Một số lĩnh vực ứng dụng của Python</a:t>
            </a:r>
            <a:endParaRPr lang="en-US" sz="3000" b="1" dirty="0">
              <a:solidFill>
                <a:srgbClr val="C00000"/>
              </a:solidFill>
              <a:latin typeface="Cambria" panose="02040503050406030204" pitchFamily="18" charset="0"/>
              <a:ea typeface="Cambria" panose="02040503050406030204" pitchFamily="18" charset="0"/>
              <a:cs typeface="Aharoni" panose="02010803020104030203" pitchFamily="2" charset="-79"/>
            </a:endParaRPr>
          </a:p>
          <a:p>
            <a:pPr>
              <a:spcBef>
                <a:spcPts val="600"/>
              </a:spcBef>
              <a:spcAft>
                <a:spcPts val="1200"/>
              </a:spcAft>
            </a:pPr>
            <a:r>
              <a:rPr lang="vi-VN" sz="3000" b="1" dirty="0">
                <a:solidFill>
                  <a:srgbClr val="C00000"/>
                </a:solidFill>
                <a:latin typeface="Cambria" panose="02040503050406030204" pitchFamily="18" charset="0"/>
                <a:ea typeface="Cambria" panose="02040503050406030204" pitchFamily="18" charset="0"/>
                <a:cs typeface="Aharoni" panose="02010803020104030203" pitchFamily="2" charset="-79"/>
              </a:rPr>
              <a:t>Chương 4. Xây dựng ứng dụng </a:t>
            </a:r>
          </a:p>
        </p:txBody>
      </p:sp>
      <p:cxnSp>
        <p:nvCxnSpPr>
          <p:cNvPr id="13" name="Straight Connector 12">
            <a:extLst>
              <a:ext uri="{FF2B5EF4-FFF2-40B4-BE49-F238E27FC236}">
                <a16:creationId xmlns:a16="http://schemas.microsoft.com/office/drawing/2014/main" id="{5CD76142-C743-4DDD-90B9-B7FB62FE3EC2}"/>
              </a:ext>
            </a:extLst>
          </p:cNvPr>
          <p:cNvCxnSpPr/>
          <p:nvPr/>
        </p:nvCxnSpPr>
        <p:spPr>
          <a:xfrm flipV="1">
            <a:off x="2206621" y="1486998"/>
            <a:ext cx="7937783" cy="8386"/>
          </a:xfrm>
          <a:prstGeom prst="line">
            <a:avLst/>
          </a:prstGeom>
        </p:spPr>
        <p:style>
          <a:lnRef idx="2">
            <a:schemeClr val="accent2"/>
          </a:lnRef>
          <a:fillRef idx="0">
            <a:schemeClr val="accent2"/>
          </a:fillRef>
          <a:effectRef idx="1">
            <a:schemeClr val="accent2"/>
          </a:effectRef>
          <a:fontRef idx="minor">
            <a:schemeClr val="tx1"/>
          </a:fontRef>
        </p:style>
      </p:cxnSp>
      <p:sp>
        <p:nvSpPr>
          <p:cNvPr id="14" name="TextBox 13">
            <a:extLst>
              <a:ext uri="{FF2B5EF4-FFF2-40B4-BE49-F238E27FC236}">
                <a16:creationId xmlns:a16="http://schemas.microsoft.com/office/drawing/2014/main" id="{1C10572C-E287-4537-BEFF-D0B5C09E3256}"/>
              </a:ext>
            </a:extLst>
          </p:cNvPr>
          <p:cNvSpPr txBox="1"/>
          <p:nvPr/>
        </p:nvSpPr>
        <p:spPr>
          <a:xfrm>
            <a:off x="1613183" y="5862478"/>
            <a:ext cx="8610600" cy="477054"/>
          </a:xfrm>
          <a:prstGeom prst="rect">
            <a:avLst/>
          </a:prstGeom>
          <a:noFill/>
        </p:spPr>
        <p:txBody>
          <a:bodyPr wrap="square">
            <a:spAutoFit/>
          </a:bodyPr>
          <a:lstStyle/>
          <a:p>
            <a:pPr marL="12700" algn="ctr">
              <a:spcBef>
                <a:spcPts val="775"/>
              </a:spcBef>
              <a:buClr>
                <a:srgbClr val="FF5A33"/>
              </a:buClr>
              <a:tabLst>
                <a:tab pos="355600" algn="l"/>
              </a:tabLst>
            </a:pPr>
            <a:r>
              <a:rPr lang="en-US" sz="2500" b="1" spc="-5" dirty="0">
                <a:solidFill>
                  <a:srgbClr val="000099"/>
                </a:solidFill>
                <a:latin typeface="Cambria" panose="02040503050406030204" pitchFamily="18" charset="0"/>
                <a:ea typeface="Cambria" panose="02040503050406030204" pitchFamily="18" charset="0"/>
                <a:cs typeface="Segoe UI"/>
              </a:rPr>
              <a:t>Khoa CNTT</a:t>
            </a:r>
          </a:p>
        </p:txBody>
      </p:sp>
    </p:spTree>
    <p:extLst>
      <p:ext uri="{BB962C8B-B14F-4D97-AF65-F5344CB8AC3E}">
        <p14:creationId xmlns:p14="http://schemas.microsoft.com/office/powerpoint/2010/main" val="16604113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a:solidFill>
                  <a:schemeClr val="bg1"/>
                </a:solidFill>
                <a:latin typeface="Cambria" panose="02040503050406030204" pitchFamily="18" charset="0"/>
                <a:ea typeface="Cambria" panose="02040503050406030204" pitchFamily="18" charset="0"/>
              </a:rPr>
              <a:t>HỌC PHẦN LẬP TRÌNH PYTHON</a:t>
            </a:r>
          </a:p>
        </p:txBody>
      </p:sp>
      <p:pic>
        <p:nvPicPr>
          <p:cNvPr id="10" name="Picture 9">
            <a:extLst>
              <a:ext uri="{FF2B5EF4-FFF2-40B4-BE49-F238E27FC236}">
                <a16:creationId xmlns:a16="http://schemas.microsoft.com/office/drawing/2014/main" id="{87A475F0-D933-4B37-A9D6-DFD6D783A8A7}"/>
              </a:ext>
            </a:extLst>
          </p:cNvPr>
          <p:cNvPicPr>
            <a:picLocks noChangeAspect="1"/>
          </p:cNvPicPr>
          <p:nvPr/>
        </p:nvPicPr>
        <p:blipFill>
          <a:blip r:embed="rId2"/>
          <a:stretch>
            <a:fillRect/>
          </a:stretch>
        </p:blipFill>
        <p:spPr>
          <a:xfrm>
            <a:off x="10128243" y="755084"/>
            <a:ext cx="1974036" cy="1974036"/>
          </a:xfrm>
          <a:prstGeom prst="rect">
            <a:avLst/>
          </a:prstGeom>
        </p:spPr>
      </p:pic>
      <p:sp>
        <p:nvSpPr>
          <p:cNvPr id="15" name="TextBox 14">
            <a:extLst>
              <a:ext uri="{FF2B5EF4-FFF2-40B4-BE49-F238E27FC236}">
                <a16:creationId xmlns:a16="http://schemas.microsoft.com/office/drawing/2014/main" id="{5ADF5B30-AA8A-4C50-AD8E-9E9561A31B47}"/>
              </a:ext>
            </a:extLst>
          </p:cNvPr>
          <p:cNvSpPr txBox="1"/>
          <p:nvPr/>
        </p:nvSpPr>
        <p:spPr>
          <a:xfrm>
            <a:off x="1949592" y="755084"/>
            <a:ext cx="7937782" cy="553998"/>
          </a:xfrm>
          <a:prstGeom prst="rect">
            <a:avLst/>
          </a:prstGeom>
          <a:noFill/>
        </p:spPr>
        <p:txBody>
          <a:bodyPr wrap="square">
            <a:spAutoFit/>
          </a:bodyPr>
          <a:lstStyle/>
          <a:p>
            <a:pPr algn="ctr"/>
            <a:r>
              <a:rPr lang="en-US" sz="3000" b="1">
                <a:solidFill>
                  <a:srgbClr val="C00000"/>
                </a:solidFill>
                <a:latin typeface="Cambria" panose="02040503050406030204" pitchFamily="18" charset="0"/>
                <a:ea typeface="Cambria" panose="02040503050406030204" pitchFamily="18" charset="0"/>
              </a:rPr>
              <a:t>TÀI LIỆU THAM KHẢO</a:t>
            </a:r>
            <a:endParaRPr lang="vi-VN" sz="3000" b="1">
              <a:solidFill>
                <a:srgbClr val="C00000"/>
              </a:solidFill>
              <a:latin typeface="Cambria" panose="02040503050406030204" pitchFamily="18" charset="0"/>
              <a:ea typeface="Cambria" panose="02040503050406030204" pitchFamily="18" charset="0"/>
            </a:endParaRPr>
          </a:p>
        </p:txBody>
      </p:sp>
      <p:sp>
        <p:nvSpPr>
          <p:cNvPr id="16" name="object 8">
            <a:extLst>
              <a:ext uri="{FF2B5EF4-FFF2-40B4-BE49-F238E27FC236}">
                <a16:creationId xmlns:a16="http://schemas.microsoft.com/office/drawing/2014/main" id="{F5AEDA87-CAE3-4564-8E75-E9CBAC75ABCC}"/>
              </a:ext>
            </a:extLst>
          </p:cNvPr>
          <p:cNvSpPr txBox="1"/>
          <p:nvPr/>
        </p:nvSpPr>
        <p:spPr>
          <a:xfrm>
            <a:off x="414130" y="1198712"/>
            <a:ext cx="10240618" cy="5100755"/>
          </a:xfrm>
          <a:prstGeom prst="rect">
            <a:avLst/>
          </a:prstGeom>
        </p:spPr>
        <p:txBody>
          <a:bodyPr vert="horz" wrap="square" lIns="0" tIns="98425" rIns="0" bIns="0" rtlCol="0">
            <a:spAutoFit/>
          </a:bodyPr>
          <a:lstStyle/>
          <a:p>
            <a:pPr marL="469900" indent="-457200">
              <a:lnSpc>
                <a:spcPct val="100000"/>
              </a:lnSpc>
              <a:buClr>
                <a:srgbClr val="FF5A33"/>
              </a:buClr>
              <a:buFont typeface="+mj-lt"/>
              <a:buAutoNum type="arabicPeriod"/>
              <a:tabLst>
                <a:tab pos="355600" algn="l"/>
              </a:tabLst>
            </a:pPr>
            <a:r>
              <a:rPr lang="en-US" sz="2500" spc="-10">
                <a:latin typeface="Cambria" panose="02040503050406030204" pitchFamily="18" charset="0"/>
                <a:ea typeface="Cambria" panose="02040503050406030204" pitchFamily="18" charset="0"/>
                <a:cs typeface="Segoe UI"/>
              </a:rPr>
              <a:t>Python for Everybody (2016). Charles R. Severance, Exploring Data Using Python 3, USA</a:t>
            </a:r>
          </a:p>
          <a:p>
            <a:pPr marL="469900" indent="-457200">
              <a:lnSpc>
                <a:spcPct val="100000"/>
              </a:lnSpc>
              <a:buClr>
                <a:srgbClr val="FF5A33"/>
              </a:buClr>
              <a:buFont typeface="+mj-lt"/>
              <a:buAutoNum type="arabicPeriod"/>
              <a:tabLst>
                <a:tab pos="355600" algn="l"/>
              </a:tabLst>
            </a:pPr>
            <a:r>
              <a:rPr lang="en-US" sz="2500" spc="-10" err="1">
                <a:latin typeface="Cambria" panose="02040503050406030204" pitchFamily="18" charset="0"/>
                <a:ea typeface="Cambria" panose="02040503050406030204" pitchFamily="18" charset="0"/>
                <a:cs typeface="Segoe UI"/>
              </a:rPr>
              <a:t>Tự</a:t>
            </a:r>
            <a:r>
              <a:rPr lang="en-US" sz="2500" spc="-10">
                <a:latin typeface="Cambria" panose="02040503050406030204" pitchFamily="18" charset="0"/>
                <a:ea typeface="Cambria" panose="02040503050406030204" pitchFamily="18" charset="0"/>
                <a:cs typeface="Segoe UI"/>
              </a:rPr>
              <a:t> </a:t>
            </a:r>
            <a:r>
              <a:rPr lang="en-US" sz="2500" spc="-10" err="1">
                <a:latin typeface="Cambria" panose="02040503050406030204" pitchFamily="18" charset="0"/>
                <a:ea typeface="Cambria" panose="02040503050406030204" pitchFamily="18" charset="0"/>
                <a:cs typeface="Segoe UI"/>
              </a:rPr>
              <a:t>học</a:t>
            </a:r>
            <a:r>
              <a:rPr lang="en-US" sz="2500" spc="-10">
                <a:latin typeface="Cambria" panose="02040503050406030204" pitchFamily="18" charset="0"/>
                <a:ea typeface="Cambria" panose="02040503050406030204" pitchFamily="18" charset="0"/>
                <a:cs typeface="Segoe UI"/>
              </a:rPr>
              <a:t> </a:t>
            </a:r>
            <a:r>
              <a:rPr lang="en-US" sz="2500" spc="-10" err="1">
                <a:latin typeface="Cambria" panose="02040503050406030204" pitchFamily="18" charset="0"/>
                <a:ea typeface="Cambria" panose="02040503050406030204" pitchFamily="18" charset="0"/>
                <a:cs typeface="Segoe UI"/>
              </a:rPr>
              <a:t>lập</a:t>
            </a:r>
            <a:r>
              <a:rPr lang="en-US" sz="2500" spc="-10">
                <a:latin typeface="Cambria" panose="02040503050406030204" pitchFamily="18" charset="0"/>
                <a:ea typeface="Cambria" panose="02040503050406030204" pitchFamily="18" charset="0"/>
                <a:cs typeface="Segoe UI"/>
              </a:rPr>
              <a:t> </a:t>
            </a:r>
            <a:r>
              <a:rPr lang="en-US" sz="2500" spc="-10" err="1">
                <a:latin typeface="Cambria" panose="02040503050406030204" pitchFamily="18" charset="0"/>
                <a:ea typeface="Cambria" panose="02040503050406030204" pitchFamily="18" charset="0"/>
                <a:cs typeface="Segoe UI"/>
              </a:rPr>
              <a:t>trình</a:t>
            </a:r>
            <a:r>
              <a:rPr lang="en-US" sz="2500" spc="-10">
                <a:latin typeface="Cambria" panose="02040503050406030204" pitchFamily="18" charset="0"/>
                <a:ea typeface="Cambria" panose="02040503050406030204" pitchFamily="18" charset="0"/>
                <a:cs typeface="Segoe UI"/>
              </a:rPr>
              <a:t> Python </a:t>
            </a:r>
            <a:r>
              <a:rPr lang="en-US" sz="2500" spc="-10" err="1">
                <a:latin typeface="Cambria" panose="02040503050406030204" pitchFamily="18" charset="0"/>
                <a:ea typeface="Cambria" panose="02040503050406030204" pitchFamily="18" charset="0"/>
                <a:cs typeface="Segoe UI"/>
              </a:rPr>
              <a:t>căn</a:t>
            </a:r>
            <a:r>
              <a:rPr lang="en-US" sz="2500" spc="-10">
                <a:latin typeface="Cambria" panose="02040503050406030204" pitchFamily="18" charset="0"/>
                <a:ea typeface="Cambria" panose="02040503050406030204" pitchFamily="18" charset="0"/>
                <a:cs typeface="Segoe UI"/>
              </a:rPr>
              <a:t> </a:t>
            </a:r>
            <a:r>
              <a:rPr lang="en-US" sz="2500" spc="-10" err="1">
                <a:latin typeface="Cambria" panose="02040503050406030204" pitchFamily="18" charset="0"/>
                <a:ea typeface="Cambria" panose="02040503050406030204" pitchFamily="18" charset="0"/>
                <a:cs typeface="Segoe UI"/>
              </a:rPr>
              <a:t>bản</a:t>
            </a:r>
            <a:r>
              <a:rPr lang="en-US" sz="2500" spc="-10">
                <a:latin typeface="Cambria" panose="02040503050406030204" pitchFamily="18" charset="0"/>
                <a:ea typeface="Cambria" panose="02040503050406030204" pitchFamily="18" charset="0"/>
                <a:cs typeface="Segoe UI"/>
              </a:rPr>
              <a:t> (2019). </a:t>
            </a:r>
            <a:r>
              <a:rPr lang="en-US" sz="2500" spc="-10" err="1">
                <a:latin typeface="Cambria" panose="02040503050406030204" pitchFamily="18" charset="0"/>
                <a:ea typeface="Cambria" panose="02040503050406030204" pitchFamily="18" charset="0"/>
                <a:cs typeface="Segoe UI"/>
              </a:rPr>
              <a:t>Vũ</a:t>
            </a:r>
            <a:r>
              <a:rPr lang="en-US" sz="2500" spc="-10">
                <a:latin typeface="Cambria" panose="02040503050406030204" pitchFamily="18" charset="0"/>
                <a:ea typeface="Cambria" panose="02040503050406030204" pitchFamily="18" charset="0"/>
                <a:cs typeface="Segoe UI"/>
              </a:rPr>
              <a:t> </a:t>
            </a:r>
            <a:r>
              <a:rPr lang="en-US" sz="2500" spc="-10" err="1">
                <a:latin typeface="Cambria" panose="02040503050406030204" pitchFamily="18" charset="0"/>
                <a:ea typeface="Cambria" panose="02040503050406030204" pitchFamily="18" charset="0"/>
                <a:cs typeface="Segoe UI"/>
              </a:rPr>
              <a:t>Hải</a:t>
            </a:r>
            <a:r>
              <a:rPr lang="en-US" sz="2500" spc="-10">
                <a:latin typeface="Cambria" panose="02040503050406030204" pitchFamily="18" charset="0"/>
                <a:ea typeface="Cambria" panose="02040503050406030204" pitchFamily="18" charset="0"/>
                <a:cs typeface="Segoe UI"/>
              </a:rPr>
              <a:t> </a:t>
            </a:r>
            <a:r>
              <a:rPr lang="en-US" sz="2500" spc="-10" err="1">
                <a:latin typeface="Cambria" panose="02040503050406030204" pitchFamily="18" charset="0"/>
                <a:ea typeface="Cambria" panose="02040503050406030204" pitchFamily="18" charset="0"/>
                <a:cs typeface="Segoe UI"/>
              </a:rPr>
              <a:t>Quân</a:t>
            </a:r>
            <a:r>
              <a:rPr lang="en-US" sz="2500" spc="-10">
                <a:latin typeface="Cambria" panose="02040503050406030204" pitchFamily="18" charset="0"/>
                <a:ea typeface="Cambria" panose="02040503050406030204" pitchFamily="18" charset="0"/>
                <a:cs typeface="Segoe UI"/>
              </a:rPr>
              <a:t>, </a:t>
            </a:r>
            <a:r>
              <a:rPr lang="en-US" sz="2500" spc="-10" err="1">
                <a:latin typeface="Cambria" panose="02040503050406030204" pitchFamily="18" charset="0"/>
                <a:ea typeface="Cambria" panose="02040503050406030204" pitchFamily="18" charset="0"/>
                <a:cs typeface="Segoe UI"/>
              </a:rPr>
              <a:t>Nhà</a:t>
            </a:r>
            <a:r>
              <a:rPr lang="en-US" sz="2500" spc="-10">
                <a:latin typeface="Cambria" panose="02040503050406030204" pitchFamily="18" charset="0"/>
                <a:ea typeface="Cambria" panose="02040503050406030204" pitchFamily="18" charset="0"/>
                <a:cs typeface="Segoe UI"/>
              </a:rPr>
              <a:t> </a:t>
            </a:r>
            <a:r>
              <a:rPr lang="en-US" sz="2500" spc="-10" err="1">
                <a:latin typeface="Cambria" panose="02040503050406030204" pitchFamily="18" charset="0"/>
                <a:ea typeface="Cambria" panose="02040503050406030204" pitchFamily="18" charset="0"/>
                <a:cs typeface="Segoe UI"/>
              </a:rPr>
              <a:t>xuất</a:t>
            </a:r>
            <a:r>
              <a:rPr lang="en-US" sz="2500" spc="-10">
                <a:latin typeface="Cambria" panose="02040503050406030204" pitchFamily="18" charset="0"/>
                <a:ea typeface="Cambria" panose="02040503050406030204" pitchFamily="18" charset="0"/>
                <a:cs typeface="Segoe UI"/>
              </a:rPr>
              <a:t> </a:t>
            </a:r>
            <a:r>
              <a:rPr lang="en-US" sz="2500" spc="-10" err="1">
                <a:latin typeface="Cambria" panose="02040503050406030204" pitchFamily="18" charset="0"/>
                <a:ea typeface="Cambria" panose="02040503050406030204" pitchFamily="18" charset="0"/>
                <a:cs typeface="Segoe UI"/>
              </a:rPr>
              <a:t>bản</a:t>
            </a:r>
            <a:r>
              <a:rPr lang="en-US" sz="2500" spc="-10">
                <a:latin typeface="Cambria" panose="02040503050406030204" pitchFamily="18" charset="0"/>
                <a:ea typeface="Cambria" panose="02040503050406030204" pitchFamily="18" charset="0"/>
                <a:cs typeface="Segoe UI"/>
              </a:rPr>
              <a:t> ĐHQG TP </a:t>
            </a:r>
            <a:r>
              <a:rPr lang="en-US" sz="2500" spc="-10" err="1">
                <a:latin typeface="Cambria" panose="02040503050406030204" pitchFamily="18" charset="0"/>
                <a:ea typeface="Cambria" panose="02040503050406030204" pitchFamily="18" charset="0"/>
                <a:cs typeface="Segoe UI"/>
              </a:rPr>
              <a:t>Hồ</a:t>
            </a:r>
            <a:r>
              <a:rPr lang="en-US" sz="2500" spc="-10">
                <a:latin typeface="Cambria" panose="02040503050406030204" pitchFamily="18" charset="0"/>
                <a:ea typeface="Cambria" panose="02040503050406030204" pitchFamily="18" charset="0"/>
                <a:cs typeface="Segoe UI"/>
              </a:rPr>
              <a:t> </a:t>
            </a:r>
            <a:r>
              <a:rPr lang="en-US" sz="2500" spc="-10" err="1">
                <a:latin typeface="Cambria" panose="02040503050406030204" pitchFamily="18" charset="0"/>
                <a:ea typeface="Cambria" panose="02040503050406030204" pitchFamily="18" charset="0"/>
                <a:cs typeface="Segoe UI"/>
              </a:rPr>
              <a:t>Chí</a:t>
            </a:r>
            <a:r>
              <a:rPr lang="en-US" sz="2500" spc="-10">
                <a:latin typeface="Cambria" panose="02040503050406030204" pitchFamily="18" charset="0"/>
                <a:ea typeface="Cambria" panose="02040503050406030204" pitchFamily="18" charset="0"/>
                <a:cs typeface="Segoe UI"/>
              </a:rPr>
              <a:t> Minh</a:t>
            </a:r>
          </a:p>
          <a:p>
            <a:pPr marL="469900" indent="-457200">
              <a:lnSpc>
                <a:spcPct val="100000"/>
              </a:lnSpc>
              <a:buClr>
                <a:srgbClr val="FF5A33"/>
              </a:buClr>
              <a:buFont typeface="+mj-lt"/>
              <a:buAutoNum type="arabicPeriod"/>
              <a:tabLst>
                <a:tab pos="355600" algn="l"/>
              </a:tabLst>
            </a:pPr>
            <a:r>
              <a:rPr lang="en-US" sz="2500" spc="-10">
                <a:latin typeface="Cambria" panose="02040503050406030204" pitchFamily="18" charset="0"/>
                <a:ea typeface="Cambria" panose="02040503050406030204" pitchFamily="18" charset="0"/>
                <a:cs typeface="Segoe UI"/>
              </a:rPr>
              <a:t>Python </a:t>
            </a:r>
            <a:r>
              <a:rPr lang="en-US" sz="2500" spc="-10" err="1">
                <a:latin typeface="Cambria" panose="02040503050406030204" pitchFamily="18" charset="0"/>
                <a:ea typeface="Cambria" panose="02040503050406030204" pitchFamily="18" charset="0"/>
                <a:cs typeface="Segoe UI"/>
              </a:rPr>
              <a:t>cơ</a:t>
            </a:r>
            <a:r>
              <a:rPr lang="en-US" sz="2500" spc="-10">
                <a:latin typeface="Cambria" panose="02040503050406030204" pitchFamily="18" charset="0"/>
                <a:ea typeface="Cambria" panose="02040503050406030204" pitchFamily="18" charset="0"/>
                <a:cs typeface="Segoe UI"/>
              </a:rPr>
              <a:t> </a:t>
            </a:r>
            <a:r>
              <a:rPr lang="en-US" sz="2500" spc="-10" err="1">
                <a:latin typeface="Cambria" panose="02040503050406030204" pitchFamily="18" charset="0"/>
                <a:ea typeface="Cambria" panose="02040503050406030204" pitchFamily="18" charset="0"/>
                <a:cs typeface="Segoe UI"/>
              </a:rPr>
              <a:t>bản</a:t>
            </a:r>
            <a:r>
              <a:rPr lang="en-US" sz="2500" spc="-10">
                <a:latin typeface="Cambria" panose="02040503050406030204" pitchFamily="18" charset="0"/>
                <a:ea typeface="Cambria" panose="02040503050406030204" pitchFamily="18" charset="0"/>
                <a:cs typeface="Segoe UI"/>
              </a:rPr>
              <a:t> (2020). </a:t>
            </a:r>
            <a:r>
              <a:rPr lang="en-US" sz="2500" spc="-10" err="1">
                <a:latin typeface="Cambria" panose="02040503050406030204" pitchFamily="18" charset="0"/>
                <a:ea typeface="Cambria" panose="02040503050406030204" pitchFamily="18" charset="0"/>
                <a:cs typeface="Segoe UI"/>
              </a:rPr>
              <a:t>Bùi</a:t>
            </a:r>
            <a:r>
              <a:rPr lang="en-US" sz="2500" spc="-10">
                <a:latin typeface="Cambria" panose="02040503050406030204" pitchFamily="18" charset="0"/>
                <a:ea typeface="Cambria" panose="02040503050406030204" pitchFamily="18" charset="0"/>
                <a:cs typeface="Segoe UI"/>
              </a:rPr>
              <a:t> </a:t>
            </a:r>
            <a:r>
              <a:rPr lang="en-US" sz="2500" spc="-10" err="1">
                <a:latin typeface="Cambria" panose="02040503050406030204" pitchFamily="18" charset="0"/>
                <a:ea typeface="Cambria" panose="02040503050406030204" pitchFamily="18" charset="0"/>
                <a:cs typeface="Segoe UI"/>
              </a:rPr>
              <a:t>Việt</a:t>
            </a:r>
            <a:r>
              <a:rPr lang="en-US" sz="2500" spc="-10">
                <a:latin typeface="Cambria" panose="02040503050406030204" pitchFamily="18" charset="0"/>
                <a:ea typeface="Cambria" panose="02040503050406030204" pitchFamily="18" charset="0"/>
                <a:cs typeface="Segoe UI"/>
              </a:rPr>
              <a:t> </a:t>
            </a:r>
            <a:r>
              <a:rPr lang="en-US" sz="2500" spc="-10" err="1">
                <a:latin typeface="Cambria" panose="02040503050406030204" pitchFamily="18" charset="0"/>
                <a:ea typeface="Cambria" panose="02040503050406030204" pitchFamily="18" charset="0"/>
                <a:cs typeface="Segoe UI"/>
              </a:rPr>
              <a:t>Hà</a:t>
            </a:r>
            <a:r>
              <a:rPr lang="en-US" sz="2500" spc="-10">
                <a:latin typeface="Cambria" panose="02040503050406030204" pitchFamily="18" charset="0"/>
                <a:ea typeface="Cambria" panose="02040503050406030204" pitchFamily="18" charset="0"/>
                <a:cs typeface="Segoe UI"/>
              </a:rPr>
              <a:t>, </a:t>
            </a:r>
            <a:r>
              <a:rPr lang="en-US" sz="2500" spc="-10" err="1">
                <a:latin typeface="Cambria" panose="02040503050406030204" pitchFamily="18" charset="0"/>
                <a:ea typeface="Cambria" panose="02040503050406030204" pitchFamily="18" charset="0"/>
                <a:cs typeface="Segoe UI"/>
              </a:rPr>
              <a:t>Nhà</a:t>
            </a:r>
            <a:r>
              <a:rPr lang="en-US" sz="2500" spc="-10">
                <a:latin typeface="Cambria" panose="02040503050406030204" pitchFamily="18" charset="0"/>
                <a:ea typeface="Cambria" panose="02040503050406030204" pitchFamily="18" charset="0"/>
                <a:cs typeface="Segoe UI"/>
              </a:rPr>
              <a:t> </a:t>
            </a:r>
            <a:r>
              <a:rPr lang="en-US" sz="2500" spc="-10" err="1">
                <a:latin typeface="Cambria" panose="02040503050406030204" pitchFamily="18" charset="0"/>
                <a:ea typeface="Cambria" panose="02040503050406030204" pitchFamily="18" charset="0"/>
                <a:cs typeface="Segoe UI"/>
              </a:rPr>
              <a:t>xuất</a:t>
            </a:r>
            <a:r>
              <a:rPr lang="en-US" sz="2500" spc="-10">
                <a:latin typeface="Cambria" panose="02040503050406030204" pitchFamily="18" charset="0"/>
                <a:ea typeface="Cambria" panose="02040503050406030204" pitchFamily="18" charset="0"/>
                <a:cs typeface="Segoe UI"/>
              </a:rPr>
              <a:t> </a:t>
            </a:r>
            <a:r>
              <a:rPr lang="en-US" sz="2500" spc="-10" err="1">
                <a:latin typeface="Cambria" panose="02040503050406030204" pitchFamily="18" charset="0"/>
                <a:ea typeface="Cambria" panose="02040503050406030204" pitchFamily="18" charset="0"/>
                <a:cs typeface="Segoe UI"/>
              </a:rPr>
              <a:t>bản</a:t>
            </a:r>
            <a:r>
              <a:rPr lang="en-US" sz="2500" spc="-10">
                <a:latin typeface="Cambria" panose="02040503050406030204" pitchFamily="18" charset="0"/>
                <a:ea typeface="Cambria" panose="02040503050406030204" pitchFamily="18" charset="0"/>
                <a:cs typeface="Segoe UI"/>
              </a:rPr>
              <a:t> ĐHQG </a:t>
            </a:r>
            <a:r>
              <a:rPr lang="en-US" sz="2500" spc="-10" err="1">
                <a:latin typeface="Cambria" panose="02040503050406030204" pitchFamily="18" charset="0"/>
                <a:ea typeface="Cambria" panose="02040503050406030204" pitchFamily="18" charset="0"/>
                <a:cs typeface="Segoe UI"/>
              </a:rPr>
              <a:t>Hà</a:t>
            </a:r>
            <a:r>
              <a:rPr lang="en-US" sz="2500" spc="-10">
                <a:latin typeface="Cambria" panose="02040503050406030204" pitchFamily="18" charset="0"/>
                <a:ea typeface="Cambria" panose="02040503050406030204" pitchFamily="18" charset="0"/>
                <a:cs typeface="Segoe UI"/>
              </a:rPr>
              <a:t> </a:t>
            </a:r>
            <a:r>
              <a:rPr lang="en-US" sz="2500" spc="-10" err="1">
                <a:latin typeface="Cambria" panose="02040503050406030204" pitchFamily="18" charset="0"/>
                <a:ea typeface="Cambria" panose="02040503050406030204" pitchFamily="18" charset="0"/>
                <a:cs typeface="Segoe UI"/>
              </a:rPr>
              <a:t>Nội</a:t>
            </a:r>
            <a:r>
              <a:rPr lang="en-US" sz="2500" spc="-10">
                <a:latin typeface="Cambria" panose="02040503050406030204" pitchFamily="18" charset="0"/>
                <a:ea typeface="Cambria" panose="02040503050406030204" pitchFamily="18" charset="0"/>
                <a:cs typeface="Segoe UI"/>
              </a:rPr>
              <a:t>.</a:t>
            </a:r>
          </a:p>
          <a:p>
            <a:pPr marL="469900" indent="-457200">
              <a:lnSpc>
                <a:spcPct val="100000"/>
              </a:lnSpc>
              <a:buClr>
                <a:srgbClr val="FF5A33"/>
              </a:buClr>
              <a:buFont typeface="+mj-lt"/>
              <a:buAutoNum type="arabicPeriod"/>
              <a:tabLst>
                <a:tab pos="355600" algn="l"/>
              </a:tabLst>
            </a:pPr>
            <a:r>
              <a:rPr lang="en-US" sz="2500" spc="-10">
                <a:latin typeface="Cambria" panose="02040503050406030204" pitchFamily="18" charset="0"/>
                <a:ea typeface="Cambria" panose="02040503050406030204" pitchFamily="18" charset="0"/>
                <a:cs typeface="Segoe UI"/>
              </a:rPr>
              <a:t>https://niithanoi.edu.vn/huong-dan-cai-dat-va-su-dung-pycharm-ide-trong-lap-trinh-python.html</a:t>
            </a:r>
          </a:p>
          <a:p>
            <a:pPr marL="469900" indent="-457200">
              <a:lnSpc>
                <a:spcPct val="100000"/>
              </a:lnSpc>
              <a:buClr>
                <a:srgbClr val="FF5A33"/>
              </a:buClr>
              <a:buFont typeface="+mj-lt"/>
              <a:buAutoNum type="arabicPeriod"/>
              <a:tabLst>
                <a:tab pos="355600" algn="l"/>
              </a:tabLst>
            </a:pPr>
            <a:r>
              <a:rPr lang="en-US" sz="2500" spc="-10">
                <a:latin typeface="Cambria" panose="02040503050406030204" pitchFamily="18" charset="0"/>
                <a:ea typeface="Cambria" panose="02040503050406030204" pitchFamily="18" charset="0"/>
                <a:cs typeface="Segoe UI"/>
              </a:rPr>
              <a:t>https://ftlinuxcourse.com/cach-cai-dat-python-va-pycharm-ide-tren-windows</a:t>
            </a:r>
          </a:p>
          <a:p>
            <a:pPr marL="469900" indent="-457200">
              <a:lnSpc>
                <a:spcPct val="100000"/>
              </a:lnSpc>
              <a:buClr>
                <a:srgbClr val="FF5A33"/>
              </a:buClr>
              <a:buFont typeface="+mj-lt"/>
              <a:buAutoNum type="arabicPeriod"/>
              <a:tabLst>
                <a:tab pos="355600" algn="l"/>
              </a:tabLst>
            </a:pPr>
            <a:r>
              <a:rPr lang="en-US" sz="2500">
                <a:latin typeface="Cambria" panose="02040503050406030204" pitchFamily="18" charset="0"/>
                <a:ea typeface="Cambria" panose="02040503050406030204" pitchFamily="18" charset="0"/>
                <a:cs typeface="Segoe UI"/>
              </a:rPr>
              <a:t>quantrimang.com</a:t>
            </a:r>
          </a:p>
          <a:p>
            <a:pPr marL="469900" indent="-457200">
              <a:lnSpc>
                <a:spcPct val="100000"/>
              </a:lnSpc>
              <a:buClr>
                <a:srgbClr val="FF5A33"/>
              </a:buClr>
              <a:buFont typeface="+mj-lt"/>
              <a:buAutoNum type="arabicPeriod"/>
              <a:tabLst>
                <a:tab pos="355600" algn="l"/>
              </a:tabLst>
            </a:pPr>
            <a:r>
              <a:rPr lang="en-US" sz="2500">
                <a:latin typeface="Cambria" panose="02040503050406030204" pitchFamily="18" charset="0"/>
                <a:ea typeface="Cambria" panose="02040503050406030204" pitchFamily="18" charset="0"/>
                <a:cs typeface="Segoe UI"/>
              </a:rPr>
              <a:t>toidicode.com</a:t>
            </a:r>
          </a:p>
          <a:p>
            <a:pPr marL="469900" indent="-457200">
              <a:lnSpc>
                <a:spcPct val="100000"/>
              </a:lnSpc>
              <a:buClr>
                <a:srgbClr val="FF5A33"/>
              </a:buClr>
              <a:buFont typeface="+mj-lt"/>
              <a:buAutoNum type="arabicPeriod"/>
              <a:tabLst>
                <a:tab pos="355600" algn="l"/>
              </a:tabLst>
            </a:pPr>
            <a:r>
              <a:rPr lang="en-US" sz="2500">
                <a:latin typeface="Cambria" panose="02040503050406030204" pitchFamily="18" charset="0"/>
                <a:ea typeface="Cambria" panose="02040503050406030204" pitchFamily="18" charset="0"/>
                <a:cs typeface="Segoe UI"/>
              </a:rPr>
              <a:t>phannhatchanh.com</a:t>
            </a:r>
          </a:p>
          <a:p>
            <a:pPr marL="469900" indent="-457200">
              <a:lnSpc>
                <a:spcPct val="100000"/>
              </a:lnSpc>
              <a:buClr>
                <a:srgbClr val="FF5A33"/>
              </a:buClr>
              <a:buFont typeface="+mj-lt"/>
              <a:buAutoNum type="arabicPeriod"/>
              <a:tabLst>
                <a:tab pos="355600" algn="l"/>
              </a:tabLst>
            </a:pPr>
            <a:r>
              <a:rPr lang="en-US" sz="2500">
                <a:latin typeface="Cambria" panose="02040503050406030204" pitchFamily="18" charset="0"/>
                <a:ea typeface="Cambria" panose="02040503050406030204" pitchFamily="18" charset="0"/>
                <a:cs typeface="Segoe UI"/>
              </a:rPr>
              <a:t>…</a:t>
            </a:r>
            <a:endParaRPr sz="2500">
              <a:latin typeface="Cambria" panose="02040503050406030204" pitchFamily="18" charset="0"/>
              <a:ea typeface="Cambria" panose="02040503050406030204" pitchFamily="18" charset="0"/>
              <a:cs typeface="Segoe UI"/>
            </a:endParaRPr>
          </a:p>
        </p:txBody>
      </p:sp>
    </p:spTree>
    <p:extLst>
      <p:ext uri="{BB962C8B-B14F-4D97-AF65-F5344CB8AC3E}">
        <p14:creationId xmlns:p14="http://schemas.microsoft.com/office/powerpoint/2010/main" val="29309714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latin typeface="Cambria" panose="02040503050406030204" pitchFamily="18" charset="0"/>
                <a:ea typeface="Cambria" panose="02040503050406030204" pitchFamily="18" charset="0"/>
              </a:rPr>
              <a:t>Bài</a:t>
            </a:r>
            <a:r>
              <a:rPr lang="en-US">
                <a:latin typeface="Cambria" panose="02040503050406030204" pitchFamily="18" charset="0"/>
                <a:ea typeface="Cambria" panose="02040503050406030204" pitchFamily="18" charset="0"/>
              </a:rPr>
              <a:t> 4 – </a:t>
            </a:r>
            <a:r>
              <a:rPr lang="en-US" err="1">
                <a:latin typeface="Cambria" panose="02040503050406030204" pitchFamily="18" charset="0"/>
                <a:ea typeface="Cambria" panose="02040503050406030204" pitchFamily="18" charset="0"/>
              </a:rPr>
              <a:t>Lập</a:t>
            </a:r>
            <a:r>
              <a:rPr lang="en-US">
                <a:latin typeface="Cambria" panose="02040503050406030204" pitchFamily="18" charset="0"/>
                <a:ea typeface="Cambria" panose="02040503050406030204" pitchFamily="18" charset="0"/>
              </a:rPr>
              <a:t> </a:t>
            </a:r>
            <a:r>
              <a:rPr lang="en-US" err="1">
                <a:latin typeface="Cambria" panose="02040503050406030204" pitchFamily="18" charset="0"/>
                <a:ea typeface="Cambria" panose="02040503050406030204" pitchFamily="18" charset="0"/>
              </a:rPr>
              <a:t>trình</a:t>
            </a:r>
            <a:r>
              <a:rPr lang="en-US">
                <a:latin typeface="Cambria" panose="02040503050406030204" pitchFamily="18" charset="0"/>
                <a:ea typeface="Cambria" panose="02040503050406030204" pitchFamily="18" charset="0"/>
              </a:rPr>
              <a:t> </a:t>
            </a:r>
            <a:r>
              <a:rPr lang="en-US" err="1">
                <a:latin typeface="Cambria" panose="02040503050406030204" pitchFamily="18" charset="0"/>
                <a:ea typeface="Cambria" panose="02040503050406030204" pitchFamily="18" charset="0"/>
              </a:rPr>
              <a:t>hướng</a:t>
            </a:r>
            <a:r>
              <a:rPr lang="en-US">
                <a:latin typeface="Cambria" panose="02040503050406030204" pitchFamily="18" charset="0"/>
                <a:ea typeface="Cambria" panose="02040503050406030204" pitchFamily="18" charset="0"/>
              </a:rPr>
              <a:t> </a:t>
            </a:r>
            <a:r>
              <a:rPr lang="en-US" err="1">
                <a:latin typeface="Cambria" panose="02040503050406030204" pitchFamily="18" charset="0"/>
                <a:ea typeface="Cambria" panose="02040503050406030204" pitchFamily="18" charset="0"/>
              </a:rPr>
              <a:t>đối</a:t>
            </a:r>
            <a:r>
              <a:rPr lang="en-US">
                <a:latin typeface="Cambria" panose="02040503050406030204" pitchFamily="18" charset="0"/>
                <a:ea typeface="Cambria" panose="02040503050406030204" pitchFamily="18" charset="0"/>
              </a:rPr>
              <a:t> </a:t>
            </a:r>
            <a:r>
              <a:rPr lang="en-US" err="1">
                <a:latin typeface="Cambria" panose="02040503050406030204" pitchFamily="18" charset="0"/>
                <a:ea typeface="Cambria" panose="02040503050406030204" pitchFamily="18" charset="0"/>
              </a:rPr>
              <a:t>tượng</a:t>
            </a:r>
            <a:endParaRPr lang="en-US">
              <a:latin typeface="Cambria" panose="02040503050406030204" pitchFamily="18" charset="0"/>
              <a:ea typeface="Cambria" panose="02040503050406030204" pitchFamily="18" charset="0"/>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a:solidFill>
                  <a:schemeClr val="bg1"/>
                </a:solidFill>
                <a:latin typeface="Cambria" panose="02040503050406030204" pitchFamily="18" charset="0"/>
                <a:ea typeface="Cambria" panose="02040503050406030204" pitchFamily="18" charset="0"/>
              </a:rPr>
              <a:t>HỌC PHẦN LẬP TRÌNH PYTHON</a:t>
            </a:r>
          </a:p>
        </p:txBody>
      </p:sp>
      <p:pic>
        <p:nvPicPr>
          <p:cNvPr id="10" name="Picture 9">
            <a:extLst>
              <a:ext uri="{FF2B5EF4-FFF2-40B4-BE49-F238E27FC236}">
                <a16:creationId xmlns:a16="http://schemas.microsoft.com/office/drawing/2014/main" id="{87A475F0-D933-4B37-A9D6-DFD6D783A8A7}"/>
              </a:ext>
            </a:extLst>
          </p:cNvPr>
          <p:cNvPicPr>
            <a:picLocks noChangeAspect="1"/>
          </p:cNvPicPr>
          <p:nvPr/>
        </p:nvPicPr>
        <p:blipFill>
          <a:blip r:embed="rId2"/>
          <a:stretch>
            <a:fillRect/>
          </a:stretch>
        </p:blipFill>
        <p:spPr>
          <a:xfrm>
            <a:off x="10128243" y="755084"/>
            <a:ext cx="1974036" cy="1974036"/>
          </a:xfrm>
          <a:prstGeom prst="rect">
            <a:avLst/>
          </a:prstGeom>
        </p:spPr>
      </p:pic>
      <p:cxnSp>
        <p:nvCxnSpPr>
          <p:cNvPr id="15" name="Straight Connector 14">
            <a:extLst>
              <a:ext uri="{FF2B5EF4-FFF2-40B4-BE49-F238E27FC236}">
                <a16:creationId xmlns:a16="http://schemas.microsoft.com/office/drawing/2014/main" id="{5CD76142-C743-4DDD-90B9-B7FB62FE3EC2}"/>
              </a:ext>
            </a:extLst>
          </p:cNvPr>
          <p:cNvCxnSpPr/>
          <p:nvPr/>
        </p:nvCxnSpPr>
        <p:spPr>
          <a:xfrm>
            <a:off x="3162300" y="2485714"/>
            <a:ext cx="5867400" cy="0"/>
          </a:xfrm>
          <a:prstGeom prst="line">
            <a:avLst/>
          </a:prstGeom>
        </p:spPr>
        <p:style>
          <a:lnRef idx="2">
            <a:schemeClr val="accent2"/>
          </a:lnRef>
          <a:fillRef idx="0">
            <a:schemeClr val="accent2"/>
          </a:fillRef>
          <a:effectRef idx="1">
            <a:schemeClr val="accent2"/>
          </a:effectRef>
          <a:fontRef idx="minor">
            <a:schemeClr val="tx1"/>
          </a:fontRef>
        </p:style>
      </p:cxnSp>
      <p:sp>
        <p:nvSpPr>
          <p:cNvPr id="16" name="object 2"/>
          <p:cNvSpPr txBox="1"/>
          <p:nvPr/>
        </p:nvSpPr>
        <p:spPr>
          <a:xfrm>
            <a:off x="4843820" y="1721259"/>
            <a:ext cx="3156768" cy="627736"/>
          </a:xfrm>
          <a:prstGeom prst="rect">
            <a:avLst/>
          </a:prstGeom>
        </p:spPr>
        <p:txBody>
          <a:bodyPr vert="horz" wrap="square" lIns="0" tIns="12065" rIns="0" bIns="0" rtlCol="0">
            <a:spAutoFit/>
          </a:bodyPr>
          <a:lstStyle/>
          <a:p>
            <a:pPr marL="12700" algn="ctr">
              <a:lnSpc>
                <a:spcPct val="100000"/>
              </a:lnSpc>
              <a:spcBef>
                <a:spcPts val="95"/>
              </a:spcBef>
            </a:pPr>
            <a:r>
              <a:rPr lang="en-US" sz="4000" b="1" spc="-5" err="1">
                <a:solidFill>
                  <a:srgbClr val="FF0000"/>
                </a:solidFill>
                <a:latin typeface="Cambria" panose="02040503050406030204" pitchFamily="18" charset="0"/>
                <a:ea typeface="Cambria" panose="02040503050406030204" pitchFamily="18" charset="0"/>
                <a:cs typeface="Arial"/>
              </a:rPr>
              <a:t>Bài</a:t>
            </a:r>
            <a:r>
              <a:rPr lang="en-US" sz="4000" b="1" spc="-5">
                <a:solidFill>
                  <a:srgbClr val="FF0000"/>
                </a:solidFill>
                <a:latin typeface="Cambria" panose="02040503050406030204" pitchFamily="18" charset="0"/>
                <a:ea typeface="Cambria" panose="02040503050406030204" pitchFamily="18" charset="0"/>
                <a:cs typeface="Arial"/>
              </a:rPr>
              <a:t> 4</a:t>
            </a:r>
            <a:endParaRPr sz="4000">
              <a:solidFill>
                <a:srgbClr val="FF0000"/>
              </a:solidFill>
              <a:latin typeface="Cambria" panose="02040503050406030204" pitchFamily="18" charset="0"/>
              <a:ea typeface="Cambria" panose="02040503050406030204" pitchFamily="18" charset="0"/>
              <a:cs typeface="Arial"/>
            </a:endParaRPr>
          </a:p>
        </p:txBody>
      </p:sp>
      <p:sp>
        <p:nvSpPr>
          <p:cNvPr id="17" name="object 3"/>
          <p:cNvSpPr txBox="1"/>
          <p:nvPr/>
        </p:nvSpPr>
        <p:spPr>
          <a:xfrm>
            <a:off x="1578831" y="2622434"/>
            <a:ext cx="9215065" cy="590931"/>
          </a:xfrm>
          <a:prstGeom prst="rect">
            <a:avLst/>
          </a:prstGeom>
        </p:spPr>
        <p:txBody>
          <a:bodyPr vert="horz" wrap="square" lIns="0" tIns="12065" rIns="0" bIns="0" rtlCol="0">
            <a:spAutoFit/>
          </a:bodyPr>
          <a:lstStyle/>
          <a:p>
            <a:pPr marL="12700" algn="ctr">
              <a:lnSpc>
                <a:spcPct val="114000"/>
              </a:lnSpc>
              <a:spcBef>
                <a:spcPts val="660"/>
              </a:spcBef>
              <a:buClr>
                <a:srgbClr val="FF5A33"/>
              </a:buClr>
              <a:tabLst>
                <a:tab pos="355600" algn="l"/>
              </a:tabLst>
            </a:pPr>
            <a:r>
              <a:rPr lang="en-US" sz="3600" b="1" spc="-5">
                <a:solidFill>
                  <a:prstClr val="black"/>
                </a:solidFill>
                <a:latin typeface="Cambria" panose="02040503050406030204" pitchFamily="18" charset="0"/>
                <a:ea typeface="Cambria" panose="02040503050406030204" pitchFamily="18" charset="0"/>
                <a:cs typeface="Segoe UI"/>
              </a:rPr>
              <a:t>LẬP TRÌNH HƯỚNG ĐỐI TƯỢNG</a:t>
            </a:r>
          </a:p>
        </p:txBody>
      </p:sp>
    </p:spTree>
    <p:extLst>
      <p:ext uri="{BB962C8B-B14F-4D97-AF65-F5344CB8AC3E}">
        <p14:creationId xmlns:p14="http://schemas.microsoft.com/office/powerpoint/2010/main" val="18060529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a:solidFill>
                  <a:schemeClr val="bg1"/>
                </a:solidFill>
                <a:latin typeface="Cambria" panose="02040503050406030204" pitchFamily="18" charset="0"/>
                <a:ea typeface="Cambria" panose="02040503050406030204" pitchFamily="18" charset="0"/>
              </a:rPr>
              <a:t>BÀI 4: LẬP TRÌNH HƯỚNG ĐỐI TƯỢNG</a:t>
            </a:r>
          </a:p>
        </p:txBody>
      </p:sp>
      <p:pic>
        <p:nvPicPr>
          <p:cNvPr id="10" name="Picture 9">
            <a:extLst>
              <a:ext uri="{FF2B5EF4-FFF2-40B4-BE49-F238E27FC236}">
                <a16:creationId xmlns:a16="http://schemas.microsoft.com/office/drawing/2014/main" id="{87A475F0-D933-4B37-A9D6-DFD6D783A8A7}"/>
              </a:ext>
            </a:extLst>
          </p:cNvPr>
          <p:cNvPicPr>
            <a:picLocks noChangeAspect="1"/>
          </p:cNvPicPr>
          <p:nvPr/>
        </p:nvPicPr>
        <p:blipFill>
          <a:blip r:embed="rId2"/>
          <a:stretch>
            <a:fillRect/>
          </a:stretch>
        </p:blipFill>
        <p:spPr>
          <a:xfrm>
            <a:off x="10128243" y="755084"/>
            <a:ext cx="1974036" cy="1974036"/>
          </a:xfrm>
          <a:prstGeom prst="rect">
            <a:avLst/>
          </a:prstGeom>
        </p:spPr>
      </p:pic>
      <p:sp>
        <p:nvSpPr>
          <p:cNvPr id="11" name="object 5"/>
          <p:cNvSpPr txBox="1">
            <a:spLocks noGrp="1"/>
          </p:cNvSpPr>
          <p:nvPr>
            <p:ph type="title"/>
          </p:nvPr>
        </p:nvSpPr>
        <p:spPr>
          <a:xfrm>
            <a:off x="5545620" y="754208"/>
            <a:ext cx="1983105" cy="505267"/>
          </a:xfrm>
          <a:prstGeom prst="rect">
            <a:avLst/>
          </a:prstGeom>
        </p:spPr>
        <p:txBody>
          <a:bodyPr vert="horz" wrap="square" lIns="0" tIns="12700" rIns="0" bIns="0" rtlCol="0">
            <a:spAutoFit/>
          </a:bodyPr>
          <a:lstStyle/>
          <a:p>
            <a:pPr marL="12700">
              <a:lnSpc>
                <a:spcPct val="100000"/>
              </a:lnSpc>
              <a:spcBef>
                <a:spcPts val="100"/>
              </a:spcBef>
            </a:pPr>
            <a:r>
              <a:rPr lang="en-US" sz="3200" b="1" spc="-5">
                <a:solidFill>
                  <a:srgbClr val="FF0000"/>
                </a:solidFill>
                <a:latin typeface="Cambria" panose="02040503050406030204" pitchFamily="18" charset="0"/>
                <a:ea typeface="Cambria" panose="02040503050406030204" pitchFamily="18" charset="0"/>
                <a:cs typeface="Arial"/>
              </a:rPr>
              <a:t>NỘI DUNG</a:t>
            </a:r>
            <a:endParaRPr sz="3200" b="1">
              <a:solidFill>
                <a:srgbClr val="FF0000"/>
              </a:solidFill>
              <a:latin typeface="Cambria" panose="02040503050406030204" pitchFamily="18" charset="0"/>
              <a:ea typeface="Cambria" panose="02040503050406030204" pitchFamily="18" charset="0"/>
              <a:cs typeface="Arial"/>
            </a:endParaRPr>
          </a:p>
        </p:txBody>
      </p:sp>
      <p:sp>
        <p:nvSpPr>
          <p:cNvPr id="13" name="Content Placeholder 2"/>
          <p:cNvSpPr txBox="1">
            <a:spLocks/>
          </p:cNvSpPr>
          <p:nvPr/>
        </p:nvSpPr>
        <p:spPr>
          <a:xfrm>
            <a:off x="377686" y="1370051"/>
            <a:ext cx="10933043" cy="40467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nSpc>
                <a:spcPct val="150000"/>
              </a:lnSpc>
              <a:spcBef>
                <a:spcPts val="0"/>
              </a:spcBef>
              <a:spcAft>
                <a:spcPts val="0"/>
              </a:spcAft>
              <a:buNone/>
            </a:pPr>
            <a:r>
              <a:rPr lang="vi-VN" sz="2800" dirty="0">
                <a:latin typeface="Cambria" panose="02040503050406030204" pitchFamily="18" charset="0"/>
                <a:ea typeface="Cambria" panose="02040503050406030204" pitchFamily="18" charset="0"/>
              </a:rPr>
              <a:t>• Giới thiệu về lập trình hướng đối tượng</a:t>
            </a:r>
            <a:br>
              <a:rPr lang="vi-VN" sz="2800" dirty="0">
                <a:latin typeface="Cambria" panose="02040503050406030204" pitchFamily="18" charset="0"/>
                <a:ea typeface="Cambria" panose="02040503050406030204" pitchFamily="18" charset="0"/>
              </a:rPr>
            </a:br>
            <a:r>
              <a:rPr lang="vi-VN" sz="2800" dirty="0">
                <a:latin typeface="Cambria" panose="02040503050406030204" pitchFamily="18" charset="0"/>
                <a:ea typeface="Cambria" panose="02040503050406030204" pitchFamily="18" charset="0"/>
              </a:rPr>
              <a:t>• Đối tượng là gì?</a:t>
            </a:r>
            <a:br>
              <a:rPr lang="vi-VN" sz="2800" dirty="0">
                <a:latin typeface="Cambria" panose="02040503050406030204" pitchFamily="18" charset="0"/>
                <a:ea typeface="Cambria" panose="02040503050406030204" pitchFamily="18" charset="0"/>
              </a:rPr>
            </a:br>
            <a:r>
              <a:rPr lang="vi-VN" sz="2800" dirty="0">
                <a:latin typeface="Cambria" panose="02040503050406030204" pitchFamily="18" charset="0"/>
                <a:ea typeface="Cambria" panose="02040503050406030204" pitchFamily="18" charset="0"/>
              </a:rPr>
              <a:t>• Lớp là gì?</a:t>
            </a:r>
            <a:br>
              <a:rPr lang="vi-VN" sz="2800" dirty="0">
                <a:latin typeface="Cambria" panose="02040503050406030204" pitchFamily="18" charset="0"/>
                <a:ea typeface="Cambria" panose="02040503050406030204" pitchFamily="18" charset="0"/>
              </a:rPr>
            </a:br>
            <a:r>
              <a:rPr lang="vi-VN" sz="2800" dirty="0">
                <a:latin typeface="Cambria" panose="02040503050406030204" pitchFamily="18" charset="0"/>
                <a:ea typeface="Cambria" panose="02040503050406030204" pitchFamily="18" charset="0"/>
              </a:rPr>
              <a:t>• </a:t>
            </a:r>
            <a:r>
              <a:rPr lang="vi-VN" sz="2800" b="1" dirty="0">
                <a:solidFill>
                  <a:srgbClr val="FF0000"/>
                </a:solidFill>
                <a:latin typeface="Cambria" panose="02040503050406030204" pitchFamily="18" charset="0"/>
                <a:ea typeface="Cambria" panose="02040503050406030204" pitchFamily="18" charset="0"/>
              </a:rPr>
              <a:t>Lớp trong Python</a:t>
            </a:r>
            <a:br>
              <a:rPr lang="vi-VN" sz="2800" dirty="0">
                <a:latin typeface="Cambria" panose="02040503050406030204" pitchFamily="18" charset="0"/>
                <a:ea typeface="Cambria" panose="02040503050406030204" pitchFamily="18" charset="0"/>
              </a:rPr>
            </a:br>
            <a:r>
              <a:rPr lang="vi-VN" sz="2800" dirty="0">
                <a:latin typeface="Cambria" panose="02040503050406030204" pitchFamily="18" charset="0"/>
                <a:ea typeface="Cambria" panose="02040503050406030204" pitchFamily="18" charset="0"/>
              </a:rPr>
              <a:t>• </a:t>
            </a:r>
            <a:r>
              <a:rPr lang="vi-VN" sz="2800" b="1" dirty="0">
                <a:solidFill>
                  <a:srgbClr val="FF0000"/>
                </a:solidFill>
                <a:latin typeface="Cambria" panose="02040503050406030204" pitchFamily="18" charset="0"/>
                <a:ea typeface="Cambria" panose="02040503050406030204" pitchFamily="18" charset="0"/>
              </a:rPr>
              <a:t>Nạp chồng – Overload</a:t>
            </a:r>
            <a:br>
              <a:rPr lang="vi-VN" sz="2800" dirty="0">
                <a:latin typeface="Cambria" panose="02040503050406030204" pitchFamily="18" charset="0"/>
                <a:ea typeface="Cambria" panose="02040503050406030204" pitchFamily="18" charset="0"/>
              </a:rPr>
            </a:br>
            <a:r>
              <a:rPr lang="vi-VN" sz="2800" dirty="0">
                <a:latin typeface="Cambria" panose="02040503050406030204" pitchFamily="18" charset="0"/>
                <a:ea typeface="Cambria" panose="02040503050406030204" pitchFamily="18" charset="0"/>
              </a:rPr>
              <a:t>• Kế thừa và ghi đè </a:t>
            </a:r>
            <a:br>
              <a:rPr lang="vi-VN" sz="2800" dirty="0">
                <a:latin typeface="Cambria" panose="02040503050406030204" pitchFamily="18" charset="0"/>
                <a:ea typeface="Cambria" panose="02040503050406030204" pitchFamily="18" charset="0"/>
              </a:rPr>
            </a:br>
            <a:endParaRPr lang="en-US" sz="28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4005253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latin typeface="Cambria" panose="02040503050406030204" pitchFamily="18" charset="0"/>
                <a:ea typeface="Cambria" panose="02040503050406030204" pitchFamily="18" charset="0"/>
              </a:rPr>
              <a:t>Bài</a:t>
            </a:r>
            <a:r>
              <a:rPr lang="en-US">
                <a:latin typeface="Cambria" panose="02040503050406030204" pitchFamily="18" charset="0"/>
                <a:ea typeface="Cambria" panose="02040503050406030204" pitchFamily="18" charset="0"/>
              </a:rPr>
              <a:t> 4 – </a:t>
            </a:r>
            <a:r>
              <a:rPr lang="en-US" spc="-5" err="1">
                <a:latin typeface="Cambria" panose="02040503050406030204" pitchFamily="18" charset="0"/>
                <a:ea typeface="Cambria" panose="02040503050406030204" pitchFamily="18" charset="0"/>
                <a:cs typeface="Arial"/>
              </a:rPr>
              <a:t>Lập</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trình</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hướng</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tượng</a:t>
            </a:r>
            <a:endParaRPr lang="en-US">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a:solidFill>
                  <a:schemeClr val="bg1"/>
                </a:solidFill>
                <a:latin typeface="Cambria" panose="02040503050406030204" pitchFamily="18" charset="0"/>
              </a:rPr>
              <a:t>GIỚI THIỆU VỀ LẬP TRÌNH HƯỚNG ĐỐI TƯỢNG</a:t>
            </a:r>
          </a:p>
        </p:txBody>
      </p:sp>
      <p:pic>
        <p:nvPicPr>
          <p:cNvPr id="2" name="Picture 1"/>
          <p:cNvPicPr>
            <a:picLocks noChangeAspect="1"/>
          </p:cNvPicPr>
          <p:nvPr/>
        </p:nvPicPr>
        <p:blipFill>
          <a:blip r:embed="rId2"/>
          <a:stretch>
            <a:fillRect/>
          </a:stretch>
        </p:blipFill>
        <p:spPr>
          <a:xfrm>
            <a:off x="210900" y="1122376"/>
            <a:ext cx="11596787" cy="4473354"/>
          </a:xfrm>
          <a:prstGeom prst="rect">
            <a:avLst/>
          </a:prstGeom>
        </p:spPr>
      </p:pic>
    </p:spTree>
    <p:extLst>
      <p:ext uri="{BB962C8B-B14F-4D97-AF65-F5344CB8AC3E}">
        <p14:creationId xmlns:p14="http://schemas.microsoft.com/office/powerpoint/2010/main" val="1373938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latin typeface="Cambria" panose="02040503050406030204" pitchFamily="18" charset="0"/>
                <a:ea typeface="Cambria" panose="02040503050406030204" pitchFamily="18" charset="0"/>
              </a:rPr>
              <a:t>Bài</a:t>
            </a:r>
            <a:r>
              <a:rPr lang="en-US">
                <a:latin typeface="Cambria" panose="02040503050406030204" pitchFamily="18" charset="0"/>
                <a:ea typeface="Cambria" panose="02040503050406030204" pitchFamily="18" charset="0"/>
              </a:rPr>
              <a:t> 4 – </a:t>
            </a:r>
            <a:r>
              <a:rPr lang="en-US" spc="-5" err="1">
                <a:latin typeface="Cambria" panose="02040503050406030204" pitchFamily="18" charset="0"/>
                <a:ea typeface="Cambria" panose="02040503050406030204" pitchFamily="18" charset="0"/>
                <a:cs typeface="Arial"/>
              </a:rPr>
              <a:t>Lập</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trình</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hướng</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tượng</a:t>
            </a:r>
            <a:endParaRPr lang="en-US">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a:solidFill>
                  <a:schemeClr val="bg1"/>
                </a:solidFill>
                <a:latin typeface="Cambria" panose="02040503050406030204" pitchFamily="18" charset="0"/>
              </a:rPr>
              <a:t>GIỚI THIỆU VỀ LẬP TRÌNH HƯỚNG ĐỐI TƯỢNG</a:t>
            </a:r>
          </a:p>
        </p:txBody>
      </p:sp>
      <p:pic>
        <p:nvPicPr>
          <p:cNvPr id="3" name="Picture 2"/>
          <p:cNvPicPr>
            <a:picLocks noChangeAspect="1"/>
          </p:cNvPicPr>
          <p:nvPr/>
        </p:nvPicPr>
        <p:blipFill>
          <a:blip r:embed="rId2"/>
          <a:stretch>
            <a:fillRect/>
          </a:stretch>
        </p:blipFill>
        <p:spPr>
          <a:xfrm>
            <a:off x="79513" y="969881"/>
            <a:ext cx="12040204" cy="4586093"/>
          </a:xfrm>
          <a:prstGeom prst="rect">
            <a:avLst/>
          </a:prstGeom>
        </p:spPr>
      </p:pic>
    </p:spTree>
    <p:extLst>
      <p:ext uri="{BB962C8B-B14F-4D97-AF65-F5344CB8AC3E}">
        <p14:creationId xmlns:p14="http://schemas.microsoft.com/office/powerpoint/2010/main" val="17394962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latin typeface="Cambria" panose="02040503050406030204" pitchFamily="18" charset="0"/>
                <a:ea typeface="Cambria" panose="02040503050406030204" pitchFamily="18" charset="0"/>
              </a:rPr>
              <a:t>Bài</a:t>
            </a:r>
            <a:r>
              <a:rPr lang="en-US">
                <a:latin typeface="Cambria" panose="02040503050406030204" pitchFamily="18" charset="0"/>
                <a:ea typeface="Cambria" panose="02040503050406030204" pitchFamily="18" charset="0"/>
              </a:rPr>
              <a:t> 4 – </a:t>
            </a:r>
            <a:r>
              <a:rPr lang="en-US" spc="-5" err="1">
                <a:latin typeface="Cambria" panose="02040503050406030204" pitchFamily="18" charset="0"/>
                <a:ea typeface="Cambria" panose="02040503050406030204" pitchFamily="18" charset="0"/>
                <a:cs typeface="Arial"/>
              </a:rPr>
              <a:t>Lập</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trình</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hướng</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tượng</a:t>
            </a:r>
            <a:endParaRPr lang="en-US">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a:solidFill>
                  <a:schemeClr val="bg1"/>
                </a:solidFill>
                <a:latin typeface="Cambria" panose="02040503050406030204" pitchFamily="18" charset="0"/>
              </a:rPr>
              <a:t>GIỚI THIỆU VỀ LẬP TRÌNH HƯỚNG ĐỐI TƯỢNG</a:t>
            </a:r>
          </a:p>
        </p:txBody>
      </p:sp>
      <p:sp>
        <p:nvSpPr>
          <p:cNvPr id="6" name="Content Placeholder 2"/>
          <p:cNvSpPr>
            <a:spLocks noGrp="1"/>
          </p:cNvSpPr>
          <p:nvPr>
            <p:ph idx="1"/>
          </p:nvPr>
        </p:nvSpPr>
        <p:spPr>
          <a:xfrm>
            <a:off x="1999404" y="852147"/>
            <a:ext cx="8229600" cy="5059363"/>
          </a:xfrm>
        </p:spPr>
        <p:txBody>
          <a:bodyPr>
            <a:normAutofit/>
          </a:bodyPr>
          <a:lstStyle/>
          <a:p>
            <a:pPr marL="0" indent="0" algn="ctr">
              <a:buNone/>
            </a:pPr>
            <a:r>
              <a:rPr lang="vi-VN" sz="2500" b="1">
                <a:latin typeface="Cambria" panose="02040503050406030204" pitchFamily="18" charset="0"/>
                <a:ea typeface="Cambria" panose="02040503050406030204" pitchFamily="18" charset="0"/>
              </a:rPr>
              <a:t>Lập trình hướng đối tượng có 4 tính chất</a:t>
            </a:r>
            <a:endParaRPr lang="en-US" sz="2500" b="1">
              <a:latin typeface="Cambria" panose="02040503050406030204" pitchFamily="18" charset="0"/>
              <a:ea typeface="Cambria" panose="02040503050406030204" pitchFamily="18" charset="0"/>
            </a:endParaRPr>
          </a:p>
        </p:txBody>
      </p:sp>
      <p:pic>
        <p:nvPicPr>
          <p:cNvPr id="10" name="Picture 9"/>
          <p:cNvPicPr>
            <a:picLocks noChangeAspect="1"/>
          </p:cNvPicPr>
          <p:nvPr/>
        </p:nvPicPr>
        <p:blipFill>
          <a:blip r:embed="rId2"/>
          <a:stretch>
            <a:fillRect/>
          </a:stretch>
        </p:blipFill>
        <p:spPr>
          <a:xfrm>
            <a:off x="1770804" y="1385547"/>
            <a:ext cx="8121015" cy="3733800"/>
          </a:xfrm>
          <a:prstGeom prst="rect">
            <a:avLst/>
          </a:prstGeom>
        </p:spPr>
      </p:pic>
    </p:spTree>
    <p:extLst>
      <p:ext uri="{BB962C8B-B14F-4D97-AF65-F5344CB8AC3E}">
        <p14:creationId xmlns:p14="http://schemas.microsoft.com/office/powerpoint/2010/main" val="22306811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latin typeface="Cambria" panose="02040503050406030204" pitchFamily="18" charset="0"/>
                <a:ea typeface="Cambria" panose="02040503050406030204" pitchFamily="18" charset="0"/>
              </a:rPr>
              <a:t>Bài</a:t>
            </a:r>
            <a:r>
              <a:rPr lang="en-US">
                <a:latin typeface="Cambria" panose="02040503050406030204" pitchFamily="18" charset="0"/>
                <a:ea typeface="Cambria" panose="02040503050406030204" pitchFamily="18" charset="0"/>
              </a:rPr>
              <a:t> 4 – </a:t>
            </a:r>
            <a:r>
              <a:rPr lang="en-US" spc="-5" err="1">
                <a:latin typeface="Cambria" panose="02040503050406030204" pitchFamily="18" charset="0"/>
                <a:ea typeface="Cambria" panose="02040503050406030204" pitchFamily="18" charset="0"/>
                <a:cs typeface="Arial"/>
              </a:rPr>
              <a:t>Lập</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trình</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hướng</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tượng</a:t>
            </a:r>
            <a:endParaRPr lang="en-US">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a:solidFill>
                  <a:schemeClr val="bg1"/>
                </a:solidFill>
                <a:latin typeface="Cambria" panose="02040503050406030204" pitchFamily="18" charset="0"/>
              </a:rPr>
              <a:t>ĐỐI TƯỢNG (OBJECT) LÀ GÌ?</a:t>
            </a:r>
          </a:p>
        </p:txBody>
      </p:sp>
      <p:pic>
        <p:nvPicPr>
          <p:cNvPr id="2" name="Picture 1"/>
          <p:cNvPicPr>
            <a:picLocks noChangeAspect="1"/>
          </p:cNvPicPr>
          <p:nvPr/>
        </p:nvPicPr>
        <p:blipFill>
          <a:blip r:embed="rId2"/>
          <a:stretch>
            <a:fillRect/>
          </a:stretch>
        </p:blipFill>
        <p:spPr>
          <a:xfrm>
            <a:off x="935772" y="841969"/>
            <a:ext cx="10086723" cy="5347178"/>
          </a:xfrm>
          <a:prstGeom prst="rect">
            <a:avLst/>
          </a:prstGeom>
        </p:spPr>
      </p:pic>
    </p:spTree>
    <p:extLst>
      <p:ext uri="{BB962C8B-B14F-4D97-AF65-F5344CB8AC3E}">
        <p14:creationId xmlns:p14="http://schemas.microsoft.com/office/powerpoint/2010/main" val="22233851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latin typeface="Cambria" panose="02040503050406030204" pitchFamily="18" charset="0"/>
                <a:ea typeface="Cambria" panose="02040503050406030204" pitchFamily="18" charset="0"/>
              </a:rPr>
              <a:t>Bài</a:t>
            </a:r>
            <a:r>
              <a:rPr lang="en-US">
                <a:latin typeface="Cambria" panose="02040503050406030204" pitchFamily="18" charset="0"/>
                <a:ea typeface="Cambria" panose="02040503050406030204" pitchFamily="18" charset="0"/>
              </a:rPr>
              <a:t> 4 – </a:t>
            </a:r>
            <a:r>
              <a:rPr lang="en-US" spc="-5" err="1">
                <a:latin typeface="Cambria" panose="02040503050406030204" pitchFamily="18" charset="0"/>
                <a:ea typeface="Cambria" panose="02040503050406030204" pitchFamily="18" charset="0"/>
                <a:cs typeface="Arial"/>
              </a:rPr>
              <a:t>Lập</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trình</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hướng</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tượng</a:t>
            </a:r>
            <a:endParaRPr lang="en-US">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a:solidFill>
                  <a:schemeClr val="bg1"/>
                </a:solidFill>
                <a:latin typeface="Cambria" panose="02040503050406030204" pitchFamily="18" charset="0"/>
              </a:rPr>
              <a:t>LỚP (CLASS) LÀ GÌ?</a:t>
            </a:r>
          </a:p>
        </p:txBody>
      </p:sp>
      <p:sp>
        <p:nvSpPr>
          <p:cNvPr id="3" name="Rectangle 2"/>
          <p:cNvSpPr/>
          <p:nvPr/>
        </p:nvSpPr>
        <p:spPr>
          <a:xfrm>
            <a:off x="270013" y="702509"/>
            <a:ext cx="11791122" cy="1246495"/>
          </a:xfrm>
          <a:prstGeom prst="rect">
            <a:avLst/>
          </a:prstGeom>
        </p:spPr>
        <p:txBody>
          <a:bodyPr wrap="square">
            <a:spAutoFit/>
          </a:bodyPr>
          <a:lstStyle/>
          <a:p>
            <a:pPr>
              <a:lnSpc>
                <a:spcPct val="150000"/>
              </a:lnSpc>
            </a:pPr>
            <a:r>
              <a:rPr lang="vi-VN" sz="2500">
                <a:solidFill>
                  <a:srgbClr val="000000"/>
                </a:solidFill>
                <a:latin typeface="Cambria" panose="02040503050406030204" pitchFamily="18" charset="0"/>
                <a:ea typeface="Cambria" panose="02040503050406030204" pitchFamily="18" charset="0"/>
              </a:rPr>
              <a:t>Các đối tượng có chung tính chất và hành vi</a:t>
            </a:r>
            <a:r>
              <a:rPr lang="en-US" sz="2500">
                <a:solidFill>
                  <a:srgbClr val="000000"/>
                </a:solidFill>
                <a:latin typeface="Cambria" panose="02040503050406030204" pitchFamily="18" charset="0"/>
                <a:ea typeface="Cambria" panose="02040503050406030204" pitchFamily="18" charset="0"/>
              </a:rPr>
              <a:t> </a:t>
            </a:r>
            <a:r>
              <a:rPr lang="vi-VN" sz="2500">
                <a:solidFill>
                  <a:srgbClr val="000000"/>
                </a:solidFill>
                <a:latin typeface="Cambria" panose="02040503050406030204" pitchFamily="18" charset="0"/>
                <a:ea typeface="Cambria" panose="02040503050406030204" pitchFamily="18" charset="0"/>
              </a:rPr>
              <a:t>được nhóm lại thành một Class. </a:t>
            </a:r>
            <a:endParaRPr lang="en-US" sz="2500">
              <a:solidFill>
                <a:srgbClr val="000000"/>
              </a:solidFill>
              <a:latin typeface="Cambria" panose="02040503050406030204" pitchFamily="18" charset="0"/>
              <a:ea typeface="Cambria" panose="02040503050406030204" pitchFamily="18" charset="0"/>
            </a:endParaRPr>
          </a:p>
          <a:p>
            <a:pPr>
              <a:lnSpc>
                <a:spcPct val="150000"/>
              </a:lnSpc>
            </a:pPr>
            <a:r>
              <a:rPr lang="vi-VN" sz="2500">
                <a:solidFill>
                  <a:srgbClr val="000000"/>
                </a:solidFill>
                <a:latin typeface="Cambria" panose="02040503050406030204" pitchFamily="18" charset="0"/>
                <a:ea typeface="Cambria" panose="02040503050406030204" pitchFamily="18" charset="0"/>
              </a:rPr>
              <a:t>Nói cách</a:t>
            </a:r>
            <a:r>
              <a:rPr lang="en-US" sz="2500">
                <a:solidFill>
                  <a:srgbClr val="000000"/>
                </a:solidFill>
                <a:latin typeface="Cambria" panose="02040503050406030204" pitchFamily="18" charset="0"/>
                <a:ea typeface="Cambria" panose="02040503050406030204" pitchFamily="18" charset="0"/>
              </a:rPr>
              <a:t> </a:t>
            </a:r>
            <a:r>
              <a:rPr lang="vi-VN" sz="2500">
                <a:solidFill>
                  <a:srgbClr val="000000"/>
                </a:solidFill>
                <a:latin typeface="Cambria" panose="02040503050406030204" pitchFamily="18" charset="0"/>
                <a:ea typeface="Cambria" panose="02040503050406030204" pitchFamily="18" charset="0"/>
              </a:rPr>
              <a:t>khác Class là một prototype để tạo ra các đối</a:t>
            </a:r>
            <a:r>
              <a:rPr lang="en-US" sz="2500">
                <a:solidFill>
                  <a:srgbClr val="000000"/>
                </a:solidFill>
                <a:latin typeface="Cambria" panose="02040503050406030204" pitchFamily="18" charset="0"/>
                <a:ea typeface="Cambria" panose="02040503050406030204" pitchFamily="18" charset="0"/>
              </a:rPr>
              <a:t> </a:t>
            </a:r>
            <a:r>
              <a:rPr lang="vi-VN" sz="2500">
                <a:solidFill>
                  <a:srgbClr val="000000"/>
                </a:solidFill>
                <a:latin typeface="Cambria" panose="02040503050406030204" pitchFamily="18" charset="0"/>
                <a:ea typeface="Cambria" panose="02040503050406030204" pitchFamily="18" charset="0"/>
              </a:rPr>
              <a:t>tượng</a:t>
            </a:r>
            <a:r>
              <a:rPr lang="vi-VN" sz="2500">
                <a:latin typeface="Cambria" panose="02040503050406030204" pitchFamily="18" charset="0"/>
                <a:ea typeface="Cambria" panose="02040503050406030204" pitchFamily="18" charset="0"/>
              </a:rPr>
              <a:t> </a:t>
            </a:r>
            <a:endParaRPr lang="en-US" sz="2500">
              <a:latin typeface="Cambria" panose="02040503050406030204" pitchFamily="18" charset="0"/>
              <a:ea typeface="Cambria" panose="02040503050406030204" pitchFamily="18" charset="0"/>
            </a:endParaRPr>
          </a:p>
        </p:txBody>
      </p:sp>
      <p:pic>
        <p:nvPicPr>
          <p:cNvPr id="4" name="Picture 3"/>
          <p:cNvPicPr>
            <a:picLocks noChangeAspect="1"/>
          </p:cNvPicPr>
          <p:nvPr/>
        </p:nvPicPr>
        <p:blipFill>
          <a:blip r:embed="rId2"/>
          <a:stretch>
            <a:fillRect/>
          </a:stretch>
        </p:blipFill>
        <p:spPr>
          <a:xfrm>
            <a:off x="7604592" y="1949004"/>
            <a:ext cx="4458200" cy="4060934"/>
          </a:xfrm>
          <a:prstGeom prst="rect">
            <a:avLst/>
          </a:prstGeom>
        </p:spPr>
      </p:pic>
      <p:pic>
        <p:nvPicPr>
          <p:cNvPr id="5" name="Picture 4"/>
          <p:cNvPicPr>
            <a:picLocks noChangeAspect="1"/>
          </p:cNvPicPr>
          <p:nvPr/>
        </p:nvPicPr>
        <p:blipFill>
          <a:blip r:embed="rId3"/>
          <a:stretch>
            <a:fillRect/>
          </a:stretch>
        </p:blipFill>
        <p:spPr>
          <a:xfrm>
            <a:off x="79513" y="1986011"/>
            <a:ext cx="4053063" cy="3584886"/>
          </a:xfrm>
          <a:prstGeom prst="rect">
            <a:avLst/>
          </a:prstGeom>
        </p:spPr>
      </p:pic>
      <p:sp>
        <p:nvSpPr>
          <p:cNvPr id="6" name="Right Brace 5"/>
          <p:cNvSpPr/>
          <p:nvPr/>
        </p:nvSpPr>
        <p:spPr>
          <a:xfrm>
            <a:off x="4248614" y="2897270"/>
            <a:ext cx="586409" cy="120263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Right Brace 9"/>
          <p:cNvSpPr/>
          <p:nvPr/>
        </p:nvSpPr>
        <p:spPr>
          <a:xfrm>
            <a:off x="4347789" y="4338430"/>
            <a:ext cx="586409" cy="104121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p:cNvSpPr txBox="1"/>
          <p:nvPr/>
        </p:nvSpPr>
        <p:spPr>
          <a:xfrm>
            <a:off x="5047058" y="3268709"/>
            <a:ext cx="2339008" cy="477054"/>
          </a:xfrm>
          <a:prstGeom prst="rect">
            <a:avLst/>
          </a:prstGeom>
          <a:noFill/>
        </p:spPr>
        <p:txBody>
          <a:bodyPr wrap="square" rtlCol="0">
            <a:spAutoFit/>
          </a:bodyPr>
          <a:lstStyle/>
          <a:p>
            <a:r>
              <a:rPr lang="en-US" sz="2500" b="1" err="1">
                <a:latin typeface="Cambria" panose="02040503050406030204" pitchFamily="18" charset="0"/>
                <a:ea typeface="Cambria" panose="02040503050406030204" pitchFamily="18" charset="0"/>
              </a:rPr>
              <a:t>Thuộc</a:t>
            </a:r>
            <a:r>
              <a:rPr lang="en-US" sz="2500" b="1">
                <a:latin typeface="Cambria" panose="02040503050406030204" pitchFamily="18" charset="0"/>
                <a:ea typeface="Cambria" panose="02040503050406030204" pitchFamily="18" charset="0"/>
              </a:rPr>
              <a:t> </a:t>
            </a:r>
            <a:r>
              <a:rPr lang="en-US" sz="2500" b="1" err="1">
                <a:latin typeface="Cambria" panose="02040503050406030204" pitchFamily="18" charset="0"/>
                <a:ea typeface="Cambria" panose="02040503050406030204" pitchFamily="18" charset="0"/>
              </a:rPr>
              <a:t>tính</a:t>
            </a:r>
            <a:endParaRPr lang="en-US" sz="2500" b="1">
              <a:latin typeface="Cambria" panose="02040503050406030204" pitchFamily="18" charset="0"/>
              <a:ea typeface="Cambria" panose="02040503050406030204" pitchFamily="18" charset="0"/>
            </a:endParaRPr>
          </a:p>
        </p:txBody>
      </p:sp>
      <p:sp>
        <p:nvSpPr>
          <p:cNvPr id="12" name="TextBox 11"/>
          <p:cNvSpPr txBox="1"/>
          <p:nvPr/>
        </p:nvSpPr>
        <p:spPr>
          <a:xfrm>
            <a:off x="4996070" y="4567950"/>
            <a:ext cx="2339008" cy="477054"/>
          </a:xfrm>
          <a:prstGeom prst="rect">
            <a:avLst/>
          </a:prstGeom>
          <a:noFill/>
        </p:spPr>
        <p:txBody>
          <a:bodyPr wrap="square" rtlCol="0">
            <a:spAutoFit/>
          </a:bodyPr>
          <a:lstStyle/>
          <a:p>
            <a:r>
              <a:rPr lang="en-US" sz="2500" b="1" err="1">
                <a:latin typeface="Cambria" panose="02040503050406030204" pitchFamily="18" charset="0"/>
                <a:ea typeface="Cambria" panose="02040503050406030204" pitchFamily="18" charset="0"/>
              </a:rPr>
              <a:t>Phương</a:t>
            </a:r>
            <a:r>
              <a:rPr lang="en-US" sz="2500" b="1">
                <a:latin typeface="Cambria" panose="02040503050406030204" pitchFamily="18" charset="0"/>
                <a:ea typeface="Cambria" panose="02040503050406030204" pitchFamily="18" charset="0"/>
              </a:rPr>
              <a:t> </a:t>
            </a:r>
            <a:r>
              <a:rPr lang="en-US" sz="2500" b="1" err="1">
                <a:latin typeface="Cambria" panose="02040503050406030204" pitchFamily="18" charset="0"/>
                <a:ea typeface="Cambria" panose="02040503050406030204" pitchFamily="18" charset="0"/>
              </a:rPr>
              <a:t>thức</a:t>
            </a:r>
            <a:endParaRPr lang="en-US" sz="2500" b="1">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6070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latin typeface="Cambria" panose="02040503050406030204" pitchFamily="18" charset="0"/>
                <a:ea typeface="Cambria" panose="02040503050406030204" pitchFamily="18" charset="0"/>
              </a:rPr>
              <a:t>Bài</a:t>
            </a:r>
            <a:r>
              <a:rPr lang="en-US">
                <a:latin typeface="Cambria" panose="02040503050406030204" pitchFamily="18" charset="0"/>
                <a:ea typeface="Cambria" panose="02040503050406030204" pitchFamily="18" charset="0"/>
              </a:rPr>
              <a:t> 4 – </a:t>
            </a:r>
            <a:r>
              <a:rPr lang="en-US" spc="-5" err="1">
                <a:latin typeface="Cambria" panose="02040503050406030204" pitchFamily="18" charset="0"/>
                <a:ea typeface="Cambria" panose="02040503050406030204" pitchFamily="18" charset="0"/>
                <a:cs typeface="Arial"/>
              </a:rPr>
              <a:t>Lập</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trình</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hướng</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tượng</a:t>
            </a:r>
            <a:endParaRPr lang="en-US">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a:solidFill>
                  <a:schemeClr val="bg1"/>
                </a:solidFill>
                <a:latin typeface="Cambria" panose="02040503050406030204" pitchFamily="18" charset="0"/>
              </a:rPr>
              <a:t>LỚP (CLASS) TRONG PYTHON</a:t>
            </a:r>
          </a:p>
        </p:txBody>
      </p:sp>
      <p:sp>
        <p:nvSpPr>
          <p:cNvPr id="4" name="TextBox 3"/>
          <p:cNvSpPr txBox="1"/>
          <p:nvPr/>
        </p:nvSpPr>
        <p:spPr>
          <a:xfrm>
            <a:off x="127054" y="677516"/>
            <a:ext cx="10108095" cy="477054"/>
          </a:xfrm>
          <a:prstGeom prst="rect">
            <a:avLst/>
          </a:prstGeom>
          <a:noFill/>
        </p:spPr>
        <p:txBody>
          <a:bodyPr wrap="square" rtlCol="0">
            <a:spAutoFit/>
          </a:bodyPr>
          <a:lstStyle/>
          <a:p>
            <a:r>
              <a:rPr lang="en-US" sz="2500" b="1" err="1">
                <a:latin typeface="Cambria" panose="02040503050406030204" pitchFamily="18" charset="0"/>
                <a:ea typeface="Cambria" panose="02040503050406030204" pitchFamily="18" charset="0"/>
              </a:rPr>
              <a:t>Khai</a:t>
            </a:r>
            <a:r>
              <a:rPr lang="en-US" sz="2500" b="1">
                <a:latin typeface="Cambria" panose="02040503050406030204" pitchFamily="18" charset="0"/>
                <a:ea typeface="Cambria" panose="02040503050406030204" pitchFamily="18" charset="0"/>
              </a:rPr>
              <a:t> </a:t>
            </a:r>
            <a:r>
              <a:rPr lang="en-US" sz="2500" b="1" err="1">
                <a:latin typeface="Cambria" panose="02040503050406030204" pitchFamily="18" charset="0"/>
                <a:ea typeface="Cambria" panose="02040503050406030204" pitchFamily="18" charset="0"/>
              </a:rPr>
              <a:t>báo</a:t>
            </a:r>
            <a:r>
              <a:rPr lang="en-US" sz="2500" b="1">
                <a:latin typeface="Cambria" panose="02040503050406030204" pitchFamily="18" charset="0"/>
                <a:ea typeface="Cambria" panose="02040503050406030204" pitchFamily="18" charset="0"/>
              </a:rPr>
              <a:t> </a:t>
            </a:r>
            <a:r>
              <a:rPr lang="en-US" sz="2500" b="1" err="1">
                <a:latin typeface="Cambria" panose="02040503050406030204" pitchFamily="18" charset="0"/>
                <a:ea typeface="Cambria" panose="02040503050406030204" pitchFamily="18" charset="0"/>
              </a:rPr>
              <a:t>lớp</a:t>
            </a:r>
            <a:r>
              <a:rPr lang="en-US" sz="2500" b="1">
                <a:latin typeface="Cambria" panose="02040503050406030204" pitchFamily="18" charset="0"/>
                <a:ea typeface="Cambria" panose="02040503050406030204" pitchFamily="18" charset="0"/>
              </a:rPr>
              <a:t>, </a:t>
            </a:r>
            <a:r>
              <a:rPr lang="en-US" sz="2500" b="1" err="1">
                <a:latin typeface="Cambria" panose="02040503050406030204" pitchFamily="18" charset="0"/>
                <a:ea typeface="Cambria" panose="02040503050406030204" pitchFamily="18" charset="0"/>
              </a:rPr>
              <a:t>tạo</a:t>
            </a:r>
            <a:r>
              <a:rPr lang="en-US" sz="2500" b="1">
                <a:latin typeface="Cambria" panose="02040503050406030204" pitchFamily="18" charset="0"/>
                <a:ea typeface="Cambria" panose="02040503050406030204" pitchFamily="18" charset="0"/>
              </a:rPr>
              <a:t> </a:t>
            </a:r>
            <a:r>
              <a:rPr lang="en-US" sz="2500" b="1" err="1">
                <a:latin typeface="Cambria" panose="02040503050406030204" pitchFamily="18" charset="0"/>
                <a:ea typeface="Cambria" panose="02040503050406030204" pitchFamily="18" charset="0"/>
              </a:rPr>
              <a:t>đối</a:t>
            </a:r>
            <a:r>
              <a:rPr lang="en-US" sz="2500" b="1">
                <a:latin typeface="Cambria" panose="02040503050406030204" pitchFamily="18" charset="0"/>
                <a:ea typeface="Cambria" panose="02040503050406030204" pitchFamily="18" charset="0"/>
              </a:rPr>
              <a:t> </a:t>
            </a:r>
            <a:r>
              <a:rPr lang="en-US" sz="2500" b="1" err="1">
                <a:latin typeface="Cambria" panose="02040503050406030204" pitchFamily="18" charset="0"/>
                <a:ea typeface="Cambria" panose="02040503050406030204" pitchFamily="18" charset="0"/>
              </a:rPr>
              <a:t>tượng</a:t>
            </a:r>
            <a:r>
              <a:rPr lang="en-US" sz="2500" b="1">
                <a:latin typeface="Cambria" panose="02040503050406030204" pitchFamily="18" charset="0"/>
                <a:ea typeface="Cambria" panose="02040503050406030204" pitchFamily="18" charset="0"/>
              </a:rPr>
              <a:t>, </a:t>
            </a:r>
            <a:r>
              <a:rPr lang="en-US" sz="2500" b="1" err="1">
                <a:latin typeface="Cambria" panose="02040503050406030204" pitchFamily="18" charset="0"/>
                <a:ea typeface="Cambria" panose="02040503050406030204" pitchFamily="18" charset="0"/>
              </a:rPr>
              <a:t>gán</a:t>
            </a:r>
            <a:r>
              <a:rPr lang="en-US" sz="2500" b="1">
                <a:latin typeface="Cambria" panose="02040503050406030204" pitchFamily="18" charset="0"/>
                <a:ea typeface="Cambria" panose="02040503050406030204" pitchFamily="18" charset="0"/>
              </a:rPr>
              <a:t> </a:t>
            </a:r>
            <a:r>
              <a:rPr lang="en-US" sz="2500" b="1" err="1">
                <a:latin typeface="Cambria" panose="02040503050406030204" pitchFamily="18" charset="0"/>
                <a:ea typeface="Cambria" panose="02040503050406030204" pitchFamily="18" charset="0"/>
              </a:rPr>
              <a:t>đối</a:t>
            </a:r>
            <a:r>
              <a:rPr lang="en-US" sz="2500" b="1">
                <a:latin typeface="Cambria" panose="02040503050406030204" pitchFamily="18" charset="0"/>
                <a:ea typeface="Cambria" panose="02040503050406030204" pitchFamily="18" charset="0"/>
              </a:rPr>
              <a:t> </a:t>
            </a:r>
            <a:r>
              <a:rPr lang="en-US" sz="2500" b="1" err="1">
                <a:latin typeface="Cambria" panose="02040503050406030204" pitchFamily="18" charset="0"/>
                <a:ea typeface="Cambria" panose="02040503050406030204" pitchFamily="18" charset="0"/>
              </a:rPr>
              <a:t>tượng</a:t>
            </a:r>
            <a:r>
              <a:rPr lang="en-US" sz="2500" b="1">
                <a:latin typeface="Cambria" panose="02040503050406030204" pitchFamily="18" charset="0"/>
                <a:ea typeface="Cambria" panose="02040503050406030204" pitchFamily="18" charset="0"/>
              </a:rPr>
              <a:t>, </a:t>
            </a:r>
            <a:r>
              <a:rPr lang="en-US" sz="2500" b="1" err="1">
                <a:latin typeface="Cambria" panose="02040503050406030204" pitchFamily="18" charset="0"/>
                <a:ea typeface="Cambria" panose="02040503050406030204" pitchFamily="18" charset="0"/>
              </a:rPr>
              <a:t>gọi</a:t>
            </a:r>
            <a:r>
              <a:rPr lang="en-US" sz="2500" b="1">
                <a:latin typeface="Cambria" panose="02040503050406030204" pitchFamily="18" charset="0"/>
                <a:ea typeface="Cambria" panose="02040503050406030204" pitchFamily="18" charset="0"/>
              </a:rPr>
              <a:t> </a:t>
            </a:r>
            <a:r>
              <a:rPr lang="en-US" sz="2500" b="1" err="1">
                <a:latin typeface="Cambria" panose="02040503050406030204" pitchFamily="18" charset="0"/>
                <a:ea typeface="Cambria" panose="02040503050406030204" pitchFamily="18" charset="0"/>
              </a:rPr>
              <a:t>phương</a:t>
            </a:r>
            <a:r>
              <a:rPr lang="en-US" sz="2500" b="1">
                <a:latin typeface="Cambria" panose="02040503050406030204" pitchFamily="18" charset="0"/>
                <a:ea typeface="Cambria" panose="02040503050406030204" pitchFamily="18" charset="0"/>
              </a:rPr>
              <a:t> </a:t>
            </a:r>
            <a:r>
              <a:rPr lang="en-US" sz="2500" b="1" err="1">
                <a:latin typeface="Cambria" panose="02040503050406030204" pitchFamily="18" charset="0"/>
                <a:ea typeface="Cambria" panose="02040503050406030204" pitchFamily="18" charset="0"/>
              </a:rPr>
              <a:t>thức</a:t>
            </a:r>
            <a:endParaRPr lang="en-US" sz="2500" b="1">
              <a:latin typeface="Cambria" panose="02040503050406030204" pitchFamily="18" charset="0"/>
              <a:ea typeface="Cambria" panose="02040503050406030204" pitchFamily="18" charset="0"/>
            </a:endParaRPr>
          </a:p>
        </p:txBody>
      </p:sp>
      <p:sp>
        <p:nvSpPr>
          <p:cNvPr id="2" name="TextBox 1"/>
          <p:cNvSpPr txBox="1"/>
          <p:nvPr/>
        </p:nvSpPr>
        <p:spPr>
          <a:xfrm>
            <a:off x="139149" y="1192697"/>
            <a:ext cx="11658600" cy="5093702"/>
          </a:xfrm>
          <a:prstGeom prst="rect">
            <a:avLst/>
          </a:prstGeom>
          <a:noFill/>
        </p:spPr>
        <p:txBody>
          <a:bodyPr wrap="square" rtlCol="0">
            <a:spAutoFit/>
          </a:bodyPr>
          <a:lstStyle/>
          <a:p>
            <a:pPr marL="342900" indent="-342900">
              <a:lnSpc>
                <a:spcPct val="130000"/>
              </a:lnSpc>
              <a:buFont typeface="Arial" panose="020B0604020202020204" pitchFamily="34" charset="0"/>
              <a:buChar char="•"/>
            </a:pPr>
            <a:r>
              <a:rPr lang="en-US" sz="2500" b="1" dirty="0" err="1">
                <a:latin typeface="Cambria" panose="02040503050406030204" pitchFamily="18" charset="0"/>
                <a:ea typeface="Cambria" panose="02040503050406030204" pitchFamily="18" charset="0"/>
              </a:rPr>
              <a:t>Khai</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báo</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lớp</a:t>
            </a:r>
            <a:r>
              <a:rPr lang="en-US" sz="2500" b="1" dirty="0">
                <a:latin typeface="Cambria" panose="02040503050406030204" pitchFamily="18" charset="0"/>
                <a:ea typeface="Cambria" panose="02040503050406030204" pitchFamily="18" charset="0"/>
              </a:rPr>
              <a:t>:</a:t>
            </a:r>
          </a:p>
          <a:p>
            <a:pPr marL="342900" indent="-342900">
              <a:lnSpc>
                <a:spcPct val="130000"/>
              </a:lnSpc>
              <a:buFont typeface="Arial" panose="020B0604020202020204" pitchFamily="34" charset="0"/>
              <a:buChar char="•"/>
            </a:pPr>
            <a:endParaRPr lang="en-US" sz="2500" b="1" dirty="0">
              <a:latin typeface="Cambria" panose="02040503050406030204" pitchFamily="18" charset="0"/>
              <a:ea typeface="Cambria" panose="02040503050406030204" pitchFamily="18" charset="0"/>
            </a:endParaRPr>
          </a:p>
          <a:p>
            <a:pPr marL="342900" indent="-342900">
              <a:lnSpc>
                <a:spcPct val="130000"/>
              </a:lnSpc>
              <a:buFont typeface="Arial" panose="020B0604020202020204" pitchFamily="34" charset="0"/>
              <a:buChar char="•"/>
            </a:pPr>
            <a:endParaRPr lang="en-US" sz="2500" b="1" dirty="0">
              <a:latin typeface="Cambria" panose="02040503050406030204" pitchFamily="18" charset="0"/>
              <a:ea typeface="Cambria" panose="02040503050406030204" pitchFamily="18" charset="0"/>
            </a:endParaRPr>
          </a:p>
          <a:p>
            <a:pPr>
              <a:lnSpc>
                <a:spcPct val="130000"/>
              </a:lnSpc>
            </a:pPr>
            <a:r>
              <a:rPr lang="vi-VN" sz="2500" b="1" dirty="0">
                <a:latin typeface="Cambria" panose="02040503050406030204" pitchFamily="18" charset="0"/>
                <a:ea typeface="Cambria" panose="02040503050406030204" pitchFamily="18" charset="0"/>
              </a:rPr>
              <a:t>Attribute</a:t>
            </a:r>
            <a:r>
              <a:rPr lang="vi-VN" sz="2500" dirty="0">
                <a:latin typeface="Cambria" panose="02040503050406030204" pitchFamily="18" charset="0"/>
                <a:ea typeface="Cambria" panose="02040503050406030204" pitchFamily="18" charset="0"/>
              </a:rPr>
              <a:t> – Thuộc tính là biến nằm trong một lớp. Thuộc tính mô tả các đặc</a:t>
            </a:r>
            <a:r>
              <a:rPr lang="en-US" sz="2500" dirty="0">
                <a:latin typeface="Cambria" panose="02040503050406030204" pitchFamily="18" charset="0"/>
                <a:ea typeface="Cambria" panose="02040503050406030204" pitchFamily="18" charset="0"/>
              </a:rPr>
              <a:t> </a:t>
            </a:r>
            <a:r>
              <a:rPr lang="vi-VN" sz="2500" dirty="0">
                <a:latin typeface="Cambria" panose="02040503050406030204" pitchFamily="18" charset="0"/>
                <a:ea typeface="Cambria" panose="02040503050406030204" pitchFamily="18" charset="0"/>
              </a:rPr>
              <a:t>tính của một đối tượng. </a:t>
            </a:r>
            <a:endParaRPr lang="en-US" sz="2500" dirty="0">
              <a:latin typeface="Cambria" panose="02040503050406030204" pitchFamily="18" charset="0"/>
              <a:ea typeface="Cambria" panose="02040503050406030204" pitchFamily="18" charset="0"/>
            </a:endParaRPr>
          </a:p>
          <a:p>
            <a:pPr>
              <a:lnSpc>
                <a:spcPct val="130000"/>
              </a:lnSpc>
            </a:pP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Khai</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báo</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thuộc</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tính</a:t>
            </a:r>
            <a:r>
              <a:rPr lang="en-US" sz="2500" b="1" dirty="0">
                <a:latin typeface="Cambria" panose="02040503050406030204" pitchFamily="18" charset="0"/>
                <a:ea typeface="Cambria" panose="02040503050406030204" pitchFamily="18" charset="0"/>
              </a:rPr>
              <a:t>: </a:t>
            </a:r>
            <a:r>
              <a:rPr lang="en-US" sz="2500" b="1" dirty="0" err="1">
                <a:solidFill>
                  <a:srgbClr val="FF0000"/>
                </a:solidFill>
                <a:latin typeface="Cambria" panose="02040503050406030204" pitchFamily="18" charset="0"/>
                <a:ea typeface="Cambria" panose="02040503050406030204" pitchFamily="18" charset="0"/>
              </a:rPr>
              <a:t>Ten_thuoc_tinh</a:t>
            </a:r>
            <a:r>
              <a:rPr lang="en-US" sz="2500" b="1" dirty="0">
                <a:solidFill>
                  <a:srgbClr val="FF0000"/>
                </a:solidFill>
                <a:latin typeface="Cambria" panose="02040503050406030204" pitchFamily="18" charset="0"/>
                <a:ea typeface="Cambria" panose="02040503050406030204" pitchFamily="18" charset="0"/>
              </a:rPr>
              <a:t>=&lt;</a:t>
            </a:r>
            <a:r>
              <a:rPr lang="en-US" sz="2500" b="1" dirty="0" err="1">
                <a:solidFill>
                  <a:srgbClr val="FF0000"/>
                </a:solidFill>
                <a:latin typeface="Cambria" panose="02040503050406030204" pitchFamily="18" charset="0"/>
                <a:ea typeface="Cambria" panose="02040503050406030204" pitchFamily="18" charset="0"/>
              </a:rPr>
              <a:t>giá</a:t>
            </a:r>
            <a:r>
              <a:rPr lang="en-US" sz="2500" b="1" dirty="0">
                <a:solidFill>
                  <a:srgbClr val="FF0000"/>
                </a:solidFill>
                <a:latin typeface="Cambria" panose="02040503050406030204" pitchFamily="18" charset="0"/>
                <a:ea typeface="Cambria" panose="02040503050406030204" pitchFamily="18" charset="0"/>
              </a:rPr>
              <a:t> </a:t>
            </a:r>
            <a:r>
              <a:rPr lang="en-US" sz="2500" b="1" dirty="0" err="1">
                <a:solidFill>
                  <a:srgbClr val="FF0000"/>
                </a:solidFill>
                <a:latin typeface="Cambria" panose="02040503050406030204" pitchFamily="18" charset="0"/>
                <a:ea typeface="Cambria" panose="02040503050406030204" pitchFamily="18" charset="0"/>
              </a:rPr>
              <a:t>trị</a:t>
            </a:r>
            <a:r>
              <a:rPr lang="en-US" sz="2500" b="1" dirty="0">
                <a:solidFill>
                  <a:srgbClr val="FF0000"/>
                </a:solidFill>
                <a:latin typeface="Cambria" panose="02040503050406030204" pitchFamily="18" charset="0"/>
                <a:ea typeface="Cambria" panose="02040503050406030204" pitchFamily="18" charset="0"/>
              </a:rPr>
              <a:t>&gt;</a:t>
            </a:r>
            <a:endParaRPr lang="en-US" sz="2500" b="1" dirty="0">
              <a:latin typeface="Cambria" panose="02040503050406030204" pitchFamily="18" charset="0"/>
              <a:ea typeface="Cambria" panose="02040503050406030204" pitchFamily="18" charset="0"/>
            </a:endParaRPr>
          </a:p>
          <a:p>
            <a:pPr>
              <a:lnSpc>
                <a:spcPct val="130000"/>
              </a:lnSpc>
            </a:pPr>
            <a:r>
              <a:rPr lang="vi-VN" sz="2500" b="1" dirty="0">
                <a:latin typeface="Cambria" panose="02040503050406030204" pitchFamily="18" charset="0"/>
                <a:ea typeface="Cambria" panose="02040503050406030204" pitchFamily="18" charset="0"/>
              </a:rPr>
              <a:t>Method</a:t>
            </a:r>
            <a:r>
              <a:rPr lang="vi-VN" sz="2500" dirty="0">
                <a:latin typeface="Cambria" panose="02040503050406030204" pitchFamily="18" charset="0"/>
                <a:ea typeface="Cambria" panose="02040503050406030204" pitchFamily="18" charset="0"/>
              </a:rPr>
              <a:t> – Phương thức là các hàm được định nghĩa bên trong một class.</a:t>
            </a:r>
            <a:r>
              <a:rPr lang="en-US" sz="2500" dirty="0">
                <a:latin typeface="Cambria" panose="02040503050406030204" pitchFamily="18" charset="0"/>
                <a:ea typeface="Cambria" panose="02040503050406030204" pitchFamily="18" charset="0"/>
              </a:rPr>
              <a:t> </a:t>
            </a:r>
            <a:r>
              <a:rPr lang="vi-VN" sz="2500" dirty="0">
                <a:latin typeface="Cambria" panose="02040503050406030204" pitchFamily="18" charset="0"/>
                <a:ea typeface="Cambria" panose="02040503050406030204" pitchFamily="18" charset="0"/>
              </a:rPr>
              <a:t>Các phương thức được sử dụng để thực hiện các công việc cụ thể. </a:t>
            </a:r>
            <a:endParaRPr lang="en-US" sz="2500" dirty="0">
              <a:latin typeface="Cambria" panose="02040503050406030204" pitchFamily="18" charset="0"/>
              <a:ea typeface="Cambria" panose="02040503050406030204" pitchFamily="18" charset="0"/>
            </a:endParaRPr>
          </a:p>
          <a:p>
            <a:pPr>
              <a:lnSpc>
                <a:spcPct val="130000"/>
              </a:lnSpc>
            </a:pP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Khai</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báo</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phương</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thức</a:t>
            </a:r>
            <a:r>
              <a:rPr lang="en-US" sz="2500" b="1" dirty="0">
                <a:latin typeface="Cambria" panose="02040503050406030204" pitchFamily="18" charset="0"/>
                <a:ea typeface="Cambria" panose="02040503050406030204" pitchFamily="18" charset="0"/>
              </a:rPr>
              <a:t>: </a:t>
            </a:r>
            <a:r>
              <a:rPr lang="en-US" sz="2500" dirty="0" err="1">
                <a:latin typeface="Cambria" panose="02040503050406030204" pitchFamily="18" charset="0"/>
                <a:ea typeface="Cambria" panose="02040503050406030204" pitchFamily="18" charset="0"/>
                <a:cs typeface="Tahoma" panose="020B0604030504040204" pitchFamily="34" charset="0"/>
              </a:rPr>
              <a:t>sử</a:t>
            </a:r>
            <a:r>
              <a:rPr lang="en-US" sz="2500" dirty="0">
                <a:latin typeface="Cambria" panose="02040503050406030204" pitchFamily="18" charset="0"/>
                <a:ea typeface="Cambria" panose="02040503050406030204" pitchFamily="18" charset="0"/>
                <a:cs typeface="Tahoma" panose="020B0604030504040204" pitchFamily="34" charset="0"/>
              </a:rPr>
              <a:t> </a:t>
            </a:r>
            <a:r>
              <a:rPr lang="en-US" sz="2500" dirty="0" err="1">
                <a:latin typeface="Cambria" panose="02040503050406030204" pitchFamily="18" charset="0"/>
                <a:ea typeface="Cambria" panose="02040503050406030204" pitchFamily="18" charset="0"/>
                <a:cs typeface="Tahoma" panose="020B0604030504040204" pitchFamily="34" charset="0"/>
              </a:rPr>
              <a:t>dụng</a:t>
            </a:r>
            <a:r>
              <a:rPr lang="en-US" sz="2500" dirty="0">
                <a:latin typeface="Cambria" panose="02040503050406030204" pitchFamily="18" charset="0"/>
                <a:ea typeface="Cambria" panose="02040503050406030204" pitchFamily="18" charset="0"/>
                <a:cs typeface="Tahoma" panose="020B0604030504040204" pitchFamily="34" charset="0"/>
              </a:rPr>
              <a:t> </a:t>
            </a:r>
            <a:r>
              <a:rPr lang="en-US" sz="2500" dirty="0" err="1">
                <a:latin typeface="Cambria" panose="02040503050406030204" pitchFamily="18" charset="0"/>
                <a:ea typeface="Cambria" panose="02040503050406030204" pitchFamily="18" charset="0"/>
                <a:cs typeface="Tahoma" panose="020B0604030504040204" pitchFamily="34" charset="0"/>
              </a:rPr>
              <a:t>từ</a:t>
            </a:r>
            <a:r>
              <a:rPr lang="en-US" sz="2500" dirty="0">
                <a:latin typeface="Cambria" panose="02040503050406030204" pitchFamily="18" charset="0"/>
                <a:ea typeface="Cambria" panose="02040503050406030204" pitchFamily="18" charset="0"/>
                <a:cs typeface="Tahoma" panose="020B0604030504040204" pitchFamily="34" charset="0"/>
              </a:rPr>
              <a:t> </a:t>
            </a:r>
            <a:r>
              <a:rPr lang="en-US" sz="2500" dirty="0" err="1">
                <a:latin typeface="Cambria" panose="02040503050406030204" pitchFamily="18" charset="0"/>
                <a:ea typeface="Cambria" panose="02040503050406030204" pitchFamily="18" charset="0"/>
                <a:cs typeface="Tahoma" panose="020B0604030504040204" pitchFamily="34" charset="0"/>
              </a:rPr>
              <a:t>khóa</a:t>
            </a:r>
            <a:r>
              <a:rPr lang="en-US" sz="2500" dirty="0">
                <a:latin typeface="Cambria" panose="02040503050406030204" pitchFamily="18" charset="0"/>
                <a:ea typeface="Cambria" panose="02040503050406030204" pitchFamily="18" charset="0"/>
                <a:cs typeface="Tahoma" panose="020B0604030504040204" pitchFamily="34" charset="0"/>
              </a:rPr>
              <a:t> </a:t>
            </a:r>
            <a:r>
              <a:rPr lang="en-US" sz="2500" b="1" i="1" dirty="0">
                <a:solidFill>
                  <a:srgbClr val="FF0000"/>
                </a:solidFill>
                <a:latin typeface="Cambria" panose="02040503050406030204" pitchFamily="18" charset="0"/>
                <a:ea typeface="Cambria" panose="02040503050406030204" pitchFamily="18" charset="0"/>
                <a:cs typeface="Tahoma" panose="020B0604030504040204" pitchFamily="34" charset="0"/>
              </a:rPr>
              <a:t>def </a:t>
            </a:r>
            <a:endParaRPr lang="en-US" sz="2500" b="1" dirty="0">
              <a:latin typeface="Cambria" panose="02040503050406030204" pitchFamily="18" charset="0"/>
              <a:ea typeface="Cambria" panose="02040503050406030204" pitchFamily="18" charset="0"/>
            </a:endParaRPr>
          </a:p>
          <a:p>
            <a:pPr marL="342900" indent="-342900">
              <a:lnSpc>
                <a:spcPct val="130000"/>
              </a:lnSpc>
              <a:buFont typeface="Arial" panose="020B0604020202020204" pitchFamily="34" charset="0"/>
              <a:buChar char="•"/>
            </a:pPr>
            <a:r>
              <a:rPr lang="en-US" sz="2500" b="1" dirty="0" err="1">
                <a:latin typeface="Cambria" panose="02040503050406030204" pitchFamily="18" charset="0"/>
                <a:ea typeface="Cambria" panose="02040503050406030204" pitchFamily="18" charset="0"/>
              </a:rPr>
              <a:t>Tạo</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đối</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tượng</a:t>
            </a:r>
            <a:r>
              <a:rPr lang="en-US" sz="2500" b="1" dirty="0">
                <a:latin typeface="Cambria" panose="02040503050406030204" pitchFamily="18" charset="0"/>
                <a:ea typeface="Cambria" panose="02040503050406030204" pitchFamily="18" charset="0"/>
              </a:rPr>
              <a:t>: </a:t>
            </a:r>
            <a:r>
              <a:rPr lang="en-US" sz="2500" b="1" dirty="0" err="1">
                <a:solidFill>
                  <a:srgbClr val="FF0000"/>
                </a:solidFill>
                <a:latin typeface="Cambria" panose="02040503050406030204" pitchFamily="18" charset="0"/>
                <a:ea typeface="Cambria" panose="02040503050406030204" pitchFamily="18" charset="0"/>
                <a:cs typeface="Tahoma" panose="020B0604030504040204" pitchFamily="34" charset="0"/>
              </a:rPr>
              <a:t>Ten_doi_tuong</a:t>
            </a:r>
            <a:r>
              <a:rPr lang="en-US" sz="2500" b="1" dirty="0">
                <a:solidFill>
                  <a:srgbClr val="FF0000"/>
                </a:solidFill>
                <a:latin typeface="Cambria" panose="02040503050406030204" pitchFamily="18" charset="0"/>
                <a:ea typeface="Cambria" panose="02040503050406030204" pitchFamily="18" charset="0"/>
                <a:cs typeface="Tahoma" panose="020B0604030504040204" pitchFamily="34" charset="0"/>
              </a:rPr>
              <a:t>=</a:t>
            </a:r>
            <a:r>
              <a:rPr lang="en-US" sz="2500" b="1" dirty="0" err="1">
                <a:solidFill>
                  <a:srgbClr val="FF0000"/>
                </a:solidFill>
                <a:latin typeface="Cambria" panose="02040503050406030204" pitchFamily="18" charset="0"/>
                <a:ea typeface="Cambria" panose="02040503050406030204" pitchFamily="18" charset="0"/>
                <a:cs typeface="Tahoma" panose="020B0604030504040204" pitchFamily="34" charset="0"/>
              </a:rPr>
              <a:t>Ten_lop</a:t>
            </a:r>
            <a:r>
              <a:rPr lang="en-US" sz="2500" b="1" dirty="0">
                <a:solidFill>
                  <a:srgbClr val="FF0000"/>
                </a:solidFill>
                <a:latin typeface="Cambria" panose="02040503050406030204" pitchFamily="18" charset="0"/>
                <a:ea typeface="Cambria" panose="02040503050406030204" pitchFamily="18" charset="0"/>
                <a:cs typeface="Tahoma" panose="020B0604030504040204" pitchFamily="34" charset="0"/>
              </a:rPr>
              <a:t>()</a:t>
            </a:r>
            <a:endParaRPr lang="en-US" sz="2500" b="1" dirty="0">
              <a:latin typeface="Cambria" panose="02040503050406030204" pitchFamily="18" charset="0"/>
              <a:ea typeface="Cambria" panose="02040503050406030204" pitchFamily="18" charset="0"/>
            </a:endParaRPr>
          </a:p>
        </p:txBody>
      </p:sp>
      <p:sp>
        <p:nvSpPr>
          <p:cNvPr id="13" name="Rectangle 12"/>
          <p:cNvSpPr/>
          <p:nvPr/>
        </p:nvSpPr>
        <p:spPr>
          <a:xfrm>
            <a:off x="3180885" y="1154570"/>
            <a:ext cx="4572000" cy="1246495"/>
          </a:xfrm>
          <a:prstGeom prst="rect">
            <a:avLst/>
          </a:prstGeom>
          <a:ln>
            <a:noFill/>
          </a:ln>
        </p:spPr>
        <p:txBody>
          <a:bodyPr>
            <a:spAutoFit/>
          </a:bodyPr>
          <a:lstStyle/>
          <a:p>
            <a:r>
              <a:rPr lang="en-US" sz="2500" b="1" dirty="0">
                <a:solidFill>
                  <a:srgbClr val="00B050"/>
                </a:solidFill>
                <a:latin typeface="Cambria" panose="02040503050406030204" pitchFamily="18" charset="0"/>
                <a:ea typeface="Cambria" panose="02040503050406030204" pitchFamily="18" charset="0"/>
              </a:rPr>
              <a:t>class</a:t>
            </a:r>
            <a:r>
              <a:rPr lang="en-US" sz="2500"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className</a:t>
            </a:r>
            <a:r>
              <a:rPr lang="en-US" sz="2500" dirty="0">
                <a:latin typeface="Cambria" panose="02040503050406030204" pitchFamily="18" charset="0"/>
                <a:ea typeface="Cambria" panose="02040503050406030204" pitchFamily="18" charset="0"/>
              </a:rPr>
              <a:t>:</a:t>
            </a:r>
          </a:p>
          <a:p>
            <a:r>
              <a:rPr lang="en-US" sz="2500" dirty="0">
                <a:latin typeface="Cambria" panose="02040503050406030204" pitchFamily="18" charset="0"/>
                <a:ea typeface="Cambria" panose="02040503050406030204" pitchFamily="18" charset="0"/>
              </a:rPr>
              <a:t>    </a:t>
            </a:r>
            <a:r>
              <a:rPr lang="en-US" sz="2500" b="1" dirty="0">
                <a:latin typeface="Cambria" panose="02040503050406030204" pitchFamily="18" charset="0"/>
                <a:ea typeface="Cambria" panose="02040503050406030204" pitchFamily="18" charset="0"/>
              </a:rPr>
              <a:t># </a:t>
            </a:r>
            <a:r>
              <a:rPr lang="vi-VN" sz="2500" dirty="0">
                <a:latin typeface="Cambria" panose="02040503050406030204" pitchFamily="18" charset="0"/>
                <a:ea typeface="Cambria" panose="02040503050406030204" pitchFamily="18" charset="0"/>
              </a:rPr>
              <a:t>Attribute</a:t>
            </a:r>
            <a:endParaRPr lang="en-US" sz="2500" dirty="0">
              <a:latin typeface="Cambria" panose="02040503050406030204" pitchFamily="18" charset="0"/>
              <a:ea typeface="Cambria" panose="02040503050406030204" pitchFamily="18" charset="0"/>
            </a:endParaRPr>
          </a:p>
          <a:p>
            <a:r>
              <a:rPr lang="en-US" sz="2500" b="1" dirty="0">
                <a:latin typeface="Cambria" panose="02040503050406030204" pitchFamily="18" charset="0"/>
                <a:ea typeface="Cambria" panose="02040503050406030204" pitchFamily="18" charset="0"/>
              </a:rPr>
              <a:t>    # </a:t>
            </a:r>
            <a:r>
              <a:rPr lang="en-US" sz="2500" dirty="0">
                <a:latin typeface="Cambria" panose="02040503050406030204" pitchFamily="18" charset="0"/>
                <a:ea typeface="Cambria" panose="02040503050406030204" pitchFamily="18" charset="0"/>
              </a:rPr>
              <a:t>Method </a:t>
            </a:r>
            <a:endParaRPr lang="en-US" sz="25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162261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latin typeface="Cambria" panose="02040503050406030204" pitchFamily="18" charset="0"/>
                <a:ea typeface="Cambria" panose="02040503050406030204" pitchFamily="18" charset="0"/>
              </a:rPr>
              <a:t>Bài</a:t>
            </a:r>
            <a:r>
              <a:rPr lang="en-US">
                <a:latin typeface="Cambria" panose="02040503050406030204" pitchFamily="18" charset="0"/>
                <a:ea typeface="Cambria" panose="02040503050406030204" pitchFamily="18" charset="0"/>
              </a:rPr>
              <a:t> 4 – </a:t>
            </a:r>
            <a:r>
              <a:rPr lang="en-US" spc="-5" err="1">
                <a:latin typeface="Cambria" panose="02040503050406030204" pitchFamily="18" charset="0"/>
                <a:ea typeface="Cambria" panose="02040503050406030204" pitchFamily="18" charset="0"/>
                <a:cs typeface="Arial"/>
              </a:rPr>
              <a:t>Lập</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trình</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hướng</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tượng</a:t>
            </a:r>
            <a:endParaRPr lang="en-US">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a:solidFill>
                  <a:schemeClr val="bg1"/>
                </a:solidFill>
                <a:latin typeface="Cambria" panose="02040503050406030204" pitchFamily="18" charset="0"/>
              </a:rPr>
              <a:t>LỚP (CLASS) TRONG PYTHON</a:t>
            </a:r>
          </a:p>
        </p:txBody>
      </p:sp>
      <p:sp>
        <p:nvSpPr>
          <p:cNvPr id="4" name="TextBox 3"/>
          <p:cNvSpPr txBox="1"/>
          <p:nvPr/>
        </p:nvSpPr>
        <p:spPr>
          <a:xfrm>
            <a:off x="127054" y="677516"/>
            <a:ext cx="11932424" cy="861774"/>
          </a:xfrm>
          <a:prstGeom prst="rect">
            <a:avLst/>
          </a:prstGeom>
          <a:noFill/>
        </p:spPr>
        <p:txBody>
          <a:bodyPr wrap="square" rtlCol="0">
            <a:spAutoFit/>
          </a:bodyPr>
          <a:lstStyle/>
          <a:p>
            <a:pPr fontAlgn="base"/>
            <a:r>
              <a:rPr lang="en-US" sz="2500" b="1" dirty="0" err="1">
                <a:latin typeface="Cambria" panose="02040503050406030204" pitchFamily="18" charset="0"/>
                <a:ea typeface="Cambria" panose="02040503050406030204" pitchFamily="18" charset="0"/>
              </a:rPr>
              <a:t>Ví</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dụ</a:t>
            </a:r>
            <a:r>
              <a:rPr lang="en-US" sz="2500" b="1" dirty="0">
                <a:latin typeface="Cambria" panose="02040503050406030204" pitchFamily="18" charset="0"/>
                <a:ea typeface="Cambria" panose="02040503050406030204" pitchFamily="18" charset="0"/>
              </a:rPr>
              <a:t> 1: </a:t>
            </a:r>
            <a:r>
              <a:rPr lang="vi-VN" sz="2500" dirty="0">
                <a:solidFill>
                  <a:srgbClr val="414141"/>
                </a:solidFill>
                <a:latin typeface="Cambria" panose="02040503050406030204" pitchFamily="18" charset="0"/>
                <a:ea typeface="Cambria" panose="02040503050406030204" pitchFamily="18" charset="0"/>
              </a:rPr>
              <a:t>Tạo class </a:t>
            </a:r>
            <a:r>
              <a:rPr lang="en-US" sz="2500" b="1" dirty="0" err="1">
                <a:solidFill>
                  <a:srgbClr val="414141"/>
                </a:solidFill>
                <a:latin typeface="Cambria" panose="02040503050406030204" pitchFamily="18" charset="0"/>
                <a:ea typeface="Cambria" panose="02040503050406030204" pitchFamily="18" charset="0"/>
              </a:rPr>
              <a:t>sinhVien</a:t>
            </a:r>
            <a:r>
              <a:rPr lang="vi-VN" sz="2500" b="1" dirty="0">
                <a:solidFill>
                  <a:srgbClr val="414141"/>
                </a:solidFill>
                <a:latin typeface="Cambria" panose="02040503050406030204" pitchFamily="18" charset="0"/>
                <a:ea typeface="Cambria" panose="02040503050406030204" pitchFamily="18" charset="0"/>
              </a:rPr>
              <a:t> </a:t>
            </a:r>
            <a:r>
              <a:rPr lang="vi-VN" sz="2500" dirty="0">
                <a:solidFill>
                  <a:srgbClr val="414141"/>
                </a:solidFill>
                <a:latin typeface="Cambria" panose="02040503050406030204" pitchFamily="18" charset="0"/>
                <a:ea typeface="Cambria" panose="02040503050406030204" pitchFamily="18" charset="0"/>
              </a:rPr>
              <a:t>gồm </a:t>
            </a:r>
            <a:r>
              <a:rPr lang="en-US" sz="2500" dirty="0">
                <a:solidFill>
                  <a:srgbClr val="414141"/>
                </a:solidFill>
                <a:latin typeface="Cambria" panose="02040503050406030204" pitchFamily="18" charset="0"/>
                <a:ea typeface="Cambria" panose="02040503050406030204" pitchFamily="18" charset="0"/>
              </a:rPr>
              <a:t>4</a:t>
            </a:r>
            <a:r>
              <a:rPr lang="vi-VN" sz="2500" dirty="0">
                <a:solidFill>
                  <a:srgbClr val="414141"/>
                </a:solidFill>
                <a:latin typeface="Cambria" panose="02040503050406030204" pitchFamily="18" charset="0"/>
                <a:ea typeface="Cambria" panose="02040503050406030204" pitchFamily="18" charset="0"/>
              </a:rPr>
              <a:t> thuộc tính gồm</a:t>
            </a:r>
            <a:r>
              <a:rPr lang="en-US" sz="2500" dirty="0">
                <a:solidFill>
                  <a:srgbClr val="414141"/>
                </a:solidFill>
                <a:latin typeface="Cambria" panose="02040503050406030204" pitchFamily="18" charset="0"/>
                <a:ea typeface="Cambria" panose="02040503050406030204" pitchFamily="18" charset="0"/>
              </a:rPr>
              <a:t>: </a:t>
            </a:r>
            <a:r>
              <a:rPr lang="vi-VN" sz="2500" dirty="0">
                <a:solidFill>
                  <a:srgbClr val="414141"/>
                </a:solidFill>
                <a:latin typeface="Cambria" panose="02040503050406030204" pitchFamily="18" charset="0"/>
                <a:ea typeface="Cambria" panose="02040503050406030204" pitchFamily="18" charset="0"/>
              </a:rPr>
              <a:t>mã sinh viên</a:t>
            </a:r>
            <a:r>
              <a:rPr lang="en-US" sz="2500" dirty="0">
                <a:solidFill>
                  <a:srgbClr val="414141"/>
                </a:solidFill>
                <a:latin typeface="Cambria" panose="02040503050406030204" pitchFamily="18" charset="0"/>
                <a:ea typeface="Cambria" panose="02040503050406030204" pitchFamily="18" charset="0"/>
              </a:rPr>
              <a:t>, </a:t>
            </a:r>
            <a:r>
              <a:rPr lang="en-US" sz="2500" dirty="0" err="1">
                <a:solidFill>
                  <a:srgbClr val="414141"/>
                </a:solidFill>
                <a:latin typeface="Cambria" panose="02040503050406030204" pitchFamily="18" charset="0"/>
                <a:ea typeface="Cambria" panose="02040503050406030204" pitchFamily="18" charset="0"/>
              </a:rPr>
              <a:t>họ</a:t>
            </a:r>
            <a:r>
              <a:rPr lang="en-US" sz="2500" dirty="0">
                <a:solidFill>
                  <a:srgbClr val="414141"/>
                </a:solidFill>
                <a:latin typeface="Cambria" panose="02040503050406030204" pitchFamily="18" charset="0"/>
                <a:ea typeface="Cambria" panose="02040503050406030204" pitchFamily="18" charset="0"/>
              </a:rPr>
              <a:t> </a:t>
            </a:r>
            <a:r>
              <a:rPr lang="en-US" sz="2500" dirty="0" err="1">
                <a:solidFill>
                  <a:srgbClr val="414141"/>
                </a:solidFill>
                <a:latin typeface="Cambria" panose="02040503050406030204" pitchFamily="18" charset="0"/>
                <a:ea typeface="Cambria" panose="02040503050406030204" pitchFamily="18" charset="0"/>
              </a:rPr>
              <a:t>tên</a:t>
            </a:r>
            <a:r>
              <a:rPr lang="en-US" sz="2500" dirty="0">
                <a:solidFill>
                  <a:srgbClr val="414141"/>
                </a:solidFill>
                <a:latin typeface="Cambria" panose="02040503050406030204" pitchFamily="18" charset="0"/>
                <a:ea typeface="Cambria" panose="02040503050406030204" pitchFamily="18" charset="0"/>
              </a:rPr>
              <a:t>, </a:t>
            </a:r>
            <a:r>
              <a:rPr lang="en-US" sz="2500" dirty="0" err="1">
                <a:solidFill>
                  <a:srgbClr val="414141"/>
                </a:solidFill>
                <a:latin typeface="Cambria" panose="02040503050406030204" pitchFamily="18" charset="0"/>
                <a:ea typeface="Cambria" panose="02040503050406030204" pitchFamily="18" charset="0"/>
              </a:rPr>
              <a:t>địa</a:t>
            </a:r>
            <a:r>
              <a:rPr lang="en-US" sz="2500" dirty="0">
                <a:solidFill>
                  <a:srgbClr val="414141"/>
                </a:solidFill>
                <a:latin typeface="Cambria" panose="02040503050406030204" pitchFamily="18" charset="0"/>
                <a:ea typeface="Cambria" panose="02040503050406030204" pitchFamily="18" charset="0"/>
              </a:rPr>
              <a:t> </a:t>
            </a:r>
            <a:r>
              <a:rPr lang="en-US" sz="2500" dirty="0" err="1">
                <a:solidFill>
                  <a:srgbClr val="414141"/>
                </a:solidFill>
                <a:latin typeface="Cambria" panose="02040503050406030204" pitchFamily="18" charset="0"/>
                <a:ea typeface="Cambria" panose="02040503050406030204" pitchFamily="18" charset="0"/>
              </a:rPr>
              <a:t>chỉ</a:t>
            </a:r>
            <a:r>
              <a:rPr lang="en-US" sz="2500" dirty="0">
                <a:solidFill>
                  <a:srgbClr val="414141"/>
                </a:solidFill>
                <a:latin typeface="Cambria" panose="02040503050406030204" pitchFamily="18" charset="0"/>
                <a:ea typeface="Cambria" panose="02040503050406030204" pitchFamily="18" charset="0"/>
              </a:rPr>
              <a:t>, </a:t>
            </a:r>
            <a:r>
              <a:rPr lang="en-US" sz="2500" dirty="0" err="1">
                <a:solidFill>
                  <a:srgbClr val="414141"/>
                </a:solidFill>
                <a:latin typeface="Cambria" panose="02040503050406030204" pitchFamily="18" charset="0"/>
                <a:ea typeface="Cambria" panose="02040503050406030204" pitchFamily="18" charset="0"/>
              </a:rPr>
              <a:t>tuổi</a:t>
            </a:r>
            <a:r>
              <a:rPr lang="en-US" sz="2500" dirty="0">
                <a:solidFill>
                  <a:srgbClr val="414141"/>
                </a:solidFill>
                <a:latin typeface="Cambria" panose="02040503050406030204" pitchFamily="18" charset="0"/>
                <a:ea typeface="Cambria" panose="02040503050406030204" pitchFamily="18" charset="0"/>
              </a:rPr>
              <a:t> </a:t>
            </a:r>
            <a:r>
              <a:rPr lang="en-US" sz="2500" dirty="0" err="1">
                <a:solidFill>
                  <a:srgbClr val="414141"/>
                </a:solidFill>
                <a:latin typeface="Cambria" panose="02040503050406030204" pitchFamily="18" charset="0"/>
                <a:ea typeface="Cambria" panose="02040503050406030204" pitchFamily="18" charset="0"/>
              </a:rPr>
              <a:t>sinh</a:t>
            </a:r>
            <a:r>
              <a:rPr lang="en-US" sz="2500" dirty="0">
                <a:solidFill>
                  <a:srgbClr val="414141"/>
                </a:solidFill>
                <a:latin typeface="Cambria" panose="02040503050406030204" pitchFamily="18" charset="0"/>
                <a:ea typeface="Cambria" panose="02040503050406030204" pitchFamily="18" charset="0"/>
              </a:rPr>
              <a:t> </a:t>
            </a:r>
            <a:r>
              <a:rPr lang="en-US" sz="2500" dirty="0" err="1">
                <a:solidFill>
                  <a:srgbClr val="414141"/>
                </a:solidFill>
                <a:latin typeface="Cambria" panose="02040503050406030204" pitchFamily="18" charset="0"/>
                <a:ea typeface="Cambria" panose="02040503050406030204" pitchFamily="18" charset="0"/>
              </a:rPr>
              <a:t>viên</a:t>
            </a:r>
            <a:r>
              <a:rPr lang="en-US" sz="2500" dirty="0">
                <a:solidFill>
                  <a:srgbClr val="414141"/>
                </a:solidFill>
                <a:latin typeface="Cambria" panose="02040503050406030204" pitchFamily="18" charset="0"/>
                <a:ea typeface="Cambria" panose="02040503050406030204" pitchFamily="18" charset="0"/>
              </a:rPr>
              <a:t> </a:t>
            </a:r>
            <a:r>
              <a:rPr lang="en-US" sz="2500" dirty="0" err="1">
                <a:solidFill>
                  <a:srgbClr val="414141"/>
                </a:solidFill>
                <a:latin typeface="Cambria" panose="02040503050406030204" pitchFamily="18" charset="0"/>
                <a:ea typeface="Cambria" panose="02040503050406030204" pitchFamily="18" charset="0"/>
              </a:rPr>
              <a:t>và</a:t>
            </a:r>
            <a:r>
              <a:rPr lang="en-US" sz="2500" dirty="0">
                <a:solidFill>
                  <a:srgbClr val="414141"/>
                </a:solidFill>
                <a:latin typeface="Cambria" panose="02040503050406030204" pitchFamily="18" charset="0"/>
                <a:ea typeface="Cambria" panose="02040503050406030204" pitchFamily="18" charset="0"/>
              </a:rPr>
              <a:t> 1 </a:t>
            </a:r>
            <a:r>
              <a:rPr lang="en-US" sz="2500" dirty="0" err="1">
                <a:solidFill>
                  <a:srgbClr val="414141"/>
                </a:solidFill>
                <a:latin typeface="Cambria" panose="02040503050406030204" pitchFamily="18" charset="0"/>
                <a:ea typeface="Cambria" panose="02040503050406030204" pitchFamily="18" charset="0"/>
              </a:rPr>
              <a:t>phương</a:t>
            </a:r>
            <a:r>
              <a:rPr lang="en-US" sz="2500" dirty="0">
                <a:solidFill>
                  <a:srgbClr val="414141"/>
                </a:solidFill>
                <a:latin typeface="Cambria" panose="02040503050406030204" pitchFamily="18" charset="0"/>
                <a:ea typeface="Cambria" panose="02040503050406030204" pitchFamily="18" charset="0"/>
              </a:rPr>
              <a:t> </a:t>
            </a:r>
            <a:r>
              <a:rPr lang="en-US" sz="2500" dirty="0" err="1">
                <a:solidFill>
                  <a:srgbClr val="414141"/>
                </a:solidFill>
                <a:latin typeface="Cambria" panose="02040503050406030204" pitchFamily="18" charset="0"/>
                <a:ea typeface="Cambria" panose="02040503050406030204" pitchFamily="18" charset="0"/>
              </a:rPr>
              <a:t>thức</a:t>
            </a:r>
            <a:r>
              <a:rPr lang="vi-VN" sz="2500" dirty="0">
                <a:solidFill>
                  <a:srgbClr val="414141"/>
                </a:solidFill>
                <a:latin typeface="Cambria" panose="02040503050406030204" pitchFamily="18" charset="0"/>
                <a:ea typeface="Cambria" panose="02040503050406030204" pitchFamily="18" charset="0"/>
              </a:rPr>
              <a:t> hiển thị thông tin sinh viên</a:t>
            </a:r>
            <a:endParaRPr lang="vi-VN" sz="2500" b="0" i="0" dirty="0">
              <a:solidFill>
                <a:srgbClr val="414141"/>
              </a:solidFill>
              <a:effectLst/>
              <a:latin typeface="Cambria" panose="02040503050406030204" pitchFamily="18" charset="0"/>
              <a:ea typeface="Cambria" panose="02040503050406030204" pitchFamily="18" charset="0"/>
            </a:endParaRPr>
          </a:p>
        </p:txBody>
      </p:sp>
      <p:sp>
        <p:nvSpPr>
          <p:cNvPr id="12" name="Rectangle 11">
            <a:extLst>
              <a:ext uri="{FF2B5EF4-FFF2-40B4-BE49-F238E27FC236}">
                <a16:creationId xmlns:a16="http://schemas.microsoft.com/office/drawing/2014/main" id="{8C82985C-CC5B-4544-9EAF-16397F8CE3BD}"/>
              </a:ext>
            </a:extLst>
          </p:cNvPr>
          <p:cNvSpPr/>
          <p:nvPr/>
        </p:nvSpPr>
        <p:spPr>
          <a:xfrm>
            <a:off x="410817" y="5907200"/>
            <a:ext cx="11427741" cy="477054"/>
          </a:xfrm>
          <a:prstGeom prst="rect">
            <a:avLst/>
          </a:prstGeom>
        </p:spPr>
        <p:txBody>
          <a:bodyPr wrap="square">
            <a:spAutoFit/>
          </a:bodyPr>
          <a:lstStyle/>
          <a:p>
            <a:r>
              <a:rPr lang="vi-VN" sz="2500">
                <a:latin typeface="Cambria" panose="02040503050406030204" pitchFamily="18" charset="0"/>
                <a:ea typeface="Cambria" panose="02040503050406030204" pitchFamily="18" charset="0"/>
                <a:cs typeface="Tahoma" panose="020B0604030504040204" pitchFamily="34" charset="0"/>
              </a:rPr>
              <a:t>Self là tham số ảo </a:t>
            </a:r>
            <a:r>
              <a:rPr lang="vi-VN" sz="2500" b="1">
                <a:latin typeface="Cambria" panose="02040503050406030204" pitchFamily="18" charset="0"/>
                <a:ea typeface="Cambria" panose="02040503050406030204" pitchFamily="18" charset="0"/>
                <a:cs typeface="Tahoma" panose="020B0604030504040204" pitchFamily="34" charset="0"/>
              </a:rPr>
              <a:t>bắt buộc</a:t>
            </a:r>
            <a:r>
              <a:rPr lang="vi-VN" sz="2500">
                <a:latin typeface="Cambria" panose="02040503050406030204" pitchFamily="18" charset="0"/>
                <a:ea typeface="Cambria" panose="02040503050406030204" pitchFamily="18" charset="0"/>
                <a:cs typeface="Tahoma" panose="020B0604030504040204" pitchFamily="34" charset="0"/>
              </a:rPr>
              <a:t> truyền vào khi khai báo phương thức</a:t>
            </a:r>
            <a:r>
              <a:rPr lang="en-US" sz="2500">
                <a:latin typeface="Cambria" panose="02040503050406030204" pitchFamily="18" charset="0"/>
                <a:ea typeface="Cambria" panose="02040503050406030204" pitchFamily="18" charset="0"/>
                <a:cs typeface="Tahoma" panose="020B0604030504040204" pitchFamily="34" charset="0"/>
              </a:rPr>
              <a:t>. </a:t>
            </a:r>
          </a:p>
        </p:txBody>
      </p:sp>
      <p:sp>
        <p:nvSpPr>
          <p:cNvPr id="6" name="Rectangle 1">
            <a:extLst>
              <a:ext uri="{FF2B5EF4-FFF2-40B4-BE49-F238E27FC236}">
                <a16:creationId xmlns:a16="http://schemas.microsoft.com/office/drawing/2014/main" id="{E092916D-0A4D-4FED-84C4-9DA285AEDC42}"/>
              </a:ext>
            </a:extLst>
          </p:cNvPr>
          <p:cNvSpPr>
            <a:spLocks noChangeArrowheads="1"/>
          </p:cNvSpPr>
          <p:nvPr/>
        </p:nvSpPr>
        <p:spPr bwMode="auto">
          <a:xfrm>
            <a:off x="353442" y="1563717"/>
            <a:ext cx="6325946" cy="4339650"/>
          </a:xfrm>
          <a:prstGeom prst="rect">
            <a:avLst/>
          </a:prstGeom>
          <a:solidFill>
            <a:schemeClr val="tx1"/>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dirty="0">
                <a:ln>
                  <a:noFill/>
                </a:ln>
                <a:solidFill>
                  <a:srgbClr val="808080"/>
                </a:solidFill>
                <a:effectLst/>
                <a:latin typeface="JetBrains Mono"/>
              </a:rPr>
              <a:t>#Khai </a:t>
            </a:r>
            <a:r>
              <a:rPr kumimoji="0" lang="en-US" altLang="en-US" sz="2300" b="0" i="0" u="none" strike="noStrike" cap="none" normalizeH="0" baseline="0" dirty="0" err="1">
                <a:ln>
                  <a:noFill/>
                </a:ln>
                <a:solidFill>
                  <a:srgbClr val="808080"/>
                </a:solidFill>
                <a:effectLst/>
                <a:latin typeface="JetBrains Mono"/>
              </a:rPr>
              <a:t>báo</a:t>
            </a:r>
            <a:r>
              <a:rPr kumimoji="0" lang="en-US" altLang="en-US" sz="2300" b="0" i="0" u="none" strike="noStrike" cap="none" normalizeH="0" baseline="0" dirty="0">
                <a:ln>
                  <a:noFill/>
                </a:ln>
                <a:solidFill>
                  <a:srgbClr val="808080"/>
                </a:solidFill>
                <a:effectLst/>
                <a:latin typeface="JetBrains Mono"/>
              </a:rPr>
              <a:t> 1 </a:t>
            </a:r>
            <a:r>
              <a:rPr kumimoji="0" lang="en-US" altLang="en-US" sz="2300" b="0" i="0" u="none" strike="noStrike" cap="none" normalizeH="0" baseline="0" dirty="0" err="1">
                <a:ln>
                  <a:noFill/>
                </a:ln>
                <a:solidFill>
                  <a:srgbClr val="808080"/>
                </a:solidFill>
                <a:effectLst/>
                <a:latin typeface="JetBrains Mono"/>
              </a:rPr>
              <a:t>lớp</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có</a:t>
            </a:r>
            <a:r>
              <a:rPr kumimoji="0" lang="en-US" altLang="en-US" sz="2300" b="0" i="0" u="none" strike="noStrike" cap="none" normalizeH="0" baseline="0" dirty="0">
                <a:ln>
                  <a:noFill/>
                </a:ln>
                <a:solidFill>
                  <a:srgbClr val="808080"/>
                </a:solidFill>
                <a:effectLst/>
                <a:latin typeface="JetBrains Mono"/>
              </a:rPr>
              <a:t> 4 </a:t>
            </a:r>
            <a:r>
              <a:rPr kumimoji="0" lang="en-US" altLang="en-US" sz="2300" b="0" i="0" u="none" strike="noStrike" cap="none" normalizeH="0" baseline="0" dirty="0" err="1">
                <a:ln>
                  <a:noFill/>
                </a:ln>
                <a:solidFill>
                  <a:srgbClr val="808080"/>
                </a:solidFill>
                <a:effectLst/>
                <a:latin typeface="JetBrains Mono"/>
              </a:rPr>
              <a:t>thuộc</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tính</a:t>
            </a:r>
            <a:r>
              <a:rPr kumimoji="0" lang="en-US" altLang="en-US" sz="2300" b="0" i="0" u="none" strike="noStrike" cap="none" normalizeH="0" baseline="0" dirty="0">
                <a:ln>
                  <a:noFill/>
                </a:ln>
                <a:solidFill>
                  <a:srgbClr val="808080"/>
                </a:solidFill>
                <a:effectLst/>
                <a:latin typeface="JetBrains Mono"/>
              </a:rPr>
              <a:t>, 1 </a:t>
            </a:r>
            <a:r>
              <a:rPr kumimoji="0" lang="en-US" altLang="en-US" sz="2300" b="0" i="0" u="none" strike="noStrike" cap="none" normalizeH="0" baseline="0" dirty="0" err="1">
                <a:ln>
                  <a:noFill/>
                </a:ln>
                <a:solidFill>
                  <a:srgbClr val="808080"/>
                </a:solidFill>
                <a:effectLst/>
                <a:latin typeface="JetBrains Mono"/>
              </a:rPr>
              <a:t>phuong</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thức</a:t>
            </a:r>
            <a:br>
              <a:rPr kumimoji="0" lang="en-US" altLang="en-US" sz="2300" b="0" i="0" u="none" strike="noStrike" cap="none" normalizeH="0" baseline="0" dirty="0">
                <a:ln>
                  <a:noFill/>
                </a:ln>
                <a:solidFill>
                  <a:srgbClr val="808080"/>
                </a:solidFill>
                <a:effectLst/>
                <a:latin typeface="JetBrains Mono"/>
              </a:rPr>
            </a:br>
            <a:r>
              <a:rPr kumimoji="0" lang="en-US" altLang="en-US" sz="2300" b="0" i="0" u="none" strike="noStrike" cap="none" normalizeH="0" baseline="0" dirty="0">
                <a:ln>
                  <a:noFill/>
                </a:ln>
                <a:solidFill>
                  <a:srgbClr val="CC7832"/>
                </a:solidFill>
                <a:effectLst/>
                <a:latin typeface="JetBrains Mono"/>
              </a:rPr>
              <a:t>class </a:t>
            </a:r>
            <a:r>
              <a:rPr kumimoji="0" lang="en-US" altLang="en-US" sz="2300" b="0" i="0" u="none" strike="noStrike" cap="none" normalizeH="0" baseline="0" dirty="0" err="1">
                <a:ln>
                  <a:noFill/>
                </a:ln>
                <a:solidFill>
                  <a:srgbClr val="A9B7C6"/>
                </a:solidFill>
                <a:effectLst/>
                <a:latin typeface="JetBrains Mono"/>
              </a:rPr>
              <a:t>sinhVien</a:t>
            </a:r>
            <a:r>
              <a:rPr kumimoji="0" lang="en-US" altLang="en-US" sz="2300" b="0" i="0" u="none" strike="noStrike" cap="none" normalizeH="0" baseline="0" dirty="0">
                <a:ln>
                  <a:noFill/>
                </a:ln>
                <a:solidFill>
                  <a:srgbClr val="A9B7C6"/>
                </a:solidFill>
                <a:effectLst/>
                <a:latin typeface="JetBrains Mono"/>
              </a:rPr>
              <a:t>:</a:t>
            </a:r>
            <a:br>
              <a:rPr kumimoji="0" lang="en-US" altLang="en-US" sz="2300" b="0" i="0" u="none" strike="noStrike" cap="none" normalizeH="0" baseline="0" dirty="0">
                <a:ln>
                  <a:noFill/>
                </a:ln>
                <a:solidFill>
                  <a:srgbClr val="A9B7C6"/>
                </a:solidFill>
                <a:effectLst/>
                <a:latin typeface="JetBrains Mono"/>
              </a:rPr>
            </a:br>
            <a:r>
              <a:rPr kumimoji="0" lang="en-US" altLang="en-US" sz="2300" b="0" i="0" u="none" strike="noStrike" cap="none" normalizeH="0" baseline="0" dirty="0">
                <a:ln>
                  <a:noFill/>
                </a:ln>
                <a:solidFill>
                  <a:srgbClr val="A9B7C6"/>
                </a:solidFill>
                <a:effectLst/>
                <a:latin typeface="JetBrains Mono"/>
              </a:rPr>
              <a:t>    </a:t>
            </a:r>
            <a:r>
              <a:rPr kumimoji="0" lang="en-US" altLang="en-US" sz="2300" b="0" i="0" u="none" strike="noStrike" cap="none" normalizeH="0" baseline="0" dirty="0">
                <a:ln>
                  <a:noFill/>
                </a:ln>
                <a:solidFill>
                  <a:srgbClr val="808080"/>
                </a:solidFill>
                <a:effectLst/>
                <a:latin typeface="JetBrains Mono"/>
              </a:rPr>
              <a:t>#thuộc </a:t>
            </a:r>
            <a:r>
              <a:rPr kumimoji="0" lang="en-US" altLang="en-US" sz="2300" b="0" i="0" u="none" strike="noStrike" cap="none" normalizeH="0" baseline="0" dirty="0" err="1">
                <a:ln>
                  <a:noFill/>
                </a:ln>
                <a:solidFill>
                  <a:srgbClr val="808080"/>
                </a:solidFill>
                <a:effectLst/>
                <a:latin typeface="JetBrains Mono"/>
              </a:rPr>
              <a:t>tính</a:t>
            </a:r>
            <a:br>
              <a:rPr kumimoji="0" lang="en-US" altLang="en-US" sz="2300" b="0" i="0" u="none" strike="noStrike" cap="none" normalizeH="0" baseline="0" dirty="0">
                <a:ln>
                  <a:noFill/>
                </a:ln>
                <a:solidFill>
                  <a:srgbClr val="808080"/>
                </a:solidFill>
                <a:effectLst/>
                <a:latin typeface="JetBrains Mono"/>
              </a:rPr>
            </a:b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A9B7C6"/>
                </a:solidFill>
                <a:effectLst/>
                <a:latin typeface="JetBrains Mono"/>
              </a:rPr>
              <a:t>masv</a:t>
            </a:r>
            <a:r>
              <a:rPr kumimoji="0" lang="en-US" altLang="en-US" sz="2300" b="0" i="0" u="none" strike="noStrike" cap="none" normalizeH="0" baseline="0" dirty="0">
                <a:ln>
                  <a:noFill/>
                </a:ln>
                <a:solidFill>
                  <a:srgbClr val="A9B7C6"/>
                </a:solidFill>
                <a:effectLst/>
                <a:latin typeface="JetBrains Mono"/>
              </a:rPr>
              <a:t>=</a:t>
            </a:r>
            <a:r>
              <a:rPr kumimoji="0" lang="en-US" altLang="en-US" sz="2300" b="0" i="0" u="none" strike="noStrike" cap="none" normalizeH="0" baseline="0" dirty="0">
                <a:ln>
                  <a:noFill/>
                </a:ln>
                <a:solidFill>
                  <a:srgbClr val="6A8759"/>
                </a:solidFill>
                <a:effectLst/>
                <a:latin typeface="JetBrains Mono"/>
              </a:rPr>
              <a:t>""</a:t>
            </a:r>
            <a:br>
              <a:rPr kumimoji="0" lang="en-US" altLang="en-US" sz="2300" b="0" i="0" u="none" strike="noStrike" cap="none" normalizeH="0" baseline="0" dirty="0">
                <a:ln>
                  <a:noFill/>
                </a:ln>
                <a:solidFill>
                  <a:srgbClr val="6A8759"/>
                </a:solidFill>
                <a:effectLst/>
                <a:latin typeface="JetBrains Mono"/>
              </a:rPr>
            </a:b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A9B7C6"/>
                </a:solidFill>
                <a:effectLst/>
                <a:latin typeface="JetBrains Mono"/>
              </a:rPr>
              <a:t>ht</a:t>
            </a:r>
            <a:r>
              <a:rPr kumimoji="0" lang="en-US" altLang="en-US" sz="2300" b="0" i="0" u="none" strike="noStrike" cap="none" normalizeH="0" baseline="0" dirty="0">
                <a:ln>
                  <a:noFill/>
                </a:ln>
                <a:solidFill>
                  <a:srgbClr val="A9B7C6"/>
                </a:solidFill>
                <a:effectLst/>
                <a:latin typeface="JetBrains Mono"/>
              </a:rPr>
              <a:t>=</a:t>
            </a:r>
            <a:r>
              <a:rPr kumimoji="0" lang="en-US" altLang="en-US" sz="2300" b="0" i="0" u="none" strike="noStrike" cap="none" normalizeH="0" baseline="0" dirty="0">
                <a:ln>
                  <a:noFill/>
                </a:ln>
                <a:solidFill>
                  <a:srgbClr val="6A8759"/>
                </a:solidFill>
                <a:effectLst/>
                <a:latin typeface="JetBrains Mono"/>
              </a:rPr>
              <a:t>""</a:t>
            </a:r>
            <a:br>
              <a:rPr kumimoji="0" lang="en-US" altLang="en-US" sz="2300" b="0" i="0" u="none" strike="noStrike" cap="none" normalizeH="0" baseline="0" dirty="0">
                <a:ln>
                  <a:noFill/>
                </a:ln>
                <a:solidFill>
                  <a:srgbClr val="6A8759"/>
                </a:solidFill>
                <a:effectLst/>
                <a:latin typeface="JetBrains Mono"/>
              </a:rPr>
            </a:b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A9B7C6"/>
                </a:solidFill>
                <a:effectLst/>
                <a:latin typeface="JetBrains Mono"/>
              </a:rPr>
              <a:t>tuoi</a:t>
            </a:r>
            <a:r>
              <a:rPr kumimoji="0" lang="en-US" altLang="en-US" sz="2300" b="0" i="0" u="none" strike="noStrike" cap="none" normalizeH="0" baseline="0" dirty="0">
                <a:ln>
                  <a:noFill/>
                </a:ln>
                <a:solidFill>
                  <a:srgbClr val="A9B7C6"/>
                </a:solidFill>
                <a:effectLst/>
                <a:latin typeface="JetBrains Mono"/>
              </a:rPr>
              <a:t>=</a:t>
            </a:r>
            <a:r>
              <a:rPr kumimoji="0" lang="en-US" altLang="en-US" sz="2300" b="0" i="0" u="none" strike="noStrike" cap="none" normalizeH="0" baseline="0" dirty="0">
                <a:ln>
                  <a:noFill/>
                </a:ln>
                <a:solidFill>
                  <a:srgbClr val="6897BB"/>
                </a:solidFill>
                <a:effectLst/>
                <a:latin typeface="JetBrains Mono"/>
              </a:rPr>
              <a:t>0</a:t>
            </a:r>
            <a:br>
              <a:rPr kumimoji="0" lang="en-US" altLang="en-US" sz="2300" b="0" i="0" u="none" strike="noStrike" cap="none" normalizeH="0" baseline="0" dirty="0">
                <a:ln>
                  <a:noFill/>
                </a:ln>
                <a:solidFill>
                  <a:srgbClr val="6897BB"/>
                </a:solidFill>
                <a:effectLst/>
                <a:latin typeface="JetBrains Mono"/>
              </a:rPr>
            </a:br>
            <a:r>
              <a:rPr kumimoji="0" lang="en-US" altLang="en-US" sz="2300" b="0" i="0" u="none" strike="noStrike" cap="none" normalizeH="0" baseline="0" dirty="0">
                <a:ln>
                  <a:noFill/>
                </a:ln>
                <a:solidFill>
                  <a:srgbClr val="6897BB"/>
                </a:solidFill>
                <a:effectLst/>
                <a:latin typeface="JetBrains Mono"/>
              </a:rPr>
              <a:t>    </a:t>
            </a:r>
            <a:r>
              <a:rPr kumimoji="0" lang="en-US" altLang="en-US" sz="2300" b="0" i="0" u="none" strike="noStrike" cap="none" normalizeH="0" baseline="0" dirty="0">
                <a:ln>
                  <a:noFill/>
                </a:ln>
                <a:solidFill>
                  <a:srgbClr val="A9B7C6"/>
                </a:solidFill>
                <a:effectLst/>
                <a:latin typeface="JetBrains Mono"/>
              </a:rPr>
              <a:t>dc=</a:t>
            </a:r>
            <a:r>
              <a:rPr kumimoji="0" lang="en-US" altLang="en-US" sz="2300" b="0" i="0" u="none" strike="noStrike" cap="none" normalizeH="0" baseline="0" dirty="0">
                <a:ln>
                  <a:noFill/>
                </a:ln>
                <a:solidFill>
                  <a:srgbClr val="6A8759"/>
                </a:solidFill>
                <a:effectLst/>
                <a:latin typeface="JetBrains Mono"/>
              </a:rPr>
              <a:t>""</a:t>
            </a:r>
            <a:br>
              <a:rPr kumimoji="0" lang="en-US" altLang="en-US" sz="2300" b="0" i="0" u="none" strike="noStrike" cap="none" normalizeH="0" baseline="0" dirty="0">
                <a:ln>
                  <a:noFill/>
                </a:ln>
                <a:solidFill>
                  <a:srgbClr val="6A8759"/>
                </a:solidFill>
                <a:effectLst/>
                <a:latin typeface="JetBrains Mono"/>
              </a:rPr>
            </a:b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a:ln>
                  <a:noFill/>
                </a:ln>
                <a:solidFill>
                  <a:srgbClr val="CC7832"/>
                </a:solidFill>
                <a:effectLst/>
                <a:latin typeface="JetBrains Mono"/>
              </a:rPr>
              <a:t>def </a:t>
            </a:r>
            <a:r>
              <a:rPr kumimoji="0" lang="en-US" altLang="en-US" sz="2300" b="0" i="0" u="none" strike="noStrike" cap="none" normalizeH="0" baseline="0" dirty="0" err="1">
                <a:ln>
                  <a:noFill/>
                </a:ln>
                <a:solidFill>
                  <a:srgbClr val="FFC66D"/>
                </a:solidFill>
                <a:effectLst/>
                <a:latin typeface="JetBrains Mono"/>
              </a:rPr>
              <a:t>hienthi</a:t>
            </a:r>
            <a:r>
              <a:rPr kumimoji="0" lang="en-US" altLang="en-US" sz="2300" b="0" i="0" u="none" strike="noStrike" cap="none" normalizeH="0" baseline="0" dirty="0">
                <a:ln>
                  <a:noFill/>
                </a:ln>
                <a:solidFill>
                  <a:srgbClr val="A9B7C6"/>
                </a:solidFill>
                <a:effectLst/>
                <a:latin typeface="JetBrains Mono"/>
              </a:rPr>
              <a:t>(</a:t>
            </a:r>
            <a:r>
              <a:rPr kumimoji="0" lang="en-US" altLang="en-US" sz="2300" b="0" i="0" u="none" strike="noStrike" cap="none" normalizeH="0" baseline="0" dirty="0">
                <a:ln>
                  <a:noFill/>
                </a:ln>
                <a:solidFill>
                  <a:srgbClr val="94558D"/>
                </a:solidFill>
                <a:effectLst/>
                <a:latin typeface="JetBrains Mono"/>
              </a:rPr>
              <a:t>self</a:t>
            </a:r>
            <a:r>
              <a:rPr kumimoji="0" lang="en-US" altLang="en-US" sz="2300" b="0" i="0" u="none" strike="noStrike" cap="none" normalizeH="0" baseline="0" dirty="0">
                <a:ln>
                  <a:noFill/>
                </a:ln>
                <a:solidFill>
                  <a:srgbClr val="A9B7C6"/>
                </a:solidFill>
                <a:effectLst/>
                <a:latin typeface="JetBrains Mono"/>
              </a:rPr>
              <a:t>):</a:t>
            </a:r>
            <a:br>
              <a:rPr kumimoji="0" lang="en-US" altLang="en-US" sz="2300" b="0" i="0" u="none" strike="noStrike" cap="none" normalizeH="0" baseline="0" dirty="0">
                <a:ln>
                  <a:noFill/>
                </a:ln>
                <a:solidFill>
                  <a:srgbClr val="A9B7C6"/>
                </a:solidFill>
                <a:effectLst/>
                <a:latin typeface="JetBrains Mono"/>
              </a:rPr>
            </a:br>
            <a:r>
              <a:rPr kumimoji="0" lang="en-US" altLang="en-US" sz="2300" b="0" i="0" u="none" strike="noStrike" cap="none" normalizeH="0" baseline="0" dirty="0">
                <a:ln>
                  <a:noFill/>
                </a:ln>
                <a:solidFill>
                  <a:srgbClr val="A9B7C6"/>
                </a:solidFill>
                <a:effectLst/>
                <a:latin typeface="JetBrains Mono"/>
              </a:rPr>
              <a:t>        </a:t>
            </a:r>
            <a:r>
              <a:rPr kumimoji="0" lang="en-US" altLang="en-US" sz="2300" b="0" i="0" u="none" strike="noStrike" cap="none" normalizeH="0" baseline="0" dirty="0">
                <a:ln>
                  <a:noFill/>
                </a:ln>
                <a:solidFill>
                  <a:srgbClr val="8888C6"/>
                </a:solidFill>
                <a:effectLst/>
                <a:latin typeface="JetBrains Mono"/>
              </a:rPr>
              <a:t>print</a:t>
            </a:r>
            <a:r>
              <a:rPr kumimoji="0" lang="en-US" altLang="en-US" sz="2300" b="0" i="0" u="none" strike="noStrike" cap="none" normalizeH="0" baseline="0" dirty="0">
                <a:ln>
                  <a:noFill/>
                </a:ln>
                <a:solidFill>
                  <a:srgbClr val="A9B7C6"/>
                </a:solidFill>
                <a:effectLst/>
                <a:latin typeface="JetBrains Mono"/>
              </a:rPr>
              <a:t>(</a:t>
            </a:r>
            <a:r>
              <a:rPr kumimoji="0" lang="en-US" altLang="en-US" sz="2300" b="0" i="0" u="none" strike="noStrike" cap="none" normalizeH="0" baseline="0" dirty="0">
                <a:ln>
                  <a:noFill/>
                </a:ln>
                <a:solidFill>
                  <a:srgbClr val="6A8759"/>
                </a:solidFill>
                <a:effectLst/>
                <a:latin typeface="JetBrains Mono"/>
              </a:rPr>
              <a:t>"</a:t>
            </a:r>
            <a:r>
              <a:rPr kumimoji="0" lang="en-US" altLang="en-US" sz="2300" b="0" i="0" u="none" strike="noStrike" cap="none" normalizeH="0" baseline="0" dirty="0" err="1">
                <a:ln>
                  <a:noFill/>
                </a:ln>
                <a:solidFill>
                  <a:srgbClr val="6A8759"/>
                </a:solidFill>
                <a:effectLst/>
                <a:latin typeface="JetBrains Mono"/>
              </a:rPr>
              <a:t>Mã</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sinh</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viên</a:t>
            </a:r>
            <a:r>
              <a:rPr kumimoji="0" lang="en-US" altLang="en-US" sz="2300" b="0" i="0" u="none" strike="noStrike" cap="none" normalizeH="0" baseline="0" dirty="0">
                <a:ln>
                  <a:noFill/>
                </a:ln>
                <a:solidFill>
                  <a:srgbClr val="6A8759"/>
                </a:solidFill>
                <a:effectLst/>
                <a:latin typeface="JetBrains Mono"/>
              </a:rPr>
              <a:t>:"</a:t>
            </a:r>
            <a:r>
              <a:rPr kumimoji="0" lang="en-US" altLang="en-US" sz="2300" b="0" i="0" u="none" strike="noStrike" cap="none" normalizeH="0" baseline="0" dirty="0">
                <a:ln>
                  <a:noFill/>
                </a:ln>
                <a:solidFill>
                  <a:srgbClr val="CC7832"/>
                </a:solidFill>
                <a:effectLst/>
                <a:latin typeface="JetBrains Mono"/>
              </a:rPr>
              <a:t>,</a:t>
            </a:r>
            <a:r>
              <a:rPr kumimoji="0" lang="en-US" altLang="en-US" sz="2300" b="0" i="0" u="none" strike="noStrike" cap="none" normalizeH="0" baseline="0" dirty="0" err="1">
                <a:ln>
                  <a:noFill/>
                </a:ln>
                <a:solidFill>
                  <a:srgbClr val="94558D"/>
                </a:solidFill>
                <a:effectLst/>
                <a:latin typeface="JetBrains Mono"/>
              </a:rPr>
              <a:t>self</a:t>
            </a:r>
            <a:r>
              <a:rPr kumimoji="0" lang="en-US" altLang="en-US" sz="2300" b="0" i="0" u="none" strike="noStrike" cap="none" normalizeH="0" baseline="0" dirty="0" err="1">
                <a:ln>
                  <a:noFill/>
                </a:ln>
                <a:solidFill>
                  <a:srgbClr val="A9B7C6"/>
                </a:solidFill>
                <a:effectLst/>
                <a:latin typeface="JetBrains Mono"/>
              </a:rPr>
              <a:t>.masv</a:t>
            </a:r>
            <a:r>
              <a:rPr kumimoji="0" lang="en-US" altLang="en-US" sz="2300" b="0" i="0" u="none" strike="noStrike" cap="none" normalizeH="0" baseline="0" dirty="0">
                <a:ln>
                  <a:noFill/>
                </a:ln>
                <a:solidFill>
                  <a:srgbClr val="A9B7C6"/>
                </a:solidFill>
                <a:effectLst/>
                <a:latin typeface="JetBrains Mono"/>
              </a:rPr>
              <a:t>)</a:t>
            </a:r>
            <a:br>
              <a:rPr kumimoji="0" lang="en-US" altLang="en-US" sz="2300" b="0" i="0" u="none" strike="noStrike" cap="none" normalizeH="0" baseline="0" dirty="0">
                <a:ln>
                  <a:noFill/>
                </a:ln>
                <a:solidFill>
                  <a:srgbClr val="A9B7C6"/>
                </a:solidFill>
                <a:effectLst/>
                <a:latin typeface="JetBrains Mono"/>
              </a:rPr>
            </a:br>
            <a:r>
              <a:rPr kumimoji="0" lang="en-US" altLang="en-US" sz="2300" b="0" i="0" u="none" strike="noStrike" cap="none" normalizeH="0" baseline="0" dirty="0">
                <a:ln>
                  <a:noFill/>
                </a:ln>
                <a:solidFill>
                  <a:srgbClr val="A9B7C6"/>
                </a:solidFill>
                <a:effectLst/>
                <a:latin typeface="JetBrains Mono"/>
              </a:rPr>
              <a:t>        </a:t>
            </a:r>
            <a:r>
              <a:rPr kumimoji="0" lang="en-US" altLang="en-US" sz="2300" b="0" i="0" u="none" strike="noStrike" cap="none" normalizeH="0" baseline="0" dirty="0">
                <a:ln>
                  <a:noFill/>
                </a:ln>
                <a:solidFill>
                  <a:srgbClr val="8888C6"/>
                </a:solidFill>
                <a:effectLst/>
                <a:latin typeface="JetBrains Mono"/>
              </a:rPr>
              <a:t>print</a:t>
            </a:r>
            <a:r>
              <a:rPr kumimoji="0" lang="en-US" altLang="en-US" sz="2300" b="0" i="0" u="none" strike="noStrike" cap="none" normalizeH="0" baseline="0" dirty="0">
                <a:ln>
                  <a:noFill/>
                </a:ln>
                <a:solidFill>
                  <a:srgbClr val="A9B7C6"/>
                </a:solidFill>
                <a:effectLst/>
                <a:latin typeface="JetBrains Mono"/>
              </a:rPr>
              <a:t>(</a:t>
            </a:r>
            <a:r>
              <a:rPr kumimoji="0" lang="en-US" altLang="en-US" sz="2300" b="0" i="0" u="none" strike="noStrike" cap="none" normalizeH="0" baseline="0" dirty="0">
                <a:ln>
                  <a:noFill/>
                </a:ln>
                <a:solidFill>
                  <a:srgbClr val="6A8759"/>
                </a:solidFill>
                <a:effectLst/>
                <a:latin typeface="JetBrains Mono"/>
              </a:rPr>
              <a:t>"</a:t>
            </a:r>
            <a:r>
              <a:rPr kumimoji="0" lang="en-US" altLang="en-US" sz="2300" b="0" i="0" u="none" strike="noStrike" cap="none" normalizeH="0" baseline="0" dirty="0" err="1">
                <a:ln>
                  <a:noFill/>
                </a:ln>
                <a:solidFill>
                  <a:srgbClr val="6A8759"/>
                </a:solidFill>
                <a:effectLst/>
                <a:latin typeface="JetBrains Mono"/>
              </a:rPr>
              <a:t>Họ</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tên</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sinh</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viên</a:t>
            </a:r>
            <a:r>
              <a:rPr kumimoji="0" lang="en-US" altLang="en-US" sz="2300" b="0" i="0" u="none" strike="noStrike" cap="none" normalizeH="0" baseline="0" dirty="0">
                <a:ln>
                  <a:noFill/>
                </a:ln>
                <a:solidFill>
                  <a:srgbClr val="6A8759"/>
                </a:solidFill>
                <a:effectLst/>
                <a:latin typeface="JetBrains Mono"/>
              </a:rPr>
              <a:t>:"</a:t>
            </a:r>
            <a:r>
              <a:rPr kumimoji="0" lang="en-US" altLang="en-US" sz="2300" b="0" i="0" u="none" strike="noStrike" cap="none" normalizeH="0" baseline="0" dirty="0">
                <a:ln>
                  <a:noFill/>
                </a:ln>
                <a:solidFill>
                  <a:srgbClr val="CC7832"/>
                </a:solidFill>
                <a:effectLst/>
                <a:latin typeface="JetBrains Mono"/>
              </a:rPr>
              <a:t>, </a:t>
            </a:r>
            <a:r>
              <a:rPr kumimoji="0" lang="en-US" altLang="en-US" sz="2300" b="0" i="0" u="none" strike="noStrike" cap="none" normalizeH="0" baseline="0" dirty="0">
                <a:ln>
                  <a:noFill/>
                </a:ln>
                <a:solidFill>
                  <a:srgbClr val="94558D"/>
                </a:solidFill>
                <a:effectLst/>
                <a:latin typeface="JetBrains Mono"/>
              </a:rPr>
              <a:t>self</a:t>
            </a:r>
            <a:r>
              <a:rPr kumimoji="0" lang="en-US" altLang="en-US" sz="2300" b="0" i="0" u="none" strike="noStrike" cap="none" normalizeH="0" baseline="0" dirty="0">
                <a:ln>
                  <a:noFill/>
                </a:ln>
                <a:solidFill>
                  <a:srgbClr val="A9B7C6"/>
                </a:solidFill>
                <a:effectLst/>
                <a:latin typeface="JetBrains Mono"/>
              </a:rPr>
              <a:t>.ht)</a:t>
            </a:r>
            <a:br>
              <a:rPr kumimoji="0" lang="en-US" altLang="en-US" sz="2300" b="0" i="0" u="none" strike="noStrike" cap="none" normalizeH="0" baseline="0" dirty="0">
                <a:ln>
                  <a:noFill/>
                </a:ln>
                <a:solidFill>
                  <a:srgbClr val="A9B7C6"/>
                </a:solidFill>
                <a:effectLst/>
                <a:latin typeface="JetBrains Mono"/>
              </a:rPr>
            </a:br>
            <a:r>
              <a:rPr kumimoji="0" lang="en-US" altLang="en-US" sz="2300" b="0" i="0" u="none" strike="noStrike" cap="none" normalizeH="0" baseline="0" dirty="0">
                <a:ln>
                  <a:noFill/>
                </a:ln>
                <a:solidFill>
                  <a:srgbClr val="A9B7C6"/>
                </a:solidFill>
                <a:effectLst/>
                <a:latin typeface="JetBrains Mono"/>
              </a:rPr>
              <a:t>        </a:t>
            </a:r>
            <a:r>
              <a:rPr kumimoji="0" lang="en-US" altLang="en-US" sz="2300" b="0" i="0" u="none" strike="noStrike" cap="none" normalizeH="0" baseline="0" dirty="0">
                <a:ln>
                  <a:noFill/>
                </a:ln>
                <a:solidFill>
                  <a:srgbClr val="8888C6"/>
                </a:solidFill>
                <a:effectLst/>
                <a:latin typeface="JetBrains Mono"/>
              </a:rPr>
              <a:t>print</a:t>
            </a:r>
            <a:r>
              <a:rPr kumimoji="0" lang="en-US" altLang="en-US" sz="2300" b="0" i="0" u="none" strike="noStrike" cap="none" normalizeH="0" baseline="0" dirty="0">
                <a:ln>
                  <a:noFill/>
                </a:ln>
                <a:solidFill>
                  <a:srgbClr val="A9B7C6"/>
                </a:solidFill>
                <a:effectLst/>
                <a:latin typeface="JetBrains Mono"/>
              </a:rPr>
              <a:t>(</a:t>
            </a:r>
            <a:r>
              <a:rPr kumimoji="0" lang="en-US" altLang="en-US" sz="2300" b="0" i="0" u="none" strike="noStrike" cap="none" normalizeH="0" baseline="0" dirty="0">
                <a:ln>
                  <a:noFill/>
                </a:ln>
                <a:solidFill>
                  <a:srgbClr val="6A8759"/>
                </a:solidFill>
                <a:effectLst/>
                <a:latin typeface="JetBrains Mono"/>
              </a:rPr>
              <a:t>"</a:t>
            </a:r>
            <a:r>
              <a:rPr kumimoji="0" lang="en-US" altLang="en-US" sz="2300" b="0" i="0" u="none" strike="noStrike" cap="none" normalizeH="0" baseline="0" dirty="0" err="1">
                <a:ln>
                  <a:noFill/>
                </a:ln>
                <a:solidFill>
                  <a:srgbClr val="6A8759"/>
                </a:solidFill>
                <a:effectLst/>
                <a:latin typeface="JetBrains Mono"/>
              </a:rPr>
              <a:t>Tuổi</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sinh</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viên</a:t>
            </a:r>
            <a:r>
              <a:rPr kumimoji="0" lang="en-US" altLang="en-US" sz="2300" b="0" i="0" u="none" strike="noStrike" cap="none" normalizeH="0" baseline="0" dirty="0">
                <a:ln>
                  <a:noFill/>
                </a:ln>
                <a:solidFill>
                  <a:srgbClr val="6A8759"/>
                </a:solidFill>
                <a:effectLst/>
                <a:latin typeface="JetBrains Mono"/>
              </a:rPr>
              <a:t>:"</a:t>
            </a:r>
            <a:r>
              <a:rPr kumimoji="0" lang="en-US" altLang="en-US" sz="2300" b="0" i="0" u="none" strike="noStrike" cap="none" normalizeH="0" baseline="0" dirty="0">
                <a:ln>
                  <a:noFill/>
                </a:ln>
                <a:solidFill>
                  <a:srgbClr val="CC7832"/>
                </a:solidFill>
                <a:effectLst/>
                <a:latin typeface="JetBrains Mono"/>
              </a:rPr>
              <a:t>, </a:t>
            </a:r>
            <a:r>
              <a:rPr kumimoji="0" lang="en-US" altLang="en-US" sz="2300" b="0" i="0" u="none" strike="noStrike" cap="none" normalizeH="0" baseline="0" dirty="0" err="1">
                <a:ln>
                  <a:noFill/>
                </a:ln>
                <a:solidFill>
                  <a:srgbClr val="94558D"/>
                </a:solidFill>
                <a:effectLst/>
                <a:latin typeface="JetBrains Mono"/>
              </a:rPr>
              <a:t>self</a:t>
            </a:r>
            <a:r>
              <a:rPr kumimoji="0" lang="en-US" altLang="en-US" sz="2300" b="0" i="0" u="none" strike="noStrike" cap="none" normalizeH="0" baseline="0" dirty="0" err="1">
                <a:ln>
                  <a:noFill/>
                </a:ln>
                <a:solidFill>
                  <a:srgbClr val="A9B7C6"/>
                </a:solidFill>
                <a:effectLst/>
                <a:latin typeface="JetBrains Mono"/>
              </a:rPr>
              <a:t>.tuoi</a:t>
            </a:r>
            <a:r>
              <a:rPr kumimoji="0" lang="en-US" altLang="en-US" sz="2300" b="0" i="0" u="none" strike="noStrike" cap="none" normalizeH="0" baseline="0" dirty="0">
                <a:ln>
                  <a:noFill/>
                </a:ln>
                <a:solidFill>
                  <a:srgbClr val="A9B7C6"/>
                </a:solidFill>
                <a:effectLst/>
                <a:latin typeface="JetBrains Mono"/>
              </a:rPr>
              <a:t>)</a:t>
            </a:r>
            <a:br>
              <a:rPr kumimoji="0" lang="en-US" altLang="en-US" sz="2300" b="0" i="0" u="none" strike="noStrike" cap="none" normalizeH="0" baseline="0" dirty="0">
                <a:ln>
                  <a:noFill/>
                </a:ln>
                <a:solidFill>
                  <a:srgbClr val="A9B7C6"/>
                </a:solidFill>
                <a:effectLst/>
                <a:latin typeface="JetBrains Mono"/>
              </a:rPr>
            </a:br>
            <a:r>
              <a:rPr kumimoji="0" lang="en-US" altLang="en-US" sz="2300" b="0" i="0" u="none" strike="noStrike" cap="none" normalizeH="0" baseline="0" dirty="0">
                <a:ln>
                  <a:noFill/>
                </a:ln>
                <a:solidFill>
                  <a:srgbClr val="A9B7C6"/>
                </a:solidFill>
                <a:effectLst/>
                <a:latin typeface="JetBrains Mono"/>
              </a:rPr>
              <a:t>        </a:t>
            </a:r>
            <a:r>
              <a:rPr kumimoji="0" lang="en-US" altLang="en-US" sz="2300" b="0" i="0" u="none" strike="noStrike" cap="none" normalizeH="0" baseline="0" dirty="0">
                <a:ln>
                  <a:noFill/>
                </a:ln>
                <a:solidFill>
                  <a:srgbClr val="8888C6"/>
                </a:solidFill>
                <a:effectLst/>
                <a:latin typeface="JetBrains Mono"/>
              </a:rPr>
              <a:t>print</a:t>
            </a:r>
            <a:r>
              <a:rPr kumimoji="0" lang="en-US" altLang="en-US" sz="2300" b="0" i="0" u="none" strike="noStrike" cap="none" normalizeH="0" baseline="0" dirty="0">
                <a:ln>
                  <a:noFill/>
                </a:ln>
                <a:solidFill>
                  <a:srgbClr val="A9B7C6"/>
                </a:solidFill>
                <a:effectLst/>
                <a:latin typeface="JetBrains Mono"/>
              </a:rPr>
              <a:t>(</a:t>
            </a:r>
            <a:r>
              <a:rPr kumimoji="0" lang="en-US" altLang="en-US" sz="2300" b="0" i="0" u="none" strike="noStrike" cap="none" normalizeH="0" baseline="0" dirty="0">
                <a:ln>
                  <a:noFill/>
                </a:ln>
                <a:solidFill>
                  <a:srgbClr val="6A8759"/>
                </a:solidFill>
                <a:effectLst/>
                <a:latin typeface="JetBrains Mono"/>
              </a:rPr>
              <a:t>"</a:t>
            </a:r>
            <a:r>
              <a:rPr kumimoji="0" lang="en-US" altLang="en-US" sz="2300" b="0" i="0" u="none" strike="noStrike" cap="none" normalizeH="0" baseline="0" dirty="0" err="1">
                <a:ln>
                  <a:noFill/>
                </a:ln>
                <a:solidFill>
                  <a:srgbClr val="6A8759"/>
                </a:solidFill>
                <a:effectLst/>
                <a:latin typeface="JetBrains Mono"/>
              </a:rPr>
              <a:t>Địa</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chỉ</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sinh</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viên</a:t>
            </a:r>
            <a:r>
              <a:rPr kumimoji="0" lang="en-US" altLang="en-US" sz="2300" b="0" i="0" u="none" strike="noStrike" cap="none" normalizeH="0" baseline="0" dirty="0">
                <a:ln>
                  <a:noFill/>
                </a:ln>
                <a:solidFill>
                  <a:srgbClr val="6A8759"/>
                </a:solidFill>
                <a:effectLst/>
                <a:latin typeface="JetBrains Mono"/>
              </a:rPr>
              <a:t>:"</a:t>
            </a:r>
            <a:r>
              <a:rPr kumimoji="0" lang="en-US" altLang="en-US" sz="2300" b="0" i="0" u="none" strike="noStrike" cap="none" normalizeH="0" baseline="0" dirty="0">
                <a:ln>
                  <a:noFill/>
                </a:ln>
                <a:solidFill>
                  <a:srgbClr val="CC7832"/>
                </a:solidFill>
                <a:effectLst/>
                <a:latin typeface="JetBrains Mono"/>
              </a:rPr>
              <a:t>, </a:t>
            </a:r>
            <a:r>
              <a:rPr kumimoji="0" lang="en-US" altLang="en-US" sz="2300" b="0" i="0" u="none" strike="noStrike" cap="none" normalizeH="0" baseline="0" dirty="0" err="1">
                <a:ln>
                  <a:noFill/>
                </a:ln>
                <a:solidFill>
                  <a:srgbClr val="94558D"/>
                </a:solidFill>
                <a:effectLst/>
                <a:latin typeface="JetBrains Mono"/>
              </a:rPr>
              <a:t>self</a:t>
            </a:r>
            <a:r>
              <a:rPr kumimoji="0" lang="en-US" altLang="en-US" sz="2300" b="0" i="0" u="none" strike="noStrike" cap="none" normalizeH="0" baseline="0" dirty="0" err="1">
                <a:ln>
                  <a:noFill/>
                </a:ln>
                <a:solidFill>
                  <a:srgbClr val="A9B7C6"/>
                </a:solidFill>
                <a:effectLst/>
                <a:latin typeface="JetBrains Mono"/>
              </a:rPr>
              <a:t>.dc</a:t>
            </a:r>
            <a:r>
              <a:rPr kumimoji="0" lang="en-US" altLang="en-US" sz="2300" b="0" i="0" u="none" strike="noStrike" cap="none" normalizeH="0" baseline="0" dirty="0">
                <a:ln>
                  <a:noFill/>
                </a:ln>
                <a:solidFill>
                  <a:srgbClr val="A9B7C6"/>
                </a:solidFill>
                <a:effectLst/>
                <a:latin typeface="JetBrains Mono"/>
              </a:rPr>
              <a:t>)</a:t>
            </a:r>
            <a:endParaRPr kumimoji="0" lang="en-US" altLang="en-US" sz="2300" b="0" i="0" u="none" strike="noStrike" cap="none" normalizeH="0" baseline="0" dirty="0">
              <a:ln>
                <a:noFill/>
              </a:ln>
              <a:solidFill>
                <a:schemeClr val="tx1"/>
              </a:solidFill>
              <a:effectLst/>
              <a:latin typeface="Arial" panose="020B0604020202020204" pitchFamily="34" charset="0"/>
            </a:endParaRPr>
          </a:p>
        </p:txBody>
      </p:sp>
      <p:sp>
        <p:nvSpPr>
          <p:cNvPr id="13" name="Rectangle 2">
            <a:extLst>
              <a:ext uri="{FF2B5EF4-FFF2-40B4-BE49-F238E27FC236}">
                <a16:creationId xmlns:a16="http://schemas.microsoft.com/office/drawing/2014/main" id="{A31221EA-7D2E-4948-B010-E4B67F447D85}"/>
              </a:ext>
            </a:extLst>
          </p:cNvPr>
          <p:cNvSpPr>
            <a:spLocks noChangeArrowheads="1"/>
          </p:cNvSpPr>
          <p:nvPr/>
        </p:nvSpPr>
        <p:spPr bwMode="auto">
          <a:xfrm>
            <a:off x="6904382" y="1606105"/>
            <a:ext cx="5155096" cy="3277820"/>
          </a:xfrm>
          <a:prstGeom prst="rect">
            <a:avLst/>
          </a:prstGeom>
          <a:solidFill>
            <a:schemeClr val="tx1"/>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dirty="0">
                <a:ln>
                  <a:noFill/>
                </a:ln>
                <a:solidFill>
                  <a:srgbClr val="808080"/>
                </a:solidFill>
                <a:effectLst/>
                <a:latin typeface="JetBrains Mono"/>
              </a:rPr>
              <a:t>#Khai </a:t>
            </a:r>
            <a:r>
              <a:rPr kumimoji="0" lang="en-US" altLang="en-US" sz="2300" b="0" i="0" u="none" strike="noStrike" cap="none" normalizeH="0" baseline="0" dirty="0" err="1">
                <a:ln>
                  <a:noFill/>
                </a:ln>
                <a:solidFill>
                  <a:srgbClr val="808080"/>
                </a:solidFill>
                <a:effectLst/>
                <a:latin typeface="JetBrains Mono"/>
              </a:rPr>
              <a:t>báo</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đối</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tượng</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sử</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dụng</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lớp</a:t>
            </a:r>
            <a:br>
              <a:rPr kumimoji="0" lang="en-US" altLang="en-US" sz="2300" b="0" i="0" u="none" strike="noStrike" cap="none" normalizeH="0" baseline="0" dirty="0">
                <a:ln>
                  <a:noFill/>
                </a:ln>
                <a:solidFill>
                  <a:srgbClr val="808080"/>
                </a:solidFill>
                <a:effectLst/>
                <a:latin typeface="JetBrains Mono"/>
              </a:rPr>
            </a:br>
            <a:r>
              <a:rPr kumimoji="0" lang="en-US" altLang="en-US" sz="2300" b="0" i="0" u="none" strike="noStrike" cap="none" normalizeH="0" baseline="0" dirty="0" err="1">
                <a:ln>
                  <a:noFill/>
                </a:ln>
                <a:solidFill>
                  <a:srgbClr val="A9B7C6"/>
                </a:solidFill>
                <a:effectLst/>
                <a:latin typeface="JetBrains Mono"/>
              </a:rPr>
              <a:t>sv</a:t>
            </a:r>
            <a:r>
              <a:rPr kumimoji="0" lang="en-US" altLang="en-US" sz="2300" b="0" i="0" u="none" strike="noStrike" cap="none" normalizeH="0" baseline="0" dirty="0">
                <a:ln>
                  <a:noFill/>
                </a:ln>
                <a:solidFill>
                  <a:srgbClr val="A9B7C6"/>
                </a:solidFill>
                <a:effectLst/>
                <a:latin typeface="JetBrains Mono"/>
              </a:rPr>
              <a:t>=</a:t>
            </a:r>
            <a:r>
              <a:rPr kumimoji="0" lang="en-US" altLang="en-US" sz="2300" b="0" i="0" u="none" strike="noStrike" cap="none" normalizeH="0" baseline="0" dirty="0" err="1">
                <a:ln>
                  <a:noFill/>
                </a:ln>
                <a:solidFill>
                  <a:srgbClr val="A9B7C6"/>
                </a:solidFill>
                <a:effectLst/>
                <a:latin typeface="JetBrains Mono"/>
              </a:rPr>
              <a:t>sinhVien</a:t>
            </a:r>
            <a:r>
              <a:rPr kumimoji="0" lang="en-US" altLang="en-US" sz="2300" b="0" i="0" u="none" strike="noStrike" cap="none" normalizeH="0" baseline="0" dirty="0">
                <a:ln>
                  <a:noFill/>
                </a:ln>
                <a:solidFill>
                  <a:srgbClr val="A9B7C6"/>
                </a:solidFill>
                <a:effectLst/>
                <a:latin typeface="JetBrains Mono"/>
              </a:rPr>
              <a:t>()</a:t>
            </a:r>
            <a:br>
              <a:rPr kumimoji="0" lang="en-US" altLang="en-US" sz="2300" b="0" i="0" u="none" strike="noStrike" cap="none" normalizeH="0" baseline="0" dirty="0">
                <a:ln>
                  <a:noFill/>
                </a:ln>
                <a:solidFill>
                  <a:srgbClr val="A9B7C6"/>
                </a:solidFill>
                <a:effectLst/>
                <a:latin typeface="JetBrains Mono"/>
              </a:rPr>
            </a:br>
            <a:r>
              <a:rPr kumimoji="0" lang="en-US" altLang="en-US" sz="2300" b="0" i="0" u="none" strike="noStrike" cap="none" normalizeH="0" baseline="0" dirty="0">
                <a:ln>
                  <a:noFill/>
                </a:ln>
                <a:solidFill>
                  <a:srgbClr val="808080"/>
                </a:solidFill>
                <a:effectLst/>
                <a:latin typeface="JetBrains Mono"/>
              </a:rPr>
              <a:t>#Gán </a:t>
            </a:r>
            <a:r>
              <a:rPr kumimoji="0" lang="en-US" altLang="en-US" sz="2300" b="0" i="0" u="none" strike="noStrike" cap="none" normalizeH="0" baseline="0" dirty="0" err="1">
                <a:ln>
                  <a:noFill/>
                </a:ln>
                <a:solidFill>
                  <a:srgbClr val="808080"/>
                </a:solidFill>
                <a:effectLst/>
                <a:latin typeface="JetBrains Mono"/>
              </a:rPr>
              <a:t>giá</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trị</a:t>
            </a:r>
            <a:br>
              <a:rPr kumimoji="0" lang="en-US" altLang="en-US" sz="2300" b="0" i="0" u="none" strike="noStrike" cap="none" normalizeH="0" baseline="0" dirty="0">
                <a:ln>
                  <a:noFill/>
                </a:ln>
                <a:solidFill>
                  <a:srgbClr val="808080"/>
                </a:solidFill>
                <a:effectLst/>
                <a:latin typeface="JetBrains Mono"/>
              </a:rPr>
            </a:br>
            <a:r>
              <a:rPr kumimoji="0" lang="en-US" altLang="en-US" sz="2300" b="0" i="0" u="none" strike="noStrike" cap="none" normalizeH="0" baseline="0" dirty="0" err="1">
                <a:ln>
                  <a:noFill/>
                </a:ln>
                <a:solidFill>
                  <a:srgbClr val="A9B7C6"/>
                </a:solidFill>
                <a:effectLst/>
                <a:latin typeface="JetBrains Mono"/>
              </a:rPr>
              <a:t>sv.masv</a:t>
            </a:r>
            <a:r>
              <a:rPr kumimoji="0" lang="en-US" altLang="en-US" sz="2300" b="0" i="0" u="none" strike="noStrike" cap="none" normalizeH="0" baseline="0" dirty="0">
                <a:ln>
                  <a:noFill/>
                </a:ln>
                <a:solidFill>
                  <a:srgbClr val="A9B7C6"/>
                </a:solidFill>
                <a:effectLst/>
                <a:latin typeface="JetBrains Mono"/>
              </a:rPr>
              <a:t>=</a:t>
            </a:r>
            <a:r>
              <a:rPr kumimoji="0" lang="en-US" altLang="en-US" sz="2300" b="0" i="0" u="none" strike="noStrike" cap="none" normalizeH="0" baseline="0" dirty="0">
                <a:ln>
                  <a:noFill/>
                </a:ln>
                <a:solidFill>
                  <a:srgbClr val="6A8759"/>
                </a:solidFill>
                <a:effectLst/>
                <a:latin typeface="JetBrains Mono"/>
              </a:rPr>
              <a:t>"A12"</a:t>
            </a:r>
            <a:br>
              <a:rPr kumimoji="0" lang="en-US" altLang="en-US" sz="2300" b="0" i="0" u="none" strike="noStrike" cap="none" normalizeH="0" baseline="0" dirty="0">
                <a:ln>
                  <a:noFill/>
                </a:ln>
                <a:solidFill>
                  <a:srgbClr val="6A8759"/>
                </a:solidFill>
                <a:effectLst/>
                <a:latin typeface="JetBrains Mono"/>
              </a:rPr>
            </a:br>
            <a:r>
              <a:rPr kumimoji="0" lang="en-US" altLang="en-US" sz="2300" b="0" i="0" u="none" strike="noStrike" cap="none" normalizeH="0" baseline="0" dirty="0">
                <a:ln>
                  <a:noFill/>
                </a:ln>
                <a:solidFill>
                  <a:srgbClr val="A9B7C6"/>
                </a:solidFill>
                <a:effectLst/>
                <a:latin typeface="JetBrains Mono"/>
              </a:rPr>
              <a:t>sv.ht=</a:t>
            </a:r>
            <a:r>
              <a:rPr kumimoji="0" lang="en-US" altLang="en-US" sz="2300" b="0" i="0" u="none" strike="noStrike" cap="none" normalizeH="0" baseline="0" dirty="0">
                <a:ln>
                  <a:noFill/>
                </a:ln>
                <a:solidFill>
                  <a:srgbClr val="6A8759"/>
                </a:solidFill>
                <a:effectLst/>
                <a:latin typeface="JetBrains Mono"/>
              </a:rPr>
              <a:t>"Dung"</a:t>
            </a:r>
            <a:br>
              <a:rPr kumimoji="0" lang="en-US" altLang="en-US" sz="2300" b="0" i="0" u="none" strike="noStrike" cap="none" normalizeH="0" baseline="0" dirty="0">
                <a:ln>
                  <a:noFill/>
                </a:ln>
                <a:solidFill>
                  <a:srgbClr val="6A8759"/>
                </a:solidFill>
                <a:effectLst/>
                <a:latin typeface="JetBrains Mono"/>
              </a:rPr>
            </a:br>
            <a:r>
              <a:rPr kumimoji="0" lang="en-US" altLang="en-US" sz="2300" b="0" i="0" u="none" strike="noStrike" cap="none" normalizeH="0" baseline="0" dirty="0" err="1">
                <a:ln>
                  <a:noFill/>
                </a:ln>
                <a:solidFill>
                  <a:srgbClr val="A9B7C6"/>
                </a:solidFill>
                <a:effectLst/>
                <a:latin typeface="JetBrains Mono"/>
              </a:rPr>
              <a:t>sv.tuoi</a:t>
            </a:r>
            <a:r>
              <a:rPr kumimoji="0" lang="en-US" altLang="en-US" sz="2300" b="0" i="0" u="none" strike="noStrike" cap="none" normalizeH="0" baseline="0" dirty="0">
                <a:ln>
                  <a:noFill/>
                </a:ln>
                <a:solidFill>
                  <a:srgbClr val="A9B7C6"/>
                </a:solidFill>
                <a:effectLst/>
                <a:latin typeface="JetBrains Mono"/>
              </a:rPr>
              <a:t>=</a:t>
            </a:r>
            <a:r>
              <a:rPr kumimoji="0" lang="en-US" altLang="en-US" sz="2300" b="0" i="0" u="none" strike="noStrike" cap="none" normalizeH="0" baseline="0" dirty="0">
                <a:ln>
                  <a:noFill/>
                </a:ln>
                <a:solidFill>
                  <a:srgbClr val="6897BB"/>
                </a:solidFill>
                <a:effectLst/>
                <a:latin typeface="JetBrains Mono"/>
              </a:rPr>
              <a:t>42</a:t>
            </a:r>
            <a:br>
              <a:rPr kumimoji="0" lang="en-US" altLang="en-US" sz="2300" b="0" i="0" u="none" strike="noStrike" cap="none" normalizeH="0" baseline="0" dirty="0">
                <a:ln>
                  <a:noFill/>
                </a:ln>
                <a:solidFill>
                  <a:srgbClr val="6897BB"/>
                </a:solidFill>
                <a:effectLst/>
                <a:latin typeface="JetBrains Mono"/>
              </a:rPr>
            </a:br>
            <a:r>
              <a:rPr kumimoji="0" lang="en-US" altLang="en-US" sz="2300" b="0" i="0" u="none" strike="noStrike" cap="none" normalizeH="0" baseline="0" dirty="0" err="1">
                <a:ln>
                  <a:noFill/>
                </a:ln>
                <a:solidFill>
                  <a:srgbClr val="A9B7C6"/>
                </a:solidFill>
                <a:effectLst/>
                <a:latin typeface="JetBrains Mono"/>
              </a:rPr>
              <a:t>sv.dc</a:t>
            </a:r>
            <a:r>
              <a:rPr kumimoji="0" lang="en-US" altLang="en-US" sz="2300" b="0" i="0" u="none" strike="noStrike" cap="none" normalizeH="0" baseline="0" dirty="0">
                <a:ln>
                  <a:noFill/>
                </a:ln>
                <a:solidFill>
                  <a:srgbClr val="A9B7C6"/>
                </a:solidFill>
                <a:effectLst/>
                <a:latin typeface="JetBrains Mono"/>
              </a:rPr>
              <a:t>=</a:t>
            </a:r>
            <a:r>
              <a:rPr kumimoji="0" lang="en-US" altLang="en-US" sz="2300" b="0" i="0" u="none" strike="noStrike" cap="none" normalizeH="0" baseline="0" dirty="0">
                <a:ln>
                  <a:noFill/>
                </a:ln>
                <a:solidFill>
                  <a:srgbClr val="6A8759"/>
                </a:solidFill>
                <a:effectLst/>
                <a:latin typeface="JetBrains Mono"/>
              </a:rPr>
              <a:t>"</a:t>
            </a:r>
            <a:r>
              <a:rPr kumimoji="0" lang="en-US" altLang="en-US" sz="2300" b="0" i="0" u="none" strike="noStrike" cap="none" normalizeH="0" baseline="0" dirty="0" err="1">
                <a:ln>
                  <a:noFill/>
                </a:ln>
                <a:solidFill>
                  <a:srgbClr val="6A8759"/>
                </a:solidFill>
                <a:effectLst/>
                <a:latin typeface="JetBrains Mono"/>
              </a:rPr>
              <a:t>Hà</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Nội</a:t>
            </a:r>
            <a:r>
              <a:rPr kumimoji="0" lang="en-US" altLang="en-US" sz="2300" b="0" i="0" u="none" strike="noStrike" cap="none" normalizeH="0" baseline="0" dirty="0">
                <a:ln>
                  <a:noFill/>
                </a:ln>
                <a:solidFill>
                  <a:srgbClr val="6A8759"/>
                </a:solidFill>
                <a:effectLst/>
                <a:latin typeface="JetBrains Mono"/>
              </a:rPr>
              <a:t>"</a:t>
            </a:r>
            <a:br>
              <a:rPr kumimoji="0" lang="en-US" altLang="en-US" sz="2300" b="0" i="0" u="none" strike="noStrike" cap="none" normalizeH="0" baseline="0" dirty="0">
                <a:ln>
                  <a:noFill/>
                </a:ln>
                <a:solidFill>
                  <a:srgbClr val="6A8759"/>
                </a:solidFill>
                <a:effectLst/>
                <a:latin typeface="JetBrains Mono"/>
              </a:rPr>
            </a:br>
            <a:r>
              <a:rPr kumimoji="0" lang="en-US" altLang="en-US" sz="2300" b="0" i="0" u="none" strike="noStrike" cap="none" normalizeH="0" baseline="0" dirty="0">
                <a:ln>
                  <a:noFill/>
                </a:ln>
                <a:solidFill>
                  <a:srgbClr val="808080"/>
                </a:solidFill>
                <a:effectLst/>
                <a:latin typeface="JetBrains Mono"/>
              </a:rPr>
              <a:t>#gọi </a:t>
            </a:r>
            <a:r>
              <a:rPr kumimoji="0" lang="en-US" altLang="en-US" sz="2300" b="0" i="0" u="none" strike="noStrike" cap="none" normalizeH="0" baseline="0" dirty="0" err="1">
                <a:ln>
                  <a:noFill/>
                </a:ln>
                <a:solidFill>
                  <a:srgbClr val="808080"/>
                </a:solidFill>
                <a:effectLst/>
                <a:latin typeface="JetBrains Mono"/>
              </a:rPr>
              <a:t>phương</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thức</a:t>
            </a:r>
            <a:br>
              <a:rPr kumimoji="0" lang="en-US" altLang="en-US" sz="2300" b="0" i="0" u="none" strike="noStrike" cap="none" normalizeH="0" baseline="0" dirty="0">
                <a:ln>
                  <a:noFill/>
                </a:ln>
                <a:solidFill>
                  <a:srgbClr val="808080"/>
                </a:solidFill>
                <a:effectLst/>
                <a:latin typeface="JetBrains Mono"/>
              </a:rPr>
            </a:br>
            <a:r>
              <a:rPr kumimoji="0" lang="en-US" altLang="en-US" sz="2300" b="0" i="0" u="none" strike="noStrike" cap="none" normalizeH="0" baseline="0" dirty="0" err="1">
                <a:ln>
                  <a:noFill/>
                </a:ln>
                <a:solidFill>
                  <a:srgbClr val="A9B7C6"/>
                </a:solidFill>
                <a:effectLst/>
                <a:latin typeface="JetBrains Mono"/>
              </a:rPr>
              <a:t>sv.hienthi</a:t>
            </a:r>
            <a:r>
              <a:rPr kumimoji="0" lang="en-US" altLang="en-US" sz="2300" b="0" i="0" u="none" strike="noStrike" cap="none" normalizeH="0" baseline="0" dirty="0">
                <a:ln>
                  <a:noFill/>
                </a:ln>
                <a:solidFill>
                  <a:srgbClr val="A9B7C6"/>
                </a:solidFill>
                <a:effectLst/>
                <a:latin typeface="JetBrains Mono"/>
              </a:rPr>
              <a:t>()</a:t>
            </a:r>
            <a:endParaRPr kumimoji="0" lang="en-US" altLang="en-US" sz="23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413366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latin typeface="Cambria" panose="02040503050406030204" pitchFamily="18" charset="0"/>
                <a:ea typeface="Cambria" panose="02040503050406030204" pitchFamily="18" charset="0"/>
              </a:rPr>
              <a:t>Bài</a:t>
            </a:r>
            <a:r>
              <a:rPr lang="en-US">
                <a:latin typeface="Cambria" panose="02040503050406030204" pitchFamily="18" charset="0"/>
                <a:ea typeface="Cambria" panose="02040503050406030204" pitchFamily="18" charset="0"/>
              </a:rPr>
              <a:t> 4 – </a:t>
            </a:r>
            <a:r>
              <a:rPr lang="en-US" spc="-5" err="1">
                <a:latin typeface="Cambria" panose="02040503050406030204" pitchFamily="18" charset="0"/>
                <a:ea typeface="Cambria" panose="02040503050406030204" pitchFamily="18" charset="0"/>
                <a:cs typeface="Arial"/>
              </a:rPr>
              <a:t>Lập</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trình</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hướng</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tượng</a:t>
            </a:r>
            <a:endParaRPr lang="en-US">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a:solidFill>
                  <a:schemeClr val="bg1"/>
                </a:solidFill>
                <a:latin typeface="Cambria" panose="02040503050406030204" pitchFamily="18" charset="0"/>
              </a:rPr>
              <a:t>LỚP (CLASS) TRONG PYTHON</a:t>
            </a:r>
          </a:p>
        </p:txBody>
      </p:sp>
      <p:sp>
        <p:nvSpPr>
          <p:cNvPr id="10" name="TextBox 9">
            <a:extLst>
              <a:ext uri="{FF2B5EF4-FFF2-40B4-BE49-F238E27FC236}">
                <a16:creationId xmlns:a16="http://schemas.microsoft.com/office/drawing/2014/main" id="{E2570AB6-3683-4440-804D-82AB9DF7BC78}"/>
              </a:ext>
            </a:extLst>
          </p:cNvPr>
          <p:cNvSpPr txBox="1"/>
          <p:nvPr/>
        </p:nvSpPr>
        <p:spPr>
          <a:xfrm>
            <a:off x="127054" y="677516"/>
            <a:ext cx="11932424" cy="861774"/>
          </a:xfrm>
          <a:prstGeom prst="rect">
            <a:avLst/>
          </a:prstGeom>
          <a:noFill/>
        </p:spPr>
        <p:txBody>
          <a:bodyPr wrap="square" rtlCol="0">
            <a:spAutoFit/>
          </a:bodyPr>
          <a:lstStyle/>
          <a:p>
            <a:pPr fontAlgn="base"/>
            <a:r>
              <a:rPr lang="en-US" sz="2500" b="1" dirty="0" err="1">
                <a:latin typeface="Cambria" panose="02040503050406030204" pitchFamily="18" charset="0"/>
                <a:ea typeface="Cambria" panose="02040503050406030204" pitchFamily="18" charset="0"/>
              </a:rPr>
              <a:t>Ví</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dụ</a:t>
            </a:r>
            <a:r>
              <a:rPr lang="en-US" sz="2500" b="1" dirty="0">
                <a:latin typeface="Cambria" panose="02040503050406030204" pitchFamily="18" charset="0"/>
                <a:ea typeface="Cambria" panose="02040503050406030204" pitchFamily="18" charset="0"/>
              </a:rPr>
              <a:t> 2: </a:t>
            </a:r>
            <a:r>
              <a:rPr lang="vi-VN" sz="2500" dirty="0">
                <a:solidFill>
                  <a:srgbClr val="414141"/>
                </a:solidFill>
                <a:latin typeface="Cambria" panose="02040503050406030204" pitchFamily="18" charset="0"/>
                <a:ea typeface="Cambria" panose="02040503050406030204" pitchFamily="18" charset="0"/>
              </a:rPr>
              <a:t>Tạo class </a:t>
            </a:r>
            <a:r>
              <a:rPr lang="en-US" sz="2500" b="1" dirty="0" err="1">
                <a:solidFill>
                  <a:srgbClr val="414141"/>
                </a:solidFill>
                <a:latin typeface="Cambria" panose="02040503050406030204" pitchFamily="18" charset="0"/>
                <a:ea typeface="Cambria" panose="02040503050406030204" pitchFamily="18" charset="0"/>
              </a:rPr>
              <a:t>sinhVien</a:t>
            </a:r>
            <a:r>
              <a:rPr lang="vi-VN" sz="2500" b="1" dirty="0">
                <a:solidFill>
                  <a:srgbClr val="414141"/>
                </a:solidFill>
                <a:latin typeface="Cambria" panose="02040503050406030204" pitchFamily="18" charset="0"/>
                <a:ea typeface="Cambria" panose="02040503050406030204" pitchFamily="18" charset="0"/>
              </a:rPr>
              <a:t> </a:t>
            </a:r>
            <a:r>
              <a:rPr lang="vi-VN" sz="2500" dirty="0">
                <a:solidFill>
                  <a:srgbClr val="414141"/>
                </a:solidFill>
                <a:latin typeface="Cambria" panose="02040503050406030204" pitchFamily="18" charset="0"/>
                <a:ea typeface="Cambria" panose="02040503050406030204" pitchFamily="18" charset="0"/>
              </a:rPr>
              <a:t>gồm </a:t>
            </a:r>
            <a:r>
              <a:rPr lang="en-US" sz="2500" dirty="0">
                <a:solidFill>
                  <a:srgbClr val="414141"/>
                </a:solidFill>
                <a:latin typeface="Cambria" panose="02040503050406030204" pitchFamily="18" charset="0"/>
                <a:ea typeface="Cambria" panose="02040503050406030204" pitchFamily="18" charset="0"/>
              </a:rPr>
              <a:t>4</a:t>
            </a:r>
            <a:r>
              <a:rPr lang="vi-VN" sz="2500" dirty="0">
                <a:solidFill>
                  <a:srgbClr val="414141"/>
                </a:solidFill>
                <a:latin typeface="Cambria" panose="02040503050406030204" pitchFamily="18" charset="0"/>
                <a:ea typeface="Cambria" panose="02040503050406030204" pitchFamily="18" charset="0"/>
              </a:rPr>
              <a:t> thuộc tính gồm</a:t>
            </a:r>
            <a:r>
              <a:rPr lang="en-US" sz="2500" dirty="0">
                <a:solidFill>
                  <a:srgbClr val="414141"/>
                </a:solidFill>
                <a:latin typeface="Cambria" panose="02040503050406030204" pitchFamily="18" charset="0"/>
                <a:ea typeface="Cambria" panose="02040503050406030204" pitchFamily="18" charset="0"/>
              </a:rPr>
              <a:t>: </a:t>
            </a:r>
            <a:r>
              <a:rPr lang="vi-VN" sz="2500" dirty="0">
                <a:solidFill>
                  <a:srgbClr val="414141"/>
                </a:solidFill>
                <a:latin typeface="Cambria" panose="02040503050406030204" pitchFamily="18" charset="0"/>
                <a:ea typeface="Cambria" panose="02040503050406030204" pitchFamily="18" charset="0"/>
              </a:rPr>
              <a:t>mã sinh viên</a:t>
            </a:r>
            <a:r>
              <a:rPr lang="en-US" sz="2500" dirty="0">
                <a:solidFill>
                  <a:srgbClr val="414141"/>
                </a:solidFill>
                <a:latin typeface="Cambria" panose="02040503050406030204" pitchFamily="18" charset="0"/>
                <a:ea typeface="Cambria" panose="02040503050406030204" pitchFamily="18" charset="0"/>
              </a:rPr>
              <a:t>, </a:t>
            </a:r>
            <a:r>
              <a:rPr lang="en-US" sz="2500" dirty="0" err="1">
                <a:solidFill>
                  <a:srgbClr val="414141"/>
                </a:solidFill>
                <a:latin typeface="Cambria" panose="02040503050406030204" pitchFamily="18" charset="0"/>
                <a:ea typeface="Cambria" panose="02040503050406030204" pitchFamily="18" charset="0"/>
              </a:rPr>
              <a:t>họ</a:t>
            </a:r>
            <a:r>
              <a:rPr lang="en-US" sz="2500" dirty="0">
                <a:solidFill>
                  <a:srgbClr val="414141"/>
                </a:solidFill>
                <a:latin typeface="Cambria" panose="02040503050406030204" pitchFamily="18" charset="0"/>
                <a:ea typeface="Cambria" panose="02040503050406030204" pitchFamily="18" charset="0"/>
              </a:rPr>
              <a:t> </a:t>
            </a:r>
            <a:r>
              <a:rPr lang="en-US" sz="2500" dirty="0" err="1">
                <a:solidFill>
                  <a:srgbClr val="414141"/>
                </a:solidFill>
                <a:latin typeface="Cambria" panose="02040503050406030204" pitchFamily="18" charset="0"/>
                <a:ea typeface="Cambria" panose="02040503050406030204" pitchFamily="18" charset="0"/>
              </a:rPr>
              <a:t>tên</a:t>
            </a:r>
            <a:r>
              <a:rPr lang="en-US" sz="2500" dirty="0">
                <a:solidFill>
                  <a:srgbClr val="414141"/>
                </a:solidFill>
                <a:latin typeface="Cambria" panose="02040503050406030204" pitchFamily="18" charset="0"/>
                <a:ea typeface="Cambria" panose="02040503050406030204" pitchFamily="18" charset="0"/>
              </a:rPr>
              <a:t>, </a:t>
            </a:r>
            <a:r>
              <a:rPr lang="en-US" sz="2500" dirty="0" err="1">
                <a:solidFill>
                  <a:srgbClr val="414141"/>
                </a:solidFill>
                <a:latin typeface="Cambria" panose="02040503050406030204" pitchFamily="18" charset="0"/>
                <a:ea typeface="Cambria" panose="02040503050406030204" pitchFamily="18" charset="0"/>
              </a:rPr>
              <a:t>địa</a:t>
            </a:r>
            <a:r>
              <a:rPr lang="en-US" sz="2500" dirty="0">
                <a:solidFill>
                  <a:srgbClr val="414141"/>
                </a:solidFill>
                <a:latin typeface="Cambria" panose="02040503050406030204" pitchFamily="18" charset="0"/>
                <a:ea typeface="Cambria" panose="02040503050406030204" pitchFamily="18" charset="0"/>
              </a:rPr>
              <a:t> </a:t>
            </a:r>
            <a:r>
              <a:rPr lang="en-US" sz="2500" dirty="0" err="1">
                <a:solidFill>
                  <a:srgbClr val="414141"/>
                </a:solidFill>
                <a:latin typeface="Cambria" panose="02040503050406030204" pitchFamily="18" charset="0"/>
                <a:ea typeface="Cambria" panose="02040503050406030204" pitchFamily="18" charset="0"/>
              </a:rPr>
              <a:t>chỉ</a:t>
            </a:r>
            <a:r>
              <a:rPr lang="en-US" sz="2500" dirty="0">
                <a:solidFill>
                  <a:srgbClr val="414141"/>
                </a:solidFill>
                <a:latin typeface="Cambria" panose="02040503050406030204" pitchFamily="18" charset="0"/>
                <a:ea typeface="Cambria" panose="02040503050406030204" pitchFamily="18" charset="0"/>
              </a:rPr>
              <a:t>, </a:t>
            </a:r>
            <a:r>
              <a:rPr lang="en-US" sz="2500" dirty="0" err="1">
                <a:solidFill>
                  <a:srgbClr val="414141"/>
                </a:solidFill>
                <a:latin typeface="Cambria" panose="02040503050406030204" pitchFamily="18" charset="0"/>
                <a:ea typeface="Cambria" panose="02040503050406030204" pitchFamily="18" charset="0"/>
              </a:rPr>
              <a:t>tuổi</a:t>
            </a:r>
            <a:r>
              <a:rPr lang="en-US" sz="2500" dirty="0">
                <a:solidFill>
                  <a:srgbClr val="414141"/>
                </a:solidFill>
                <a:latin typeface="Cambria" panose="02040503050406030204" pitchFamily="18" charset="0"/>
                <a:ea typeface="Cambria" panose="02040503050406030204" pitchFamily="18" charset="0"/>
              </a:rPr>
              <a:t> </a:t>
            </a:r>
            <a:r>
              <a:rPr lang="en-US" sz="2500" dirty="0" err="1">
                <a:solidFill>
                  <a:srgbClr val="414141"/>
                </a:solidFill>
                <a:latin typeface="Cambria" panose="02040503050406030204" pitchFamily="18" charset="0"/>
                <a:ea typeface="Cambria" panose="02040503050406030204" pitchFamily="18" charset="0"/>
              </a:rPr>
              <a:t>sinh</a:t>
            </a:r>
            <a:r>
              <a:rPr lang="en-US" sz="2500" dirty="0">
                <a:solidFill>
                  <a:srgbClr val="414141"/>
                </a:solidFill>
                <a:latin typeface="Cambria" panose="02040503050406030204" pitchFamily="18" charset="0"/>
                <a:ea typeface="Cambria" panose="02040503050406030204" pitchFamily="18" charset="0"/>
              </a:rPr>
              <a:t> </a:t>
            </a:r>
            <a:r>
              <a:rPr lang="en-US" sz="2500" dirty="0" err="1">
                <a:solidFill>
                  <a:srgbClr val="414141"/>
                </a:solidFill>
                <a:latin typeface="Cambria" panose="02040503050406030204" pitchFamily="18" charset="0"/>
                <a:ea typeface="Cambria" panose="02040503050406030204" pitchFamily="18" charset="0"/>
              </a:rPr>
              <a:t>viên</a:t>
            </a:r>
            <a:r>
              <a:rPr lang="en-US" sz="2500" dirty="0">
                <a:solidFill>
                  <a:srgbClr val="414141"/>
                </a:solidFill>
                <a:latin typeface="Cambria" panose="02040503050406030204" pitchFamily="18" charset="0"/>
                <a:ea typeface="Cambria" panose="02040503050406030204" pitchFamily="18" charset="0"/>
              </a:rPr>
              <a:t> </a:t>
            </a:r>
            <a:r>
              <a:rPr lang="en-US" sz="2500" dirty="0" err="1">
                <a:solidFill>
                  <a:srgbClr val="414141"/>
                </a:solidFill>
                <a:latin typeface="Cambria" panose="02040503050406030204" pitchFamily="18" charset="0"/>
                <a:ea typeface="Cambria" panose="02040503050406030204" pitchFamily="18" charset="0"/>
              </a:rPr>
              <a:t>và</a:t>
            </a:r>
            <a:r>
              <a:rPr lang="en-US" sz="2500" dirty="0">
                <a:solidFill>
                  <a:srgbClr val="414141"/>
                </a:solidFill>
                <a:latin typeface="Cambria" panose="02040503050406030204" pitchFamily="18" charset="0"/>
                <a:ea typeface="Cambria" panose="02040503050406030204" pitchFamily="18" charset="0"/>
              </a:rPr>
              <a:t> 2 </a:t>
            </a:r>
            <a:r>
              <a:rPr lang="en-US" sz="2500" dirty="0" err="1">
                <a:solidFill>
                  <a:srgbClr val="414141"/>
                </a:solidFill>
                <a:latin typeface="Cambria" panose="02040503050406030204" pitchFamily="18" charset="0"/>
                <a:ea typeface="Cambria" panose="02040503050406030204" pitchFamily="18" charset="0"/>
              </a:rPr>
              <a:t>phương</a:t>
            </a:r>
            <a:r>
              <a:rPr lang="en-US" sz="2500" dirty="0">
                <a:solidFill>
                  <a:srgbClr val="414141"/>
                </a:solidFill>
                <a:latin typeface="Cambria" panose="02040503050406030204" pitchFamily="18" charset="0"/>
                <a:ea typeface="Cambria" panose="02040503050406030204" pitchFamily="18" charset="0"/>
              </a:rPr>
              <a:t> </a:t>
            </a:r>
            <a:r>
              <a:rPr lang="en-US" sz="2500" dirty="0" err="1">
                <a:solidFill>
                  <a:srgbClr val="414141"/>
                </a:solidFill>
                <a:latin typeface="Cambria" panose="02040503050406030204" pitchFamily="18" charset="0"/>
                <a:ea typeface="Cambria" panose="02040503050406030204" pitchFamily="18" charset="0"/>
              </a:rPr>
              <a:t>thức</a:t>
            </a:r>
            <a:r>
              <a:rPr lang="en-US" sz="2500" dirty="0">
                <a:solidFill>
                  <a:srgbClr val="414141"/>
                </a:solidFill>
                <a:latin typeface="Cambria" panose="02040503050406030204" pitchFamily="18" charset="0"/>
                <a:ea typeface="Cambria" panose="02040503050406030204" pitchFamily="18" charset="0"/>
              </a:rPr>
              <a:t>:</a:t>
            </a:r>
            <a:r>
              <a:rPr lang="vi-VN" sz="2500" dirty="0">
                <a:solidFill>
                  <a:srgbClr val="414141"/>
                </a:solidFill>
                <a:latin typeface="Cambria" panose="02040503050406030204" pitchFamily="18" charset="0"/>
                <a:ea typeface="Cambria" panose="02040503050406030204" pitchFamily="18" charset="0"/>
              </a:rPr>
              <a:t> </a:t>
            </a:r>
            <a:r>
              <a:rPr lang="en-US" sz="2500" dirty="0" err="1">
                <a:solidFill>
                  <a:srgbClr val="414141"/>
                </a:solidFill>
                <a:latin typeface="Cambria" panose="02040503050406030204" pitchFamily="18" charset="0"/>
                <a:ea typeface="Cambria" panose="02040503050406030204" pitchFamily="18" charset="0"/>
              </a:rPr>
              <a:t>Nhập</a:t>
            </a:r>
            <a:r>
              <a:rPr lang="en-US" sz="2500" dirty="0">
                <a:solidFill>
                  <a:srgbClr val="414141"/>
                </a:solidFill>
                <a:latin typeface="Cambria" panose="02040503050406030204" pitchFamily="18" charset="0"/>
                <a:ea typeface="Cambria" panose="02040503050406030204" pitchFamily="18" charset="0"/>
              </a:rPr>
              <a:t> </a:t>
            </a:r>
            <a:r>
              <a:rPr lang="en-US" sz="2500" dirty="0" err="1">
                <a:solidFill>
                  <a:srgbClr val="414141"/>
                </a:solidFill>
                <a:latin typeface="Cambria" panose="02040503050406030204" pitchFamily="18" charset="0"/>
                <a:ea typeface="Cambria" panose="02040503050406030204" pitchFamily="18" charset="0"/>
              </a:rPr>
              <a:t>thông</a:t>
            </a:r>
            <a:r>
              <a:rPr lang="en-US" sz="2500" dirty="0">
                <a:solidFill>
                  <a:srgbClr val="414141"/>
                </a:solidFill>
                <a:latin typeface="Cambria" panose="02040503050406030204" pitchFamily="18" charset="0"/>
                <a:ea typeface="Cambria" panose="02040503050406030204" pitchFamily="18" charset="0"/>
              </a:rPr>
              <a:t> tin, H</a:t>
            </a:r>
            <a:r>
              <a:rPr lang="vi-VN" sz="2500" dirty="0">
                <a:solidFill>
                  <a:srgbClr val="414141"/>
                </a:solidFill>
                <a:latin typeface="Cambria" panose="02040503050406030204" pitchFamily="18" charset="0"/>
                <a:ea typeface="Cambria" panose="02040503050406030204" pitchFamily="18" charset="0"/>
              </a:rPr>
              <a:t>iển thị thông tin sinh viên</a:t>
            </a:r>
            <a:endParaRPr lang="vi-VN" sz="2500" b="0" i="0" dirty="0">
              <a:solidFill>
                <a:srgbClr val="414141"/>
              </a:solidFill>
              <a:effectLst/>
              <a:latin typeface="Cambria" panose="02040503050406030204" pitchFamily="18" charset="0"/>
              <a:ea typeface="Cambria" panose="02040503050406030204" pitchFamily="18" charset="0"/>
            </a:endParaRPr>
          </a:p>
        </p:txBody>
      </p:sp>
      <p:sp>
        <p:nvSpPr>
          <p:cNvPr id="6" name="Rectangle 2">
            <a:extLst>
              <a:ext uri="{FF2B5EF4-FFF2-40B4-BE49-F238E27FC236}">
                <a16:creationId xmlns:a16="http://schemas.microsoft.com/office/drawing/2014/main" id="{95DEB8E3-C615-4095-A2C2-4F50F524F899}"/>
              </a:ext>
            </a:extLst>
          </p:cNvPr>
          <p:cNvSpPr>
            <a:spLocks noChangeArrowheads="1"/>
          </p:cNvSpPr>
          <p:nvPr/>
        </p:nvSpPr>
        <p:spPr bwMode="auto">
          <a:xfrm>
            <a:off x="127054" y="1633896"/>
            <a:ext cx="6184294" cy="2462213"/>
          </a:xfrm>
          <a:prstGeom prst="rect">
            <a:avLst/>
          </a:prstGeom>
          <a:solidFill>
            <a:schemeClr val="tx1"/>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rgbClr val="808080"/>
                </a:solidFill>
                <a:effectLst/>
                <a:latin typeface="JetBrains Mono"/>
              </a:rPr>
              <a:t>#</a:t>
            </a:r>
            <a:r>
              <a:rPr kumimoji="0" lang="en-US" altLang="en-US" sz="2200" b="0" i="0" u="none" strike="noStrike" cap="none" normalizeH="0" baseline="0" dirty="0" err="1">
                <a:ln>
                  <a:noFill/>
                </a:ln>
                <a:solidFill>
                  <a:srgbClr val="808080"/>
                </a:solidFill>
                <a:effectLst/>
                <a:latin typeface="JetBrains Mono"/>
              </a:rPr>
              <a:t>Khai</a:t>
            </a:r>
            <a:r>
              <a:rPr kumimoji="0" lang="en-US" altLang="en-US" sz="2200" b="0" i="0" u="none" strike="noStrike" cap="none" normalizeH="0" baseline="0" dirty="0">
                <a:ln>
                  <a:noFill/>
                </a:ln>
                <a:solidFill>
                  <a:srgbClr val="808080"/>
                </a:solidFill>
                <a:effectLst/>
                <a:latin typeface="JetBrains Mono"/>
              </a:rPr>
              <a:t> </a:t>
            </a:r>
            <a:r>
              <a:rPr kumimoji="0" lang="en-US" altLang="en-US" sz="2200" b="0" i="0" u="none" strike="noStrike" cap="none" normalizeH="0" baseline="0" dirty="0" err="1">
                <a:ln>
                  <a:noFill/>
                </a:ln>
                <a:solidFill>
                  <a:srgbClr val="808080"/>
                </a:solidFill>
                <a:effectLst/>
                <a:latin typeface="JetBrains Mono"/>
              </a:rPr>
              <a:t>báo</a:t>
            </a:r>
            <a:r>
              <a:rPr kumimoji="0" lang="en-US" altLang="en-US" sz="2200" b="0" i="0" u="none" strike="noStrike" cap="none" normalizeH="0" baseline="0" dirty="0">
                <a:ln>
                  <a:noFill/>
                </a:ln>
                <a:solidFill>
                  <a:srgbClr val="808080"/>
                </a:solidFill>
                <a:effectLst/>
                <a:latin typeface="JetBrains Mono"/>
              </a:rPr>
              <a:t> 1 </a:t>
            </a:r>
            <a:r>
              <a:rPr kumimoji="0" lang="en-US" altLang="en-US" sz="2200" b="0" i="0" u="none" strike="noStrike" cap="none" normalizeH="0" baseline="0" dirty="0" err="1">
                <a:ln>
                  <a:noFill/>
                </a:ln>
                <a:solidFill>
                  <a:srgbClr val="808080"/>
                </a:solidFill>
                <a:effectLst/>
                <a:latin typeface="JetBrains Mono"/>
              </a:rPr>
              <a:t>lớp</a:t>
            </a:r>
            <a:r>
              <a:rPr kumimoji="0" lang="en-US" altLang="en-US" sz="2200" b="0" i="0" u="none" strike="noStrike" cap="none" normalizeH="0" baseline="0" dirty="0">
                <a:ln>
                  <a:noFill/>
                </a:ln>
                <a:solidFill>
                  <a:srgbClr val="808080"/>
                </a:solidFill>
                <a:effectLst/>
                <a:latin typeface="JetBrains Mono"/>
              </a:rPr>
              <a:t> </a:t>
            </a:r>
            <a:r>
              <a:rPr kumimoji="0" lang="en-US" altLang="en-US" sz="2200" b="0" i="0" u="none" strike="noStrike" cap="none" normalizeH="0" baseline="0" dirty="0" err="1">
                <a:ln>
                  <a:noFill/>
                </a:ln>
                <a:solidFill>
                  <a:srgbClr val="808080"/>
                </a:solidFill>
                <a:effectLst/>
                <a:latin typeface="JetBrains Mono"/>
              </a:rPr>
              <a:t>có</a:t>
            </a:r>
            <a:r>
              <a:rPr kumimoji="0" lang="en-US" altLang="en-US" sz="2200" b="0" i="0" u="none" strike="noStrike" cap="none" normalizeH="0" baseline="0" dirty="0">
                <a:ln>
                  <a:noFill/>
                </a:ln>
                <a:solidFill>
                  <a:srgbClr val="808080"/>
                </a:solidFill>
                <a:effectLst/>
                <a:latin typeface="JetBrains Mono"/>
              </a:rPr>
              <a:t> 4 </a:t>
            </a:r>
            <a:r>
              <a:rPr kumimoji="0" lang="en-US" altLang="en-US" sz="2200" b="0" i="0" u="none" strike="noStrike" cap="none" normalizeH="0" baseline="0" dirty="0" err="1">
                <a:ln>
                  <a:noFill/>
                </a:ln>
                <a:solidFill>
                  <a:srgbClr val="808080"/>
                </a:solidFill>
                <a:effectLst/>
                <a:latin typeface="JetBrains Mono"/>
              </a:rPr>
              <a:t>thuộc</a:t>
            </a:r>
            <a:r>
              <a:rPr kumimoji="0" lang="en-US" altLang="en-US" sz="2200" b="0" i="0" u="none" strike="noStrike" cap="none" normalizeH="0" baseline="0" dirty="0">
                <a:ln>
                  <a:noFill/>
                </a:ln>
                <a:solidFill>
                  <a:srgbClr val="808080"/>
                </a:solidFill>
                <a:effectLst/>
                <a:latin typeface="JetBrains Mono"/>
              </a:rPr>
              <a:t> </a:t>
            </a:r>
            <a:r>
              <a:rPr kumimoji="0" lang="en-US" altLang="en-US" sz="2200" b="0" i="0" u="none" strike="noStrike" cap="none" normalizeH="0" baseline="0" dirty="0" err="1">
                <a:ln>
                  <a:noFill/>
                </a:ln>
                <a:solidFill>
                  <a:srgbClr val="808080"/>
                </a:solidFill>
                <a:effectLst/>
                <a:latin typeface="JetBrains Mono"/>
              </a:rPr>
              <a:t>tính</a:t>
            </a:r>
            <a:r>
              <a:rPr kumimoji="0" lang="en-US" altLang="en-US" sz="2200" b="0" i="0" u="none" strike="noStrike" cap="none" normalizeH="0" baseline="0" dirty="0">
                <a:ln>
                  <a:noFill/>
                </a:ln>
                <a:solidFill>
                  <a:srgbClr val="808080"/>
                </a:solidFill>
                <a:effectLst/>
                <a:latin typeface="JetBrains Mono"/>
              </a:rPr>
              <a:t>, 2 phuong </a:t>
            </a:r>
            <a:r>
              <a:rPr kumimoji="0" lang="en-US" altLang="en-US" sz="2200" b="0" i="0" u="none" strike="noStrike" cap="none" normalizeH="0" baseline="0" dirty="0" err="1">
                <a:ln>
                  <a:noFill/>
                </a:ln>
                <a:solidFill>
                  <a:srgbClr val="808080"/>
                </a:solidFill>
                <a:effectLst/>
                <a:latin typeface="JetBrains Mono"/>
              </a:rPr>
              <a:t>thức</a:t>
            </a:r>
            <a:br>
              <a:rPr kumimoji="0" lang="en-US" altLang="en-US" sz="2200" b="0" i="0" u="none" strike="noStrike" cap="none" normalizeH="0" baseline="0" dirty="0">
                <a:ln>
                  <a:noFill/>
                </a:ln>
                <a:solidFill>
                  <a:srgbClr val="808080"/>
                </a:solidFill>
                <a:effectLst/>
                <a:latin typeface="JetBrains Mono"/>
              </a:rPr>
            </a:br>
            <a:r>
              <a:rPr kumimoji="0" lang="en-US" altLang="en-US" sz="2200" b="0" i="0" u="none" strike="noStrike" cap="none" normalizeH="0" baseline="0" dirty="0">
                <a:ln>
                  <a:noFill/>
                </a:ln>
                <a:solidFill>
                  <a:srgbClr val="CC7832"/>
                </a:solidFill>
                <a:effectLst/>
                <a:latin typeface="JetBrains Mono"/>
              </a:rPr>
              <a:t>class </a:t>
            </a:r>
            <a:r>
              <a:rPr kumimoji="0" lang="en-US" altLang="en-US" sz="2200" b="0" i="0" u="none" strike="noStrike" cap="none" normalizeH="0" baseline="0" dirty="0" err="1">
                <a:ln>
                  <a:noFill/>
                </a:ln>
                <a:solidFill>
                  <a:srgbClr val="A9B7C6"/>
                </a:solidFill>
                <a:effectLst/>
                <a:latin typeface="JetBrains Mono"/>
              </a:rPr>
              <a:t>sinhVien</a:t>
            </a:r>
            <a:r>
              <a:rPr kumimoji="0" lang="en-US" altLang="en-US" sz="2200" b="0" i="0" u="none" strike="noStrike" cap="none" normalizeH="0" baseline="0" dirty="0">
                <a:ln>
                  <a:noFill/>
                </a:ln>
                <a:solidFill>
                  <a:srgbClr val="A9B7C6"/>
                </a:solidFill>
                <a:effectLst/>
                <a:latin typeface="JetBrains Mono"/>
              </a:rPr>
              <a:t>:</a:t>
            </a:r>
            <a:br>
              <a:rPr kumimoji="0" lang="en-US" altLang="en-US" sz="2200" b="0" i="0" u="none" strike="noStrike" cap="none" normalizeH="0" baseline="0" dirty="0">
                <a:ln>
                  <a:noFill/>
                </a:ln>
                <a:solidFill>
                  <a:srgbClr val="A9B7C6"/>
                </a:solidFill>
                <a:effectLst/>
                <a:latin typeface="JetBrains Mono"/>
              </a:rPr>
            </a:br>
            <a:r>
              <a:rPr kumimoji="0" lang="en-US" altLang="en-US" sz="2200" b="0" i="0" u="none" strike="noStrike" cap="none" normalizeH="0" baseline="0" dirty="0">
                <a:ln>
                  <a:noFill/>
                </a:ln>
                <a:solidFill>
                  <a:srgbClr val="A9B7C6"/>
                </a:solidFill>
                <a:effectLst/>
                <a:latin typeface="JetBrains Mono"/>
              </a:rPr>
              <a:t>    </a:t>
            </a:r>
            <a:r>
              <a:rPr kumimoji="0" lang="en-US" altLang="en-US" sz="2200" b="0" i="0" u="none" strike="noStrike" cap="none" normalizeH="0" baseline="0" dirty="0">
                <a:ln>
                  <a:noFill/>
                </a:ln>
                <a:solidFill>
                  <a:srgbClr val="808080"/>
                </a:solidFill>
                <a:effectLst/>
                <a:latin typeface="JetBrains Mono"/>
              </a:rPr>
              <a:t>#</a:t>
            </a:r>
            <a:r>
              <a:rPr kumimoji="0" lang="en-US" altLang="en-US" sz="2200" b="0" i="0" u="none" strike="noStrike" cap="none" normalizeH="0" baseline="0" dirty="0" err="1">
                <a:ln>
                  <a:noFill/>
                </a:ln>
                <a:solidFill>
                  <a:srgbClr val="808080"/>
                </a:solidFill>
                <a:effectLst/>
                <a:latin typeface="JetBrains Mono"/>
              </a:rPr>
              <a:t>thuộc</a:t>
            </a:r>
            <a:r>
              <a:rPr kumimoji="0" lang="en-US" altLang="en-US" sz="2200" b="0" i="0" u="none" strike="noStrike" cap="none" normalizeH="0" baseline="0" dirty="0">
                <a:ln>
                  <a:noFill/>
                </a:ln>
                <a:solidFill>
                  <a:srgbClr val="808080"/>
                </a:solidFill>
                <a:effectLst/>
                <a:latin typeface="JetBrains Mono"/>
              </a:rPr>
              <a:t> </a:t>
            </a:r>
            <a:r>
              <a:rPr kumimoji="0" lang="en-US" altLang="en-US" sz="2200" b="0" i="0" u="none" strike="noStrike" cap="none" normalizeH="0" baseline="0" dirty="0" err="1">
                <a:ln>
                  <a:noFill/>
                </a:ln>
                <a:solidFill>
                  <a:srgbClr val="808080"/>
                </a:solidFill>
                <a:effectLst/>
                <a:latin typeface="JetBrains Mono"/>
              </a:rPr>
              <a:t>tính</a:t>
            </a:r>
            <a:br>
              <a:rPr kumimoji="0" lang="en-US" altLang="en-US" sz="2200" b="0" i="0" u="none" strike="noStrike" cap="none" normalizeH="0" baseline="0" dirty="0">
                <a:ln>
                  <a:noFill/>
                </a:ln>
                <a:solidFill>
                  <a:srgbClr val="808080"/>
                </a:solidFill>
                <a:effectLst/>
                <a:latin typeface="JetBrains Mono"/>
              </a:rPr>
            </a:br>
            <a:r>
              <a:rPr kumimoji="0" lang="en-US" altLang="en-US" sz="2200" b="0" i="0" u="none" strike="noStrike" cap="none" normalizeH="0" baseline="0" dirty="0">
                <a:ln>
                  <a:noFill/>
                </a:ln>
                <a:solidFill>
                  <a:srgbClr val="808080"/>
                </a:solidFill>
                <a:effectLst/>
                <a:latin typeface="JetBrains Mono"/>
              </a:rPr>
              <a:t>    </a:t>
            </a:r>
            <a:r>
              <a:rPr kumimoji="0" lang="en-US" altLang="en-US" sz="2200" b="0" i="0" u="none" strike="noStrike" cap="none" normalizeH="0" baseline="0" dirty="0" err="1">
                <a:ln>
                  <a:noFill/>
                </a:ln>
                <a:solidFill>
                  <a:srgbClr val="A9B7C6"/>
                </a:solidFill>
                <a:effectLst/>
                <a:latin typeface="JetBrains Mono"/>
              </a:rPr>
              <a:t>masv</a:t>
            </a:r>
            <a:r>
              <a:rPr kumimoji="0" lang="en-US" altLang="en-US" sz="2200" b="0" i="0" u="none" strike="noStrike" cap="none" normalizeH="0" baseline="0" dirty="0">
                <a:ln>
                  <a:noFill/>
                </a:ln>
                <a:solidFill>
                  <a:srgbClr val="A9B7C6"/>
                </a:solidFill>
                <a:effectLst/>
                <a:latin typeface="JetBrains Mono"/>
              </a:rPr>
              <a:t>=</a:t>
            </a:r>
            <a:r>
              <a:rPr kumimoji="0" lang="en-US" altLang="en-US" sz="2200" b="0" i="0" u="none" strike="noStrike" cap="none" normalizeH="0" baseline="0" dirty="0">
                <a:ln>
                  <a:noFill/>
                </a:ln>
                <a:solidFill>
                  <a:srgbClr val="6A8759"/>
                </a:solidFill>
                <a:effectLst/>
                <a:latin typeface="JetBrains Mono"/>
              </a:rPr>
              <a:t>""</a:t>
            </a:r>
            <a:br>
              <a:rPr kumimoji="0" lang="en-US" altLang="en-US" sz="2200" b="0" i="0" u="none" strike="noStrike" cap="none" normalizeH="0" baseline="0" dirty="0">
                <a:ln>
                  <a:noFill/>
                </a:ln>
                <a:solidFill>
                  <a:srgbClr val="6A8759"/>
                </a:solidFill>
                <a:effectLst/>
                <a:latin typeface="JetBrains Mono"/>
              </a:rPr>
            </a:br>
            <a:r>
              <a:rPr kumimoji="0" lang="en-US" altLang="en-US" sz="2200" b="0" i="0" u="none" strike="noStrike" cap="none" normalizeH="0" baseline="0" dirty="0">
                <a:ln>
                  <a:noFill/>
                </a:ln>
                <a:solidFill>
                  <a:srgbClr val="6A8759"/>
                </a:solidFill>
                <a:effectLst/>
                <a:latin typeface="JetBrains Mono"/>
              </a:rPr>
              <a:t>    </a:t>
            </a:r>
            <a:r>
              <a:rPr kumimoji="0" lang="en-US" altLang="en-US" sz="2200" b="0" i="0" u="none" strike="noStrike" cap="none" normalizeH="0" baseline="0" dirty="0" err="1">
                <a:ln>
                  <a:noFill/>
                </a:ln>
                <a:solidFill>
                  <a:srgbClr val="A9B7C6"/>
                </a:solidFill>
                <a:effectLst/>
                <a:latin typeface="JetBrains Mono"/>
              </a:rPr>
              <a:t>ht</a:t>
            </a:r>
            <a:r>
              <a:rPr kumimoji="0" lang="en-US" altLang="en-US" sz="2200" b="0" i="0" u="none" strike="noStrike" cap="none" normalizeH="0" baseline="0" dirty="0">
                <a:ln>
                  <a:noFill/>
                </a:ln>
                <a:solidFill>
                  <a:srgbClr val="A9B7C6"/>
                </a:solidFill>
                <a:effectLst/>
                <a:latin typeface="JetBrains Mono"/>
              </a:rPr>
              <a:t>=</a:t>
            </a:r>
            <a:r>
              <a:rPr kumimoji="0" lang="en-US" altLang="en-US" sz="2200" b="0" i="0" u="none" strike="noStrike" cap="none" normalizeH="0" baseline="0" dirty="0">
                <a:ln>
                  <a:noFill/>
                </a:ln>
                <a:solidFill>
                  <a:srgbClr val="6A8759"/>
                </a:solidFill>
                <a:effectLst/>
                <a:latin typeface="JetBrains Mono"/>
              </a:rPr>
              <a:t>""</a:t>
            </a:r>
            <a:br>
              <a:rPr kumimoji="0" lang="en-US" altLang="en-US" sz="2200" b="0" i="0" u="none" strike="noStrike" cap="none" normalizeH="0" baseline="0" dirty="0">
                <a:ln>
                  <a:noFill/>
                </a:ln>
                <a:solidFill>
                  <a:srgbClr val="6A8759"/>
                </a:solidFill>
                <a:effectLst/>
                <a:latin typeface="JetBrains Mono"/>
              </a:rPr>
            </a:br>
            <a:r>
              <a:rPr kumimoji="0" lang="en-US" altLang="en-US" sz="2200" b="0" i="0" u="none" strike="noStrike" cap="none" normalizeH="0" baseline="0" dirty="0">
                <a:ln>
                  <a:noFill/>
                </a:ln>
                <a:solidFill>
                  <a:srgbClr val="6A8759"/>
                </a:solidFill>
                <a:effectLst/>
                <a:latin typeface="JetBrains Mono"/>
              </a:rPr>
              <a:t>    </a:t>
            </a:r>
            <a:r>
              <a:rPr kumimoji="0" lang="en-US" altLang="en-US" sz="2200" b="0" i="0" u="none" strike="noStrike" cap="none" normalizeH="0" baseline="0" dirty="0" err="1">
                <a:ln>
                  <a:noFill/>
                </a:ln>
                <a:solidFill>
                  <a:srgbClr val="A9B7C6"/>
                </a:solidFill>
                <a:effectLst/>
                <a:latin typeface="JetBrains Mono"/>
              </a:rPr>
              <a:t>tuoi</a:t>
            </a:r>
            <a:r>
              <a:rPr kumimoji="0" lang="en-US" altLang="en-US" sz="2200" b="0" i="0" u="none" strike="noStrike" cap="none" normalizeH="0" baseline="0" dirty="0">
                <a:ln>
                  <a:noFill/>
                </a:ln>
                <a:solidFill>
                  <a:srgbClr val="A9B7C6"/>
                </a:solidFill>
                <a:effectLst/>
                <a:latin typeface="JetBrains Mono"/>
              </a:rPr>
              <a:t>=</a:t>
            </a:r>
            <a:r>
              <a:rPr kumimoji="0" lang="en-US" altLang="en-US" sz="2200" b="0" i="0" u="none" strike="noStrike" cap="none" normalizeH="0" baseline="0" dirty="0">
                <a:ln>
                  <a:noFill/>
                </a:ln>
                <a:solidFill>
                  <a:srgbClr val="6A8759"/>
                </a:solidFill>
                <a:effectLst/>
                <a:latin typeface="JetBrains Mono"/>
              </a:rPr>
              <a:t>""</a:t>
            </a:r>
            <a:br>
              <a:rPr kumimoji="0" lang="en-US" altLang="en-US" sz="2200" b="0" i="0" u="none" strike="noStrike" cap="none" normalizeH="0" baseline="0" dirty="0">
                <a:ln>
                  <a:noFill/>
                </a:ln>
                <a:solidFill>
                  <a:srgbClr val="6A8759"/>
                </a:solidFill>
                <a:effectLst/>
                <a:latin typeface="JetBrains Mono"/>
              </a:rPr>
            </a:br>
            <a:r>
              <a:rPr kumimoji="0" lang="en-US" altLang="en-US" sz="2200" b="0" i="0" u="none" strike="noStrike" cap="none" normalizeH="0" baseline="0" dirty="0">
                <a:ln>
                  <a:noFill/>
                </a:ln>
                <a:solidFill>
                  <a:srgbClr val="6A8759"/>
                </a:solidFill>
                <a:effectLst/>
                <a:latin typeface="JetBrains Mono"/>
              </a:rPr>
              <a:t>    </a:t>
            </a:r>
            <a:r>
              <a:rPr kumimoji="0" lang="en-US" altLang="en-US" sz="2200" b="0" i="0" u="none" strike="noStrike" cap="none" normalizeH="0" baseline="0" dirty="0">
                <a:ln>
                  <a:noFill/>
                </a:ln>
                <a:solidFill>
                  <a:srgbClr val="A9B7C6"/>
                </a:solidFill>
                <a:effectLst/>
                <a:latin typeface="JetBrains Mono"/>
              </a:rPr>
              <a:t>dc=</a:t>
            </a:r>
            <a:r>
              <a:rPr kumimoji="0" lang="en-US" altLang="en-US" sz="2200" b="0" i="0" u="none" strike="noStrike" cap="none" normalizeH="0" baseline="0" dirty="0">
                <a:ln>
                  <a:noFill/>
                </a:ln>
                <a:solidFill>
                  <a:srgbClr val="6A8759"/>
                </a:solidFill>
                <a:effectLst/>
                <a:latin typeface="JetBrains Mono"/>
              </a:rPr>
              <a:t>""</a:t>
            </a:r>
            <a:endParaRPr kumimoji="0" lang="en-US" altLang="en-US" sz="2200" b="0" i="0" u="none" strike="noStrike" cap="none" normalizeH="0" baseline="0" dirty="0">
              <a:ln>
                <a:noFill/>
              </a:ln>
              <a:solidFill>
                <a:schemeClr val="tx1"/>
              </a:solidFill>
              <a:effectLst/>
              <a:latin typeface="Arial" panose="020B0604020202020204" pitchFamily="34" charset="0"/>
            </a:endParaRPr>
          </a:p>
        </p:txBody>
      </p:sp>
      <p:sp>
        <p:nvSpPr>
          <p:cNvPr id="11" name="Rectangle 3">
            <a:extLst>
              <a:ext uri="{FF2B5EF4-FFF2-40B4-BE49-F238E27FC236}">
                <a16:creationId xmlns:a16="http://schemas.microsoft.com/office/drawing/2014/main" id="{F8F61713-BB57-4D76-B6F1-5B4C7E0F450F}"/>
              </a:ext>
            </a:extLst>
          </p:cNvPr>
          <p:cNvSpPr>
            <a:spLocks noChangeArrowheads="1"/>
          </p:cNvSpPr>
          <p:nvPr/>
        </p:nvSpPr>
        <p:spPr bwMode="auto">
          <a:xfrm>
            <a:off x="6470373" y="1598019"/>
            <a:ext cx="5644847" cy="3985706"/>
          </a:xfrm>
          <a:prstGeom prst="rect">
            <a:avLst/>
          </a:prstGeom>
          <a:solidFill>
            <a:schemeClr val="tx1"/>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dirty="0">
                <a:ln>
                  <a:noFill/>
                </a:ln>
                <a:solidFill>
                  <a:srgbClr val="808080"/>
                </a:solidFill>
                <a:effectLst/>
                <a:latin typeface="JetBrains Mono"/>
              </a:rPr>
              <a:t>#</a:t>
            </a:r>
            <a:r>
              <a:rPr kumimoji="0" lang="en-US" altLang="en-US" sz="2300" b="0" i="0" u="none" strike="noStrike" cap="none" normalizeH="0" baseline="0" dirty="0" err="1">
                <a:ln>
                  <a:noFill/>
                </a:ln>
                <a:solidFill>
                  <a:srgbClr val="808080"/>
                </a:solidFill>
                <a:effectLst/>
                <a:latin typeface="JetBrains Mono"/>
              </a:rPr>
              <a:t>Khai</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báo</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phương</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thức</a:t>
            </a:r>
            <a:br>
              <a:rPr kumimoji="0" lang="en-US" altLang="en-US" sz="2300" b="0" i="0" u="none" strike="noStrike" cap="none" normalizeH="0" baseline="0" dirty="0">
                <a:ln>
                  <a:noFill/>
                </a:ln>
                <a:solidFill>
                  <a:srgbClr val="808080"/>
                </a:solidFill>
                <a:effectLst/>
                <a:latin typeface="JetBrains Mono"/>
              </a:rPr>
            </a:br>
            <a:r>
              <a:rPr kumimoji="0" lang="en-US" altLang="en-US" sz="2300" b="0" i="0" u="none" strike="noStrike" cap="none" normalizeH="0" baseline="0" dirty="0" err="1">
                <a:ln>
                  <a:noFill/>
                </a:ln>
                <a:solidFill>
                  <a:srgbClr val="CC7832"/>
                </a:solidFill>
                <a:effectLst/>
                <a:latin typeface="JetBrains Mono"/>
              </a:rPr>
              <a:t>def</a:t>
            </a:r>
            <a:r>
              <a:rPr kumimoji="0" lang="en-US" altLang="en-US" sz="2300" b="0" i="0" u="none" strike="noStrike" cap="none" normalizeH="0" baseline="0" dirty="0">
                <a:ln>
                  <a:noFill/>
                </a:ln>
                <a:solidFill>
                  <a:srgbClr val="CC7832"/>
                </a:solidFill>
                <a:effectLst/>
                <a:latin typeface="JetBrains Mono"/>
              </a:rPr>
              <a:t> </a:t>
            </a:r>
            <a:r>
              <a:rPr kumimoji="0" lang="en-US" altLang="en-US" sz="2300" b="0" i="0" u="none" strike="noStrike" cap="none" normalizeH="0" baseline="0" dirty="0" err="1">
                <a:ln>
                  <a:noFill/>
                </a:ln>
                <a:solidFill>
                  <a:srgbClr val="FFC66D"/>
                </a:solidFill>
                <a:effectLst/>
                <a:latin typeface="JetBrains Mono"/>
              </a:rPr>
              <a:t>hienthi</a:t>
            </a:r>
            <a:r>
              <a:rPr kumimoji="0" lang="en-US" altLang="en-US" sz="2300" b="0" i="0" u="none" strike="noStrike" cap="none" normalizeH="0" baseline="0" dirty="0">
                <a:ln>
                  <a:noFill/>
                </a:ln>
                <a:solidFill>
                  <a:srgbClr val="A9B7C6"/>
                </a:solidFill>
                <a:effectLst/>
                <a:latin typeface="JetBrains Mono"/>
              </a:rPr>
              <a:t>(</a:t>
            </a:r>
            <a:r>
              <a:rPr kumimoji="0" lang="en-US" altLang="en-US" sz="2300" b="0" i="0" u="none" strike="noStrike" cap="none" normalizeH="0" baseline="0" dirty="0">
                <a:ln>
                  <a:noFill/>
                </a:ln>
                <a:solidFill>
                  <a:srgbClr val="94558D"/>
                </a:solidFill>
                <a:effectLst/>
                <a:latin typeface="JetBrains Mono"/>
              </a:rPr>
              <a:t>self</a:t>
            </a:r>
            <a:r>
              <a:rPr kumimoji="0" lang="en-US" altLang="en-US" sz="2300" b="0" i="0" u="none" strike="noStrike" cap="none" normalizeH="0" baseline="0" dirty="0">
                <a:ln>
                  <a:noFill/>
                </a:ln>
                <a:solidFill>
                  <a:srgbClr val="A9B7C6"/>
                </a:solidFill>
                <a:effectLst/>
                <a:latin typeface="JetBrains Mono"/>
              </a:rPr>
              <a:t>):</a:t>
            </a:r>
            <a:br>
              <a:rPr kumimoji="0" lang="en-US" altLang="en-US" sz="2300" b="0" i="0" u="none" strike="noStrike" cap="none" normalizeH="0" baseline="0" dirty="0">
                <a:ln>
                  <a:noFill/>
                </a:ln>
                <a:solidFill>
                  <a:srgbClr val="A9B7C6"/>
                </a:solidFill>
                <a:effectLst/>
                <a:latin typeface="JetBrains Mono"/>
              </a:rPr>
            </a:br>
            <a:r>
              <a:rPr kumimoji="0" lang="en-US" altLang="en-US" sz="2300" b="0" i="0" u="none" strike="noStrike" cap="none" normalizeH="0" baseline="0" dirty="0">
                <a:ln>
                  <a:noFill/>
                </a:ln>
                <a:solidFill>
                  <a:srgbClr val="A9B7C6"/>
                </a:solidFill>
                <a:effectLst/>
                <a:latin typeface="JetBrains Mono"/>
              </a:rPr>
              <a:t>    </a:t>
            </a:r>
            <a:r>
              <a:rPr kumimoji="0" lang="en-US" altLang="en-US" sz="2300" b="0" i="0" u="none" strike="noStrike" cap="none" normalizeH="0" baseline="0" dirty="0">
                <a:ln>
                  <a:noFill/>
                </a:ln>
                <a:solidFill>
                  <a:srgbClr val="8888C6"/>
                </a:solidFill>
                <a:effectLst/>
                <a:latin typeface="JetBrains Mono"/>
              </a:rPr>
              <a:t>print</a:t>
            </a:r>
            <a:r>
              <a:rPr kumimoji="0" lang="en-US" altLang="en-US" sz="2300" b="0" i="0" u="none" strike="noStrike" cap="none" normalizeH="0" baseline="0" dirty="0">
                <a:ln>
                  <a:noFill/>
                </a:ln>
                <a:solidFill>
                  <a:srgbClr val="A9B7C6"/>
                </a:solidFill>
                <a:effectLst/>
                <a:latin typeface="JetBrains Mono"/>
              </a:rPr>
              <a:t>(</a:t>
            </a:r>
            <a:r>
              <a:rPr kumimoji="0" lang="en-US" altLang="en-US" sz="2300" b="0" i="0" u="none" strike="noStrike" cap="none" normalizeH="0" baseline="0" dirty="0">
                <a:ln>
                  <a:noFill/>
                </a:ln>
                <a:solidFill>
                  <a:srgbClr val="6A8759"/>
                </a:solidFill>
                <a:effectLst/>
                <a:latin typeface="JetBrains Mono"/>
              </a:rPr>
              <a:t>"</a:t>
            </a:r>
            <a:r>
              <a:rPr kumimoji="0" lang="en-US" altLang="en-US" sz="2300" b="0" i="0" u="none" strike="noStrike" cap="none" normalizeH="0" baseline="0" dirty="0" err="1">
                <a:ln>
                  <a:noFill/>
                </a:ln>
                <a:solidFill>
                  <a:srgbClr val="6A8759"/>
                </a:solidFill>
                <a:effectLst/>
                <a:latin typeface="JetBrains Mono"/>
              </a:rPr>
              <a:t>Mã</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sinh</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viên</a:t>
            </a:r>
            <a:r>
              <a:rPr kumimoji="0" lang="en-US" altLang="en-US" sz="2300" b="0" i="0" u="none" strike="noStrike" cap="none" normalizeH="0" baseline="0" dirty="0">
                <a:ln>
                  <a:noFill/>
                </a:ln>
                <a:solidFill>
                  <a:srgbClr val="6A8759"/>
                </a:solidFill>
                <a:effectLst/>
                <a:latin typeface="JetBrains Mono"/>
              </a:rPr>
              <a:t>:"</a:t>
            </a:r>
            <a:r>
              <a:rPr kumimoji="0" lang="en-US" altLang="en-US" sz="2300" b="0" i="0" u="none" strike="noStrike" cap="none" normalizeH="0" baseline="0" dirty="0">
                <a:ln>
                  <a:noFill/>
                </a:ln>
                <a:solidFill>
                  <a:srgbClr val="CC7832"/>
                </a:solidFill>
                <a:effectLst/>
                <a:latin typeface="JetBrains Mono"/>
              </a:rPr>
              <a:t>,</a:t>
            </a:r>
            <a:r>
              <a:rPr kumimoji="0" lang="en-US" altLang="en-US" sz="2300" b="0" i="0" u="none" strike="noStrike" cap="none" normalizeH="0" baseline="0" dirty="0" err="1">
                <a:ln>
                  <a:noFill/>
                </a:ln>
                <a:solidFill>
                  <a:srgbClr val="94558D"/>
                </a:solidFill>
                <a:effectLst/>
                <a:latin typeface="JetBrains Mono"/>
              </a:rPr>
              <a:t>self</a:t>
            </a:r>
            <a:r>
              <a:rPr kumimoji="0" lang="en-US" altLang="en-US" sz="2300" b="0" i="0" u="none" strike="noStrike" cap="none" normalizeH="0" baseline="0" dirty="0" err="1">
                <a:ln>
                  <a:noFill/>
                </a:ln>
                <a:solidFill>
                  <a:srgbClr val="A9B7C6"/>
                </a:solidFill>
                <a:effectLst/>
                <a:latin typeface="JetBrains Mono"/>
              </a:rPr>
              <a:t>.masv</a:t>
            </a:r>
            <a:r>
              <a:rPr kumimoji="0" lang="en-US" altLang="en-US" sz="2300" b="0" i="0" u="none" strike="noStrike" cap="none" normalizeH="0" baseline="0" dirty="0">
                <a:ln>
                  <a:noFill/>
                </a:ln>
                <a:solidFill>
                  <a:srgbClr val="A9B7C6"/>
                </a:solidFill>
                <a:effectLst/>
                <a:latin typeface="JetBrains Mono"/>
              </a:rPr>
              <a:t>)</a:t>
            </a:r>
            <a:br>
              <a:rPr kumimoji="0" lang="en-US" altLang="en-US" sz="2300" b="0" i="0" u="none" strike="noStrike" cap="none" normalizeH="0" baseline="0" dirty="0">
                <a:ln>
                  <a:noFill/>
                </a:ln>
                <a:solidFill>
                  <a:srgbClr val="A9B7C6"/>
                </a:solidFill>
                <a:effectLst/>
                <a:latin typeface="JetBrains Mono"/>
              </a:rPr>
            </a:br>
            <a:r>
              <a:rPr kumimoji="0" lang="en-US" altLang="en-US" sz="2300" b="0" i="0" u="none" strike="noStrike" cap="none" normalizeH="0" baseline="0" dirty="0">
                <a:ln>
                  <a:noFill/>
                </a:ln>
                <a:solidFill>
                  <a:srgbClr val="A9B7C6"/>
                </a:solidFill>
                <a:effectLst/>
                <a:latin typeface="JetBrains Mono"/>
              </a:rPr>
              <a:t>    </a:t>
            </a:r>
            <a:r>
              <a:rPr kumimoji="0" lang="en-US" altLang="en-US" sz="2300" b="0" i="0" u="none" strike="noStrike" cap="none" normalizeH="0" baseline="0" dirty="0">
                <a:ln>
                  <a:noFill/>
                </a:ln>
                <a:solidFill>
                  <a:srgbClr val="8888C6"/>
                </a:solidFill>
                <a:effectLst/>
                <a:latin typeface="JetBrains Mono"/>
              </a:rPr>
              <a:t>print</a:t>
            </a:r>
            <a:r>
              <a:rPr kumimoji="0" lang="en-US" altLang="en-US" sz="2300" b="0" i="0" u="none" strike="noStrike" cap="none" normalizeH="0" baseline="0" dirty="0">
                <a:ln>
                  <a:noFill/>
                </a:ln>
                <a:solidFill>
                  <a:srgbClr val="A9B7C6"/>
                </a:solidFill>
                <a:effectLst/>
                <a:latin typeface="JetBrains Mono"/>
              </a:rPr>
              <a:t>(</a:t>
            </a:r>
            <a:r>
              <a:rPr kumimoji="0" lang="en-US" altLang="en-US" sz="2300" b="0" i="0" u="none" strike="noStrike" cap="none" normalizeH="0" baseline="0" dirty="0">
                <a:ln>
                  <a:noFill/>
                </a:ln>
                <a:solidFill>
                  <a:srgbClr val="6A8759"/>
                </a:solidFill>
                <a:effectLst/>
                <a:latin typeface="JetBrains Mono"/>
              </a:rPr>
              <a:t>"</a:t>
            </a:r>
            <a:r>
              <a:rPr kumimoji="0" lang="en-US" altLang="en-US" sz="2300" b="0" i="0" u="none" strike="noStrike" cap="none" normalizeH="0" baseline="0" dirty="0" err="1">
                <a:ln>
                  <a:noFill/>
                </a:ln>
                <a:solidFill>
                  <a:srgbClr val="6A8759"/>
                </a:solidFill>
                <a:effectLst/>
                <a:latin typeface="JetBrains Mono"/>
              </a:rPr>
              <a:t>Họ</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tên</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sinh</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viên</a:t>
            </a:r>
            <a:r>
              <a:rPr kumimoji="0" lang="en-US" altLang="en-US" sz="2300" b="0" i="0" u="none" strike="noStrike" cap="none" normalizeH="0" baseline="0" dirty="0">
                <a:ln>
                  <a:noFill/>
                </a:ln>
                <a:solidFill>
                  <a:srgbClr val="6A8759"/>
                </a:solidFill>
                <a:effectLst/>
                <a:latin typeface="JetBrains Mono"/>
              </a:rPr>
              <a:t>:"</a:t>
            </a:r>
            <a:r>
              <a:rPr kumimoji="0" lang="en-US" altLang="en-US" sz="2300" b="0" i="0" u="none" strike="noStrike" cap="none" normalizeH="0" baseline="0" dirty="0">
                <a:ln>
                  <a:noFill/>
                </a:ln>
                <a:solidFill>
                  <a:srgbClr val="CC7832"/>
                </a:solidFill>
                <a:effectLst/>
                <a:latin typeface="JetBrains Mono"/>
              </a:rPr>
              <a:t>, </a:t>
            </a:r>
            <a:r>
              <a:rPr kumimoji="0" lang="en-US" altLang="en-US" sz="2300" b="0" i="0" u="none" strike="noStrike" cap="none" normalizeH="0" baseline="0" dirty="0">
                <a:ln>
                  <a:noFill/>
                </a:ln>
                <a:solidFill>
                  <a:srgbClr val="94558D"/>
                </a:solidFill>
                <a:effectLst/>
                <a:latin typeface="JetBrains Mono"/>
              </a:rPr>
              <a:t>self</a:t>
            </a:r>
            <a:r>
              <a:rPr kumimoji="0" lang="en-US" altLang="en-US" sz="2300" b="0" i="0" u="none" strike="noStrike" cap="none" normalizeH="0" baseline="0" dirty="0">
                <a:ln>
                  <a:noFill/>
                </a:ln>
                <a:solidFill>
                  <a:srgbClr val="A9B7C6"/>
                </a:solidFill>
                <a:effectLst/>
                <a:latin typeface="JetBrains Mono"/>
              </a:rPr>
              <a:t>.ht)</a:t>
            </a:r>
            <a:br>
              <a:rPr kumimoji="0" lang="en-US" altLang="en-US" sz="2300" b="0" i="0" u="none" strike="noStrike" cap="none" normalizeH="0" baseline="0" dirty="0">
                <a:ln>
                  <a:noFill/>
                </a:ln>
                <a:solidFill>
                  <a:srgbClr val="A9B7C6"/>
                </a:solidFill>
                <a:effectLst/>
                <a:latin typeface="JetBrains Mono"/>
              </a:rPr>
            </a:br>
            <a:r>
              <a:rPr kumimoji="0" lang="en-US" altLang="en-US" sz="2300" b="0" i="0" u="none" strike="noStrike" cap="none" normalizeH="0" baseline="0" dirty="0">
                <a:ln>
                  <a:noFill/>
                </a:ln>
                <a:solidFill>
                  <a:srgbClr val="A9B7C6"/>
                </a:solidFill>
                <a:effectLst/>
                <a:latin typeface="JetBrains Mono"/>
              </a:rPr>
              <a:t>    </a:t>
            </a:r>
            <a:r>
              <a:rPr kumimoji="0" lang="en-US" altLang="en-US" sz="2300" b="0" i="0" u="none" strike="noStrike" cap="none" normalizeH="0" baseline="0" dirty="0">
                <a:ln>
                  <a:noFill/>
                </a:ln>
                <a:solidFill>
                  <a:srgbClr val="8888C6"/>
                </a:solidFill>
                <a:effectLst/>
                <a:latin typeface="JetBrains Mono"/>
              </a:rPr>
              <a:t>print</a:t>
            </a:r>
            <a:r>
              <a:rPr kumimoji="0" lang="en-US" altLang="en-US" sz="2300" b="0" i="0" u="none" strike="noStrike" cap="none" normalizeH="0" baseline="0" dirty="0">
                <a:ln>
                  <a:noFill/>
                </a:ln>
                <a:solidFill>
                  <a:srgbClr val="A9B7C6"/>
                </a:solidFill>
                <a:effectLst/>
                <a:latin typeface="JetBrains Mono"/>
              </a:rPr>
              <a:t>(</a:t>
            </a:r>
            <a:r>
              <a:rPr kumimoji="0" lang="en-US" altLang="en-US" sz="2300" b="0" i="0" u="none" strike="noStrike" cap="none" normalizeH="0" baseline="0" dirty="0">
                <a:ln>
                  <a:noFill/>
                </a:ln>
                <a:solidFill>
                  <a:srgbClr val="6A8759"/>
                </a:solidFill>
                <a:effectLst/>
                <a:latin typeface="JetBrains Mono"/>
              </a:rPr>
              <a:t>"</a:t>
            </a:r>
            <a:r>
              <a:rPr kumimoji="0" lang="en-US" altLang="en-US" sz="2300" b="0" i="0" u="none" strike="noStrike" cap="none" normalizeH="0" baseline="0" dirty="0" err="1">
                <a:ln>
                  <a:noFill/>
                </a:ln>
                <a:solidFill>
                  <a:srgbClr val="6A8759"/>
                </a:solidFill>
                <a:effectLst/>
                <a:latin typeface="JetBrains Mono"/>
              </a:rPr>
              <a:t>Tuổi</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sinh</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viên</a:t>
            </a:r>
            <a:r>
              <a:rPr kumimoji="0" lang="en-US" altLang="en-US" sz="2300" b="0" i="0" u="none" strike="noStrike" cap="none" normalizeH="0" baseline="0" dirty="0">
                <a:ln>
                  <a:noFill/>
                </a:ln>
                <a:solidFill>
                  <a:srgbClr val="6A8759"/>
                </a:solidFill>
                <a:effectLst/>
                <a:latin typeface="JetBrains Mono"/>
              </a:rPr>
              <a:t>:"</a:t>
            </a:r>
            <a:r>
              <a:rPr kumimoji="0" lang="en-US" altLang="en-US" sz="2300" b="0" i="0" u="none" strike="noStrike" cap="none" normalizeH="0" baseline="0" dirty="0">
                <a:ln>
                  <a:noFill/>
                </a:ln>
                <a:solidFill>
                  <a:srgbClr val="CC7832"/>
                </a:solidFill>
                <a:effectLst/>
                <a:latin typeface="JetBrains Mono"/>
              </a:rPr>
              <a:t>, </a:t>
            </a:r>
            <a:r>
              <a:rPr kumimoji="0" lang="en-US" altLang="en-US" sz="2300" b="0" i="0" u="none" strike="noStrike" cap="none" normalizeH="0" baseline="0" dirty="0" err="1">
                <a:ln>
                  <a:noFill/>
                </a:ln>
                <a:solidFill>
                  <a:srgbClr val="94558D"/>
                </a:solidFill>
                <a:effectLst/>
                <a:latin typeface="JetBrains Mono"/>
              </a:rPr>
              <a:t>self</a:t>
            </a:r>
            <a:r>
              <a:rPr kumimoji="0" lang="en-US" altLang="en-US" sz="2300" b="0" i="0" u="none" strike="noStrike" cap="none" normalizeH="0" baseline="0" dirty="0" err="1">
                <a:ln>
                  <a:noFill/>
                </a:ln>
                <a:solidFill>
                  <a:srgbClr val="A9B7C6"/>
                </a:solidFill>
                <a:effectLst/>
                <a:latin typeface="JetBrains Mono"/>
              </a:rPr>
              <a:t>.tuoi</a:t>
            </a:r>
            <a:r>
              <a:rPr kumimoji="0" lang="en-US" altLang="en-US" sz="2300" b="0" i="0" u="none" strike="noStrike" cap="none" normalizeH="0" baseline="0" dirty="0">
                <a:ln>
                  <a:noFill/>
                </a:ln>
                <a:solidFill>
                  <a:srgbClr val="A9B7C6"/>
                </a:solidFill>
                <a:effectLst/>
                <a:latin typeface="JetBrains Mono"/>
              </a:rPr>
              <a:t>)</a:t>
            </a:r>
            <a:br>
              <a:rPr kumimoji="0" lang="en-US" altLang="en-US" sz="2300" b="0" i="0" u="none" strike="noStrike" cap="none" normalizeH="0" baseline="0" dirty="0">
                <a:ln>
                  <a:noFill/>
                </a:ln>
                <a:solidFill>
                  <a:srgbClr val="A9B7C6"/>
                </a:solidFill>
                <a:effectLst/>
                <a:latin typeface="JetBrains Mono"/>
              </a:rPr>
            </a:br>
            <a:r>
              <a:rPr kumimoji="0" lang="en-US" altLang="en-US" sz="2300" b="0" i="0" u="none" strike="noStrike" cap="none" normalizeH="0" baseline="0" dirty="0">
                <a:ln>
                  <a:noFill/>
                </a:ln>
                <a:solidFill>
                  <a:srgbClr val="A9B7C6"/>
                </a:solidFill>
                <a:effectLst/>
                <a:latin typeface="JetBrains Mono"/>
              </a:rPr>
              <a:t>    </a:t>
            </a:r>
            <a:r>
              <a:rPr kumimoji="0" lang="en-US" altLang="en-US" sz="2300" b="0" i="0" u="none" strike="noStrike" cap="none" normalizeH="0" baseline="0" dirty="0">
                <a:ln>
                  <a:noFill/>
                </a:ln>
                <a:solidFill>
                  <a:srgbClr val="8888C6"/>
                </a:solidFill>
                <a:effectLst/>
                <a:latin typeface="JetBrains Mono"/>
              </a:rPr>
              <a:t>print</a:t>
            </a:r>
            <a:r>
              <a:rPr kumimoji="0" lang="en-US" altLang="en-US" sz="2300" b="0" i="0" u="none" strike="noStrike" cap="none" normalizeH="0" baseline="0" dirty="0">
                <a:ln>
                  <a:noFill/>
                </a:ln>
                <a:solidFill>
                  <a:srgbClr val="A9B7C6"/>
                </a:solidFill>
                <a:effectLst/>
                <a:latin typeface="JetBrains Mono"/>
              </a:rPr>
              <a:t>(</a:t>
            </a:r>
            <a:r>
              <a:rPr kumimoji="0" lang="en-US" altLang="en-US" sz="2300" b="0" i="0" u="none" strike="noStrike" cap="none" normalizeH="0" baseline="0" dirty="0">
                <a:ln>
                  <a:noFill/>
                </a:ln>
                <a:solidFill>
                  <a:srgbClr val="6A8759"/>
                </a:solidFill>
                <a:effectLst/>
                <a:latin typeface="JetBrains Mono"/>
              </a:rPr>
              <a:t>"</a:t>
            </a:r>
            <a:r>
              <a:rPr kumimoji="0" lang="en-US" altLang="en-US" sz="2300" b="0" i="0" u="none" strike="noStrike" cap="none" normalizeH="0" baseline="0" dirty="0" err="1">
                <a:ln>
                  <a:noFill/>
                </a:ln>
                <a:solidFill>
                  <a:srgbClr val="6A8759"/>
                </a:solidFill>
                <a:effectLst/>
                <a:latin typeface="JetBrains Mono"/>
              </a:rPr>
              <a:t>Địa</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chỉ</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sinh</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viên</a:t>
            </a:r>
            <a:r>
              <a:rPr kumimoji="0" lang="en-US" altLang="en-US" sz="2300" b="0" i="0" u="none" strike="noStrike" cap="none" normalizeH="0" baseline="0" dirty="0">
                <a:ln>
                  <a:noFill/>
                </a:ln>
                <a:solidFill>
                  <a:srgbClr val="6A8759"/>
                </a:solidFill>
                <a:effectLst/>
                <a:latin typeface="JetBrains Mono"/>
              </a:rPr>
              <a:t>:"</a:t>
            </a:r>
            <a:r>
              <a:rPr kumimoji="0" lang="en-US" altLang="en-US" sz="2300" b="0" i="0" u="none" strike="noStrike" cap="none" normalizeH="0" baseline="0" dirty="0">
                <a:ln>
                  <a:noFill/>
                </a:ln>
                <a:solidFill>
                  <a:srgbClr val="CC7832"/>
                </a:solidFill>
                <a:effectLst/>
                <a:latin typeface="JetBrains Mono"/>
              </a:rPr>
              <a:t>, </a:t>
            </a:r>
            <a:r>
              <a:rPr kumimoji="0" lang="en-US" altLang="en-US" sz="2300" b="0" i="0" u="none" strike="noStrike" cap="none" normalizeH="0" baseline="0" dirty="0" err="1">
                <a:ln>
                  <a:noFill/>
                </a:ln>
                <a:solidFill>
                  <a:srgbClr val="94558D"/>
                </a:solidFill>
                <a:effectLst/>
                <a:latin typeface="JetBrains Mono"/>
              </a:rPr>
              <a:t>self</a:t>
            </a:r>
            <a:r>
              <a:rPr kumimoji="0" lang="en-US" altLang="en-US" sz="2300" b="0" i="0" u="none" strike="noStrike" cap="none" normalizeH="0" baseline="0" dirty="0" err="1">
                <a:ln>
                  <a:noFill/>
                </a:ln>
                <a:solidFill>
                  <a:srgbClr val="A9B7C6"/>
                </a:solidFill>
                <a:effectLst/>
                <a:latin typeface="JetBrains Mono"/>
              </a:rPr>
              <a:t>.dc</a:t>
            </a:r>
            <a:r>
              <a:rPr kumimoji="0" lang="en-US" altLang="en-US" sz="2300" b="0" i="0" u="none" strike="noStrike" cap="none" normalizeH="0" baseline="0" dirty="0">
                <a:ln>
                  <a:noFill/>
                </a:ln>
                <a:solidFill>
                  <a:srgbClr val="A9B7C6"/>
                </a:solidFill>
                <a:effectLst/>
                <a:latin typeface="JetBrains Mono"/>
              </a:rPr>
              <a:t>)</a:t>
            </a:r>
            <a:br>
              <a:rPr kumimoji="0" lang="en-US" altLang="en-US" sz="2300" b="0" i="0" u="none" strike="noStrike" cap="none" normalizeH="0" baseline="0" dirty="0">
                <a:ln>
                  <a:noFill/>
                </a:ln>
                <a:solidFill>
                  <a:srgbClr val="A9B7C6"/>
                </a:solidFill>
                <a:effectLst/>
                <a:latin typeface="JetBrains Mono"/>
              </a:rPr>
            </a:br>
            <a:r>
              <a:rPr kumimoji="0" lang="en-US" altLang="en-US" sz="2300" b="0" i="0" u="none" strike="noStrike" cap="none" normalizeH="0" baseline="0" dirty="0" err="1">
                <a:ln>
                  <a:noFill/>
                </a:ln>
                <a:solidFill>
                  <a:srgbClr val="CC7832"/>
                </a:solidFill>
                <a:effectLst/>
                <a:latin typeface="JetBrains Mono"/>
              </a:rPr>
              <a:t>def</a:t>
            </a:r>
            <a:r>
              <a:rPr kumimoji="0" lang="en-US" altLang="en-US" sz="2300" b="0" i="0" u="none" strike="noStrike" cap="none" normalizeH="0" baseline="0" dirty="0">
                <a:ln>
                  <a:noFill/>
                </a:ln>
                <a:solidFill>
                  <a:srgbClr val="CC7832"/>
                </a:solidFill>
                <a:effectLst/>
                <a:latin typeface="JetBrains Mono"/>
              </a:rPr>
              <a:t> </a:t>
            </a:r>
            <a:r>
              <a:rPr kumimoji="0" lang="en-US" altLang="en-US" sz="2300" b="0" i="0" u="none" strike="noStrike" cap="none" normalizeH="0" baseline="0" dirty="0">
                <a:ln>
                  <a:noFill/>
                </a:ln>
                <a:solidFill>
                  <a:srgbClr val="FFC66D"/>
                </a:solidFill>
                <a:effectLst/>
                <a:latin typeface="JetBrains Mono"/>
              </a:rPr>
              <a:t>add</a:t>
            </a:r>
            <a:r>
              <a:rPr kumimoji="0" lang="en-US" altLang="en-US" sz="2300" b="0" i="0" u="none" strike="noStrike" cap="none" normalizeH="0" baseline="0" dirty="0">
                <a:ln>
                  <a:noFill/>
                </a:ln>
                <a:solidFill>
                  <a:srgbClr val="A9B7C6"/>
                </a:solidFill>
                <a:effectLst/>
                <a:latin typeface="JetBrains Mono"/>
              </a:rPr>
              <a:t>(</a:t>
            </a:r>
            <a:r>
              <a:rPr kumimoji="0" lang="en-US" altLang="en-US" sz="2300" b="0" i="0" u="none" strike="noStrike" cap="none" normalizeH="0" baseline="0" dirty="0">
                <a:ln>
                  <a:noFill/>
                </a:ln>
                <a:solidFill>
                  <a:srgbClr val="94558D"/>
                </a:solidFill>
                <a:effectLst/>
                <a:latin typeface="JetBrains Mono"/>
              </a:rPr>
              <a:t>self</a:t>
            </a:r>
            <a:r>
              <a:rPr kumimoji="0" lang="en-US" altLang="en-US" sz="2300" b="0" i="0" u="none" strike="noStrike" cap="none" normalizeH="0" baseline="0" dirty="0">
                <a:ln>
                  <a:noFill/>
                </a:ln>
                <a:solidFill>
                  <a:srgbClr val="A9B7C6"/>
                </a:solidFill>
                <a:effectLst/>
                <a:latin typeface="JetBrains Mono"/>
              </a:rPr>
              <a:t>):</a:t>
            </a:r>
            <a:br>
              <a:rPr kumimoji="0" lang="en-US" altLang="en-US" sz="2300" b="0" i="0" u="none" strike="noStrike" cap="none" normalizeH="0" baseline="0" dirty="0">
                <a:ln>
                  <a:noFill/>
                </a:ln>
                <a:solidFill>
                  <a:srgbClr val="A9B7C6"/>
                </a:solidFill>
                <a:effectLst/>
                <a:latin typeface="JetBrains Mono"/>
              </a:rPr>
            </a:br>
            <a:r>
              <a:rPr kumimoji="0" lang="en-US" altLang="en-US" sz="2300" b="0" i="0" u="none" strike="noStrike" cap="none" normalizeH="0" baseline="0" dirty="0">
                <a:ln>
                  <a:noFill/>
                </a:ln>
                <a:solidFill>
                  <a:srgbClr val="A9B7C6"/>
                </a:solidFill>
                <a:effectLst/>
                <a:latin typeface="JetBrains Mono"/>
              </a:rPr>
              <a:t>    </a:t>
            </a:r>
            <a:r>
              <a:rPr kumimoji="0" lang="en-US" altLang="en-US" sz="2300" b="0" i="0" u="none" strike="noStrike" cap="none" normalizeH="0" baseline="0" dirty="0" err="1">
                <a:ln>
                  <a:noFill/>
                </a:ln>
                <a:solidFill>
                  <a:srgbClr val="94558D"/>
                </a:solidFill>
                <a:effectLst/>
                <a:latin typeface="JetBrains Mono"/>
              </a:rPr>
              <a:t>self</a:t>
            </a:r>
            <a:r>
              <a:rPr kumimoji="0" lang="en-US" altLang="en-US" sz="2300" b="0" i="0" u="none" strike="noStrike" cap="none" normalizeH="0" baseline="0" dirty="0" err="1">
                <a:ln>
                  <a:noFill/>
                </a:ln>
                <a:solidFill>
                  <a:srgbClr val="A9B7C6"/>
                </a:solidFill>
                <a:effectLst/>
                <a:latin typeface="JetBrains Mono"/>
              </a:rPr>
              <a:t>.masv</a:t>
            </a:r>
            <a:r>
              <a:rPr kumimoji="0" lang="en-US" altLang="en-US" sz="2300" b="0" i="0" u="none" strike="noStrike" cap="none" normalizeH="0" baseline="0" dirty="0">
                <a:ln>
                  <a:noFill/>
                </a:ln>
                <a:solidFill>
                  <a:srgbClr val="A9B7C6"/>
                </a:solidFill>
                <a:effectLst/>
                <a:latin typeface="JetBrains Mono"/>
              </a:rPr>
              <a:t>=</a:t>
            </a:r>
            <a:r>
              <a:rPr kumimoji="0" lang="en-US" altLang="en-US" sz="2300" b="0" i="0" u="none" strike="noStrike" cap="none" normalizeH="0" baseline="0" dirty="0">
                <a:ln>
                  <a:noFill/>
                </a:ln>
                <a:solidFill>
                  <a:srgbClr val="8888C6"/>
                </a:solidFill>
                <a:effectLst/>
                <a:latin typeface="JetBrains Mono"/>
              </a:rPr>
              <a:t>input</a:t>
            </a:r>
            <a:r>
              <a:rPr kumimoji="0" lang="en-US" altLang="en-US" sz="2300" b="0" i="0" u="none" strike="noStrike" cap="none" normalizeH="0" baseline="0" dirty="0">
                <a:ln>
                  <a:noFill/>
                </a:ln>
                <a:solidFill>
                  <a:srgbClr val="A9B7C6"/>
                </a:solidFill>
                <a:effectLst/>
                <a:latin typeface="JetBrains Mono"/>
              </a:rPr>
              <a:t>(</a:t>
            </a:r>
            <a:r>
              <a:rPr kumimoji="0" lang="en-US" altLang="en-US" sz="2300" b="0" i="0" u="none" strike="noStrike" cap="none" normalizeH="0" baseline="0" dirty="0">
                <a:ln>
                  <a:noFill/>
                </a:ln>
                <a:solidFill>
                  <a:srgbClr val="6A8759"/>
                </a:solidFill>
                <a:effectLst/>
                <a:latin typeface="JetBrains Mono"/>
              </a:rPr>
              <a:t>"</a:t>
            </a:r>
            <a:r>
              <a:rPr kumimoji="0" lang="en-US" altLang="en-US" sz="2300" b="0" i="0" u="none" strike="noStrike" cap="none" normalizeH="0" baseline="0" dirty="0" err="1">
                <a:ln>
                  <a:noFill/>
                </a:ln>
                <a:solidFill>
                  <a:srgbClr val="6A8759"/>
                </a:solidFill>
                <a:effectLst/>
                <a:latin typeface="JetBrains Mono"/>
              </a:rPr>
              <a:t>Nhập</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mã</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sinh</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vien</a:t>
            </a:r>
            <a:r>
              <a:rPr kumimoji="0" lang="en-US" altLang="en-US" sz="2300" b="0" i="0" u="none" strike="noStrike" cap="none" normalizeH="0" baseline="0" dirty="0">
                <a:ln>
                  <a:noFill/>
                </a:ln>
                <a:solidFill>
                  <a:srgbClr val="6A8759"/>
                </a:solidFill>
                <a:effectLst/>
                <a:latin typeface="JetBrains Mono"/>
              </a:rPr>
              <a:t>:"</a:t>
            </a:r>
            <a:r>
              <a:rPr kumimoji="0" lang="en-US" altLang="en-US" sz="2300" b="0" i="0" u="none" strike="noStrike" cap="none" normalizeH="0" baseline="0" dirty="0">
                <a:ln>
                  <a:noFill/>
                </a:ln>
                <a:solidFill>
                  <a:srgbClr val="A9B7C6"/>
                </a:solidFill>
                <a:effectLst/>
                <a:latin typeface="JetBrains Mono"/>
              </a:rPr>
              <a:t>)</a:t>
            </a:r>
            <a:br>
              <a:rPr kumimoji="0" lang="en-US" altLang="en-US" sz="2300" b="0" i="0" u="none" strike="noStrike" cap="none" normalizeH="0" baseline="0" dirty="0">
                <a:ln>
                  <a:noFill/>
                </a:ln>
                <a:solidFill>
                  <a:srgbClr val="A9B7C6"/>
                </a:solidFill>
                <a:effectLst/>
                <a:latin typeface="JetBrains Mono"/>
              </a:rPr>
            </a:br>
            <a:r>
              <a:rPr kumimoji="0" lang="en-US" altLang="en-US" sz="2300" b="0" i="0" u="none" strike="noStrike" cap="none" normalizeH="0" baseline="0" dirty="0">
                <a:ln>
                  <a:noFill/>
                </a:ln>
                <a:solidFill>
                  <a:srgbClr val="A9B7C6"/>
                </a:solidFill>
                <a:effectLst/>
                <a:latin typeface="JetBrains Mono"/>
              </a:rPr>
              <a:t>    </a:t>
            </a:r>
            <a:r>
              <a:rPr kumimoji="0" lang="en-US" altLang="en-US" sz="2300" b="0" i="0" u="none" strike="noStrike" cap="none" normalizeH="0" baseline="0" dirty="0">
                <a:ln>
                  <a:noFill/>
                </a:ln>
                <a:solidFill>
                  <a:srgbClr val="94558D"/>
                </a:solidFill>
                <a:effectLst/>
                <a:latin typeface="JetBrains Mono"/>
              </a:rPr>
              <a:t>self</a:t>
            </a:r>
            <a:r>
              <a:rPr kumimoji="0" lang="en-US" altLang="en-US" sz="2300" b="0" i="0" u="none" strike="noStrike" cap="none" normalizeH="0" baseline="0" dirty="0">
                <a:ln>
                  <a:noFill/>
                </a:ln>
                <a:solidFill>
                  <a:srgbClr val="A9B7C6"/>
                </a:solidFill>
                <a:effectLst/>
                <a:latin typeface="JetBrains Mono"/>
              </a:rPr>
              <a:t>.ht=</a:t>
            </a:r>
            <a:r>
              <a:rPr kumimoji="0" lang="en-US" altLang="en-US" sz="2300" b="0" i="0" u="none" strike="noStrike" cap="none" normalizeH="0" baseline="0" dirty="0">
                <a:ln>
                  <a:noFill/>
                </a:ln>
                <a:solidFill>
                  <a:srgbClr val="8888C6"/>
                </a:solidFill>
                <a:effectLst/>
                <a:latin typeface="JetBrains Mono"/>
              </a:rPr>
              <a:t>input</a:t>
            </a:r>
            <a:r>
              <a:rPr kumimoji="0" lang="en-US" altLang="en-US" sz="2300" b="0" i="0" u="none" strike="noStrike" cap="none" normalizeH="0" baseline="0" dirty="0">
                <a:ln>
                  <a:noFill/>
                </a:ln>
                <a:solidFill>
                  <a:srgbClr val="A9B7C6"/>
                </a:solidFill>
                <a:effectLst/>
                <a:latin typeface="JetBrains Mono"/>
              </a:rPr>
              <a:t>(</a:t>
            </a:r>
            <a:r>
              <a:rPr kumimoji="0" lang="en-US" altLang="en-US" sz="2300" b="0" i="0" u="none" strike="noStrike" cap="none" normalizeH="0" baseline="0" dirty="0">
                <a:ln>
                  <a:noFill/>
                </a:ln>
                <a:solidFill>
                  <a:srgbClr val="6A8759"/>
                </a:solidFill>
                <a:effectLst/>
                <a:latin typeface="JetBrains Mono"/>
              </a:rPr>
              <a:t>"</a:t>
            </a:r>
            <a:r>
              <a:rPr kumimoji="0" lang="en-US" altLang="en-US" sz="2300" b="0" i="0" u="none" strike="noStrike" cap="none" normalizeH="0" baseline="0" dirty="0" err="1">
                <a:ln>
                  <a:noFill/>
                </a:ln>
                <a:solidFill>
                  <a:srgbClr val="6A8759"/>
                </a:solidFill>
                <a:effectLst/>
                <a:latin typeface="JetBrains Mono"/>
              </a:rPr>
              <a:t>Họ</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tên</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sinh</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viên</a:t>
            </a:r>
            <a:r>
              <a:rPr kumimoji="0" lang="en-US" altLang="en-US" sz="2300" b="0" i="0" u="none" strike="noStrike" cap="none" normalizeH="0" baseline="0" dirty="0">
                <a:ln>
                  <a:noFill/>
                </a:ln>
                <a:solidFill>
                  <a:srgbClr val="6A8759"/>
                </a:solidFill>
                <a:effectLst/>
                <a:latin typeface="JetBrains Mono"/>
              </a:rPr>
              <a:t>:"</a:t>
            </a:r>
            <a:r>
              <a:rPr kumimoji="0" lang="en-US" altLang="en-US" sz="2300" b="0" i="0" u="none" strike="noStrike" cap="none" normalizeH="0" baseline="0" dirty="0">
                <a:ln>
                  <a:noFill/>
                </a:ln>
                <a:solidFill>
                  <a:srgbClr val="A9B7C6"/>
                </a:solidFill>
                <a:effectLst/>
                <a:latin typeface="JetBrains Mono"/>
              </a:rPr>
              <a:t>)</a:t>
            </a:r>
            <a:br>
              <a:rPr kumimoji="0" lang="en-US" altLang="en-US" sz="2300" b="0" i="0" u="none" strike="noStrike" cap="none" normalizeH="0" baseline="0" dirty="0">
                <a:ln>
                  <a:noFill/>
                </a:ln>
                <a:solidFill>
                  <a:srgbClr val="A9B7C6"/>
                </a:solidFill>
                <a:effectLst/>
                <a:latin typeface="JetBrains Mono"/>
              </a:rPr>
            </a:br>
            <a:r>
              <a:rPr kumimoji="0" lang="en-US" altLang="en-US" sz="2300" b="0" i="0" u="none" strike="noStrike" cap="none" normalizeH="0" baseline="0" dirty="0">
                <a:ln>
                  <a:noFill/>
                </a:ln>
                <a:solidFill>
                  <a:srgbClr val="A9B7C6"/>
                </a:solidFill>
                <a:effectLst/>
                <a:latin typeface="JetBrains Mono"/>
              </a:rPr>
              <a:t>    </a:t>
            </a:r>
            <a:r>
              <a:rPr kumimoji="0" lang="en-US" altLang="en-US" sz="2300" b="0" i="0" u="none" strike="noStrike" cap="none" normalizeH="0" baseline="0" dirty="0" err="1">
                <a:ln>
                  <a:noFill/>
                </a:ln>
                <a:solidFill>
                  <a:srgbClr val="94558D"/>
                </a:solidFill>
                <a:effectLst/>
                <a:latin typeface="JetBrains Mono"/>
              </a:rPr>
              <a:t>self</a:t>
            </a:r>
            <a:r>
              <a:rPr kumimoji="0" lang="en-US" altLang="en-US" sz="2300" b="0" i="0" u="none" strike="noStrike" cap="none" normalizeH="0" baseline="0" dirty="0" err="1">
                <a:ln>
                  <a:noFill/>
                </a:ln>
                <a:solidFill>
                  <a:srgbClr val="A9B7C6"/>
                </a:solidFill>
                <a:effectLst/>
                <a:latin typeface="JetBrains Mono"/>
              </a:rPr>
              <a:t>.tuoi</a:t>
            </a:r>
            <a:r>
              <a:rPr kumimoji="0" lang="en-US" altLang="en-US" sz="2300" b="0" i="0" u="none" strike="noStrike" cap="none" normalizeH="0" baseline="0" dirty="0">
                <a:ln>
                  <a:noFill/>
                </a:ln>
                <a:solidFill>
                  <a:srgbClr val="A9B7C6"/>
                </a:solidFill>
                <a:effectLst/>
                <a:latin typeface="JetBrains Mono"/>
              </a:rPr>
              <a:t>=</a:t>
            </a:r>
            <a:r>
              <a:rPr kumimoji="0" lang="en-US" altLang="en-US" sz="2300" b="0" i="0" u="none" strike="noStrike" cap="none" normalizeH="0" baseline="0" dirty="0" err="1">
                <a:ln>
                  <a:noFill/>
                </a:ln>
                <a:solidFill>
                  <a:srgbClr val="8888C6"/>
                </a:solidFill>
                <a:effectLst/>
                <a:latin typeface="JetBrains Mono"/>
              </a:rPr>
              <a:t>int</a:t>
            </a:r>
            <a:r>
              <a:rPr kumimoji="0" lang="en-US" altLang="en-US" sz="2300" b="0" i="0" u="none" strike="noStrike" cap="none" normalizeH="0" baseline="0" dirty="0">
                <a:ln>
                  <a:noFill/>
                </a:ln>
                <a:solidFill>
                  <a:srgbClr val="A9B7C6"/>
                </a:solidFill>
                <a:effectLst/>
                <a:latin typeface="JetBrains Mono"/>
              </a:rPr>
              <a:t>(</a:t>
            </a:r>
            <a:r>
              <a:rPr kumimoji="0" lang="en-US" altLang="en-US" sz="2300" b="0" i="0" u="none" strike="noStrike" cap="none" normalizeH="0" baseline="0" dirty="0">
                <a:ln>
                  <a:noFill/>
                </a:ln>
                <a:solidFill>
                  <a:srgbClr val="8888C6"/>
                </a:solidFill>
                <a:effectLst/>
                <a:latin typeface="JetBrains Mono"/>
              </a:rPr>
              <a:t>input</a:t>
            </a:r>
            <a:r>
              <a:rPr kumimoji="0" lang="en-US" altLang="en-US" sz="2300" b="0" i="0" u="none" strike="noStrike" cap="none" normalizeH="0" baseline="0" dirty="0">
                <a:ln>
                  <a:noFill/>
                </a:ln>
                <a:solidFill>
                  <a:srgbClr val="A9B7C6"/>
                </a:solidFill>
                <a:effectLst/>
                <a:latin typeface="JetBrains Mono"/>
              </a:rPr>
              <a:t>(</a:t>
            </a:r>
            <a:r>
              <a:rPr kumimoji="0" lang="en-US" altLang="en-US" sz="2300" b="0" i="0" u="none" strike="noStrike" cap="none" normalizeH="0" baseline="0" dirty="0">
                <a:ln>
                  <a:noFill/>
                </a:ln>
                <a:solidFill>
                  <a:srgbClr val="6A8759"/>
                </a:solidFill>
                <a:effectLst/>
                <a:latin typeface="JetBrains Mono"/>
              </a:rPr>
              <a:t>"</a:t>
            </a:r>
            <a:r>
              <a:rPr kumimoji="0" lang="en-US" altLang="en-US" sz="2300" b="0" i="0" u="none" strike="noStrike" cap="none" normalizeH="0" baseline="0" dirty="0" err="1">
                <a:ln>
                  <a:noFill/>
                </a:ln>
                <a:solidFill>
                  <a:srgbClr val="6A8759"/>
                </a:solidFill>
                <a:effectLst/>
                <a:latin typeface="JetBrains Mono"/>
              </a:rPr>
              <a:t>Nhập</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tuổi</a:t>
            </a:r>
            <a:r>
              <a:rPr kumimoji="0" lang="en-US" altLang="en-US" sz="2300" b="0" i="0" u="none" strike="noStrike" cap="none" normalizeH="0" baseline="0" dirty="0">
                <a:ln>
                  <a:noFill/>
                </a:ln>
                <a:solidFill>
                  <a:srgbClr val="6A8759"/>
                </a:solidFill>
                <a:effectLst/>
                <a:latin typeface="JetBrains Mono"/>
              </a:rPr>
              <a:t>:"</a:t>
            </a:r>
            <a:r>
              <a:rPr kumimoji="0" lang="en-US" altLang="en-US" sz="2300" b="0" i="0" u="none" strike="noStrike" cap="none" normalizeH="0" baseline="0" dirty="0">
                <a:ln>
                  <a:noFill/>
                </a:ln>
                <a:solidFill>
                  <a:srgbClr val="A9B7C6"/>
                </a:solidFill>
                <a:effectLst/>
                <a:latin typeface="JetBrains Mono"/>
              </a:rPr>
              <a:t>))</a:t>
            </a:r>
            <a:br>
              <a:rPr kumimoji="0" lang="en-US" altLang="en-US" sz="2300" b="0" i="0" u="none" strike="noStrike" cap="none" normalizeH="0" baseline="0" dirty="0">
                <a:ln>
                  <a:noFill/>
                </a:ln>
                <a:solidFill>
                  <a:srgbClr val="A9B7C6"/>
                </a:solidFill>
                <a:effectLst/>
                <a:latin typeface="JetBrains Mono"/>
              </a:rPr>
            </a:br>
            <a:r>
              <a:rPr kumimoji="0" lang="en-US" altLang="en-US" sz="2300" b="0" i="0" u="none" strike="noStrike" cap="none" normalizeH="0" baseline="0" dirty="0">
                <a:ln>
                  <a:noFill/>
                </a:ln>
                <a:solidFill>
                  <a:srgbClr val="A9B7C6"/>
                </a:solidFill>
                <a:effectLst/>
                <a:latin typeface="JetBrains Mono"/>
              </a:rPr>
              <a:t>    </a:t>
            </a:r>
            <a:r>
              <a:rPr kumimoji="0" lang="en-US" altLang="en-US" sz="2300" b="0" i="0" u="none" strike="noStrike" cap="none" normalizeH="0" baseline="0" dirty="0" err="1">
                <a:ln>
                  <a:noFill/>
                </a:ln>
                <a:solidFill>
                  <a:srgbClr val="94558D"/>
                </a:solidFill>
                <a:effectLst/>
                <a:latin typeface="JetBrains Mono"/>
              </a:rPr>
              <a:t>self</a:t>
            </a:r>
            <a:r>
              <a:rPr kumimoji="0" lang="en-US" altLang="en-US" sz="2300" b="0" i="0" u="none" strike="noStrike" cap="none" normalizeH="0" baseline="0" dirty="0" err="1">
                <a:ln>
                  <a:noFill/>
                </a:ln>
                <a:solidFill>
                  <a:srgbClr val="A9B7C6"/>
                </a:solidFill>
                <a:effectLst/>
                <a:latin typeface="JetBrains Mono"/>
              </a:rPr>
              <a:t>.dc</a:t>
            </a:r>
            <a:r>
              <a:rPr kumimoji="0" lang="en-US" altLang="en-US" sz="2300" b="0" i="0" u="none" strike="noStrike" cap="none" normalizeH="0" baseline="0" dirty="0">
                <a:ln>
                  <a:noFill/>
                </a:ln>
                <a:solidFill>
                  <a:srgbClr val="A9B7C6"/>
                </a:solidFill>
                <a:effectLst/>
                <a:latin typeface="JetBrains Mono"/>
              </a:rPr>
              <a:t>=</a:t>
            </a:r>
            <a:r>
              <a:rPr kumimoji="0" lang="en-US" altLang="en-US" sz="2300" b="0" i="0" u="none" strike="noStrike" cap="none" normalizeH="0" baseline="0" dirty="0">
                <a:ln>
                  <a:noFill/>
                </a:ln>
                <a:solidFill>
                  <a:srgbClr val="8888C6"/>
                </a:solidFill>
                <a:effectLst/>
                <a:latin typeface="JetBrains Mono"/>
              </a:rPr>
              <a:t>input</a:t>
            </a:r>
            <a:r>
              <a:rPr kumimoji="0" lang="en-US" altLang="en-US" sz="2300" b="0" i="0" u="none" strike="noStrike" cap="none" normalizeH="0" baseline="0" dirty="0">
                <a:ln>
                  <a:noFill/>
                </a:ln>
                <a:solidFill>
                  <a:srgbClr val="A9B7C6"/>
                </a:solidFill>
                <a:effectLst/>
                <a:latin typeface="JetBrains Mono"/>
              </a:rPr>
              <a:t>(</a:t>
            </a:r>
            <a:r>
              <a:rPr kumimoji="0" lang="en-US" altLang="en-US" sz="2300" b="0" i="0" u="none" strike="noStrike" cap="none" normalizeH="0" baseline="0" dirty="0">
                <a:ln>
                  <a:noFill/>
                </a:ln>
                <a:solidFill>
                  <a:srgbClr val="6A8759"/>
                </a:solidFill>
                <a:effectLst/>
                <a:latin typeface="JetBrains Mono"/>
              </a:rPr>
              <a:t>"</a:t>
            </a:r>
            <a:r>
              <a:rPr kumimoji="0" lang="en-US" altLang="en-US" sz="2300" b="0" i="0" u="none" strike="noStrike" cap="none" normalizeH="0" baseline="0" dirty="0" err="1">
                <a:ln>
                  <a:noFill/>
                </a:ln>
                <a:solidFill>
                  <a:srgbClr val="6A8759"/>
                </a:solidFill>
                <a:effectLst/>
                <a:latin typeface="JetBrains Mono"/>
              </a:rPr>
              <a:t>Nhập</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địa</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chỉ</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sinh</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viên</a:t>
            </a:r>
            <a:r>
              <a:rPr kumimoji="0" lang="en-US" altLang="en-US" sz="2300" b="0" i="0" u="none" strike="noStrike" cap="none" normalizeH="0" baseline="0" dirty="0">
                <a:ln>
                  <a:noFill/>
                </a:ln>
                <a:solidFill>
                  <a:srgbClr val="6A8759"/>
                </a:solidFill>
                <a:effectLst/>
                <a:latin typeface="JetBrains Mono"/>
              </a:rPr>
              <a:t>:"</a:t>
            </a:r>
            <a:r>
              <a:rPr kumimoji="0" lang="en-US" altLang="en-US" sz="2300" b="0" i="0" u="none" strike="noStrike" cap="none" normalizeH="0" baseline="0" dirty="0">
                <a:ln>
                  <a:noFill/>
                </a:ln>
                <a:solidFill>
                  <a:srgbClr val="A9B7C6"/>
                </a:solidFill>
                <a:effectLst/>
                <a:latin typeface="JetBrains Mono"/>
              </a:rPr>
              <a:t>)</a:t>
            </a:r>
            <a:endParaRPr kumimoji="0" lang="en-US" altLang="en-US" sz="2300" b="0" i="0" u="none" strike="noStrike" cap="none" normalizeH="0" baseline="0" dirty="0">
              <a:ln>
                <a:noFill/>
              </a:ln>
              <a:solidFill>
                <a:schemeClr val="tx1"/>
              </a:solidFill>
              <a:effectLst/>
              <a:latin typeface="Arial" panose="020B0604020202020204" pitchFamily="34" charset="0"/>
            </a:endParaRPr>
          </a:p>
        </p:txBody>
      </p:sp>
      <p:sp>
        <p:nvSpPr>
          <p:cNvPr id="12" name="Rectangle 4">
            <a:extLst>
              <a:ext uri="{FF2B5EF4-FFF2-40B4-BE49-F238E27FC236}">
                <a16:creationId xmlns:a16="http://schemas.microsoft.com/office/drawing/2014/main" id="{82F4D542-6434-4441-A0B2-A893D8CC1F7E}"/>
              </a:ext>
            </a:extLst>
          </p:cNvPr>
          <p:cNvSpPr>
            <a:spLocks noChangeArrowheads="1"/>
          </p:cNvSpPr>
          <p:nvPr/>
        </p:nvSpPr>
        <p:spPr bwMode="auto">
          <a:xfrm>
            <a:off x="127054" y="4289469"/>
            <a:ext cx="6184294" cy="1862048"/>
          </a:xfrm>
          <a:prstGeom prst="rect">
            <a:avLst/>
          </a:prstGeom>
          <a:solidFill>
            <a:schemeClr val="tx1"/>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a:ln>
                  <a:noFill/>
                </a:ln>
                <a:solidFill>
                  <a:srgbClr val="808080"/>
                </a:solidFill>
                <a:effectLst/>
                <a:latin typeface="JetBrains Mono"/>
              </a:rPr>
              <a:t>#Khai </a:t>
            </a:r>
            <a:r>
              <a:rPr kumimoji="0" lang="en-US" altLang="en-US" sz="2300" b="0" i="0" u="none" strike="noStrike" cap="none" normalizeH="0" baseline="0" err="1">
                <a:ln>
                  <a:noFill/>
                </a:ln>
                <a:solidFill>
                  <a:srgbClr val="808080"/>
                </a:solidFill>
                <a:effectLst/>
                <a:latin typeface="JetBrains Mono"/>
              </a:rPr>
              <a:t>báo</a:t>
            </a:r>
            <a:r>
              <a:rPr kumimoji="0" lang="en-US" altLang="en-US" sz="2300" b="0" i="0" u="none" strike="noStrike" cap="none" normalizeH="0" baseline="0">
                <a:ln>
                  <a:noFill/>
                </a:ln>
                <a:solidFill>
                  <a:srgbClr val="808080"/>
                </a:solidFill>
                <a:effectLst/>
                <a:latin typeface="JetBrains Mono"/>
              </a:rPr>
              <a:t> </a:t>
            </a:r>
            <a:r>
              <a:rPr kumimoji="0" lang="en-US" altLang="en-US" sz="2300" b="0" i="0" u="none" strike="noStrike" cap="none" normalizeH="0" baseline="0" err="1">
                <a:ln>
                  <a:noFill/>
                </a:ln>
                <a:solidFill>
                  <a:srgbClr val="808080"/>
                </a:solidFill>
                <a:effectLst/>
                <a:latin typeface="JetBrains Mono"/>
              </a:rPr>
              <a:t>đối</a:t>
            </a:r>
            <a:r>
              <a:rPr kumimoji="0" lang="en-US" altLang="en-US" sz="2300" b="0" i="0" u="none" strike="noStrike" cap="none" normalizeH="0" baseline="0">
                <a:ln>
                  <a:noFill/>
                </a:ln>
                <a:solidFill>
                  <a:srgbClr val="808080"/>
                </a:solidFill>
                <a:effectLst/>
                <a:latin typeface="JetBrains Mono"/>
              </a:rPr>
              <a:t> </a:t>
            </a:r>
            <a:r>
              <a:rPr kumimoji="0" lang="en-US" altLang="en-US" sz="2300" b="0" i="0" u="none" strike="noStrike" cap="none" normalizeH="0" baseline="0" err="1">
                <a:ln>
                  <a:noFill/>
                </a:ln>
                <a:solidFill>
                  <a:srgbClr val="808080"/>
                </a:solidFill>
                <a:effectLst/>
                <a:latin typeface="JetBrains Mono"/>
              </a:rPr>
              <a:t>tượng</a:t>
            </a:r>
            <a:r>
              <a:rPr kumimoji="0" lang="en-US" altLang="en-US" sz="2300" b="0" i="0" u="none" strike="noStrike" cap="none" normalizeH="0" baseline="0">
                <a:ln>
                  <a:noFill/>
                </a:ln>
                <a:solidFill>
                  <a:srgbClr val="808080"/>
                </a:solidFill>
                <a:effectLst/>
                <a:latin typeface="JetBrains Mono"/>
              </a:rPr>
              <a:t> </a:t>
            </a:r>
            <a:r>
              <a:rPr kumimoji="0" lang="en-US" altLang="en-US" sz="2300" b="0" i="0" u="none" strike="noStrike" cap="none" normalizeH="0" baseline="0" err="1">
                <a:ln>
                  <a:noFill/>
                </a:ln>
                <a:solidFill>
                  <a:srgbClr val="808080"/>
                </a:solidFill>
                <a:effectLst/>
                <a:latin typeface="JetBrains Mono"/>
              </a:rPr>
              <a:t>sử</a:t>
            </a:r>
            <a:r>
              <a:rPr kumimoji="0" lang="en-US" altLang="en-US" sz="2300" b="0" i="0" u="none" strike="noStrike" cap="none" normalizeH="0" baseline="0">
                <a:ln>
                  <a:noFill/>
                </a:ln>
                <a:solidFill>
                  <a:srgbClr val="808080"/>
                </a:solidFill>
                <a:effectLst/>
                <a:latin typeface="JetBrains Mono"/>
              </a:rPr>
              <a:t> </a:t>
            </a:r>
            <a:r>
              <a:rPr kumimoji="0" lang="en-US" altLang="en-US" sz="2300" b="0" i="0" u="none" strike="noStrike" cap="none" normalizeH="0" baseline="0" err="1">
                <a:ln>
                  <a:noFill/>
                </a:ln>
                <a:solidFill>
                  <a:srgbClr val="808080"/>
                </a:solidFill>
                <a:effectLst/>
                <a:latin typeface="JetBrains Mono"/>
              </a:rPr>
              <a:t>dụng</a:t>
            </a:r>
            <a:r>
              <a:rPr kumimoji="0" lang="en-US" altLang="en-US" sz="2300" b="0" i="0" u="none" strike="noStrike" cap="none" normalizeH="0" baseline="0">
                <a:ln>
                  <a:noFill/>
                </a:ln>
                <a:solidFill>
                  <a:srgbClr val="808080"/>
                </a:solidFill>
                <a:effectLst/>
                <a:latin typeface="JetBrains Mono"/>
              </a:rPr>
              <a:t> </a:t>
            </a:r>
            <a:r>
              <a:rPr kumimoji="0" lang="en-US" altLang="en-US" sz="2300" b="0" i="0" u="none" strike="noStrike" cap="none" normalizeH="0" baseline="0" err="1">
                <a:ln>
                  <a:noFill/>
                </a:ln>
                <a:solidFill>
                  <a:srgbClr val="808080"/>
                </a:solidFill>
                <a:effectLst/>
                <a:latin typeface="JetBrains Mono"/>
              </a:rPr>
              <a:t>lớp</a:t>
            </a:r>
            <a:br>
              <a:rPr kumimoji="0" lang="en-US" altLang="en-US" sz="2300" b="0" i="0" u="none" strike="noStrike" cap="none" normalizeH="0" baseline="0">
                <a:ln>
                  <a:noFill/>
                </a:ln>
                <a:solidFill>
                  <a:srgbClr val="808080"/>
                </a:solidFill>
                <a:effectLst/>
                <a:latin typeface="JetBrains Mono"/>
              </a:rPr>
            </a:br>
            <a:r>
              <a:rPr kumimoji="0" lang="en-US" altLang="en-US" sz="2300" b="0" i="0" u="none" strike="noStrike" cap="none" normalizeH="0" baseline="0" err="1">
                <a:ln>
                  <a:noFill/>
                </a:ln>
                <a:solidFill>
                  <a:schemeClr val="bg1"/>
                </a:solidFill>
                <a:effectLst/>
                <a:latin typeface="JetBrains Mono"/>
              </a:rPr>
              <a:t>sv</a:t>
            </a:r>
            <a:r>
              <a:rPr kumimoji="0" lang="en-US" altLang="en-US" sz="2300" b="0" i="0" u="none" strike="noStrike" cap="none" normalizeH="0" baseline="0">
                <a:ln>
                  <a:noFill/>
                </a:ln>
                <a:solidFill>
                  <a:schemeClr val="bg1"/>
                </a:solidFill>
                <a:effectLst/>
                <a:latin typeface="JetBrains Mono"/>
              </a:rPr>
              <a:t>=</a:t>
            </a:r>
            <a:r>
              <a:rPr kumimoji="0" lang="en-US" altLang="en-US" sz="2300" b="0" i="0" u="none" strike="noStrike" cap="none" normalizeH="0" baseline="0" err="1">
                <a:ln>
                  <a:noFill/>
                </a:ln>
                <a:solidFill>
                  <a:schemeClr val="bg1"/>
                </a:solidFill>
                <a:effectLst/>
                <a:latin typeface="JetBrains Mono"/>
              </a:rPr>
              <a:t>sinhVien</a:t>
            </a:r>
            <a:r>
              <a:rPr kumimoji="0" lang="en-US" altLang="en-US" sz="2300" b="0" i="0" u="none" strike="noStrike" cap="none" normalizeH="0" baseline="0">
                <a:ln>
                  <a:noFill/>
                </a:ln>
                <a:solidFill>
                  <a:schemeClr val="bg1"/>
                </a:solidFill>
                <a:effectLst/>
                <a:latin typeface="JetBrains Mono"/>
              </a:rPr>
              <a:t>()</a:t>
            </a:r>
            <a:br>
              <a:rPr kumimoji="0" lang="en-US" altLang="en-US" sz="2300" b="0" i="0" u="none" strike="noStrike" cap="none" normalizeH="0" baseline="0">
                <a:ln>
                  <a:noFill/>
                </a:ln>
                <a:solidFill>
                  <a:srgbClr val="A9B7C6"/>
                </a:solidFill>
                <a:effectLst/>
                <a:latin typeface="JetBrains Mono"/>
              </a:rPr>
            </a:br>
            <a:r>
              <a:rPr kumimoji="0" lang="en-US" altLang="en-US" sz="2300" b="0" i="0" u="none" strike="noStrike" cap="none" normalizeH="0" baseline="0">
                <a:ln>
                  <a:noFill/>
                </a:ln>
                <a:solidFill>
                  <a:srgbClr val="808080"/>
                </a:solidFill>
                <a:effectLst/>
                <a:latin typeface="JetBrains Mono"/>
              </a:rPr>
              <a:t>#gọi </a:t>
            </a:r>
            <a:r>
              <a:rPr kumimoji="0" lang="en-US" altLang="en-US" sz="2300" b="0" i="0" u="none" strike="noStrike" cap="none" normalizeH="0" baseline="0" err="1">
                <a:ln>
                  <a:noFill/>
                </a:ln>
                <a:solidFill>
                  <a:srgbClr val="808080"/>
                </a:solidFill>
                <a:effectLst/>
                <a:latin typeface="JetBrains Mono"/>
              </a:rPr>
              <a:t>phương</a:t>
            </a:r>
            <a:r>
              <a:rPr kumimoji="0" lang="en-US" altLang="en-US" sz="2300" b="0" i="0" u="none" strike="noStrike" cap="none" normalizeH="0" baseline="0">
                <a:ln>
                  <a:noFill/>
                </a:ln>
                <a:solidFill>
                  <a:srgbClr val="808080"/>
                </a:solidFill>
                <a:effectLst/>
                <a:latin typeface="JetBrains Mono"/>
              </a:rPr>
              <a:t> </a:t>
            </a:r>
            <a:r>
              <a:rPr kumimoji="0" lang="en-US" altLang="en-US" sz="2300" b="0" i="0" u="none" strike="noStrike" cap="none" normalizeH="0" baseline="0" err="1">
                <a:ln>
                  <a:noFill/>
                </a:ln>
                <a:solidFill>
                  <a:srgbClr val="808080"/>
                </a:solidFill>
                <a:effectLst/>
                <a:latin typeface="JetBrains Mono"/>
              </a:rPr>
              <a:t>thức</a:t>
            </a:r>
            <a:br>
              <a:rPr kumimoji="0" lang="en-US" altLang="en-US" sz="2300" b="0" i="0" u="none" strike="noStrike" cap="none" normalizeH="0" baseline="0">
                <a:ln>
                  <a:noFill/>
                </a:ln>
                <a:solidFill>
                  <a:srgbClr val="808080"/>
                </a:solidFill>
                <a:effectLst/>
                <a:latin typeface="JetBrains Mono"/>
              </a:rPr>
            </a:br>
            <a:r>
              <a:rPr kumimoji="0" lang="en-US" altLang="en-US" sz="2300" b="0" i="0" u="none" strike="noStrike" cap="none" normalizeH="0" baseline="0" err="1">
                <a:ln>
                  <a:noFill/>
                </a:ln>
                <a:solidFill>
                  <a:schemeClr val="bg1"/>
                </a:solidFill>
                <a:effectLst/>
                <a:latin typeface="JetBrains Mono"/>
              </a:rPr>
              <a:t>sv.add</a:t>
            </a:r>
            <a:r>
              <a:rPr kumimoji="0" lang="en-US" altLang="en-US" sz="2300" b="0" i="0" u="none" strike="noStrike" cap="none" normalizeH="0" baseline="0">
                <a:ln>
                  <a:noFill/>
                </a:ln>
                <a:solidFill>
                  <a:schemeClr val="bg1"/>
                </a:solidFill>
                <a:effectLst/>
                <a:latin typeface="JetBrains Mono"/>
              </a:rPr>
              <a:t>()</a:t>
            </a:r>
            <a:br>
              <a:rPr kumimoji="0" lang="en-US" altLang="en-US" sz="2300" b="0" i="0" u="none" strike="noStrike" cap="none" normalizeH="0" baseline="0">
                <a:ln>
                  <a:noFill/>
                </a:ln>
                <a:solidFill>
                  <a:srgbClr val="808080"/>
                </a:solidFill>
                <a:effectLst/>
                <a:latin typeface="JetBrains Mono"/>
              </a:rPr>
            </a:br>
            <a:r>
              <a:rPr kumimoji="0" lang="en-US" altLang="en-US" sz="2300" b="0" i="0" u="none" strike="noStrike" cap="none" normalizeH="0" baseline="0" err="1">
                <a:ln>
                  <a:noFill/>
                </a:ln>
                <a:solidFill>
                  <a:schemeClr val="bg1"/>
                </a:solidFill>
                <a:effectLst/>
                <a:latin typeface="JetBrains Mono"/>
              </a:rPr>
              <a:t>sv.hienthi</a:t>
            </a:r>
            <a:r>
              <a:rPr kumimoji="0" lang="en-US" altLang="en-US" sz="2300" b="0" i="0" u="none" strike="noStrike" cap="none" normalizeH="0" baseline="0">
                <a:ln>
                  <a:noFill/>
                </a:ln>
                <a:solidFill>
                  <a:schemeClr val="bg1"/>
                </a:solidFill>
                <a:effectLst/>
                <a:latin typeface="JetBrains Mono"/>
              </a:rPr>
              <a:t>()</a:t>
            </a:r>
            <a:endParaRPr kumimoji="0" lang="en-US" altLang="en-US" sz="2300" b="0" i="0" u="none" strike="noStrike" cap="none" normalizeH="0" baseline="0">
              <a:ln>
                <a:noFill/>
              </a:ln>
              <a:solidFill>
                <a:schemeClr val="bg1"/>
              </a:solidFill>
              <a:effectLst/>
              <a:latin typeface="Arial" panose="020B0604020202020204" pitchFamily="34" charset="0"/>
            </a:endParaRPr>
          </a:p>
        </p:txBody>
      </p:sp>
    </p:spTree>
    <p:extLst>
      <p:ext uri="{BB962C8B-B14F-4D97-AF65-F5344CB8AC3E}">
        <p14:creationId xmlns:p14="http://schemas.microsoft.com/office/powerpoint/2010/main" val="6200521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latin typeface="Cambria" panose="02040503050406030204" pitchFamily="18" charset="0"/>
                <a:ea typeface="Cambria" panose="02040503050406030204" pitchFamily="18" charset="0"/>
              </a:rPr>
              <a:t>Bài</a:t>
            </a:r>
            <a:r>
              <a:rPr lang="en-US">
                <a:latin typeface="Cambria" panose="02040503050406030204" pitchFamily="18" charset="0"/>
                <a:ea typeface="Cambria" panose="02040503050406030204" pitchFamily="18" charset="0"/>
              </a:rPr>
              <a:t> 4 – </a:t>
            </a:r>
            <a:r>
              <a:rPr lang="en-US" spc="-5" err="1">
                <a:latin typeface="Cambria" panose="02040503050406030204" pitchFamily="18" charset="0"/>
                <a:ea typeface="Cambria" panose="02040503050406030204" pitchFamily="18" charset="0"/>
                <a:cs typeface="Arial"/>
              </a:rPr>
              <a:t>Lập</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trình</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hướng</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tượng</a:t>
            </a:r>
            <a:endParaRPr lang="en-US">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a:solidFill>
                  <a:schemeClr val="bg1"/>
                </a:solidFill>
                <a:latin typeface="Cambria" panose="02040503050406030204" pitchFamily="18" charset="0"/>
              </a:rPr>
              <a:t>LỚP (CLASS) TRONG PYTHON</a:t>
            </a:r>
          </a:p>
        </p:txBody>
      </p:sp>
      <p:sp>
        <p:nvSpPr>
          <p:cNvPr id="4" name="TextBox 3"/>
          <p:cNvSpPr txBox="1"/>
          <p:nvPr/>
        </p:nvSpPr>
        <p:spPr>
          <a:xfrm>
            <a:off x="127054" y="677516"/>
            <a:ext cx="10108095" cy="477054"/>
          </a:xfrm>
          <a:prstGeom prst="rect">
            <a:avLst/>
          </a:prstGeom>
          <a:noFill/>
        </p:spPr>
        <p:txBody>
          <a:bodyPr wrap="square" rtlCol="0">
            <a:spAutoFit/>
          </a:bodyPr>
          <a:lstStyle/>
          <a:p>
            <a:r>
              <a:rPr lang="en-US" sz="2500" b="1" dirty="0" err="1">
                <a:latin typeface="Cambria" panose="02040503050406030204" pitchFamily="18" charset="0"/>
                <a:ea typeface="Cambria" panose="02040503050406030204" pitchFamily="18" charset="0"/>
              </a:rPr>
              <a:t>Phương</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thức</a:t>
            </a:r>
            <a:r>
              <a:rPr lang="en-US" sz="2500" b="1" dirty="0">
                <a:latin typeface="Cambria" panose="02040503050406030204" pitchFamily="18" charset="0"/>
                <a:ea typeface="Cambria" panose="02040503050406030204" pitchFamily="18" charset="0"/>
              </a:rPr>
              <a:t> KHỞI TẠO</a:t>
            </a:r>
          </a:p>
        </p:txBody>
      </p:sp>
      <p:sp>
        <p:nvSpPr>
          <p:cNvPr id="10" name="Content Placeholder 2"/>
          <p:cNvSpPr>
            <a:spLocks noGrp="1"/>
          </p:cNvSpPr>
          <p:nvPr>
            <p:ph idx="1"/>
          </p:nvPr>
        </p:nvSpPr>
        <p:spPr>
          <a:xfrm>
            <a:off x="217044" y="1176105"/>
            <a:ext cx="11849059" cy="4700442"/>
          </a:xfrm>
        </p:spPr>
        <p:txBody>
          <a:bodyPr>
            <a:normAutofit/>
          </a:bodyPr>
          <a:lstStyle/>
          <a:p>
            <a:pPr marL="0" indent="0" algn="just">
              <a:lnSpc>
                <a:spcPct val="150000"/>
              </a:lnSpc>
              <a:spcBef>
                <a:spcPts val="0"/>
              </a:spcBef>
              <a:buNone/>
            </a:pPr>
            <a:r>
              <a:rPr lang="en-US" sz="2500" err="1">
                <a:latin typeface="Cambria" panose="02040503050406030204" pitchFamily="18" charset="0"/>
                <a:ea typeface="Cambria" panose="02040503050406030204" pitchFamily="18" charset="0"/>
                <a:cs typeface="Tahoma" panose="020B0604030504040204" pitchFamily="34" charset="0"/>
              </a:rPr>
              <a:t>Cú</a:t>
            </a:r>
            <a:r>
              <a:rPr lang="en-US" sz="2500">
                <a:latin typeface="Cambria" panose="02040503050406030204" pitchFamily="18" charset="0"/>
                <a:ea typeface="Cambria" panose="02040503050406030204" pitchFamily="18" charset="0"/>
                <a:cs typeface="Tahoma" panose="020B0604030504040204" pitchFamily="34" charset="0"/>
              </a:rPr>
              <a:t> </a:t>
            </a:r>
            <a:r>
              <a:rPr lang="en-US" sz="2500" err="1">
                <a:latin typeface="Cambria" panose="02040503050406030204" pitchFamily="18" charset="0"/>
                <a:ea typeface="Cambria" panose="02040503050406030204" pitchFamily="18" charset="0"/>
                <a:cs typeface="Tahoma" panose="020B0604030504040204" pitchFamily="34" charset="0"/>
              </a:rPr>
              <a:t>pháp</a:t>
            </a:r>
            <a:r>
              <a:rPr lang="en-US" sz="2500">
                <a:latin typeface="Cambria" panose="02040503050406030204" pitchFamily="18" charset="0"/>
                <a:ea typeface="Cambria" panose="02040503050406030204" pitchFamily="18" charset="0"/>
                <a:cs typeface="Tahoma" panose="020B0604030504040204" pitchFamily="34" charset="0"/>
              </a:rPr>
              <a:t>: </a:t>
            </a:r>
          </a:p>
          <a:p>
            <a:pPr algn="just">
              <a:lnSpc>
                <a:spcPct val="150000"/>
              </a:lnSpc>
              <a:spcBef>
                <a:spcPts val="0"/>
              </a:spcBef>
            </a:pPr>
            <a:endParaRPr lang="en-US" sz="2500" b="0">
              <a:latin typeface="Cambria" panose="02040503050406030204" pitchFamily="18" charset="0"/>
              <a:ea typeface="Cambria" panose="02040503050406030204" pitchFamily="18" charset="0"/>
              <a:cs typeface="Tahoma" panose="020B0604030504040204" pitchFamily="34" charset="0"/>
            </a:endParaRPr>
          </a:p>
          <a:p>
            <a:pPr marL="0" indent="0">
              <a:lnSpc>
                <a:spcPct val="150000"/>
              </a:lnSpc>
              <a:spcBef>
                <a:spcPts val="0"/>
              </a:spcBef>
              <a:buNone/>
            </a:pPr>
            <a:r>
              <a:rPr lang="vi-VN" sz="2500" b="0">
                <a:latin typeface="Cambria" panose="02040503050406030204" pitchFamily="18" charset="0"/>
                <a:ea typeface="Cambria" panose="02040503050406030204" pitchFamily="18" charset="0"/>
                <a:cs typeface="Tahoma" panose="020B0604030504040204" pitchFamily="34" charset="0"/>
              </a:rPr>
              <a:t>Trong đó</a:t>
            </a:r>
            <a:r>
              <a:rPr lang="en-US" sz="2500" b="0">
                <a:latin typeface="Cambria" panose="02040503050406030204" pitchFamily="18" charset="0"/>
                <a:ea typeface="Cambria" panose="02040503050406030204" pitchFamily="18" charset="0"/>
                <a:cs typeface="Tahoma" panose="020B0604030504040204" pitchFamily="34" charset="0"/>
              </a:rPr>
              <a:t>:</a:t>
            </a:r>
            <a:endParaRPr lang="vi-VN" sz="2500" b="0">
              <a:latin typeface="Cambria" panose="02040503050406030204" pitchFamily="18" charset="0"/>
              <a:ea typeface="Cambria" panose="02040503050406030204" pitchFamily="18" charset="0"/>
              <a:cs typeface="Tahoma" panose="020B0604030504040204" pitchFamily="34" charset="0"/>
            </a:endParaRPr>
          </a:p>
          <a:p>
            <a:pPr>
              <a:lnSpc>
                <a:spcPct val="150000"/>
              </a:lnSpc>
              <a:spcBef>
                <a:spcPts val="0"/>
              </a:spcBef>
            </a:pPr>
            <a:r>
              <a:rPr lang="vi-VN" sz="2500">
                <a:latin typeface="Cambria" panose="02040503050406030204" pitchFamily="18" charset="0"/>
                <a:ea typeface="Cambria" panose="02040503050406030204" pitchFamily="18" charset="0"/>
                <a:cs typeface="Tahoma" panose="020B0604030504040204" pitchFamily="34" charset="0"/>
              </a:rPr>
              <a:t>def</a:t>
            </a:r>
            <a:r>
              <a:rPr lang="vi-VN" sz="2500" b="0">
                <a:latin typeface="Cambria" panose="02040503050406030204" pitchFamily="18" charset="0"/>
                <a:ea typeface="Cambria" panose="02040503050406030204" pitchFamily="18" charset="0"/>
                <a:cs typeface="Tahoma" panose="020B0604030504040204" pitchFamily="34" charset="0"/>
              </a:rPr>
              <a:t> là từ khóa khai báo một hàm trong Python</a:t>
            </a:r>
          </a:p>
          <a:p>
            <a:pPr>
              <a:lnSpc>
                <a:spcPct val="150000"/>
              </a:lnSpc>
              <a:spcBef>
                <a:spcPts val="0"/>
              </a:spcBef>
            </a:pPr>
            <a:r>
              <a:rPr lang="vi-VN" sz="2500">
                <a:latin typeface="Cambria" panose="02040503050406030204" pitchFamily="18" charset="0"/>
                <a:ea typeface="Cambria" panose="02040503050406030204" pitchFamily="18" charset="0"/>
                <a:cs typeface="Tahoma" panose="020B0604030504040204" pitchFamily="34" charset="0"/>
              </a:rPr>
              <a:t>__init__()</a:t>
            </a:r>
            <a:r>
              <a:rPr lang="vi-VN" sz="2500" b="0">
                <a:latin typeface="Cambria" panose="02040503050406030204" pitchFamily="18" charset="0"/>
                <a:ea typeface="Cambria" panose="02040503050406030204" pitchFamily="18" charset="0"/>
                <a:cs typeface="Tahoma" panose="020B0604030504040204" pitchFamily="34" charset="0"/>
              </a:rPr>
              <a:t> là tên của hàm khởi tạo (constructor)</a:t>
            </a:r>
          </a:p>
          <a:p>
            <a:pPr>
              <a:lnSpc>
                <a:spcPct val="150000"/>
              </a:lnSpc>
              <a:spcBef>
                <a:spcPts val="0"/>
              </a:spcBef>
            </a:pPr>
            <a:r>
              <a:rPr lang="vi-VN" sz="2500">
                <a:latin typeface="Cambria" panose="02040503050406030204" pitchFamily="18" charset="0"/>
                <a:ea typeface="Cambria" panose="02040503050406030204" pitchFamily="18" charset="0"/>
                <a:cs typeface="Tahoma" panose="020B0604030504040204" pitchFamily="34" charset="0"/>
                <a:hlinkClick r:id="rId2"/>
              </a:rPr>
              <a:t>self</a:t>
            </a:r>
            <a:r>
              <a:rPr lang="vi-VN" sz="2500" b="0">
                <a:latin typeface="Cambria" panose="02040503050406030204" pitchFamily="18" charset="0"/>
                <a:ea typeface="Cambria" panose="02040503050406030204" pitchFamily="18" charset="0"/>
                <a:cs typeface="Tahoma" panose="020B0604030504040204" pitchFamily="34" charset="0"/>
              </a:rPr>
              <a:t> là tham số đầu tiên của hàm </a:t>
            </a:r>
            <a:r>
              <a:rPr lang="vi-VN" sz="2500">
                <a:latin typeface="Cambria" panose="02040503050406030204" pitchFamily="18" charset="0"/>
                <a:ea typeface="Cambria" panose="02040503050406030204" pitchFamily="18" charset="0"/>
                <a:cs typeface="Tahoma" panose="020B0604030504040204" pitchFamily="34" charset="0"/>
              </a:rPr>
              <a:t>__init__()</a:t>
            </a:r>
            <a:r>
              <a:rPr lang="vi-VN" sz="2500" b="0">
                <a:latin typeface="Cambria" panose="02040503050406030204" pitchFamily="18" charset="0"/>
                <a:ea typeface="Cambria" panose="02040503050406030204" pitchFamily="18" charset="0"/>
                <a:cs typeface="Tahoma" panose="020B0604030504040204" pitchFamily="34" charset="0"/>
              </a:rPr>
              <a:t>. </a:t>
            </a:r>
            <a:endParaRPr lang="en-US" sz="2500" b="0">
              <a:latin typeface="Cambria" panose="02040503050406030204" pitchFamily="18" charset="0"/>
              <a:ea typeface="Cambria" panose="02040503050406030204" pitchFamily="18" charset="0"/>
              <a:cs typeface="Tahoma" panose="020B0604030504040204" pitchFamily="34" charset="0"/>
            </a:endParaRPr>
          </a:p>
          <a:p>
            <a:pPr>
              <a:lnSpc>
                <a:spcPct val="150000"/>
              </a:lnSpc>
              <a:spcBef>
                <a:spcPts val="0"/>
              </a:spcBef>
            </a:pPr>
            <a:r>
              <a:rPr lang="vi-VN" sz="2500">
                <a:latin typeface="Cambria" panose="02040503050406030204" pitchFamily="18" charset="0"/>
                <a:ea typeface="Cambria" panose="02040503050406030204" pitchFamily="18" charset="0"/>
                <a:cs typeface="Tahoma" panose="020B0604030504040204" pitchFamily="34" charset="0"/>
              </a:rPr>
              <a:t>[parameter1, parameter2,…]</a:t>
            </a:r>
            <a:r>
              <a:rPr lang="vi-VN" sz="2500" b="0">
                <a:latin typeface="Cambria" panose="02040503050406030204" pitchFamily="18" charset="0"/>
                <a:ea typeface="Cambria" panose="02040503050406030204" pitchFamily="18" charset="0"/>
                <a:cs typeface="Tahoma" panose="020B0604030504040204" pitchFamily="34" charset="0"/>
              </a:rPr>
              <a:t> là các tham số tùy chọn, thường là các giá trị để gán cho các thuộc tính của đối tượng được tạo ra.</a:t>
            </a:r>
          </a:p>
          <a:p>
            <a:pPr marL="0" indent="0" algn="just">
              <a:lnSpc>
                <a:spcPct val="150000"/>
              </a:lnSpc>
              <a:spcBef>
                <a:spcPts val="0"/>
              </a:spcBef>
              <a:buNone/>
            </a:pPr>
            <a:endParaRPr lang="en-US" sz="2500">
              <a:latin typeface="Cambria" panose="02040503050406030204" pitchFamily="18" charset="0"/>
              <a:ea typeface="Cambria" panose="02040503050406030204" pitchFamily="18" charset="0"/>
              <a:cs typeface="Tahoma" panose="020B0604030504040204" pitchFamily="34" charset="0"/>
            </a:endParaRPr>
          </a:p>
        </p:txBody>
      </p:sp>
      <p:sp>
        <p:nvSpPr>
          <p:cNvPr id="11" name="Rectangle 10"/>
          <p:cNvSpPr/>
          <p:nvPr/>
        </p:nvSpPr>
        <p:spPr>
          <a:xfrm>
            <a:off x="2640496" y="1290460"/>
            <a:ext cx="6370134" cy="1088503"/>
          </a:xfrm>
          <a:prstGeom prst="rect">
            <a:avLst/>
          </a:prstGeom>
          <a:ln>
            <a:solidFill>
              <a:schemeClr val="accent1"/>
            </a:solidFill>
          </a:ln>
        </p:spPr>
        <p:txBody>
          <a:bodyPr wrap="square">
            <a:spAutoFit/>
          </a:bodyPr>
          <a:lstStyle/>
          <a:p>
            <a:pPr>
              <a:lnSpc>
                <a:spcPct val="150000"/>
              </a:lnSpc>
            </a:pPr>
            <a:r>
              <a:rPr lang="en-US" sz="2300" b="1" dirty="0">
                <a:solidFill>
                  <a:srgbClr val="A554DC"/>
                </a:solidFill>
                <a:latin typeface="Cambria" panose="02040503050406030204" pitchFamily="18" charset="0"/>
                <a:ea typeface="Cambria" panose="02040503050406030204" pitchFamily="18" charset="0"/>
                <a:cs typeface="Tahoma" panose="020B0604030504040204" pitchFamily="34" charset="0"/>
              </a:rPr>
              <a:t>def</a:t>
            </a:r>
            <a:r>
              <a:rPr lang="en-US" sz="2300" b="1" dirty="0">
                <a:solidFill>
                  <a:srgbClr val="ABB2BF"/>
                </a:solidFill>
                <a:latin typeface="Cambria" panose="02040503050406030204" pitchFamily="18" charset="0"/>
                <a:ea typeface="Cambria" panose="02040503050406030204" pitchFamily="18" charset="0"/>
                <a:cs typeface="Tahoma" panose="020B0604030504040204" pitchFamily="34" charset="0"/>
              </a:rPr>
              <a:t> </a:t>
            </a:r>
            <a:r>
              <a:rPr lang="en-US" sz="2300" b="1" dirty="0">
                <a:solidFill>
                  <a:srgbClr val="61AFEF"/>
                </a:solidFill>
                <a:latin typeface="Cambria" panose="02040503050406030204" pitchFamily="18" charset="0"/>
                <a:ea typeface="Cambria" panose="02040503050406030204" pitchFamily="18" charset="0"/>
                <a:cs typeface="Tahoma" panose="020B0604030504040204" pitchFamily="34" charset="0"/>
              </a:rPr>
              <a:t>__</a:t>
            </a:r>
            <a:r>
              <a:rPr lang="en-US" sz="2300" b="1" dirty="0" err="1">
                <a:solidFill>
                  <a:srgbClr val="61AFEF"/>
                </a:solidFill>
                <a:latin typeface="Cambria" panose="02040503050406030204" pitchFamily="18" charset="0"/>
                <a:ea typeface="Cambria" panose="02040503050406030204" pitchFamily="18" charset="0"/>
                <a:cs typeface="Tahoma" panose="020B0604030504040204" pitchFamily="34" charset="0"/>
              </a:rPr>
              <a:t>init</a:t>
            </a:r>
            <a:r>
              <a:rPr lang="en-US" sz="2300" b="1" dirty="0">
                <a:latin typeface="Cambria" panose="02040503050406030204" pitchFamily="18" charset="0"/>
                <a:ea typeface="Cambria" panose="02040503050406030204" pitchFamily="18" charset="0"/>
                <a:cs typeface="Tahoma" panose="020B0604030504040204" pitchFamily="34" charset="0"/>
              </a:rPr>
              <a:t>__(self, [parameter1, parameter2,...]): </a:t>
            </a:r>
          </a:p>
          <a:p>
            <a:pPr>
              <a:lnSpc>
                <a:spcPct val="150000"/>
              </a:lnSpc>
            </a:pPr>
            <a:r>
              <a:rPr lang="en-US" sz="2300" b="1" dirty="0">
                <a:latin typeface="Cambria" panose="02040503050406030204" pitchFamily="18" charset="0"/>
                <a:ea typeface="Cambria" panose="02040503050406030204" pitchFamily="18" charset="0"/>
                <a:cs typeface="Tahoma" panose="020B0604030504040204" pitchFamily="34" charset="0"/>
              </a:rPr>
              <a:t>	# Body of __</a:t>
            </a:r>
            <a:r>
              <a:rPr lang="en-US" sz="2300" b="1" dirty="0" err="1">
                <a:latin typeface="Cambria" panose="02040503050406030204" pitchFamily="18" charset="0"/>
                <a:ea typeface="Cambria" panose="02040503050406030204" pitchFamily="18" charset="0"/>
                <a:cs typeface="Tahoma" panose="020B0604030504040204" pitchFamily="34" charset="0"/>
              </a:rPr>
              <a:t>init</a:t>
            </a:r>
            <a:r>
              <a:rPr lang="en-US" sz="2300" b="1" dirty="0">
                <a:latin typeface="Cambria" panose="02040503050406030204" pitchFamily="18" charset="0"/>
                <a:ea typeface="Cambria" panose="02040503050406030204" pitchFamily="18" charset="0"/>
                <a:cs typeface="Tahoma" panose="020B0604030504040204" pitchFamily="34" charset="0"/>
              </a:rPr>
              <a:t>__()</a:t>
            </a:r>
          </a:p>
        </p:txBody>
      </p:sp>
    </p:spTree>
    <p:extLst>
      <p:ext uri="{BB962C8B-B14F-4D97-AF65-F5344CB8AC3E}">
        <p14:creationId xmlns:p14="http://schemas.microsoft.com/office/powerpoint/2010/main" val="22621701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latin typeface="Cambria" panose="02040503050406030204" pitchFamily="18" charset="0"/>
                <a:ea typeface="Cambria" panose="02040503050406030204" pitchFamily="18" charset="0"/>
              </a:rPr>
              <a:t>Bài</a:t>
            </a:r>
            <a:r>
              <a:rPr lang="en-US">
                <a:latin typeface="Cambria" panose="02040503050406030204" pitchFamily="18" charset="0"/>
                <a:ea typeface="Cambria" panose="02040503050406030204" pitchFamily="18" charset="0"/>
              </a:rPr>
              <a:t> 4 – </a:t>
            </a:r>
            <a:r>
              <a:rPr lang="en-US" spc="-5" err="1">
                <a:latin typeface="Cambria" panose="02040503050406030204" pitchFamily="18" charset="0"/>
                <a:ea typeface="Cambria" panose="02040503050406030204" pitchFamily="18" charset="0"/>
                <a:cs typeface="Arial"/>
              </a:rPr>
              <a:t>Lập</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trình</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hướng</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tượng</a:t>
            </a:r>
            <a:endParaRPr lang="en-US">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a:solidFill>
                  <a:schemeClr val="bg1"/>
                </a:solidFill>
                <a:latin typeface="Cambria" panose="02040503050406030204" pitchFamily="18" charset="0"/>
              </a:rPr>
              <a:t>LỚP (CLASS) TRONG PYTHON</a:t>
            </a:r>
          </a:p>
        </p:txBody>
      </p:sp>
      <p:sp>
        <p:nvSpPr>
          <p:cNvPr id="4" name="TextBox 3"/>
          <p:cNvSpPr txBox="1"/>
          <p:nvPr/>
        </p:nvSpPr>
        <p:spPr>
          <a:xfrm>
            <a:off x="127054" y="677516"/>
            <a:ext cx="10108095" cy="477054"/>
          </a:xfrm>
          <a:prstGeom prst="rect">
            <a:avLst/>
          </a:prstGeom>
          <a:noFill/>
        </p:spPr>
        <p:txBody>
          <a:bodyPr wrap="square" rtlCol="0">
            <a:spAutoFit/>
          </a:bodyPr>
          <a:lstStyle/>
          <a:p>
            <a:r>
              <a:rPr lang="en-US" sz="2500" b="1" err="1">
                <a:latin typeface="Cambria" panose="02040503050406030204" pitchFamily="18" charset="0"/>
                <a:ea typeface="Cambria" panose="02040503050406030204" pitchFamily="18" charset="0"/>
              </a:rPr>
              <a:t>Phương</a:t>
            </a:r>
            <a:r>
              <a:rPr lang="en-US" sz="2500" b="1">
                <a:latin typeface="Cambria" panose="02040503050406030204" pitchFamily="18" charset="0"/>
                <a:ea typeface="Cambria" panose="02040503050406030204" pitchFamily="18" charset="0"/>
              </a:rPr>
              <a:t> </a:t>
            </a:r>
            <a:r>
              <a:rPr lang="en-US" sz="2500" b="1" err="1">
                <a:latin typeface="Cambria" panose="02040503050406030204" pitchFamily="18" charset="0"/>
                <a:ea typeface="Cambria" panose="02040503050406030204" pitchFamily="18" charset="0"/>
              </a:rPr>
              <a:t>thức</a:t>
            </a:r>
            <a:r>
              <a:rPr lang="en-US" sz="2500" b="1">
                <a:latin typeface="Cambria" panose="02040503050406030204" pitchFamily="18" charset="0"/>
                <a:ea typeface="Cambria" panose="02040503050406030204" pitchFamily="18" charset="0"/>
              </a:rPr>
              <a:t> KHỞI TẠO</a:t>
            </a:r>
          </a:p>
        </p:txBody>
      </p:sp>
      <p:sp>
        <p:nvSpPr>
          <p:cNvPr id="12" name="Content Placeholder 2"/>
          <p:cNvSpPr>
            <a:spLocks noGrp="1"/>
          </p:cNvSpPr>
          <p:nvPr>
            <p:ph idx="1"/>
          </p:nvPr>
        </p:nvSpPr>
        <p:spPr>
          <a:xfrm>
            <a:off x="203006" y="1176104"/>
            <a:ext cx="11823342" cy="5059363"/>
          </a:xfrm>
        </p:spPr>
        <p:txBody>
          <a:bodyPr>
            <a:normAutofit/>
          </a:bodyPr>
          <a:lstStyle/>
          <a:p>
            <a:pPr>
              <a:lnSpc>
                <a:spcPct val="130000"/>
              </a:lnSpc>
              <a:spcBef>
                <a:spcPts val="0"/>
              </a:spcBef>
            </a:pPr>
            <a:r>
              <a:rPr lang="vi-VN" sz="2500" b="0" dirty="0">
                <a:latin typeface="Cambria" panose="02040503050406030204" pitchFamily="18" charset="0"/>
                <a:ea typeface="Cambria" panose="02040503050406030204" pitchFamily="18" charset="0"/>
              </a:rPr>
              <a:t>Tham số đầu tiên của constructor luôn là </a:t>
            </a:r>
            <a:r>
              <a:rPr lang="vi-VN" sz="2500" b="0" dirty="0">
                <a:solidFill>
                  <a:srgbClr val="0000FF"/>
                </a:solidFill>
                <a:latin typeface="Cambria" panose="02040503050406030204" pitchFamily="18" charset="0"/>
                <a:ea typeface="Cambria" panose="02040503050406030204" pitchFamily="18" charset="0"/>
              </a:rPr>
              <a:t>self </a:t>
            </a:r>
            <a:endParaRPr lang="en-US" sz="2500" b="0" dirty="0">
              <a:latin typeface="Cambria" panose="02040503050406030204" pitchFamily="18" charset="0"/>
              <a:ea typeface="Cambria" panose="02040503050406030204" pitchFamily="18" charset="0"/>
            </a:endParaRPr>
          </a:p>
          <a:p>
            <a:pPr>
              <a:lnSpc>
                <a:spcPct val="130000"/>
              </a:lnSpc>
              <a:spcBef>
                <a:spcPts val="0"/>
              </a:spcBef>
            </a:pPr>
            <a:r>
              <a:rPr lang="vi-VN" sz="2500" b="0" dirty="0">
                <a:latin typeface="Cambria" panose="02040503050406030204" pitchFamily="18" charset="0"/>
                <a:ea typeface="Cambria" panose="02040503050406030204" pitchFamily="18" charset="0"/>
              </a:rPr>
              <a:t>Constructor được sử dụng để tạo ra một đối tượng.</a:t>
            </a:r>
          </a:p>
          <a:p>
            <a:pPr>
              <a:lnSpc>
                <a:spcPct val="130000"/>
              </a:lnSpc>
              <a:spcBef>
                <a:spcPts val="0"/>
              </a:spcBef>
            </a:pPr>
            <a:r>
              <a:rPr lang="vi-VN" sz="2500" b="0" dirty="0">
                <a:latin typeface="Cambria" panose="02040503050406030204" pitchFamily="18" charset="0"/>
                <a:ea typeface="Cambria" panose="02040503050406030204" pitchFamily="18" charset="0"/>
              </a:rPr>
              <a:t>Constructor gán các giá trị từ tham số vào các thuộc tính của đối tượng sẽ được tạo ra.</a:t>
            </a:r>
          </a:p>
          <a:p>
            <a:pPr>
              <a:lnSpc>
                <a:spcPct val="130000"/>
              </a:lnSpc>
              <a:spcBef>
                <a:spcPts val="0"/>
              </a:spcBef>
            </a:pPr>
            <a:r>
              <a:rPr lang="en-US" sz="2500" b="0" dirty="0">
                <a:latin typeface="Cambria" panose="02040503050406030204" pitchFamily="18" charset="0"/>
                <a:ea typeface="Cambria" panose="02040503050406030204" pitchFamily="18" charset="0"/>
              </a:rPr>
              <a:t>T</a:t>
            </a:r>
            <a:r>
              <a:rPr lang="vi-VN" sz="2500" b="0" dirty="0">
                <a:latin typeface="Cambria" panose="02040503050406030204" pitchFamily="18" charset="0"/>
                <a:ea typeface="Cambria" panose="02040503050406030204" pitchFamily="18" charset="0"/>
              </a:rPr>
              <a:t>rong class chỉ có thể định nghĩa nhiều nhất một phương thức khởi tạo</a:t>
            </a:r>
            <a:r>
              <a:rPr lang="en-US" sz="2500" b="0" dirty="0">
                <a:latin typeface="Cambria" panose="02040503050406030204" pitchFamily="18" charset="0"/>
                <a:ea typeface="Cambria" panose="02040503050406030204" pitchFamily="18" charset="0"/>
              </a:rPr>
              <a:t> </a:t>
            </a:r>
            <a:r>
              <a:rPr lang="vi-VN" sz="2500" b="0" dirty="0">
                <a:latin typeface="Cambria" panose="02040503050406030204" pitchFamily="18" charset="0"/>
                <a:ea typeface="Cambria" panose="02040503050406030204" pitchFamily="18" charset="0"/>
              </a:rPr>
              <a:t>(constructor).</a:t>
            </a:r>
          </a:p>
          <a:p>
            <a:pPr>
              <a:lnSpc>
                <a:spcPct val="130000"/>
              </a:lnSpc>
              <a:spcBef>
                <a:spcPts val="0"/>
              </a:spcBef>
            </a:pPr>
            <a:r>
              <a:rPr lang="vi-VN" sz="2500" b="0" dirty="0">
                <a:latin typeface="Cambria" panose="02040503050406030204" pitchFamily="18" charset="0"/>
                <a:ea typeface="Cambria" panose="02040503050406030204" pitchFamily="18" charset="0"/>
              </a:rPr>
              <a:t>Nếu class không được định nghĩa constructor, Python mặc định coi rằng nó thừa kết từ constructor của lớp cha</a:t>
            </a:r>
            <a:r>
              <a:rPr lang="en-US" sz="2500" b="0" dirty="0">
                <a:latin typeface="Cambria" panose="02040503050406030204" pitchFamily="18" charset="0"/>
                <a:ea typeface="Cambria" panose="02040503050406030204" pitchFamily="18" charset="0"/>
              </a:rPr>
              <a:t>.</a:t>
            </a:r>
            <a:endParaRPr lang="vi-VN" sz="2500" b="0" dirty="0">
              <a:latin typeface="Cambria" panose="02040503050406030204" pitchFamily="18" charset="0"/>
              <a:ea typeface="Cambria" panose="02040503050406030204" pitchFamily="18" charset="0"/>
            </a:endParaRPr>
          </a:p>
          <a:p>
            <a:pPr>
              <a:lnSpc>
                <a:spcPct val="130000"/>
              </a:lnSpc>
              <a:spcBef>
                <a:spcPts val="0"/>
              </a:spcBef>
            </a:pPr>
            <a:r>
              <a:rPr lang="en-US" sz="2500" dirty="0" err="1">
                <a:latin typeface="Cambria" panose="02040503050406030204" pitchFamily="18" charset="0"/>
                <a:ea typeface="Cambria" panose="02040503050406030204" pitchFamily="18" charset="0"/>
              </a:rPr>
              <a:t>Contructor</a:t>
            </a:r>
            <a:r>
              <a:rPr lang="en-US" sz="2500" dirty="0">
                <a:latin typeface="Cambria" panose="02040503050406030204" pitchFamily="18" charset="0"/>
                <a:ea typeface="Cambria" panose="02040503050406030204" pitchFamily="18" charset="0"/>
              </a:rPr>
              <a:t> </a:t>
            </a:r>
            <a:r>
              <a:rPr lang="en-US" sz="2500" dirty="0" err="1">
                <a:latin typeface="Cambria" panose="02040503050406030204" pitchFamily="18" charset="0"/>
                <a:ea typeface="Cambria" panose="02040503050406030204" pitchFamily="18" charset="0"/>
              </a:rPr>
              <a:t>gồm</a:t>
            </a:r>
            <a:r>
              <a:rPr lang="en-US" sz="2500" dirty="0">
                <a:latin typeface="Cambria" panose="02040503050406030204" pitchFamily="18" charset="0"/>
                <a:ea typeface="Cambria" panose="02040503050406030204" pitchFamily="18" charset="0"/>
              </a:rPr>
              <a:t> 2 </a:t>
            </a:r>
            <a:r>
              <a:rPr lang="en-US" sz="2500" dirty="0" err="1">
                <a:latin typeface="Cambria" panose="02040503050406030204" pitchFamily="18" charset="0"/>
                <a:ea typeface="Cambria" panose="02040503050406030204" pitchFamily="18" charset="0"/>
              </a:rPr>
              <a:t>loại</a:t>
            </a:r>
            <a:r>
              <a:rPr lang="en-US" sz="2500"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Có</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tham</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số</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Không</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tham</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số</a:t>
            </a:r>
            <a:r>
              <a:rPr lang="en-US" sz="2500" b="1" dirty="0">
                <a:latin typeface="Cambria" panose="02040503050406030204" pitchFamily="18" charset="0"/>
                <a:ea typeface="Cambria" panose="02040503050406030204" pitchFamily="18" charset="0"/>
              </a:rPr>
              <a:t>.</a:t>
            </a:r>
            <a:endParaRPr lang="vi-VN" sz="25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5034715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latin typeface="Cambria" panose="02040503050406030204" pitchFamily="18" charset="0"/>
                <a:ea typeface="Cambria" panose="02040503050406030204" pitchFamily="18" charset="0"/>
              </a:rPr>
              <a:t>Bài</a:t>
            </a:r>
            <a:r>
              <a:rPr lang="en-US">
                <a:latin typeface="Cambria" panose="02040503050406030204" pitchFamily="18" charset="0"/>
                <a:ea typeface="Cambria" panose="02040503050406030204" pitchFamily="18" charset="0"/>
              </a:rPr>
              <a:t> 4 – </a:t>
            </a:r>
            <a:r>
              <a:rPr lang="en-US" spc="-5" err="1">
                <a:latin typeface="Cambria" panose="02040503050406030204" pitchFamily="18" charset="0"/>
                <a:ea typeface="Cambria" panose="02040503050406030204" pitchFamily="18" charset="0"/>
                <a:cs typeface="Arial"/>
              </a:rPr>
              <a:t>Lập</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trình</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hướng</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tượng</a:t>
            </a:r>
            <a:endParaRPr lang="en-US">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a:solidFill>
                  <a:schemeClr val="bg1"/>
                </a:solidFill>
                <a:latin typeface="Cambria" panose="02040503050406030204" pitchFamily="18" charset="0"/>
              </a:rPr>
              <a:t>LỚP (CLASS) TRONG PYTHON</a:t>
            </a:r>
          </a:p>
        </p:txBody>
      </p:sp>
      <p:sp>
        <p:nvSpPr>
          <p:cNvPr id="4" name="TextBox 3"/>
          <p:cNvSpPr txBox="1"/>
          <p:nvPr/>
        </p:nvSpPr>
        <p:spPr>
          <a:xfrm>
            <a:off x="127054" y="677516"/>
            <a:ext cx="5985511" cy="477054"/>
          </a:xfrm>
          <a:prstGeom prst="rect">
            <a:avLst/>
          </a:prstGeom>
          <a:noFill/>
        </p:spPr>
        <p:txBody>
          <a:bodyPr wrap="square" rtlCol="0">
            <a:spAutoFit/>
          </a:bodyPr>
          <a:lstStyle/>
          <a:p>
            <a:r>
              <a:rPr lang="en-US" sz="2500" b="1" err="1">
                <a:latin typeface="Cambria" panose="02040503050406030204" pitchFamily="18" charset="0"/>
                <a:ea typeface="Cambria" panose="02040503050406030204" pitchFamily="18" charset="0"/>
              </a:rPr>
              <a:t>Phương</a:t>
            </a:r>
            <a:r>
              <a:rPr lang="en-US" sz="2500" b="1">
                <a:latin typeface="Cambria" panose="02040503050406030204" pitchFamily="18" charset="0"/>
                <a:ea typeface="Cambria" panose="02040503050406030204" pitchFamily="18" charset="0"/>
              </a:rPr>
              <a:t> </a:t>
            </a:r>
            <a:r>
              <a:rPr lang="en-US" sz="2500" b="1" err="1">
                <a:latin typeface="Cambria" panose="02040503050406030204" pitchFamily="18" charset="0"/>
                <a:ea typeface="Cambria" panose="02040503050406030204" pitchFamily="18" charset="0"/>
              </a:rPr>
              <a:t>thức</a:t>
            </a:r>
            <a:r>
              <a:rPr lang="en-US" sz="2500" b="1">
                <a:latin typeface="Cambria" panose="02040503050406030204" pitchFamily="18" charset="0"/>
                <a:ea typeface="Cambria" panose="02040503050406030204" pitchFamily="18" charset="0"/>
              </a:rPr>
              <a:t> KHỞI TẠO </a:t>
            </a:r>
            <a:r>
              <a:rPr lang="en-US" sz="2500" b="1" err="1">
                <a:latin typeface="Cambria" panose="02040503050406030204" pitchFamily="18" charset="0"/>
                <a:ea typeface="Cambria" panose="02040503050406030204" pitchFamily="18" charset="0"/>
              </a:rPr>
              <a:t>không</a:t>
            </a:r>
            <a:r>
              <a:rPr lang="en-US" sz="2500" b="1">
                <a:latin typeface="Cambria" panose="02040503050406030204" pitchFamily="18" charset="0"/>
                <a:ea typeface="Cambria" panose="02040503050406030204" pitchFamily="18" charset="0"/>
              </a:rPr>
              <a:t> </a:t>
            </a:r>
            <a:r>
              <a:rPr lang="en-US" sz="2500" b="1" err="1">
                <a:latin typeface="Cambria" panose="02040503050406030204" pitchFamily="18" charset="0"/>
                <a:ea typeface="Cambria" panose="02040503050406030204" pitchFamily="18" charset="0"/>
              </a:rPr>
              <a:t>tham</a:t>
            </a:r>
            <a:r>
              <a:rPr lang="en-US" sz="2500" b="1">
                <a:latin typeface="Cambria" panose="02040503050406030204" pitchFamily="18" charset="0"/>
                <a:ea typeface="Cambria" panose="02040503050406030204" pitchFamily="18" charset="0"/>
              </a:rPr>
              <a:t> </a:t>
            </a:r>
            <a:r>
              <a:rPr lang="en-US" sz="2500" b="1" err="1">
                <a:latin typeface="Cambria" panose="02040503050406030204" pitchFamily="18" charset="0"/>
                <a:ea typeface="Cambria" panose="02040503050406030204" pitchFamily="18" charset="0"/>
              </a:rPr>
              <a:t>số</a:t>
            </a:r>
            <a:endParaRPr lang="en-US" sz="2500" b="1">
              <a:latin typeface="Cambria" panose="02040503050406030204" pitchFamily="18" charset="0"/>
              <a:ea typeface="Cambria" panose="02040503050406030204" pitchFamily="18" charset="0"/>
            </a:endParaRPr>
          </a:p>
        </p:txBody>
      </p:sp>
      <p:sp>
        <p:nvSpPr>
          <p:cNvPr id="2" name="Rectangle 1">
            <a:extLst>
              <a:ext uri="{FF2B5EF4-FFF2-40B4-BE49-F238E27FC236}">
                <a16:creationId xmlns:a16="http://schemas.microsoft.com/office/drawing/2014/main" id="{EFD001AF-FDC8-47B2-811E-0E2372D8DE7E}"/>
              </a:ext>
            </a:extLst>
          </p:cNvPr>
          <p:cNvSpPr>
            <a:spLocks noChangeArrowheads="1"/>
          </p:cNvSpPr>
          <p:nvPr/>
        </p:nvSpPr>
        <p:spPr bwMode="auto">
          <a:xfrm>
            <a:off x="301487" y="1353075"/>
            <a:ext cx="6795052" cy="4693593"/>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dirty="0">
                <a:ln>
                  <a:noFill/>
                </a:ln>
                <a:solidFill>
                  <a:srgbClr val="808080"/>
                </a:solidFill>
                <a:effectLst/>
                <a:latin typeface="JetBrains Mono"/>
              </a:rPr>
              <a:t>#Khai </a:t>
            </a:r>
            <a:r>
              <a:rPr kumimoji="0" lang="en-US" altLang="en-US" sz="2300" b="0" i="0" u="none" strike="noStrike" cap="none" normalizeH="0" baseline="0" dirty="0" err="1">
                <a:ln>
                  <a:noFill/>
                </a:ln>
                <a:solidFill>
                  <a:srgbClr val="808080"/>
                </a:solidFill>
                <a:effectLst/>
                <a:latin typeface="JetBrains Mono"/>
              </a:rPr>
              <a:t>báo</a:t>
            </a:r>
            <a:r>
              <a:rPr kumimoji="0" lang="en-US" altLang="en-US" sz="2300" b="0" i="0" u="none" strike="noStrike" cap="none" normalizeH="0" baseline="0" dirty="0">
                <a:ln>
                  <a:noFill/>
                </a:ln>
                <a:solidFill>
                  <a:srgbClr val="808080"/>
                </a:solidFill>
                <a:effectLst/>
                <a:latin typeface="JetBrains Mono"/>
              </a:rPr>
              <a:t> 1 </a:t>
            </a:r>
            <a:r>
              <a:rPr kumimoji="0" lang="en-US" altLang="en-US" sz="2300" b="0" i="0" u="none" strike="noStrike" cap="none" normalizeH="0" baseline="0" dirty="0" err="1">
                <a:ln>
                  <a:noFill/>
                </a:ln>
                <a:solidFill>
                  <a:srgbClr val="808080"/>
                </a:solidFill>
                <a:effectLst/>
                <a:latin typeface="JetBrains Mono"/>
              </a:rPr>
              <a:t>lớp</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có</a:t>
            </a:r>
            <a:r>
              <a:rPr kumimoji="0" lang="en-US" altLang="en-US" sz="2300" b="0" i="0" u="none" strike="noStrike" cap="none" normalizeH="0" baseline="0" dirty="0">
                <a:ln>
                  <a:noFill/>
                </a:ln>
                <a:solidFill>
                  <a:srgbClr val="808080"/>
                </a:solidFill>
                <a:effectLst/>
                <a:latin typeface="JetBrains Mono"/>
              </a:rPr>
              <a:t> 4 </a:t>
            </a:r>
            <a:r>
              <a:rPr kumimoji="0" lang="en-US" altLang="en-US" sz="2300" b="0" i="0" u="none" strike="noStrike" cap="none" normalizeH="0" baseline="0" dirty="0" err="1">
                <a:ln>
                  <a:noFill/>
                </a:ln>
                <a:solidFill>
                  <a:srgbClr val="808080"/>
                </a:solidFill>
                <a:effectLst/>
                <a:latin typeface="JetBrains Mono"/>
              </a:rPr>
              <a:t>thuộc</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tính</a:t>
            </a:r>
            <a:r>
              <a:rPr kumimoji="0" lang="en-US" altLang="en-US" sz="2300" b="0" i="0" u="none" strike="noStrike" cap="none" normalizeH="0" baseline="0" dirty="0">
                <a:ln>
                  <a:noFill/>
                </a:ln>
                <a:solidFill>
                  <a:srgbClr val="808080"/>
                </a:solidFill>
                <a:effectLst/>
                <a:latin typeface="JetBrains Mono"/>
              </a:rPr>
              <a:t>, 1 </a:t>
            </a:r>
            <a:r>
              <a:rPr kumimoji="0" lang="en-US" altLang="en-US" sz="2300" b="0" i="0" u="none" strike="noStrike" cap="none" normalizeH="0" baseline="0" dirty="0" err="1">
                <a:ln>
                  <a:noFill/>
                </a:ln>
                <a:solidFill>
                  <a:srgbClr val="808080"/>
                </a:solidFill>
                <a:effectLst/>
                <a:latin typeface="JetBrains Mono"/>
              </a:rPr>
              <a:t>phuong</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thức</a:t>
            </a:r>
            <a:br>
              <a:rPr kumimoji="0" lang="en-US" altLang="en-US" sz="2300" b="0" i="0" u="none" strike="noStrike" cap="none" normalizeH="0" baseline="0" dirty="0">
                <a:ln>
                  <a:noFill/>
                </a:ln>
                <a:solidFill>
                  <a:srgbClr val="808080"/>
                </a:solidFill>
                <a:effectLst/>
                <a:latin typeface="JetBrains Mono"/>
              </a:rPr>
            </a:br>
            <a:r>
              <a:rPr kumimoji="0" lang="en-US" altLang="en-US" sz="2300" b="0" i="0" u="none" strike="noStrike" cap="none" normalizeH="0" baseline="0" dirty="0">
                <a:ln>
                  <a:noFill/>
                </a:ln>
                <a:solidFill>
                  <a:srgbClr val="CC7832"/>
                </a:solidFill>
                <a:effectLst/>
                <a:latin typeface="JetBrains Mono"/>
              </a:rPr>
              <a:t>class </a:t>
            </a:r>
            <a:r>
              <a:rPr kumimoji="0" lang="en-US" altLang="en-US" sz="2300" b="0" i="0" u="none" strike="noStrike" cap="none" normalizeH="0" baseline="0" dirty="0" err="1">
                <a:ln>
                  <a:noFill/>
                </a:ln>
                <a:solidFill>
                  <a:srgbClr val="A9B7C6"/>
                </a:solidFill>
                <a:effectLst/>
                <a:latin typeface="JetBrains Mono"/>
              </a:rPr>
              <a:t>sinhVien</a:t>
            </a:r>
            <a:r>
              <a:rPr kumimoji="0" lang="en-US" altLang="en-US" sz="2300" b="0" i="0" u="none" strike="noStrike" cap="none" normalizeH="0" baseline="0" dirty="0">
                <a:ln>
                  <a:noFill/>
                </a:ln>
                <a:solidFill>
                  <a:srgbClr val="A9B7C6"/>
                </a:solidFill>
                <a:effectLst/>
                <a:latin typeface="JetBrains Mono"/>
              </a:rPr>
              <a:t>:</a:t>
            </a:r>
            <a:br>
              <a:rPr kumimoji="0" lang="en-US" altLang="en-US" sz="2300" b="0" i="0" u="none" strike="noStrike" cap="none" normalizeH="0" baseline="0" dirty="0">
                <a:ln>
                  <a:noFill/>
                </a:ln>
                <a:solidFill>
                  <a:srgbClr val="A9B7C6"/>
                </a:solidFill>
                <a:effectLst/>
                <a:latin typeface="JetBrains Mono"/>
              </a:rPr>
            </a:br>
            <a:r>
              <a:rPr kumimoji="0" lang="en-US" altLang="en-US" sz="2300" b="0" i="0" u="none" strike="noStrike" cap="none" normalizeH="0" baseline="0" dirty="0">
                <a:ln>
                  <a:noFill/>
                </a:ln>
                <a:solidFill>
                  <a:srgbClr val="A9B7C6"/>
                </a:solidFill>
                <a:effectLst/>
                <a:latin typeface="JetBrains Mono"/>
              </a:rPr>
              <a:t>    </a:t>
            </a:r>
            <a:r>
              <a:rPr kumimoji="0" lang="en-US" altLang="en-US" sz="2300" b="0" i="0" u="none" strike="noStrike" cap="none" normalizeH="0" baseline="0" dirty="0">
                <a:ln>
                  <a:noFill/>
                </a:ln>
                <a:solidFill>
                  <a:srgbClr val="808080"/>
                </a:solidFill>
                <a:effectLst/>
                <a:latin typeface="JetBrains Mono"/>
              </a:rPr>
              <a:t>#Khai </a:t>
            </a:r>
            <a:r>
              <a:rPr kumimoji="0" lang="en-US" altLang="en-US" sz="2300" b="0" i="0" u="none" strike="noStrike" cap="none" normalizeH="0" baseline="0" dirty="0" err="1">
                <a:ln>
                  <a:noFill/>
                </a:ln>
                <a:solidFill>
                  <a:srgbClr val="808080"/>
                </a:solidFill>
                <a:effectLst/>
                <a:latin typeface="JetBrains Mono"/>
              </a:rPr>
              <a:t>báo</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phuong</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thức</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khởi</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tạo</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không</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tham</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số</a:t>
            </a:r>
            <a:br>
              <a:rPr kumimoji="0" lang="en-US" altLang="en-US" sz="2300" b="0" i="0" u="none" strike="noStrike" cap="none" normalizeH="0" baseline="0" dirty="0">
                <a:ln>
                  <a:noFill/>
                </a:ln>
                <a:solidFill>
                  <a:srgbClr val="808080"/>
                </a:solidFill>
                <a:effectLst/>
                <a:latin typeface="JetBrains Mono"/>
              </a:rPr>
            </a:b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a:ln>
                  <a:noFill/>
                </a:ln>
                <a:solidFill>
                  <a:srgbClr val="CC7832"/>
                </a:solidFill>
                <a:effectLst/>
                <a:latin typeface="JetBrains Mono"/>
              </a:rPr>
              <a:t>def </a:t>
            </a:r>
            <a:r>
              <a:rPr kumimoji="0" lang="en-US" altLang="en-US" sz="2300" b="0" i="0" u="none" strike="noStrike" cap="none" normalizeH="0" baseline="0" dirty="0">
                <a:ln>
                  <a:noFill/>
                </a:ln>
                <a:solidFill>
                  <a:srgbClr val="B200B2"/>
                </a:solidFill>
                <a:effectLst/>
                <a:latin typeface="JetBrains Mono"/>
              </a:rPr>
              <a:t>__</a:t>
            </a:r>
            <a:r>
              <a:rPr kumimoji="0" lang="en-US" altLang="en-US" sz="2300" b="0" i="0" u="none" strike="noStrike" cap="none" normalizeH="0" baseline="0" dirty="0" err="1">
                <a:ln>
                  <a:noFill/>
                </a:ln>
                <a:solidFill>
                  <a:srgbClr val="B200B2"/>
                </a:solidFill>
                <a:effectLst/>
                <a:latin typeface="JetBrains Mono"/>
              </a:rPr>
              <a:t>init</a:t>
            </a:r>
            <a:r>
              <a:rPr kumimoji="0" lang="en-US" altLang="en-US" sz="2300" b="0" i="0" u="none" strike="noStrike" cap="none" normalizeH="0" baseline="0" dirty="0">
                <a:ln>
                  <a:noFill/>
                </a:ln>
                <a:solidFill>
                  <a:srgbClr val="B200B2"/>
                </a:solidFill>
                <a:effectLst/>
                <a:latin typeface="JetBrains Mono"/>
              </a:rPr>
              <a:t>__</a:t>
            </a:r>
            <a:r>
              <a:rPr kumimoji="0" lang="en-US" altLang="en-US" sz="2300" b="0" i="0" u="none" strike="noStrike" cap="none" normalizeH="0" baseline="0" dirty="0">
                <a:ln>
                  <a:noFill/>
                </a:ln>
                <a:solidFill>
                  <a:srgbClr val="A9B7C6"/>
                </a:solidFill>
                <a:effectLst/>
                <a:latin typeface="JetBrains Mono"/>
              </a:rPr>
              <a:t>(</a:t>
            </a:r>
            <a:r>
              <a:rPr kumimoji="0" lang="en-US" altLang="en-US" sz="2300" b="0" i="0" u="none" strike="noStrike" cap="none" normalizeH="0" baseline="0" dirty="0">
                <a:ln>
                  <a:noFill/>
                </a:ln>
                <a:solidFill>
                  <a:srgbClr val="94558D"/>
                </a:solidFill>
                <a:effectLst/>
                <a:latin typeface="JetBrains Mono"/>
              </a:rPr>
              <a:t>self</a:t>
            </a:r>
            <a:r>
              <a:rPr kumimoji="0" lang="en-US" altLang="en-US" sz="2300" b="0" i="0" u="none" strike="noStrike" cap="none" normalizeH="0" baseline="0" dirty="0">
                <a:ln>
                  <a:noFill/>
                </a:ln>
                <a:solidFill>
                  <a:srgbClr val="A9B7C6"/>
                </a:solidFill>
                <a:effectLst/>
                <a:latin typeface="JetBrains Mono"/>
              </a:rPr>
              <a:t>):</a:t>
            </a:r>
            <a:br>
              <a:rPr kumimoji="0" lang="en-US" altLang="en-US" sz="2300" b="0" i="0" u="none" strike="noStrike" cap="none" normalizeH="0" baseline="0" dirty="0">
                <a:ln>
                  <a:noFill/>
                </a:ln>
                <a:solidFill>
                  <a:srgbClr val="A9B7C6"/>
                </a:solidFill>
                <a:effectLst/>
                <a:latin typeface="JetBrains Mono"/>
              </a:rPr>
            </a:br>
            <a:r>
              <a:rPr kumimoji="0" lang="en-US" altLang="en-US" sz="2300" b="0" i="0" u="none" strike="noStrike" cap="none" normalizeH="0" baseline="0" dirty="0">
                <a:ln>
                  <a:noFill/>
                </a:ln>
                <a:solidFill>
                  <a:srgbClr val="A9B7C6"/>
                </a:solidFill>
                <a:effectLst/>
                <a:latin typeface="JetBrains Mono"/>
              </a:rPr>
              <a:t>        </a:t>
            </a:r>
            <a:r>
              <a:rPr kumimoji="0" lang="en-US" altLang="en-US" sz="2300" b="0" i="0" u="none" strike="noStrike" cap="none" normalizeH="0" baseline="0" dirty="0" err="1">
                <a:ln>
                  <a:noFill/>
                </a:ln>
                <a:solidFill>
                  <a:srgbClr val="94558D"/>
                </a:solidFill>
                <a:effectLst/>
                <a:latin typeface="JetBrains Mono"/>
              </a:rPr>
              <a:t>self</a:t>
            </a:r>
            <a:r>
              <a:rPr kumimoji="0" lang="en-US" altLang="en-US" sz="2300" b="0" i="0" u="none" strike="noStrike" cap="none" normalizeH="0" baseline="0" dirty="0" err="1">
                <a:ln>
                  <a:noFill/>
                </a:ln>
                <a:solidFill>
                  <a:srgbClr val="A9B7C6"/>
                </a:solidFill>
                <a:effectLst/>
                <a:latin typeface="JetBrains Mono"/>
              </a:rPr>
              <a:t>.masv</a:t>
            </a:r>
            <a:r>
              <a:rPr kumimoji="0" lang="en-US" altLang="en-US" sz="2300" b="0" i="0" u="none" strike="noStrike" cap="none" normalizeH="0" baseline="0" dirty="0">
                <a:ln>
                  <a:noFill/>
                </a:ln>
                <a:solidFill>
                  <a:srgbClr val="A9B7C6"/>
                </a:solidFill>
                <a:effectLst/>
                <a:latin typeface="JetBrains Mono"/>
              </a:rPr>
              <a:t> = </a:t>
            </a:r>
            <a:r>
              <a:rPr kumimoji="0" lang="en-US" altLang="en-US" sz="2300" b="0" i="0" u="none" strike="noStrike" cap="none" normalizeH="0" baseline="0" dirty="0">
                <a:ln>
                  <a:noFill/>
                </a:ln>
                <a:solidFill>
                  <a:srgbClr val="6A8759"/>
                </a:solidFill>
                <a:effectLst/>
                <a:latin typeface="JetBrains Mono"/>
              </a:rPr>
              <a:t>"A34"</a:t>
            </a:r>
            <a:br>
              <a:rPr kumimoji="0" lang="en-US" altLang="en-US" sz="2300" b="0" i="0" u="none" strike="noStrike" cap="none" normalizeH="0" baseline="0" dirty="0">
                <a:ln>
                  <a:noFill/>
                </a:ln>
                <a:solidFill>
                  <a:srgbClr val="6A8759"/>
                </a:solidFill>
                <a:effectLst/>
                <a:latin typeface="JetBrains Mono"/>
              </a:rPr>
            </a:b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a:ln>
                  <a:noFill/>
                </a:ln>
                <a:solidFill>
                  <a:srgbClr val="94558D"/>
                </a:solidFill>
                <a:effectLst/>
                <a:latin typeface="JetBrains Mono"/>
              </a:rPr>
              <a:t>self</a:t>
            </a:r>
            <a:r>
              <a:rPr kumimoji="0" lang="en-US" altLang="en-US" sz="2300" b="0" i="0" u="none" strike="noStrike" cap="none" normalizeH="0" baseline="0" dirty="0">
                <a:ln>
                  <a:noFill/>
                </a:ln>
                <a:solidFill>
                  <a:srgbClr val="A9B7C6"/>
                </a:solidFill>
                <a:effectLst/>
                <a:latin typeface="JetBrains Mono"/>
              </a:rPr>
              <a:t>.ht = </a:t>
            </a:r>
            <a:r>
              <a:rPr kumimoji="0" lang="en-US" altLang="en-US" sz="2300" b="0" i="0" u="none" strike="noStrike" cap="none" normalizeH="0" baseline="0" dirty="0">
                <a:ln>
                  <a:noFill/>
                </a:ln>
                <a:solidFill>
                  <a:srgbClr val="6A8759"/>
                </a:solidFill>
                <a:effectLst/>
                <a:latin typeface="JetBrains Mono"/>
              </a:rPr>
              <a:t>"Dung"</a:t>
            </a:r>
            <a:br>
              <a:rPr kumimoji="0" lang="en-US" altLang="en-US" sz="2300" b="0" i="0" u="none" strike="noStrike" cap="none" normalizeH="0" baseline="0" dirty="0">
                <a:ln>
                  <a:noFill/>
                </a:ln>
                <a:solidFill>
                  <a:srgbClr val="6A8759"/>
                </a:solidFill>
                <a:effectLst/>
                <a:latin typeface="JetBrains Mono"/>
              </a:rPr>
            </a:b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94558D"/>
                </a:solidFill>
                <a:effectLst/>
                <a:latin typeface="JetBrains Mono"/>
              </a:rPr>
              <a:t>self</a:t>
            </a:r>
            <a:r>
              <a:rPr kumimoji="0" lang="en-US" altLang="en-US" sz="2300" b="0" i="0" u="none" strike="noStrike" cap="none" normalizeH="0" baseline="0" dirty="0" err="1">
                <a:ln>
                  <a:noFill/>
                </a:ln>
                <a:solidFill>
                  <a:srgbClr val="A9B7C6"/>
                </a:solidFill>
                <a:effectLst/>
                <a:latin typeface="JetBrains Mono"/>
              </a:rPr>
              <a:t>.tuoi</a:t>
            </a:r>
            <a:r>
              <a:rPr kumimoji="0" lang="en-US" altLang="en-US" sz="2300" b="0" i="0" u="none" strike="noStrike" cap="none" normalizeH="0" baseline="0" dirty="0">
                <a:ln>
                  <a:noFill/>
                </a:ln>
                <a:solidFill>
                  <a:srgbClr val="A9B7C6"/>
                </a:solidFill>
                <a:effectLst/>
                <a:latin typeface="JetBrains Mono"/>
              </a:rPr>
              <a:t> = </a:t>
            </a:r>
            <a:r>
              <a:rPr kumimoji="0" lang="en-US" altLang="en-US" sz="2300" b="0" i="0" u="none" strike="noStrike" cap="none" normalizeH="0" baseline="0" dirty="0">
                <a:ln>
                  <a:noFill/>
                </a:ln>
                <a:solidFill>
                  <a:srgbClr val="6897BB"/>
                </a:solidFill>
                <a:effectLst/>
                <a:latin typeface="JetBrains Mono"/>
              </a:rPr>
              <a:t>23</a:t>
            </a:r>
            <a:br>
              <a:rPr kumimoji="0" lang="en-US" altLang="en-US" sz="2300" b="0" i="0" u="none" strike="noStrike" cap="none" normalizeH="0" baseline="0" dirty="0">
                <a:ln>
                  <a:noFill/>
                </a:ln>
                <a:solidFill>
                  <a:srgbClr val="6897BB"/>
                </a:solidFill>
                <a:effectLst/>
                <a:latin typeface="JetBrains Mono"/>
              </a:rPr>
            </a:br>
            <a:r>
              <a:rPr kumimoji="0" lang="en-US" altLang="en-US" sz="2300" b="0" i="0" u="none" strike="noStrike" cap="none" normalizeH="0" baseline="0" dirty="0">
                <a:ln>
                  <a:noFill/>
                </a:ln>
                <a:solidFill>
                  <a:srgbClr val="6897BB"/>
                </a:solidFill>
                <a:effectLst/>
                <a:latin typeface="JetBrains Mono"/>
              </a:rPr>
              <a:t>        </a:t>
            </a:r>
            <a:r>
              <a:rPr kumimoji="0" lang="en-US" altLang="en-US" sz="2300" b="0" i="0" u="none" strike="noStrike" cap="none" normalizeH="0" baseline="0" dirty="0" err="1">
                <a:ln>
                  <a:noFill/>
                </a:ln>
                <a:solidFill>
                  <a:srgbClr val="94558D"/>
                </a:solidFill>
                <a:effectLst/>
                <a:latin typeface="JetBrains Mono"/>
              </a:rPr>
              <a:t>self</a:t>
            </a:r>
            <a:r>
              <a:rPr kumimoji="0" lang="en-US" altLang="en-US" sz="2300" b="0" i="0" u="none" strike="noStrike" cap="none" normalizeH="0" baseline="0" dirty="0" err="1">
                <a:ln>
                  <a:noFill/>
                </a:ln>
                <a:solidFill>
                  <a:srgbClr val="A9B7C6"/>
                </a:solidFill>
                <a:effectLst/>
                <a:latin typeface="JetBrains Mono"/>
              </a:rPr>
              <a:t>.dc</a:t>
            </a:r>
            <a:r>
              <a:rPr kumimoji="0" lang="en-US" altLang="en-US" sz="2300" b="0" i="0" u="none" strike="noStrike" cap="none" normalizeH="0" baseline="0" dirty="0">
                <a:ln>
                  <a:noFill/>
                </a:ln>
                <a:solidFill>
                  <a:srgbClr val="A9B7C6"/>
                </a:solidFill>
                <a:effectLst/>
                <a:latin typeface="JetBrains Mono"/>
              </a:rPr>
              <a:t> = </a:t>
            </a:r>
            <a:r>
              <a:rPr kumimoji="0" lang="en-US" altLang="en-US" sz="2300" b="0" i="0" u="none" strike="noStrike" cap="none" normalizeH="0" baseline="0" dirty="0">
                <a:ln>
                  <a:noFill/>
                </a:ln>
                <a:solidFill>
                  <a:srgbClr val="6A8759"/>
                </a:solidFill>
                <a:effectLst/>
                <a:latin typeface="JetBrains Mono"/>
              </a:rPr>
              <a:t>"</a:t>
            </a:r>
            <a:r>
              <a:rPr kumimoji="0" lang="en-US" altLang="en-US" sz="2300" b="0" i="0" u="none" strike="noStrike" cap="none" normalizeH="0" baseline="0" dirty="0" err="1">
                <a:ln>
                  <a:noFill/>
                </a:ln>
                <a:solidFill>
                  <a:srgbClr val="6A8759"/>
                </a:solidFill>
                <a:effectLst/>
                <a:latin typeface="JetBrains Mono"/>
              </a:rPr>
              <a:t>Bắc</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giang</a:t>
            </a:r>
            <a:r>
              <a:rPr kumimoji="0" lang="en-US" altLang="en-US" sz="2300" b="0" i="0" u="none" strike="noStrike" cap="none" normalizeH="0" baseline="0" dirty="0">
                <a:ln>
                  <a:noFill/>
                </a:ln>
                <a:solidFill>
                  <a:srgbClr val="6A8759"/>
                </a:solidFill>
                <a:effectLst/>
                <a:latin typeface="JetBrains Mono"/>
              </a:rPr>
              <a:t>"</a:t>
            </a:r>
            <a:br>
              <a:rPr kumimoji="0" lang="en-US" altLang="en-US" sz="2300" b="0" i="0" u="none" strike="noStrike" cap="none" normalizeH="0" baseline="0" dirty="0">
                <a:ln>
                  <a:noFill/>
                </a:ln>
                <a:solidFill>
                  <a:srgbClr val="6A8759"/>
                </a:solidFill>
                <a:effectLst/>
                <a:latin typeface="JetBrains Mono"/>
              </a:rPr>
            </a:b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a:ln>
                  <a:noFill/>
                </a:ln>
                <a:solidFill>
                  <a:srgbClr val="CC7832"/>
                </a:solidFill>
                <a:effectLst/>
                <a:latin typeface="JetBrains Mono"/>
              </a:rPr>
              <a:t>def </a:t>
            </a:r>
            <a:r>
              <a:rPr kumimoji="0" lang="en-US" altLang="en-US" sz="2300" b="0" i="0" u="none" strike="noStrike" cap="none" normalizeH="0" baseline="0" dirty="0" err="1">
                <a:ln>
                  <a:noFill/>
                </a:ln>
                <a:solidFill>
                  <a:srgbClr val="FFC66D"/>
                </a:solidFill>
                <a:effectLst/>
                <a:latin typeface="JetBrains Mono"/>
              </a:rPr>
              <a:t>hienthi</a:t>
            </a:r>
            <a:r>
              <a:rPr kumimoji="0" lang="en-US" altLang="en-US" sz="2300" b="0" i="0" u="none" strike="noStrike" cap="none" normalizeH="0" baseline="0" dirty="0">
                <a:ln>
                  <a:noFill/>
                </a:ln>
                <a:solidFill>
                  <a:srgbClr val="A9B7C6"/>
                </a:solidFill>
                <a:effectLst/>
                <a:latin typeface="JetBrains Mono"/>
              </a:rPr>
              <a:t>(</a:t>
            </a:r>
            <a:r>
              <a:rPr kumimoji="0" lang="en-US" altLang="en-US" sz="2300" b="0" i="0" u="none" strike="noStrike" cap="none" normalizeH="0" baseline="0" dirty="0">
                <a:ln>
                  <a:noFill/>
                </a:ln>
                <a:solidFill>
                  <a:srgbClr val="94558D"/>
                </a:solidFill>
                <a:effectLst/>
                <a:latin typeface="JetBrains Mono"/>
              </a:rPr>
              <a:t>self</a:t>
            </a:r>
            <a:r>
              <a:rPr kumimoji="0" lang="en-US" altLang="en-US" sz="2300" b="0" i="0" u="none" strike="noStrike" cap="none" normalizeH="0" baseline="0" dirty="0">
                <a:ln>
                  <a:noFill/>
                </a:ln>
                <a:solidFill>
                  <a:srgbClr val="A9B7C6"/>
                </a:solidFill>
                <a:effectLst/>
                <a:latin typeface="JetBrains Mono"/>
              </a:rPr>
              <a:t>):</a:t>
            </a:r>
            <a:br>
              <a:rPr kumimoji="0" lang="en-US" altLang="en-US" sz="2300" b="0" i="0" u="none" strike="noStrike" cap="none" normalizeH="0" baseline="0" dirty="0">
                <a:ln>
                  <a:noFill/>
                </a:ln>
                <a:solidFill>
                  <a:srgbClr val="A9B7C6"/>
                </a:solidFill>
                <a:effectLst/>
                <a:latin typeface="JetBrains Mono"/>
              </a:rPr>
            </a:br>
            <a:r>
              <a:rPr kumimoji="0" lang="en-US" altLang="en-US" sz="2300" b="0" i="0" u="none" strike="noStrike" cap="none" normalizeH="0" baseline="0" dirty="0">
                <a:ln>
                  <a:noFill/>
                </a:ln>
                <a:solidFill>
                  <a:srgbClr val="A9B7C6"/>
                </a:solidFill>
                <a:effectLst/>
                <a:latin typeface="JetBrains Mono"/>
              </a:rPr>
              <a:t>        </a:t>
            </a:r>
            <a:r>
              <a:rPr kumimoji="0" lang="en-US" altLang="en-US" sz="2300" b="0" i="0" u="none" strike="noStrike" cap="none" normalizeH="0" baseline="0" dirty="0">
                <a:ln>
                  <a:noFill/>
                </a:ln>
                <a:solidFill>
                  <a:srgbClr val="8888C6"/>
                </a:solidFill>
                <a:effectLst/>
                <a:latin typeface="JetBrains Mono"/>
              </a:rPr>
              <a:t>print</a:t>
            </a:r>
            <a:r>
              <a:rPr kumimoji="0" lang="en-US" altLang="en-US" sz="2300" b="0" i="0" u="none" strike="noStrike" cap="none" normalizeH="0" baseline="0" dirty="0">
                <a:ln>
                  <a:noFill/>
                </a:ln>
                <a:solidFill>
                  <a:srgbClr val="A9B7C6"/>
                </a:solidFill>
                <a:effectLst/>
                <a:latin typeface="JetBrains Mono"/>
              </a:rPr>
              <a:t>(</a:t>
            </a:r>
            <a:r>
              <a:rPr kumimoji="0" lang="en-US" altLang="en-US" sz="2300" b="0" i="0" u="none" strike="noStrike" cap="none" normalizeH="0" baseline="0" dirty="0">
                <a:ln>
                  <a:noFill/>
                </a:ln>
                <a:solidFill>
                  <a:srgbClr val="6A8759"/>
                </a:solidFill>
                <a:effectLst/>
                <a:latin typeface="JetBrains Mono"/>
              </a:rPr>
              <a:t>"</a:t>
            </a:r>
            <a:r>
              <a:rPr kumimoji="0" lang="en-US" altLang="en-US" sz="2300" b="0" i="0" u="none" strike="noStrike" cap="none" normalizeH="0" baseline="0" dirty="0" err="1">
                <a:ln>
                  <a:noFill/>
                </a:ln>
                <a:solidFill>
                  <a:srgbClr val="6A8759"/>
                </a:solidFill>
                <a:effectLst/>
                <a:latin typeface="JetBrains Mono"/>
              </a:rPr>
              <a:t>Mã</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sinh</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viên</a:t>
            </a:r>
            <a:r>
              <a:rPr kumimoji="0" lang="en-US" altLang="en-US" sz="2300" b="0" i="0" u="none" strike="noStrike" cap="none" normalizeH="0" baseline="0" dirty="0">
                <a:ln>
                  <a:noFill/>
                </a:ln>
                <a:solidFill>
                  <a:srgbClr val="6A8759"/>
                </a:solidFill>
                <a:effectLst/>
                <a:latin typeface="JetBrains Mono"/>
              </a:rPr>
              <a:t>:"</a:t>
            </a:r>
            <a:r>
              <a:rPr kumimoji="0" lang="en-US" altLang="en-US" sz="2300" b="0" i="0" u="none" strike="noStrike" cap="none" normalizeH="0" baseline="0" dirty="0">
                <a:ln>
                  <a:noFill/>
                </a:ln>
                <a:solidFill>
                  <a:srgbClr val="CC7832"/>
                </a:solidFill>
                <a:effectLst/>
                <a:latin typeface="JetBrains Mono"/>
              </a:rPr>
              <a:t>,</a:t>
            </a:r>
            <a:r>
              <a:rPr kumimoji="0" lang="en-US" altLang="en-US" sz="2300" b="0" i="0" u="none" strike="noStrike" cap="none" normalizeH="0" baseline="0" dirty="0" err="1">
                <a:ln>
                  <a:noFill/>
                </a:ln>
                <a:solidFill>
                  <a:srgbClr val="94558D"/>
                </a:solidFill>
                <a:effectLst/>
                <a:latin typeface="JetBrains Mono"/>
              </a:rPr>
              <a:t>self</a:t>
            </a:r>
            <a:r>
              <a:rPr kumimoji="0" lang="en-US" altLang="en-US" sz="2300" b="0" i="0" u="none" strike="noStrike" cap="none" normalizeH="0" baseline="0" dirty="0" err="1">
                <a:ln>
                  <a:noFill/>
                </a:ln>
                <a:solidFill>
                  <a:srgbClr val="A9B7C6"/>
                </a:solidFill>
                <a:effectLst/>
                <a:latin typeface="JetBrains Mono"/>
              </a:rPr>
              <a:t>.masv</a:t>
            </a:r>
            <a:r>
              <a:rPr kumimoji="0" lang="en-US" altLang="en-US" sz="2300" b="0" i="0" u="none" strike="noStrike" cap="none" normalizeH="0" baseline="0" dirty="0">
                <a:ln>
                  <a:noFill/>
                </a:ln>
                <a:solidFill>
                  <a:srgbClr val="A9B7C6"/>
                </a:solidFill>
                <a:effectLst/>
                <a:latin typeface="JetBrains Mono"/>
              </a:rPr>
              <a:t>)</a:t>
            </a:r>
            <a:br>
              <a:rPr kumimoji="0" lang="en-US" altLang="en-US" sz="2300" b="0" i="0" u="none" strike="noStrike" cap="none" normalizeH="0" baseline="0" dirty="0">
                <a:ln>
                  <a:noFill/>
                </a:ln>
                <a:solidFill>
                  <a:srgbClr val="A9B7C6"/>
                </a:solidFill>
                <a:effectLst/>
                <a:latin typeface="JetBrains Mono"/>
              </a:rPr>
            </a:br>
            <a:r>
              <a:rPr kumimoji="0" lang="en-US" altLang="en-US" sz="2300" b="0" i="0" u="none" strike="noStrike" cap="none" normalizeH="0" baseline="0" dirty="0">
                <a:ln>
                  <a:noFill/>
                </a:ln>
                <a:solidFill>
                  <a:srgbClr val="A9B7C6"/>
                </a:solidFill>
                <a:effectLst/>
                <a:latin typeface="JetBrains Mono"/>
              </a:rPr>
              <a:t>        </a:t>
            </a:r>
            <a:r>
              <a:rPr kumimoji="0" lang="en-US" altLang="en-US" sz="2300" b="0" i="0" u="none" strike="noStrike" cap="none" normalizeH="0" baseline="0" dirty="0">
                <a:ln>
                  <a:noFill/>
                </a:ln>
                <a:solidFill>
                  <a:srgbClr val="8888C6"/>
                </a:solidFill>
                <a:effectLst/>
                <a:latin typeface="JetBrains Mono"/>
              </a:rPr>
              <a:t>print</a:t>
            </a:r>
            <a:r>
              <a:rPr kumimoji="0" lang="en-US" altLang="en-US" sz="2300" b="0" i="0" u="none" strike="noStrike" cap="none" normalizeH="0" baseline="0" dirty="0">
                <a:ln>
                  <a:noFill/>
                </a:ln>
                <a:solidFill>
                  <a:srgbClr val="A9B7C6"/>
                </a:solidFill>
                <a:effectLst/>
                <a:latin typeface="JetBrains Mono"/>
              </a:rPr>
              <a:t>(</a:t>
            </a:r>
            <a:r>
              <a:rPr kumimoji="0" lang="en-US" altLang="en-US" sz="2300" b="0" i="0" u="none" strike="noStrike" cap="none" normalizeH="0" baseline="0" dirty="0">
                <a:ln>
                  <a:noFill/>
                </a:ln>
                <a:solidFill>
                  <a:srgbClr val="6A8759"/>
                </a:solidFill>
                <a:effectLst/>
                <a:latin typeface="JetBrains Mono"/>
              </a:rPr>
              <a:t>"</a:t>
            </a:r>
            <a:r>
              <a:rPr kumimoji="0" lang="en-US" altLang="en-US" sz="2300" b="0" i="0" u="none" strike="noStrike" cap="none" normalizeH="0" baseline="0" dirty="0" err="1">
                <a:ln>
                  <a:noFill/>
                </a:ln>
                <a:solidFill>
                  <a:srgbClr val="6A8759"/>
                </a:solidFill>
                <a:effectLst/>
                <a:latin typeface="JetBrains Mono"/>
              </a:rPr>
              <a:t>Họ</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tên</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sinh</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viên</a:t>
            </a:r>
            <a:r>
              <a:rPr kumimoji="0" lang="en-US" altLang="en-US" sz="2300" b="0" i="0" u="none" strike="noStrike" cap="none" normalizeH="0" baseline="0" dirty="0">
                <a:ln>
                  <a:noFill/>
                </a:ln>
                <a:solidFill>
                  <a:srgbClr val="6A8759"/>
                </a:solidFill>
                <a:effectLst/>
                <a:latin typeface="JetBrains Mono"/>
              </a:rPr>
              <a:t>:"</a:t>
            </a:r>
            <a:r>
              <a:rPr kumimoji="0" lang="en-US" altLang="en-US" sz="2300" b="0" i="0" u="none" strike="noStrike" cap="none" normalizeH="0" baseline="0" dirty="0">
                <a:ln>
                  <a:noFill/>
                </a:ln>
                <a:solidFill>
                  <a:srgbClr val="CC7832"/>
                </a:solidFill>
                <a:effectLst/>
                <a:latin typeface="JetBrains Mono"/>
              </a:rPr>
              <a:t>, </a:t>
            </a:r>
            <a:r>
              <a:rPr kumimoji="0" lang="en-US" altLang="en-US" sz="2300" b="0" i="0" u="none" strike="noStrike" cap="none" normalizeH="0" baseline="0" dirty="0">
                <a:ln>
                  <a:noFill/>
                </a:ln>
                <a:solidFill>
                  <a:srgbClr val="94558D"/>
                </a:solidFill>
                <a:effectLst/>
                <a:latin typeface="JetBrains Mono"/>
              </a:rPr>
              <a:t>self</a:t>
            </a:r>
            <a:r>
              <a:rPr kumimoji="0" lang="en-US" altLang="en-US" sz="2300" b="0" i="0" u="none" strike="noStrike" cap="none" normalizeH="0" baseline="0" dirty="0">
                <a:ln>
                  <a:noFill/>
                </a:ln>
                <a:solidFill>
                  <a:srgbClr val="A9B7C6"/>
                </a:solidFill>
                <a:effectLst/>
                <a:latin typeface="JetBrains Mono"/>
              </a:rPr>
              <a:t>.ht)</a:t>
            </a:r>
            <a:br>
              <a:rPr kumimoji="0" lang="en-US" altLang="en-US" sz="2300" b="0" i="0" u="none" strike="noStrike" cap="none" normalizeH="0" baseline="0" dirty="0">
                <a:ln>
                  <a:noFill/>
                </a:ln>
                <a:solidFill>
                  <a:srgbClr val="A9B7C6"/>
                </a:solidFill>
                <a:effectLst/>
                <a:latin typeface="JetBrains Mono"/>
              </a:rPr>
            </a:br>
            <a:r>
              <a:rPr kumimoji="0" lang="en-US" altLang="en-US" sz="2300" b="0" i="0" u="none" strike="noStrike" cap="none" normalizeH="0" baseline="0" dirty="0">
                <a:ln>
                  <a:noFill/>
                </a:ln>
                <a:solidFill>
                  <a:srgbClr val="A9B7C6"/>
                </a:solidFill>
                <a:effectLst/>
                <a:latin typeface="JetBrains Mono"/>
              </a:rPr>
              <a:t>        </a:t>
            </a:r>
            <a:r>
              <a:rPr kumimoji="0" lang="en-US" altLang="en-US" sz="2300" b="0" i="0" u="none" strike="noStrike" cap="none" normalizeH="0" baseline="0" dirty="0">
                <a:ln>
                  <a:noFill/>
                </a:ln>
                <a:solidFill>
                  <a:srgbClr val="8888C6"/>
                </a:solidFill>
                <a:effectLst/>
                <a:latin typeface="JetBrains Mono"/>
              </a:rPr>
              <a:t>print</a:t>
            </a:r>
            <a:r>
              <a:rPr kumimoji="0" lang="en-US" altLang="en-US" sz="2300" b="0" i="0" u="none" strike="noStrike" cap="none" normalizeH="0" baseline="0" dirty="0">
                <a:ln>
                  <a:noFill/>
                </a:ln>
                <a:solidFill>
                  <a:srgbClr val="A9B7C6"/>
                </a:solidFill>
                <a:effectLst/>
                <a:latin typeface="JetBrains Mono"/>
              </a:rPr>
              <a:t>(</a:t>
            </a:r>
            <a:r>
              <a:rPr kumimoji="0" lang="en-US" altLang="en-US" sz="2300" b="0" i="0" u="none" strike="noStrike" cap="none" normalizeH="0" baseline="0" dirty="0">
                <a:ln>
                  <a:noFill/>
                </a:ln>
                <a:solidFill>
                  <a:srgbClr val="6A8759"/>
                </a:solidFill>
                <a:effectLst/>
                <a:latin typeface="JetBrains Mono"/>
              </a:rPr>
              <a:t>"</a:t>
            </a:r>
            <a:r>
              <a:rPr kumimoji="0" lang="en-US" altLang="en-US" sz="2300" b="0" i="0" u="none" strike="noStrike" cap="none" normalizeH="0" baseline="0" dirty="0" err="1">
                <a:ln>
                  <a:noFill/>
                </a:ln>
                <a:solidFill>
                  <a:srgbClr val="6A8759"/>
                </a:solidFill>
                <a:effectLst/>
                <a:latin typeface="JetBrains Mono"/>
              </a:rPr>
              <a:t>Tuổi</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sinh</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viên</a:t>
            </a:r>
            <a:r>
              <a:rPr kumimoji="0" lang="en-US" altLang="en-US" sz="2300" b="0" i="0" u="none" strike="noStrike" cap="none" normalizeH="0" baseline="0" dirty="0">
                <a:ln>
                  <a:noFill/>
                </a:ln>
                <a:solidFill>
                  <a:srgbClr val="6A8759"/>
                </a:solidFill>
                <a:effectLst/>
                <a:latin typeface="JetBrains Mono"/>
              </a:rPr>
              <a:t>:"</a:t>
            </a:r>
            <a:r>
              <a:rPr kumimoji="0" lang="en-US" altLang="en-US" sz="2300" b="0" i="0" u="none" strike="noStrike" cap="none" normalizeH="0" baseline="0" dirty="0">
                <a:ln>
                  <a:noFill/>
                </a:ln>
                <a:solidFill>
                  <a:srgbClr val="CC7832"/>
                </a:solidFill>
                <a:effectLst/>
                <a:latin typeface="JetBrains Mono"/>
              </a:rPr>
              <a:t>, </a:t>
            </a:r>
            <a:r>
              <a:rPr kumimoji="0" lang="en-US" altLang="en-US" sz="2300" b="0" i="0" u="none" strike="noStrike" cap="none" normalizeH="0" baseline="0" dirty="0" err="1">
                <a:ln>
                  <a:noFill/>
                </a:ln>
                <a:solidFill>
                  <a:srgbClr val="94558D"/>
                </a:solidFill>
                <a:effectLst/>
                <a:latin typeface="JetBrains Mono"/>
              </a:rPr>
              <a:t>self</a:t>
            </a:r>
            <a:r>
              <a:rPr kumimoji="0" lang="en-US" altLang="en-US" sz="2300" b="0" i="0" u="none" strike="noStrike" cap="none" normalizeH="0" baseline="0" dirty="0" err="1">
                <a:ln>
                  <a:noFill/>
                </a:ln>
                <a:solidFill>
                  <a:srgbClr val="A9B7C6"/>
                </a:solidFill>
                <a:effectLst/>
                <a:latin typeface="JetBrains Mono"/>
              </a:rPr>
              <a:t>.tuoi</a:t>
            </a:r>
            <a:r>
              <a:rPr kumimoji="0" lang="en-US" altLang="en-US" sz="2300" b="0" i="0" u="none" strike="noStrike" cap="none" normalizeH="0" baseline="0" dirty="0">
                <a:ln>
                  <a:noFill/>
                </a:ln>
                <a:solidFill>
                  <a:srgbClr val="A9B7C6"/>
                </a:solidFill>
                <a:effectLst/>
                <a:latin typeface="JetBrains Mono"/>
              </a:rPr>
              <a:t>)</a:t>
            </a:r>
            <a:br>
              <a:rPr kumimoji="0" lang="en-US" altLang="en-US" sz="2300" b="0" i="0" u="none" strike="noStrike" cap="none" normalizeH="0" baseline="0" dirty="0">
                <a:ln>
                  <a:noFill/>
                </a:ln>
                <a:solidFill>
                  <a:srgbClr val="A9B7C6"/>
                </a:solidFill>
                <a:effectLst/>
                <a:latin typeface="JetBrains Mono"/>
              </a:rPr>
            </a:br>
            <a:r>
              <a:rPr kumimoji="0" lang="en-US" altLang="en-US" sz="2300" b="0" i="0" u="none" strike="noStrike" cap="none" normalizeH="0" baseline="0" dirty="0">
                <a:ln>
                  <a:noFill/>
                </a:ln>
                <a:solidFill>
                  <a:srgbClr val="A9B7C6"/>
                </a:solidFill>
                <a:effectLst/>
                <a:latin typeface="JetBrains Mono"/>
              </a:rPr>
              <a:t>        </a:t>
            </a:r>
            <a:r>
              <a:rPr kumimoji="0" lang="en-US" altLang="en-US" sz="2300" b="0" i="0" u="none" strike="noStrike" cap="none" normalizeH="0" baseline="0" dirty="0">
                <a:ln>
                  <a:noFill/>
                </a:ln>
                <a:solidFill>
                  <a:srgbClr val="8888C6"/>
                </a:solidFill>
                <a:effectLst/>
                <a:latin typeface="JetBrains Mono"/>
              </a:rPr>
              <a:t>print</a:t>
            </a:r>
            <a:r>
              <a:rPr kumimoji="0" lang="en-US" altLang="en-US" sz="2300" b="0" i="0" u="none" strike="noStrike" cap="none" normalizeH="0" baseline="0" dirty="0">
                <a:ln>
                  <a:noFill/>
                </a:ln>
                <a:solidFill>
                  <a:srgbClr val="A9B7C6"/>
                </a:solidFill>
                <a:effectLst/>
                <a:latin typeface="JetBrains Mono"/>
              </a:rPr>
              <a:t>(</a:t>
            </a:r>
            <a:r>
              <a:rPr kumimoji="0" lang="en-US" altLang="en-US" sz="2300" b="0" i="0" u="none" strike="noStrike" cap="none" normalizeH="0" baseline="0" dirty="0">
                <a:ln>
                  <a:noFill/>
                </a:ln>
                <a:solidFill>
                  <a:srgbClr val="6A8759"/>
                </a:solidFill>
                <a:effectLst/>
                <a:latin typeface="JetBrains Mono"/>
              </a:rPr>
              <a:t>"</a:t>
            </a:r>
            <a:r>
              <a:rPr kumimoji="0" lang="en-US" altLang="en-US" sz="2300" b="0" i="0" u="none" strike="noStrike" cap="none" normalizeH="0" baseline="0" dirty="0" err="1">
                <a:ln>
                  <a:noFill/>
                </a:ln>
                <a:solidFill>
                  <a:srgbClr val="6A8759"/>
                </a:solidFill>
                <a:effectLst/>
                <a:latin typeface="JetBrains Mono"/>
              </a:rPr>
              <a:t>Địa</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chỉ</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sinh</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viên</a:t>
            </a:r>
            <a:r>
              <a:rPr kumimoji="0" lang="en-US" altLang="en-US" sz="2300" b="0" i="0" u="none" strike="noStrike" cap="none" normalizeH="0" baseline="0" dirty="0">
                <a:ln>
                  <a:noFill/>
                </a:ln>
                <a:solidFill>
                  <a:srgbClr val="6A8759"/>
                </a:solidFill>
                <a:effectLst/>
                <a:latin typeface="JetBrains Mono"/>
              </a:rPr>
              <a:t>:"</a:t>
            </a:r>
            <a:r>
              <a:rPr kumimoji="0" lang="en-US" altLang="en-US" sz="2300" b="0" i="0" u="none" strike="noStrike" cap="none" normalizeH="0" baseline="0" dirty="0">
                <a:ln>
                  <a:noFill/>
                </a:ln>
                <a:solidFill>
                  <a:srgbClr val="CC7832"/>
                </a:solidFill>
                <a:effectLst/>
                <a:latin typeface="JetBrains Mono"/>
              </a:rPr>
              <a:t>, </a:t>
            </a:r>
            <a:r>
              <a:rPr kumimoji="0" lang="en-US" altLang="en-US" sz="2300" b="0" i="0" u="none" strike="noStrike" cap="none" normalizeH="0" baseline="0" dirty="0" err="1">
                <a:ln>
                  <a:noFill/>
                </a:ln>
                <a:solidFill>
                  <a:srgbClr val="94558D"/>
                </a:solidFill>
                <a:effectLst/>
                <a:latin typeface="JetBrains Mono"/>
              </a:rPr>
              <a:t>self</a:t>
            </a:r>
            <a:r>
              <a:rPr kumimoji="0" lang="en-US" altLang="en-US" sz="2300" b="0" i="0" u="none" strike="noStrike" cap="none" normalizeH="0" baseline="0" dirty="0" err="1">
                <a:ln>
                  <a:noFill/>
                </a:ln>
                <a:solidFill>
                  <a:srgbClr val="A9B7C6"/>
                </a:solidFill>
                <a:effectLst/>
                <a:latin typeface="JetBrains Mono"/>
              </a:rPr>
              <a:t>.dc</a:t>
            </a:r>
            <a:r>
              <a:rPr kumimoji="0" lang="en-US" altLang="en-US" sz="2300" b="0" i="0" u="none" strike="noStrike" cap="none" normalizeH="0" baseline="0" dirty="0">
                <a:ln>
                  <a:noFill/>
                </a:ln>
                <a:solidFill>
                  <a:srgbClr val="A9B7C6"/>
                </a:solidFill>
                <a:effectLst/>
                <a:latin typeface="JetBrains Mono"/>
              </a:rPr>
              <a:t>)</a:t>
            </a:r>
            <a:endParaRPr kumimoji="0" lang="en-US" altLang="en-US" sz="2300" b="0" i="0" u="none" strike="noStrike" cap="none" normalizeH="0" baseline="0" dirty="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4A66D336-AD89-4151-A363-B533D1AF08E1}"/>
              </a:ext>
            </a:extLst>
          </p:cNvPr>
          <p:cNvSpPr>
            <a:spLocks noChangeArrowheads="1"/>
          </p:cNvSpPr>
          <p:nvPr/>
        </p:nvSpPr>
        <p:spPr bwMode="auto">
          <a:xfrm>
            <a:off x="7172739" y="3028602"/>
            <a:ext cx="4863548" cy="1508105"/>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dirty="0">
                <a:ln>
                  <a:noFill/>
                </a:ln>
                <a:solidFill>
                  <a:srgbClr val="808080"/>
                </a:solidFill>
                <a:effectLst/>
                <a:latin typeface="JetBrains Mono"/>
              </a:rPr>
              <a:t>#</a:t>
            </a:r>
            <a:r>
              <a:rPr kumimoji="0" lang="en-US" altLang="en-US" sz="2300" b="0" i="0" u="none" strike="noStrike" cap="none" normalizeH="0" baseline="0" dirty="0" err="1">
                <a:ln>
                  <a:noFill/>
                </a:ln>
                <a:solidFill>
                  <a:srgbClr val="808080"/>
                </a:solidFill>
                <a:effectLst/>
                <a:latin typeface="JetBrains Mono"/>
              </a:rPr>
              <a:t>Khai</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báo</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đối</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tượng</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sử</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dụng</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lớp</a:t>
            </a:r>
            <a:br>
              <a:rPr kumimoji="0" lang="en-US" altLang="en-US" sz="2300" b="0" i="0" u="none" strike="noStrike" cap="none" normalizeH="0" baseline="0" dirty="0">
                <a:ln>
                  <a:noFill/>
                </a:ln>
                <a:solidFill>
                  <a:srgbClr val="808080"/>
                </a:solidFill>
                <a:effectLst/>
                <a:latin typeface="JetBrains Mono"/>
              </a:rPr>
            </a:br>
            <a:r>
              <a:rPr kumimoji="0" lang="en-US" altLang="en-US" sz="2300" b="0" i="0" u="none" strike="noStrike" cap="none" normalizeH="0" baseline="0" dirty="0" err="1">
                <a:ln>
                  <a:noFill/>
                </a:ln>
                <a:solidFill>
                  <a:srgbClr val="A9B7C6"/>
                </a:solidFill>
                <a:effectLst/>
                <a:latin typeface="JetBrains Mono"/>
              </a:rPr>
              <a:t>sv</a:t>
            </a:r>
            <a:r>
              <a:rPr kumimoji="0" lang="en-US" altLang="en-US" sz="2300" b="0" i="0" u="none" strike="noStrike" cap="none" normalizeH="0" baseline="0" dirty="0">
                <a:ln>
                  <a:noFill/>
                </a:ln>
                <a:solidFill>
                  <a:srgbClr val="A9B7C6"/>
                </a:solidFill>
                <a:effectLst/>
                <a:latin typeface="JetBrains Mono"/>
              </a:rPr>
              <a:t>=</a:t>
            </a:r>
            <a:r>
              <a:rPr kumimoji="0" lang="en-US" altLang="en-US" sz="2300" b="0" i="0" u="none" strike="noStrike" cap="none" normalizeH="0" baseline="0" dirty="0" err="1">
                <a:ln>
                  <a:noFill/>
                </a:ln>
                <a:solidFill>
                  <a:srgbClr val="A9B7C6"/>
                </a:solidFill>
                <a:effectLst/>
                <a:latin typeface="JetBrains Mono"/>
              </a:rPr>
              <a:t>sinhVien</a:t>
            </a:r>
            <a:r>
              <a:rPr kumimoji="0" lang="en-US" altLang="en-US" sz="2300" b="0" i="0" u="none" strike="noStrike" cap="none" normalizeH="0" baseline="0" dirty="0">
                <a:ln>
                  <a:noFill/>
                </a:ln>
                <a:solidFill>
                  <a:srgbClr val="A9B7C6"/>
                </a:solidFill>
                <a:effectLst/>
                <a:latin typeface="JetBrains Mono"/>
              </a:rPr>
              <a:t>()</a:t>
            </a:r>
            <a:br>
              <a:rPr kumimoji="0" lang="en-US" altLang="en-US" sz="2300" b="0" i="0" u="none" strike="noStrike" cap="none" normalizeH="0" baseline="0" dirty="0">
                <a:ln>
                  <a:noFill/>
                </a:ln>
                <a:solidFill>
                  <a:srgbClr val="A9B7C6"/>
                </a:solidFill>
                <a:effectLst/>
                <a:latin typeface="JetBrains Mono"/>
              </a:rPr>
            </a:br>
            <a:r>
              <a:rPr kumimoji="0" lang="en-US" altLang="en-US" sz="2300" b="0" i="0" u="none" strike="noStrike" cap="none" normalizeH="0" baseline="0" dirty="0">
                <a:ln>
                  <a:noFill/>
                </a:ln>
                <a:solidFill>
                  <a:srgbClr val="808080"/>
                </a:solidFill>
                <a:effectLst/>
                <a:latin typeface="JetBrains Mono"/>
              </a:rPr>
              <a:t>#</a:t>
            </a:r>
            <a:r>
              <a:rPr kumimoji="0" lang="en-US" altLang="en-US" sz="2300" b="0" i="0" u="none" strike="noStrike" cap="none" normalizeH="0" baseline="0" dirty="0" err="1">
                <a:ln>
                  <a:noFill/>
                </a:ln>
                <a:solidFill>
                  <a:srgbClr val="808080"/>
                </a:solidFill>
                <a:effectLst/>
                <a:latin typeface="JetBrains Mono"/>
              </a:rPr>
              <a:t>gọi</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phương</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thức</a:t>
            </a:r>
            <a:br>
              <a:rPr kumimoji="0" lang="en-US" altLang="en-US" sz="2300" b="0" i="0" u="none" strike="noStrike" cap="none" normalizeH="0" baseline="0" dirty="0">
                <a:ln>
                  <a:noFill/>
                </a:ln>
                <a:solidFill>
                  <a:srgbClr val="808080"/>
                </a:solidFill>
                <a:effectLst/>
                <a:latin typeface="JetBrains Mono"/>
              </a:rPr>
            </a:br>
            <a:r>
              <a:rPr kumimoji="0" lang="en-US" altLang="en-US" sz="2300" b="0" i="0" u="none" strike="noStrike" cap="none" normalizeH="0" baseline="0" dirty="0" err="1">
                <a:ln>
                  <a:noFill/>
                </a:ln>
                <a:solidFill>
                  <a:srgbClr val="A9B7C6"/>
                </a:solidFill>
                <a:effectLst/>
                <a:latin typeface="JetBrains Mono"/>
              </a:rPr>
              <a:t>sv.hienthi</a:t>
            </a:r>
            <a:r>
              <a:rPr kumimoji="0" lang="en-US" altLang="en-US" sz="2300" b="0" i="0" u="none" strike="noStrike" cap="none" normalizeH="0" baseline="0" dirty="0">
                <a:ln>
                  <a:noFill/>
                </a:ln>
                <a:solidFill>
                  <a:srgbClr val="A9B7C6"/>
                </a:solidFill>
                <a:effectLst/>
                <a:latin typeface="JetBrains Mono"/>
              </a:rPr>
              <a:t>()</a:t>
            </a:r>
            <a:endParaRPr kumimoji="0" lang="en-US" altLang="en-US" sz="23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817930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latin typeface="Cambria" panose="02040503050406030204" pitchFamily="18" charset="0"/>
                <a:ea typeface="Cambria" panose="02040503050406030204" pitchFamily="18" charset="0"/>
              </a:rPr>
              <a:t>Bài</a:t>
            </a:r>
            <a:r>
              <a:rPr lang="en-US">
                <a:latin typeface="Cambria" panose="02040503050406030204" pitchFamily="18" charset="0"/>
                <a:ea typeface="Cambria" panose="02040503050406030204" pitchFamily="18" charset="0"/>
              </a:rPr>
              <a:t> 4 – </a:t>
            </a:r>
            <a:r>
              <a:rPr lang="en-US" spc="-5" err="1">
                <a:latin typeface="Cambria" panose="02040503050406030204" pitchFamily="18" charset="0"/>
                <a:ea typeface="Cambria" panose="02040503050406030204" pitchFamily="18" charset="0"/>
                <a:cs typeface="Arial"/>
              </a:rPr>
              <a:t>Lập</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trình</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hướng</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tượng</a:t>
            </a:r>
            <a:endParaRPr lang="en-US">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a:solidFill>
                  <a:schemeClr val="bg1"/>
                </a:solidFill>
                <a:latin typeface="Cambria" panose="02040503050406030204" pitchFamily="18" charset="0"/>
              </a:rPr>
              <a:t>LỚP (CLASS) TRONG PYTHON</a:t>
            </a:r>
          </a:p>
        </p:txBody>
      </p:sp>
      <p:sp>
        <p:nvSpPr>
          <p:cNvPr id="4" name="TextBox 3"/>
          <p:cNvSpPr txBox="1"/>
          <p:nvPr/>
        </p:nvSpPr>
        <p:spPr>
          <a:xfrm>
            <a:off x="127054" y="677516"/>
            <a:ext cx="10108095" cy="477054"/>
          </a:xfrm>
          <a:prstGeom prst="rect">
            <a:avLst/>
          </a:prstGeom>
          <a:noFill/>
        </p:spPr>
        <p:txBody>
          <a:bodyPr wrap="square" rtlCol="0">
            <a:spAutoFit/>
          </a:bodyPr>
          <a:lstStyle/>
          <a:p>
            <a:r>
              <a:rPr lang="en-US" sz="2500" b="1" err="1">
                <a:latin typeface="Cambria" panose="02040503050406030204" pitchFamily="18" charset="0"/>
                <a:ea typeface="Cambria" panose="02040503050406030204" pitchFamily="18" charset="0"/>
              </a:rPr>
              <a:t>Phương</a:t>
            </a:r>
            <a:r>
              <a:rPr lang="en-US" sz="2500" b="1">
                <a:latin typeface="Cambria" panose="02040503050406030204" pitchFamily="18" charset="0"/>
                <a:ea typeface="Cambria" panose="02040503050406030204" pitchFamily="18" charset="0"/>
              </a:rPr>
              <a:t> </a:t>
            </a:r>
            <a:r>
              <a:rPr lang="en-US" sz="2500" b="1" err="1">
                <a:latin typeface="Cambria" panose="02040503050406030204" pitchFamily="18" charset="0"/>
                <a:ea typeface="Cambria" panose="02040503050406030204" pitchFamily="18" charset="0"/>
              </a:rPr>
              <a:t>thức</a:t>
            </a:r>
            <a:r>
              <a:rPr lang="en-US" sz="2500" b="1">
                <a:latin typeface="Cambria" panose="02040503050406030204" pitchFamily="18" charset="0"/>
                <a:ea typeface="Cambria" panose="02040503050406030204" pitchFamily="18" charset="0"/>
              </a:rPr>
              <a:t> KHỞI TẠO </a:t>
            </a:r>
            <a:r>
              <a:rPr lang="en-US" sz="2500" b="1" err="1">
                <a:latin typeface="Cambria" panose="02040503050406030204" pitchFamily="18" charset="0"/>
                <a:ea typeface="Cambria" panose="02040503050406030204" pitchFamily="18" charset="0"/>
              </a:rPr>
              <a:t>có</a:t>
            </a:r>
            <a:r>
              <a:rPr lang="en-US" sz="2500" b="1">
                <a:latin typeface="Cambria" panose="02040503050406030204" pitchFamily="18" charset="0"/>
                <a:ea typeface="Cambria" panose="02040503050406030204" pitchFamily="18" charset="0"/>
              </a:rPr>
              <a:t> </a:t>
            </a:r>
            <a:r>
              <a:rPr lang="en-US" sz="2500" b="1" err="1">
                <a:latin typeface="Cambria" panose="02040503050406030204" pitchFamily="18" charset="0"/>
                <a:ea typeface="Cambria" panose="02040503050406030204" pitchFamily="18" charset="0"/>
              </a:rPr>
              <a:t>tham</a:t>
            </a:r>
            <a:r>
              <a:rPr lang="en-US" sz="2500" b="1">
                <a:latin typeface="Cambria" panose="02040503050406030204" pitchFamily="18" charset="0"/>
                <a:ea typeface="Cambria" panose="02040503050406030204" pitchFamily="18" charset="0"/>
              </a:rPr>
              <a:t> </a:t>
            </a:r>
            <a:r>
              <a:rPr lang="en-US" sz="2500" b="1" err="1">
                <a:latin typeface="Cambria" panose="02040503050406030204" pitchFamily="18" charset="0"/>
                <a:ea typeface="Cambria" panose="02040503050406030204" pitchFamily="18" charset="0"/>
              </a:rPr>
              <a:t>số</a:t>
            </a:r>
            <a:endParaRPr lang="en-US" sz="2500" b="1">
              <a:latin typeface="Cambria" panose="02040503050406030204" pitchFamily="18" charset="0"/>
              <a:ea typeface="Cambria" panose="02040503050406030204" pitchFamily="18" charset="0"/>
            </a:endParaRPr>
          </a:p>
        </p:txBody>
      </p:sp>
      <p:sp>
        <p:nvSpPr>
          <p:cNvPr id="3" name="Rectangle 1">
            <a:extLst>
              <a:ext uri="{FF2B5EF4-FFF2-40B4-BE49-F238E27FC236}">
                <a16:creationId xmlns:a16="http://schemas.microsoft.com/office/drawing/2014/main" id="{BA2B5782-18A2-4C92-9893-1991D8B676F1}"/>
              </a:ext>
            </a:extLst>
          </p:cNvPr>
          <p:cNvSpPr>
            <a:spLocks noChangeArrowheads="1"/>
          </p:cNvSpPr>
          <p:nvPr/>
        </p:nvSpPr>
        <p:spPr bwMode="auto">
          <a:xfrm>
            <a:off x="212034" y="1218558"/>
            <a:ext cx="6387549" cy="4693593"/>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dirty="0">
                <a:ln>
                  <a:noFill/>
                </a:ln>
                <a:solidFill>
                  <a:srgbClr val="808080"/>
                </a:solidFill>
                <a:effectLst/>
                <a:latin typeface="JetBrains Mono"/>
              </a:rPr>
              <a:t>#Khai </a:t>
            </a:r>
            <a:r>
              <a:rPr kumimoji="0" lang="en-US" altLang="en-US" sz="2300" b="0" i="0" u="none" strike="noStrike" cap="none" normalizeH="0" baseline="0" dirty="0" err="1">
                <a:ln>
                  <a:noFill/>
                </a:ln>
                <a:solidFill>
                  <a:srgbClr val="808080"/>
                </a:solidFill>
                <a:effectLst/>
                <a:latin typeface="JetBrains Mono"/>
              </a:rPr>
              <a:t>báo</a:t>
            </a:r>
            <a:r>
              <a:rPr kumimoji="0" lang="en-US" altLang="en-US" sz="2300" b="0" i="0" u="none" strike="noStrike" cap="none" normalizeH="0" baseline="0" dirty="0">
                <a:ln>
                  <a:noFill/>
                </a:ln>
                <a:solidFill>
                  <a:srgbClr val="808080"/>
                </a:solidFill>
                <a:effectLst/>
                <a:latin typeface="JetBrains Mono"/>
              </a:rPr>
              <a:t> 1 </a:t>
            </a:r>
            <a:r>
              <a:rPr kumimoji="0" lang="en-US" altLang="en-US" sz="2300" b="0" i="0" u="none" strike="noStrike" cap="none" normalizeH="0" baseline="0" dirty="0" err="1">
                <a:ln>
                  <a:noFill/>
                </a:ln>
                <a:solidFill>
                  <a:srgbClr val="808080"/>
                </a:solidFill>
                <a:effectLst/>
                <a:latin typeface="JetBrains Mono"/>
              </a:rPr>
              <a:t>lớp</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có</a:t>
            </a:r>
            <a:r>
              <a:rPr kumimoji="0" lang="en-US" altLang="en-US" sz="2300" b="0" i="0" u="none" strike="noStrike" cap="none" normalizeH="0" baseline="0" dirty="0">
                <a:ln>
                  <a:noFill/>
                </a:ln>
                <a:solidFill>
                  <a:srgbClr val="808080"/>
                </a:solidFill>
                <a:effectLst/>
                <a:latin typeface="JetBrains Mono"/>
              </a:rPr>
              <a:t> 4 </a:t>
            </a:r>
            <a:r>
              <a:rPr kumimoji="0" lang="en-US" altLang="en-US" sz="2300" b="0" i="0" u="none" strike="noStrike" cap="none" normalizeH="0" baseline="0" dirty="0" err="1">
                <a:ln>
                  <a:noFill/>
                </a:ln>
                <a:solidFill>
                  <a:srgbClr val="808080"/>
                </a:solidFill>
                <a:effectLst/>
                <a:latin typeface="JetBrains Mono"/>
              </a:rPr>
              <a:t>thuộc</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tính</a:t>
            </a:r>
            <a:r>
              <a:rPr kumimoji="0" lang="en-US" altLang="en-US" sz="2300" b="0" i="0" u="none" strike="noStrike" cap="none" normalizeH="0" baseline="0" dirty="0">
                <a:ln>
                  <a:noFill/>
                </a:ln>
                <a:solidFill>
                  <a:srgbClr val="808080"/>
                </a:solidFill>
                <a:effectLst/>
                <a:latin typeface="JetBrains Mono"/>
              </a:rPr>
              <a:t>, 1 </a:t>
            </a:r>
            <a:r>
              <a:rPr kumimoji="0" lang="en-US" altLang="en-US" sz="2300" b="0" i="0" u="none" strike="noStrike" cap="none" normalizeH="0" baseline="0" dirty="0" err="1">
                <a:ln>
                  <a:noFill/>
                </a:ln>
                <a:solidFill>
                  <a:srgbClr val="808080"/>
                </a:solidFill>
                <a:effectLst/>
                <a:latin typeface="JetBrains Mono"/>
              </a:rPr>
              <a:t>phuong</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thức</a:t>
            </a:r>
            <a:br>
              <a:rPr kumimoji="0" lang="en-US" altLang="en-US" sz="2300" b="0" i="0" u="none" strike="noStrike" cap="none" normalizeH="0" baseline="0" dirty="0">
                <a:ln>
                  <a:noFill/>
                </a:ln>
                <a:solidFill>
                  <a:srgbClr val="808080"/>
                </a:solidFill>
                <a:effectLst/>
                <a:latin typeface="JetBrains Mono"/>
              </a:rPr>
            </a:br>
            <a:r>
              <a:rPr kumimoji="0" lang="en-US" altLang="en-US" sz="2300" b="0" i="0" u="none" strike="noStrike" cap="none" normalizeH="0" baseline="0" dirty="0">
                <a:ln>
                  <a:noFill/>
                </a:ln>
                <a:solidFill>
                  <a:srgbClr val="CC7832"/>
                </a:solidFill>
                <a:effectLst/>
                <a:latin typeface="JetBrains Mono"/>
              </a:rPr>
              <a:t>class </a:t>
            </a:r>
            <a:r>
              <a:rPr kumimoji="0" lang="en-US" altLang="en-US" sz="2300" b="0" i="0" u="none" strike="noStrike" cap="none" normalizeH="0" baseline="0" dirty="0" err="1">
                <a:ln>
                  <a:noFill/>
                </a:ln>
                <a:solidFill>
                  <a:srgbClr val="A9B7C6"/>
                </a:solidFill>
                <a:effectLst/>
                <a:latin typeface="JetBrains Mono"/>
              </a:rPr>
              <a:t>sinhVien</a:t>
            </a:r>
            <a:r>
              <a:rPr kumimoji="0" lang="en-US" altLang="en-US" sz="2300" b="0" i="0" u="none" strike="noStrike" cap="none" normalizeH="0" baseline="0" dirty="0">
                <a:ln>
                  <a:noFill/>
                </a:ln>
                <a:solidFill>
                  <a:srgbClr val="A9B7C6"/>
                </a:solidFill>
                <a:effectLst/>
                <a:latin typeface="JetBrains Mono"/>
              </a:rPr>
              <a:t>:</a:t>
            </a:r>
            <a:br>
              <a:rPr kumimoji="0" lang="en-US" altLang="en-US" sz="2300" b="0" i="0" u="none" strike="noStrike" cap="none" normalizeH="0" baseline="0" dirty="0">
                <a:ln>
                  <a:noFill/>
                </a:ln>
                <a:solidFill>
                  <a:srgbClr val="A9B7C6"/>
                </a:solidFill>
                <a:effectLst/>
                <a:latin typeface="JetBrains Mono"/>
              </a:rPr>
            </a:br>
            <a:r>
              <a:rPr kumimoji="0" lang="en-US" altLang="en-US" sz="2300" b="0" i="0" u="none" strike="noStrike" cap="none" normalizeH="0" baseline="0" dirty="0">
                <a:ln>
                  <a:noFill/>
                </a:ln>
                <a:solidFill>
                  <a:srgbClr val="A9B7C6"/>
                </a:solidFill>
                <a:effectLst/>
                <a:latin typeface="JetBrains Mono"/>
              </a:rPr>
              <a:t>     </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Khai</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báo</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phuong</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thức</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khởi</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tạo</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có</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tham</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số</a:t>
            </a:r>
            <a:br>
              <a:rPr kumimoji="0" lang="en-US" altLang="en-US" sz="2300" b="0" i="0" u="none" strike="noStrike" cap="none" normalizeH="0" baseline="0" dirty="0">
                <a:ln>
                  <a:noFill/>
                </a:ln>
                <a:solidFill>
                  <a:srgbClr val="808080"/>
                </a:solidFill>
                <a:effectLst/>
                <a:latin typeface="JetBrains Mono"/>
              </a:rPr>
            </a:b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a:ln>
                  <a:noFill/>
                </a:ln>
                <a:solidFill>
                  <a:srgbClr val="CC7832"/>
                </a:solidFill>
                <a:effectLst/>
                <a:latin typeface="JetBrains Mono"/>
              </a:rPr>
              <a:t>def </a:t>
            </a:r>
            <a:r>
              <a:rPr kumimoji="0" lang="en-US" altLang="en-US" sz="2300" b="0" i="0" u="none" strike="noStrike" cap="none" normalizeH="0" baseline="0" dirty="0">
                <a:ln>
                  <a:noFill/>
                </a:ln>
                <a:solidFill>
                  <a:srgbClr val="B200B2"/>
                </a:solidFill>
                <a:effectLst/>
                <a:latin typeface="JetBrains Mono"/>
              </a:rPr>
              <a:t>__</a:t>
            </a:r>
            <a:r>
              <a:rPr kumimoji="0" lang="en-US" altLang="en-US" sz="2300" b="0" i="0" u="none" strike="noStrike" cap="none" normalizeH="0" baseline="0" dirty="0" err="1">
                <a:ln>
                  <a:noFill/>
                </a:ln>
                <a:solidFill>
                  <a:srgbClr val="B200B2"/>
                </a:solidFill>
                <a:effectLst/>
                <a:latin typeface="JetBrains Mono"/>
              </a:rPr>
              <a:t>init</a:t>
            </a:r>
            <a:r>
              <a:rPr kumimoji="0" lang="en-US" altLang="en-US" sz="2300" b="0" i="0" u="none" strike="noStrike" cap="none" normalizeH="0" baseline="0" dirty="0">
                <a:ln>
                  <a:noFill/>
                </a:ln>
                <a:solidFill>
                  <a:srgbClr val="B200B2"/>
                </a:solidFill>
                <a:effectLst/>
                <a:latin typeface="JetBrains Mono"/>
              </a:rPr>
              <a:t>__</a:t>
            </a:r>
            <a:r>
              <a:rPr kumimoji="0" lang="en-US" altLang="en-US" sz="2300" b="0" i="0" u="none" strike="noStrike" cap="none" normalizeH="0" baseline="0" dirty="0">
                <a:ln>
                  <a:noFill/>
                </a:ln>
                <a:solidFill>
                  <a:srgbClr val="A9B7C6"/>
                </a:solidFill>
                <a:effectLst/>
                <a:latin typeface="JetBrains Mono"/>
              </a:rPr>
              <a:t>(</a:t>
            </a:r>
            <a:r>
              <a:rPr kumimoji="0" lang="en-US" altLang="en-US" sz="2300" b="0" i="0" u="none" strike="noStrike" cap="none" normalizeH="0" baseline="0" dirty="0" err="1">
                <a:ln>
                  <a:noFill/>
                </a:ln>
                <a:solidFill>
                  <a:srgbClr val="94558D"/>
                </a:solidFill>
                <a:effectLst/>
                <a:latin typeface="JetBrains Mono"/>
              </a:rPr>
              <a:t>self</a:t>
            </a:r>
            <a:r>
              <a:rPr kumimoji="0" lang="en-US" altLang="en-US" sz="2300" b="0" i="0" u="none" strike="noStrike" cap="none" normalizeH="0" baseline="0" dirty="0" err="1">
                <a:ln>
                  <a:noFill/>
                </a:ln>
                <a:solidFill>
                  <a:srgbClr val="CC7832"/>
                </a:solidFill>
                <a:effectLst/>
                <a:latin typeface="JetBrains Mono"/>
              </a:rPr>
              <a:t>,</a:t>
            </a:r>
            <a:r>
              <a:rPr kumimoji="0" lang="en-US" altLang="en-US" sz="2300" b="0" i="0" u="none" strike="noStrike" cap="none" normalizeH="0" baseline="0" dirty="0" err="1">
                <a:ln>
                  <a:noFill/>
                </a:ln>
                <a:solidFill>
                  <a:srgbClr val="A9B7C6"/>
                </a:solidFill>
                <a:effectLst/>
                <a:latin typeface="JetBrains Mono"/>
              </a:rPr>
              <a:t>masv</a:t>
            </a:r>
            <a:r>
              <a:rPr kumimoji="0" lang="en-US" altLang="en-US" sz="2300" b="0" i="0" u="none" strike="noStrike" cap="none" normalizeH="0" baseline="0" dirty="0" err="1">
                <a:ln>
                  <a:noFill/>
                </a:ln>
                <a:solidFill>
                  <a:srgbClr val="CC7832"/>
                </a:solidFill>
                <a:effectLst/>
                <a:latin typeface="JetBrains Mono"/>
              </a:rPr>
              <a:t>,</a:t>
            </a:r>
            <a:r>
              <a:rPr kumimoji="0" lang="en-US" altLang="en-US" sz="2300" b="0" i="0" u="none" strike="noStrike" cap="none" normalizeH="0" baseline="0" dirty="0" err="1">
                <a:ln>
                  <a:noFill/>
                </a:ln>
                <a:solidFill>
                  <a:srgbClr val="A9B7C6"/>
                </a:solidFill>
                <a:effectLst/>
                <a:latin typeface="JetBrains Mono"/>
              </a:rPr>
              <a:t>ht</a:t>
            </a:r>
            <a:r>
              <a:rPr kumimoji="0" lang="en-US" altLang="en-US" sz="2300" b="0" i="0" u="none" strike="noStrike" cap="none" normalizeH="0" baseline="0" dirty="0" err="1">
                <a:ln>
                  <a:noFill/>
                </a:ln>
                <a:solidFill>
                  <a:srgbClr val="CC7832"/>
                </a:solidFill>
                <a:effectLst/>
                <a:latin typeface="JetBrains Mono"/>
              </a:rPr>
              <a:t>,</a:t>
            </a:r>
            <a:r>
              <a:rPr kumimoji="0" lang="en-US" altLang="en-US" sz="2300" b="0" i="0" u="none" strike="noStrike" cap="none" normalizeH="0" baseline="0" dirty="0" err="1">
                <a:ln>
                  <a:noFill/>
                </a:ln>
                <a:solidFill>
                  <a:srgbClr val="A9B7C6"/>
                </a:solidFill>
                <a:effectLst/>
                <a:latin typeface="JetBrains Mono"/>
              </a:rPr>
              <a:t>tuoi</a:t>
            </a:r>
            <a:r>
              <a:rPr kumimoji="0" lang="en-US" altLang="en-US" sz="2300" b="0" i="0" u="none" strike="noStrike" cap="none" normalizeH="0" baseline="0" dirty="0" err="1">
                <a:ln>
                  <a:noFill/>
                </a:ln>
                <a:solidFill>
                  <a:srgbClr val="CC7832"/>
                </a:solidFill>
                <a:effectLst/>
                <a:latin typeface="JetBrains Mono"/>
              </a:rPr>
              <a:t>,</a:t>
            </a:r>
            <a:r>
              <a:rPr kumimoji="0" lang="en-US" altLang="en-US" sz="2300" b="0" i="0" u="none" strike="noStrike" cap="none" normalizeH="0" baseline="0" dirty="0" err="1">
                <a:ln>
                  <a:noFill/>
                </a:ln>
                <a:solidFill>
                  <a:srgbClr val="A9B7C6"/>
                </a:solidFill>
                <a:effectLst/>
                <a:latin typeface="JetBrains Mono"/>
              </a:rPr>
              <a:t>dc</a:t>
            </a:r>
            <a:r>
              <a:rPr kumimoji="0" lang="en-US" altLang="en-US" sz="2300" b="0" i="0" u="none" strike="noStrike" cap="none" normalizeH="0" baseline="0" dirty="0">
                <a:ln>
                  <a:noFill/>
                </a:ln>
                <a:solidFill>
                  <a:srgbClr val="A9B7C6"/>
                </a:solidFill>
                <a:effectLst/>
                <a:latin typeface="JetBrains Mono"/>
              </a:rPr>
              <a:t>):</a:t>
            </a:r>
            <a:br>
              <a:rPr kumimoji="0" lang="en-US" altLang="en-US" sz="2300" b="0" i="0" u="none" strike="noStrike" cap="none" normalizeH="0" baseline="0" dirty="0">
                <a:ln>
                  <a:noFill/>
                </a:ln>
                <a:solidFill>
                  <a:srgbClr val="A9B7C6"/>
                </a:solidFill>
                <a:effectLst/>
                <a:latin typeface="JetBrains Mono"/>
              </a:rPr>
            </a:br>
            <a:r>
              <a:rPr kumimoji="0" lang="en-US" altLang="en-US" sz="2300" b="0" i="0" u="none" strike="noStrike" cap="none" normalizeH="0" baseline="0" dirty="0">
                <a:ln>
                  <a:noFill/>
                </a:ln>
                <a:solidFill>
                  <a:srgbClr val="A9B7C6"/>
                </a:solidFill>
                <a:effectLst/>
                <a:latin typeface="JetBrains Mono"/>
              </a:rPr>
              <a:t>        </a:t>
            </a:r>
            <a:r>
              <a:rPr kumimoji="0" lang="en-US" altLang="en-US" sz="2300" b="0" i="0" u="none" strike="noStrike" cap="none" normalizeH="0" baseline="0" dirty="0" err="1">
                <a:ln>
                  <a:noFill/>
                </a:ln>
                <a:solidFill>
                  <a:srgbClr val="94558D"/>
                </a:solidFill>
                <a:effectLst/>
                <a:latin typeface="JetBrains Mono"/>
              </a:rPr>
              <a:t>self</a:t>
            </a:r>
            <a:r>
              <a:rPr kumimoji="0" lang="en-US" altLang="en-US" sz="2300" b="0" i="0" u="none" strike="noStrike" cap="none" normalizeH="0" baseline="0" dirty="0" err="1">
                <a:ln>
                  <a:noFill/>
                </a:ln>
                <a:solidFill>
                  <a:srgbClr val="A9B7C6"/>
                </a:solidFill>
                <a:effectLst/>
                <a:latin typeface="JetBrains Mono"/>
              </a:rPr>
              <a:t>.masv</a:t>
            </a:r>
            <a:r>
              <a:rPr kumimoji="0" lang="en-US" altLang="en-US" sz="2300" b="0" i="0" u="none" strike="noStrike" cap="none" normalizeH="0" baseline="0" dirty="0">
                <a:ln>
                  <a:noFill/>
                </a:ln>
                <a:solidFill>
                  <a:srgbClr val="A9B7C6"/>
                </a:solidFill>
                <a:effectLst/>
                <a:latin typeface="JetBrains Mono"/>
              </a:rPr>
              <a:t>=</a:t>
            </a:r>
            <a:r>
              <a:rPr kumimoji="0" lang="en-US" altLang="en-US" sz="2300" b="0" i="0" u="none" strike="noStrike" cap="none" normalizeH="0" baseline="0" dirty="0" err="1">
                <a:ln>
                  <a:noFill/>
                </a:ln>
                <a:solidFill>
                  <a:srgbClr val="A9B7C6"/>
                </a:solidFill>
                <a:effectLst/>
                <a:latin typeface="JetBrains Mono"/>
              </a:rPr>
              <a:t>masv</a:t>
            </a:r>
            <a:br>
              <a:rPr kumimoji="0" lang="en-US" altLang="en-US" sz="2300" b="0" i="0" u="none" strike="noStrike" cap="none" normalizeH="0" baseline="0" dirty="0">
                <a:ln>
                  <a:noFill/>
                </a:ln>
                <a:solidFill>
                  <a:srgbClr val="A9B7C6"/>
                </a:solidFill>
                <a:effectLst/>
                <a:latin typeface="JetBrains Mono"/>
              </a:rPr>
            </a:br>
            <a:r>
              <a:rPr kumimoji="0" lang="en-US" altLang="en-US" sz="2300" b="0" i="0" u="none" strike="noStrike" cap="none" normalizeH="0" baseline="0" dirty="0">
                <a:ln>
                  <a:noFill/>
                </a:ln>
                <a:solidFill>
                  <a:srgbClr val="A9B7C6"/>
                </a:solidFill>
                <a:effectLst/>
                <a:latin typeface="JetBrains Mono"/>
              </a:rPr>
              <a:t>        </a:t>
            </a:r>
            <a:r>
              <a:rPr kumimoji="0" lang="en-US" altLang="en-US" sz="2300" b="0" i="0" u="none" strike="noStrike" cap="none" normalizeH="0" baseline="0" dirty="0">
                <a:ln>
                  <a:noFill/>
                </a:ln>
                <a:solidFill>
                  <a:srgbClr val="94558D"/>
                </a:solidFill>
                <a:effectLst/>
                <a:latin typeface="JetBrains Mono"/>
              </a:rPr>
              <a:t>self</a:t>
            </a:r>
            <a:r>
              <a:rPr kumimoji="0" lang="en-US" altLang="en-US" sz="2300" b="0" i="0" u="none" strike="noStrike" cap="none" normalizeH="0" baseline="0" dirty="0">
                <a:ln>
                  <a:noFill/>
                </a:ln>
                <a:solidFill>
                  <a:srgbClr val="A9B7C6"/>
                </a:solidFill>
                <a:effectLst/>
                <a:latin typeface="JetBrains Mono"/>
              </a:rPr>
              <a:t>.ht=</a:t>
            </a:r>
            <a:r>
              <a:rPr kumimoji="0" lang="en-US" altLang="en-US" sz="2300" b="0" i="0" u="none" strike="noStrike" cap="none" normalizeH="0" baseline="0" dirty="0" err="1">
                <a:ln>
                  <a:noFill/>
                </a:ln>
                <a:solidFill>
                  <a:srgbClr val="A9B7C6"/>
                </a:solidFill>
                <a:effectLst/>
                <a:latin typeface="JetBrains Mono"/>
              </a:rPr>
              <a:t>ht</a:t>
            </a:r>
            <a:br>
              <a:rPr kumimoji="0" lang="en-US" altLang="en-US" sz="2300" b="0" i="0" u="none" strike="noStrike" cap="none" normalizeH="0" baseline="0" dirty="0">
                <a:ln>
                  <a:noFill/>
                </a:ln>
                <a:solidFill>
                  <a:srgbClr val="A9B7C6"/>
                </a:solidFill>
                <a:effectLst/>
                <a:latin typeface="JetBrains Mono"/>
              </a:rPr>
            </a:br>
            <a:r>
              <a:rPr kumimoji="0" lang="en-US" altLang="en-US" sz="2300" b="0" i="0" u="none" strike="noStrike" cap="none" normalizeH="0" baseline="0" dirty="0">
                <a:ln>
                  <a:noFill/>
                </a:ln>
                <a:solidFill>
                  <a:srgbClr val="A9B7C6"/>
                </a:solidFill>
                <a:effectLst/>
                <a:latin typeface="JetBrains Mono"/>
              </a:rPr>
              <a:t>        </a:t>
            </a:r>
            <a:r>
              <a:rPr kumimoji="0" lang="en-US" altLang="en-US" sz="2300" b="0" i="0" u="none" strike="noStrike" cap="none" normalizeH="0" baseline="0" dirty="0" err="1">
                <a:ln>
                  <a:noFill/>
                </a:ln>
                <a:solidFill>
                  <a:srgbClr val="94558D"/>
                </a:solidFill>
                <a:effectLst/>
                <a:latin typeface="JetBrains Mono"/>
              </a:rPr>
              <a:t>self</a:t>
            </a:r>
            <a:r>
              <a:rPr kumimoji="0" lang="en-US" altLang="en-US" sz="2300" b="0" i="0" u="none" strike="noStrike" cap="none" normalizeH="0" baseline="0" dirty="0" err="1">
                <a:ln>
                  <a:noFill/>
                </a:ln>
                <a:solidFill>
                  <a:srgbClr val="A9B7C6"/>
                </a:solidFill>
                <a:effectLst/>
                <a:latin typeface="JetBrains Mono"/>
              </a:rPr>
              <a:t>.tuoi</a:t>
            </a:r>
            <a:r>
              <a:rPr kumimoji="0" lang="en-US" altLang="en-US" sz="2300" b="0" i="0" u="none" strike="noStrike" cap="none" normalizeH="0" baseline="0" dirty="0">
                <a:ln>
                  <a:noFill/>
                </a:ln>
                <a:solidFill>
                  <a:srgbClr val="A9B7C6"/>
                </a:solidFill>
                <a:effectLst/>
                <a:latin typeface="JetBrains Mono"/>
              </a:rPr>
              <a:t>=</a:t>
            </a:r>
            <a:r>
              <a:rPr kumimoji="0" lang="en-US" altLang="en-US" sz="2300" b="0" i="0" u="none" strike="noStrike" cap="none" normalizeH="0" baseline="0" dirty="0" err="1">
                <a:ln>
                  <a:noFill/>
                </a:ln>
                <a:solidFill>
                  <a:srgbClr val="A9B7C6"/>
                </a:solidFill>
                <a:effectLst/>
                <a:latin typeface="JetBrains Mono"/>
              </a:rPr>
              <a:t>tuoi</a:t>
            </a:r>
            <a:br>
              <a:rPr kumimoji="0" lang="en-US" altLang="en-US" sz="2300" b="0" i="0" u="none" strike="noStrike" cap="none" normalizeH="0" baseline="0" dirty="0">
                <a:ln>
                  <a:noFill/>
                </a:ln>
                <a:solidFill>
                  <a:srgbClr val="A9B7C6"/>
                </a:solidFill>
                <a:effectLst/>
                <a:latin typeface="JetBrains Mono"/>
              </a:rPr>
            </a:br>
            <a:r>
              <a:rPr kumimoji="0" lang="en-US" altLang="en-US" sz="2300" b="0" i="0" u="none" strike="noStrike" cap="none" normalizeH="0" baseline="0" dirty="0">
                <a:ln>
                  <a:noFill/>
                </a:ln>
                <a:solidFill>
                  <a:srgbClr val="A9B7C6"/>
                </a:solidFill>
                <a:effectLst/>
                <a:latin typeface="JetBrains Mono"/>
              </a:rPr>
              <a:t>        </a:t>
            </a:r>
            <a:r>
              <a:rPr kumimoji="0" lang="en-US" altLang="en-US" sz="2300" b="0" i="0" u="none" strike="noStrike" cap="none" normalizeH="0" baseline="0" dirty="0" err="1">
                <a:ln>
                  <a:noFill/>
                </a:ln>
                <a:solidFill>
                  <a:srgbClr val="94558D"/>
                </a:solidFill>
                <a:effectLst/>
                <a:latin typeface="JetBrains Mono"/>
              </a:rPr>
              <a:t>self</a:t>
            </a:r>
            <a:r>
              <a:rPr kumimoji="0" lang="en-US" altLang="en-US" sz="2300" b="0" i="0" u="none" strike="noStrike" cap="none" normalizeH="0" baseline="0" dirty="0" err="1">
                <a:ln>
                  <a:noFill/>
                </a:ln>
                <a:solidFill>
                  <a:srgbClr val="A9B7C6"/>
                </a:solidFill>
                <a:effectLst/>
                <a:latin typeface="JetBrains Mono"/>
              </a:rPr>
              <a:t>.dc</a:t>
            </a:r>
            <a:r>
              <a:rPr kumimoji="0" lang="en-US" altLang="en-US" sz="2300" b="0" i="0" u="none" strike="noStrike" cap="none" normalizeH="0" baseline="0" dirty="0">
                <a:ln>
                  <a:noFill/>
                </a:ln>
                <a:solidFill>
                  <a:srgbClr val="A9B7C6"/>
                </a:solidFill>
                <a:effectLst/>
                <a:latin typeface="JetBrains Mono"/>
              </a:rPr>
              <a:t>=dc</a:t>
            </a:r>
            <a:br>
              <a:rPr kumimoji="0" lang="en-US" altLang="en-US" sz="2300" b="0" i="0" u="none" strike="noStrike" cap="none" normalizeH="0" baseline="0" dirty="0">
                <a:ln>
                  <a:noFill/>
                </a:ln>
                <a:solidFill>
                  <a:srgbClr val="A9B7C6"/>
                </a:solidFill>
                <a:effectLst/>
                <a:latin typeface="JetBrains Mono"/>
              </a:rPr>
            </a:br>
            <a:r>
              <a:rPr kumimoji="0" lang="en-US" altLang="en-US" sz="2300" b="0" i="0" u="none" strike="noStrike" cap="none" normalizeH="0" baseline="0" dirty="0">
                <a:ln>
                  <a:noFill/>
                </a:ln>
                <a:solidFill>
                  <a:srgbClr val="A9B7C6"/>
                </a:solidFill>
                <a:effectLst/>
                <a:latin typeface="JetBrains Mono"/>
              </a:rPr>
              <a:t>    </a:t>
            </a:r>
            <a:r>
              <a:rPr kumimoji="0" lang="en-US" altLang="en-US" sz="2300" b="0" i="0" u="none" strike="noStrike" cap="none" normalizeH="0" baseline="0" dirty="0">
                <a:ln>
                  <a:noFill/>
                </a:ln>
                <a:solidFill>
                  <a:srgbClr val="CC7832"/>
                </a:solidFill>
                <a:effectLst/>
                <a:latin typeface="JetBrains Mono"/>
              </a:rPr>
              <a:t>def </a:t>
            </a:r>
            <a:r>
              <a:rPr kumimoji="0" lang="en-US" altLang="en-US" sz="2300" b="0" i="0" u="none" strike="noStrike" cap="none" normalizeH="0" baseline="0" dirty="0" err="1">
                <a:ln>
                  <a:noFill/>
                </a:ln>
                <a:solidFill>
                  <a:srgbClr val="FFC66D"/>
                </a:solidFill>
                <a:effectLst/>
                <a:latin typeface="JetBrains Mono"/>
              </a:rPr>
              <a:t>hienthi</a:t>
            </a:r>
            <a:r>
              <a:rPr kumimoji="0" lang="en-US" altLang="en-US" sz="2300" b="0" i="0" u="none" strike="noStrike" cap="none" normalizeH="0" baseline="0" dirty="0">
                <a:ln>
                  <a:noFill/>
                </a:ln>
                <a:solidFill>
                  <a:srgbClr val="A9B7C6"/>
                </a:solidFill>
                <a:effectLst/>
                <a:latin typeface="JetBrains Mono"/>
              </a:rPr>
              <a:t>(</a:t>
            </a:r>
            <a:r>
              <a:rPr kumimoji="0" lang="en-US" altLang="en-US" sz="2300" b="0" i="0" u="none" strike="noStrike" cap="none" normalizeH="0" baseline="0" dirty="0">
                <a:ln>
                  <a:noFill/>
                </a:ln>
                <a:solidFill>
                  <a:srgbClr val="94558D"/>
                </a:solidFill>
                <a:effectLst/>
                <a:latin typeface="JetBrains Mono"/>
              </a:rPr>
              <a:t>self</a:t>
            </a:r>
            <a:r>
              <a:rPr kumimoji="0" lang="en-US" altLang="en-US" sz="2300" b="0" i="0" u="none" strike="noStrike" cap="none" normalizeH="0" baseline="0" dirty="0">
                <a:ln>
                  <a:noFill/>
                </a:ln>
                <a:solidFill>
                  <a:srgbClr val="A9B7C6"/>
                </a:solidFill>
                <a:effectLst/>
                <a:latin typeface="JetBrains Mono"/>
              </a:rPr>
              <a:t>):</a:t>
            </a:r>
            <a:br>
              <a:rPr kumimoji="0" lang="en-US" altLang="en-US" sz="2300" b="0" i="0" u="none" strike="noStrike" cap="none" normalizeH="0" baseline="0" dirty="0">
                <a:ln>
                  <a:noFill/>
                </a:ln>
                <a:solidFill>
                  <a:srgbClr val="A9B7C6"/>
                </a:solidFill>
                <a:effectLst/>
                <a:latin typeface="JetBrains Mono"/>
              </a:rPr>
            </a:br>
            <a:r>
              <a:rPr kumimoji="0" lang="en-US" altLang="en-US" sz="2300" b="0" i="0" u="none" strike="noStrike" cap="none" normalizeH="0" baseline="0" dirty="0">
                <a:ln>
                  <a:noFill/>
                </a:ln>
                <a:solidFill>
                  <a:srgbClr val="A9B7C6"/>
                </a:solidFill>
                <a:effectLst/>
                <a:latin typeface="JetBrains Mono"/>
              </a:rPr>
              <a:t>        </a:t>
            </a:r>
            <a:r>
              <a:rPr kumimoji="0" lang="en-US" altLang="en-US" sz="2300" b="0" i="0" u="none" strike="noStrike" cap="none" normalizeH="0" baseline="0" dirty="0">
                <a:ln>
                  <a:noFill/>
                </a:ln>
                <a:solidFill>
                  <a:srgbClr val="8888C6"/>
                </a:solidFill>
                <a:effectLst/>
                <a:latin typeface="JetBrains Mono"/>
              </a:rPr>
              <a:t>print</a:t>
            </a:r>
            <a:r>
              <a:rPr kumimoji="0" lang="en-US" altLang="en-US" sz="2300" b="0" i="0" u="none" strike="noStrike" cap="none" normalizeH="0" baseline="0" dirty="0">
                <a:ln>
                  <a:noFill/>
                </a:ln>
                <a:solidFill>
                  <a:srgbClr val="A9B7C6"/>
                </a:solidFill>
                <a:effectLst/>
                <a:latin typeface="JetBrains Mono"/>
              </a:rPr>
              <a:t>(</a:t>
            </a:r>
            <a:r>
              <a:rPr kumimoji="0" lang="en-US" altLang="en-US" sz="2300" b="0" i="0" u="none" strike="noStrike" cap="none" normalizeH="0" baseline="0" dirty="0">
                <a:ln>
                  <a:noFill/>
                </a:ln>
                <a:solidFill>
                  <a:srgbClr val="6A8759"/>
                </a:solidFill>
                <a:effectLst/>
                <a:latin typeface="JetBrains Mono"/>
              </a:rPr>
              <a:t>"</a:t>
            </a:r>
            <a:r>
              <a:rPr kumimoji="0" lang="en-US" altLang="en-US" sz="2300" b="0" i="0" u="none" strike="noStrike" cap="none" normalizeH="0" baseline="0" dirty="0" err="1">
                <a:ln>
                  <a:noFill/>
                </a:ln>
                <a:solidFill>
                  <a:srgbClr val="6A8759"/>
                </a:solidFill>
                <a:effectLst/>
                <a:latin typeface="JetBrains Mono"/>
              </a:rPr>
              <a:t>Mã</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sinh</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viên</a:t>
            </a:r>
            <a:r>
              <a:rPr kumimoji="0" lang="en-US" altLang="en-US" sz="2300" b="0" i="0" u="none" strike="noStrike" cap="none" normalizeH="0" baseline="0" dirty="0">
                <a:ln>
                  <a:noFill/>
                </a:ln>
                <a:solidFill>
                  <a:srgbClr val="6A8759"/>
                </a:solidFill>
                <a:effectLst/>
                <a:latin typeface="JetBrains Mono"/>
              </a:rPr>
              <a:t>:"</a:t>
            </a:r>
            <a:r>
              <a:rPr kumimoji="0" lang="en-US" altLang="en-US" sz="2300" b="0" i="0" u="none" strike="noStrike" cap="none" normalizeH="0" baseline="0" dirty="0">
                <a:ln>
                  <a:noFill/>
                </a:ln>
                <a:solidFill>
                  <a:srgbClr val="CC7832"/>
                </a:solidFill>
                <a:effectLst/>
                <a:latin typeface="JetBrains Mono"/>
              </a:rPr>
              <a:t>,</a:t>
            </a:r>
            <a:r>
              <a:rPr kumimoji="0" lang="en-US" altLang="en-US" sz="2300" b="0" i="0" u="none" strike="noStrike" cap="none" normalizeH="0" baseline="0" dirty="0" err="1">
                <a:ln>
                  <a:noFill/>
                </a:ln>
                <a:solidFill>
                  <a:srgbClr val="94558D"/>
                </a:solidFill>
                <a:effectLst/>
                <a:latin typeface="JetBrains Mono"/>
              </a:rPr>
              <a:t>self</a:t>
            </a:r>
            <a:r>
              <a:rPr kumimoji="0" lang="en-US" altLang="en-US" sz="2300" b="0" i="0" u="none" strike="noStrike" cap="none" normalizeH="0" baseline="0" dirty="0" err="1">
                <a:ln>
                  <a:noFill/>
                </a:ln>
                <a:solidFill>
                  <a:srgbClr val="A9B7C6"/>
                </a:solidFill>
                <a:effectLst/>
                <a:latin typeface="JetBrains Mono"/>
              </a:rPr>
              <a:t>.masv</a:t>
            </a:r>
            <a:r>
              <a:rPr kumimoji="0" lang="en-US" altLang="en-US" sz="2300" b="0" i="0" u="none" strike="noStrike" cap="none" normalizeH="0" baseline="0" dirty="0">
                <a:ln>
                  <a:noFill/>
                </a:ln>
                <a:solidFill>
                  <a:srgbClr val="A9B7C6"/>
                </a:solidFill>
                <a:effectLst/>
                <a:latin typeface="JetBrains Mono"/>
              </a:rPr>
              <a:t>)</a:t>
            </a:r>
            <a:br>
              <a:rPr kumimoji="0" lang="en-US" altLang="en-US" sz="2300" b="0" i="0" u="none" strike="noStrike" cap="none" normalizeH="0" baseline="0" dirty="0">
                <a:ln>
                  <a:noFill/>
                </a:ln>
                <a:solidFill>
                  <a:srgbClr val="A9B7C6"/>
                </a:solidFill>
                <a:effectLst/>
                <a:latin typeface="JetBrains Mono"/>
              </a:rPr>
            </a:br>
            <a:r>
              <a:rPr kumimoji="0" lang="en-US" altLang="en-US" sz="2300" b="0" i="0" u="none" strike="noStrike" cap="none" normalizeH="0" baseline="0" dirty="0">
                <a:ln>
                  <a:noFill/>
                </a:ln>
                <a:solidFill>
                  <a:srgbClr val="A9B7C6"/>
                </a:solidFill>
                <a:effectLst/>
                <a:latin typeface="JetBrains Mono"/>
              </a:rPr>
              <a:t>        </a:t>
            </a:r>
            <a:r>
              <a:rPr kumimoji="0" lang="en-US" altLang="en-US" sz="2300" b="0" i="0" u="none" strike="noStrike" cap="none" normalizeH="0" baseline="0" dirty="0">
                <a:ln>
                  <a:noFill/>
                </a:ln>
                <a:solidFill>
                  <a:srgbClr val="8888C6"/>
                </a:solidFill>
                <a:effectLst/>
                <a:latin typeface="JetBrains Mono"/>
              </a:rPr>
              <a:t>print</a:t>
            </a:r>
            <a:r>
              <a:rPr kumimoji="0" lang="en-US" altLang="en-US" sz="2300" b="0" i="0" u="none" strike="noStrike" cap="none" normalizeH="0" baseline="0" dirty="0">
                <a:ln>
                  <a:noFill/>
                </a:ln>
                <a:solidFill>
                  <a:srgbClr val="A9B7C6"/>
                </a:solidFill>
                <a:effectLst/>
                <a:latin typeface="JetBrains Mono"/>
              </a:rPr>
              <a:t>(</a:t>
            </a:r>
            <a:r>
              <a:rPr kumimoji="0" lang="en-US" altLang="en-US" sz="2300" b="0" i="0" u="none" strike="noStrike" cap="none" normalizeH="0" baseline="0" dirty="0">
                <a:ln>
                  <a:noFill/>
                </a:ln>
                <a:solidFill>
                  <a:srgbClr val="6A8759"/>
                </a:solidFill>
                <a:effectLst/>
                <a:latin typeface="JetBrains Mono"/>
              </a:rPr>
              <a:t>"</a:t>
            </a:r>
            <a:r>
              <a:rPr kumimoji="0" lang="en-US" altLang="en-US" sz="2300" b="0" i="0" u="none" strike="noStrike" cap="none" normalizeH="0" baseline="0" dirty="0" err="1">
                <a:ln>
                  <a:noFill/>
                </a:ln>
                <a:solidFill>
                  <a:srgbClr val="6A8759"/>
                </a:solidFill>
                <a:effectLst/>
                <a:latin typeface="JetBrains Mono"/>
              </a:rPr>
              <a:t>Họ</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tên</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sinh</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viên</a:t>
            </a:r>
            <a:r>
              <a:rPr kumimoji="0" lang="en-US" altLang="en-US" sz="2300" b="0" i="0" u="none" strike="noStrike" cap="none" normalizeH="0" baseline="0" dirty="0">
                <a:ln>
                  <a:noFill/>
                </a:ln>
                <a:solidFill>
                  <a:srgbClr val="6A8759"/>
                </a:solidFill>
                <a:effectLst/>
                <a:latin typeface="JetBrains Mono"/>
              </a:rPr>
              <a:t>:"</a:t>
            </a:r>
            <a:r>
              <a:rPr kumimoji="0" lang="en-US" altLang="en-US" sz="2300" b="0" i="0" u="none" strike="noStrike" cap="none" normalizeH="0" baseline="0" dirty="0">
                <a:ln>
                  <a:noFill/>
                </a:ln>
                <a:solidFill>
                  <a:srgbClr val="CC7832"/>
                </a:solidFill>
                <a:effectLst/>
                <a:latin typeface="JetBrains Mono"/>
              </a:rPr>
              <a:t>, </a:t>
            </a:r>
            <a:r>
              <a:rPr kumimoji="0" lang="en-US" altLang="en-US" sz="2300" b="0" i="0" u="none" strike="noStrike" cap="none" normalizeH="0" baseline="0" dirty="0">
                <a:ln>
                  <a:noFill/>
                </a:ln>
                <a:solidFill>
                  <a:srgbClr val="94558D"/>
                </a:solidFill>
                <a:effectLst/>
                <a:latin typeface="JetBrains Mono"/>
              </a:rPr>
              <a:t>self</a:t>
            </a:r>
            <a:r>
              <a:rPr kumimoji="0" lang="en-US" altLang="en-US" sz="2300" b="0" i="0" u="none" strike="noStrike" cap="none" normalizeH="0" baseline="0" dirty="0">
                <a:ln>
                  <a:noFill/>
                </a:ln>
                <a:solidFill>
                  <a:srgbClr val="A9B7C6"/>
                </a:solidFill>
                <a:effectLst/>
                <a:latin typeface="JetBrains Mono"/>
              </a:rPr>
              <a:t>.ht)</a:t>
            </a:r>
            <a:br>
              <a:rPr kumimoji="0" lang="en-US" altLang="en-US" sz="2300" b="0" i="0" u="none" strike="noStrike" cap="none" normalizeH="0" baseline="0" dirty="0">
                <a:ln>
                  <a:noFill/>
                </a:ln>
                <a:solidFill>
                  <a:srgbClr val="A9B7C6"/>
                </a:solidFill>
                <a:effectLst/>
                <a:latin typeface="JetBrains Mono"/>
              </a:rPr>
            </a:br>
            <a:r>
              <a:rPr kumimoji="0" lang="en-US" altLang="en-US" sz="2300" b="0" i="0" u="none" strike="noStrike" cap="none" normalizeH="0" baseline="0" dirty="0">
                <a:ln>
                  <a:noFill/>
                </a:ln>
                <a:solidFill>
                  <a:srgbClr val="A9B7C6"/>
                </a:solidFill>
                <a:effectLst/>
                <a:latin typeface="JetBrains Mono"/>
              </a:rPr>
              <a:t>        </a:t>
            </a:r>
            <a:r>
              <a:rPr kumimoji="0" lang="en-US" altLang="en-US" sz="2300" b="0" i="0" u="none" strike="noStrike" cap="none" normalizeH="0" baseline="0" dirty="0">
                <a:ln>
                  <a:noFill/>
                </a:ln>
                <a:solidFill>
                  <a:srgbClr val="8888C6"/>
                </a:solidFill>
                <a:effectLst/>
                <a:latin typeface="JetBrains Mono"/>
              </a:rPr>
              <a:t>print</a:t>
            </a:r>
            <a:r>
              <a:rPr kumimoji="0" lang="en-US" altLang="en-US" sz="2300" b="0" i="0" u="none" strike="noStrike" cap="none" normalizeH="0" baseline="0" dirty="0">
                <a:ln>
                  <a:noFill/>
                </a:ln>
                <a:solidFill>
                  <a:srgbClr val="A9B7C6"/>
                </a:solidFill>
                <a:effectLst/>
                <a:latin typeface="JetBrains Mono"/>
              </a:rPr>
              <a:t>(</a:t>
            </a:r>
            <a:r>
              <a:rPr kumimoji="0" lang="en-US" altLang="en-US" sz="2300" b="0" i="0" u="none" strike="noStrike" cap="none" normalizeH="0" baseline="0" dirty="0">
                <a:ln>
                  <a:noFill/>
                </a:ln>
                <a:solidFill>
                  <a:srgbClr val="6A8759"/>
                </a:solidFill>
                <a:effectLst/>
                <a:latin typeface="JetBrains Mono"/>
              </a:rPr>
              <a:t>"</a:t>
            </a:r>
            <a:r>
              <a:rPr kumimoji="0" lang="en-US" altLang="en-US" sz="2300" b="0" i="0" u="none" strike="noStrike" cap="none" normalizeH="0" baseline="0" dirty="0" err="1">
                <a:ln>
                  <a:noFill/>
                </a:ln>
                <a:solidFill>
                  <a:srgbClr val="6A8759"/>
                </a:solidFill>
                <a:effectLst/>
                <a:latin typeface="JetBrains Mono"/>
              </a:rPr>
              <a:t>Tuổi</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sinh</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viên</a:t>
            </a:r>
            <a:r>
              <a:rPr kumimoji="0" lang="en-US" altLang="en-US" sz="2300" b="0" i="0" u="none" strike="noStrike" cap="none" normalizeH="0" baseline="0" dirty="0">
                <a:ln>
                  <a:noFill/>
                </a:ln>
                <a:solidFill>
                  <a:srgbClr val="6A8759"/>
                </a:solidFill>
                <a:effectLst/>
                <a:latin typeface="JetBrains Mono"/>
              </a:rPr>
              <a:t>:"</a:t>
            </a:r>
            <a:r>
              <a:rPr kumimoji="0" lang="en-US" altLang="en-US" sz="2300" b="0" i="0" u="none" strike="noStrike" cap="none" normalizeH="0" baseline="0" dirty="0">
                <a:ln>
                  <a:noFill/>
                </a:ln>
                <a:solidFill>
                  <a:srgbClr val="CC7832"/>
                </a:solidFill>
                <a:effectLst/>
                <a:latin typeface="JetBrains Mono"/>
              </a:rPr>
              <a:t>, </a:t>
            </a:r>
            <a:r>
              <a:rPr kumimoji="0" lang="en-US" altLang="en-US" sz="2300" b="0" i="0" u="none" strike="noStrike" cap="none" normalizeH="0" baseline="0" dirty="0" err="1">
                <a:ln>
                  <a:noFill/>
                </a:ln>
                <a:solidFill>
                  <a:srgbClr val="94558D"/>
                </a:solidFill>
                <a:effectLst/>
                <a:latin typeface="JetBrains Mono"/>
              </a:rPr>
              <a:t>self</a:t>
            </a:r>
            <a:r>
              <a:rPr kumimoji="0" lang="en-US" altLang="en-US" sz="2300" b="0" i="0" u="none" strike="noStrike" cap="none" normalizeH="0" baseline="0" dirty="0" err="1">
                <a:ln>
                  <a:noFill/>
                </a:ln>
                <a:solidFill>
                  <a:srgbClr val="A9B7C6"/>
                </a:solidFill>
                <a:effectLst/>
                <a:latin typeface="JetBrains Mono"/>
              </a:rPr>
              <a:t>.tuoi</a:t>
            </a:r>
            <a:r>
              <a:rPr kumimoji="0" lang="en-US" altLang="en-US" sz="2300" b="0" i="0" u="none" strike="noStrike" cap="none" normalizeH="0" baseline="0" dirty="0">
                <a:ln>
                  <a:noFill/>
                </a:ln>
                <a:solidFill>
                  <a:srgbClr val="A9B7C6"/>
                </a:solidFill>
                <a:effectLst/>
                <a:latin typeface="JetBrains Mono"/>
              </a:rPr>
              <a:t>)</a:t>
            </a:r>
            <a:br>
              <a:rPr kumimoji="0" lang="en-US" altLang="en-US" sz="2300" b="0" i="0" u="none" strike="noStrike" cap="none" normalizeH="0" baseline="0" dirty="0">
                <a:ln>
                  <a:noFill/>
                </a:ln>
                <a:solidFill>
                  <a:srgbClr val="A9B7C6"/>
                </a:solidFill>
                <a:effectLst/>
                <a:latin typeface="JetBrains Mono"/>
              </a:rPr>
            </a:br>
            <a:r>
              <a:rPr kumimoji="0" lang="en-US" altLang="en-US" sz="2300" b="0" i="0" u="none" strike="noStrike" cap="none" normalizeH="0" baseline="0" dirty="0">
                <a:ln>
                  <a:noFill/>
                </a:ln>
                <a:solidFill>
                  <a:srgbClr val="A9B7C6"/>
                </a:solidFill>
                <a:effectLst/>
                <a:latin typeface="JetBrains Mono"/>
              </a:rPr>
              <a:t>        </a:t>
            </a:r>
            <a:r>
              <a:rPr kumimoji="0" lang="en-US" altLang="en-US" sz="2300" b="0" i="0" u="none" strike="noStrike" cap="none" normalizeH="0" baseline="0" dirty="0">
                <a:ln>
                  <a:noFill/>
                </a:ln>
                <a:solidFill>
                  <a:srgbClr val="8888C6"/>
                </a:solidFill>
                <a:effectLst/>
                <a:latin typeface="JetBrains Mono"/>
              </a:rPr>
              <a:t>print</a:t>
            </a:r>
            <a:r>
              <a:rPr kumimoji="0" lang="en-US" altLang="en-US" sz="2300" b="0" i="0" u="none" strike="noStrike" cap="none" normalizeH="0" baseline="0" dirty="0">
                <a:ln>
                  <a:noFill/>
                </a:ln>
                <a:solidFill>
                  <a:srgbClr val="A9B7C6"/>
                </a:solidFill>
                <a:effectLst/>
                <a:latin typeface="JetBrains Mono"/>
              </a:rPr>
              <a:t>(</a:t>
            </a:r>
            <a:r>
              <a:rPr kumimoji="0" lang="en-US" altLang="en-US" sz="2300" b="0" i="0" u="none" strike="noStrike" cap="none" normalizeH="0" baseline="0" dirty="0">
                <a:ln>
                  <a:noFill/>
                </a:ln>
                <a:solidFill>
                  <a:srgbClr val="6A8759"/>
                </a:solidFill>
                <a:effectLst/>
                <a:latin typeface="JetBrains Mono"/>
              </a:rPr>
              <a:t>"</a:t>
            </a:r>
            <a:r>
              <a:rPr kumimoji="0" lang="en-US" altLang="en-US" sz="2300" b="0" i="0" u="none" strike="noStrike" cap="none" normalizeH="0" baseline="0" dirty="0" err="1">
                <a:ln>
                  <a:noFill/>
                </a:ln>
                <a:solidFill>
                  <a:srgbClr val="6A8759"/>
                </a:solidFill>
                <a:effectLst/>
                <a:latin typeface="JetBrains Mono"/>
              </a:rPr>
              <a:t>Địa</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chỉ</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sinh</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viên</a:t>
            </a:r>
            <a:r>
              <a:rPr kumimoji="0" lang="en-US" altLang="en-US" sz="2300" b="0" i="0" u="none" strike="noStrike" cap="none" normalizeH="0" baseline="0" dirty="0">
                <a:ln>
                  <a:noFill/>
                </a:ln>
                <a:solidFill>
                  <a:srgbClr val="6A8759"/>
                </a:solidFill>
                <a:effectLst/>
                <a:latin typeface="JetBrains Mono"/>
              </a:rPr>
              <a:t>:"</a:t>
            </a:r>
            <a:r>
              <a:rPr kumimoji="0" lang="en-US" altLang="en-US" sz="2300" b="0" i="0" u="none" strike="noStrike" cap="none" normalizeH="0" baseline="0" dirty="0">
                <a:ln>
                  <a:noFill/>
                </a:ln>
                <a:solidFill>
                  <a:srgbClr val="CC7832"/>
                </a:solidFill>
                <a:effectLst/>
                <a:latin typeface="JetBrains Mono"/>
              </a:rPr>
              <a:t>, </a:t>
            </a:r>
            <a:r>
              <a:rPr kumimoji="0" lang="en-US" altLang="en-US" sz="2300" b="0" i="0" u="none" strike="noStrike" cap="none" normalizeH="0" baseline="0" dirty="0" err="1">
                <a:ln>
                  <a:noFill/>
                </a:ln>
                <a:solidFill>
                  <a:srgbClr val="94558D"/>
                </a:solidFill>
                <a:effectLst/>
                <a:latin typeface="JetBrains Mono"/>
              </a:rPr>
              <a:t>self</a:t>
            </a:r>
            <a:r>
              <a:rPr kumimoji="0" lang="en-US" altLang="en-US" sz="2300" b="0" i="0" u="none" strike="noStrike" cap="none" normalizeH="0" baseline="0" dirty="0" err="1">
                <a:ln>
                  <a:noFill/>
                </a:ln>
                <a:solidFill>
                  <a:srgbClr val="A9B7C6"/>
                </a:solidFill>
                <a:effectLst/>
                <a:latin typeface="JetBrains Mono"/>
              </a:rPr>
              <a:t>.dc</a:t>
            </a:r>
            <a:r>
              <a:rPr kumimoji="0" lang="en-US" altLang="en-US" sz="2300" b="0" i="0" u="none" strike="noStrike" cap="none" normalizeH="0" baseline="0" dirty="0">
                <a:ln>
                  <a:noFill/>
                </a:ln>
                <a:solidFill>
                  <a:srgbClr val="A9B7C6"/>
                </a:solidFill>
                <a:effectLst/>
                <a:latin typeface="JetBrains Mono"/>
              </a:rPr>
              <a:t>)</a:t>
            </a:r>
            <a:endParaRPr kumimoji="0" lang="en-US" altLang="en-US" sz="23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0F1E4EB2-83DE-4D2E-8227-648A949F30FC}"/>
              </a:ext>
            </a:extLst>
          </p:cNvPr>
          <p:cNvSpPr>
            <a:spLocks noChangeArrowheads="1"/>
          </p:cNvSpPr>
          <p:nvPr/>
        </p:nvSpPr>
        <p:spPr bwMode="auto">
          <a:xfrm>
            <a:off x="6679096" y="2958357"/>
            <a:ext cx="5337311" cy="1508105"/>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dirty="0">
                <a:ln>
                  <a:noFill/>
                </a:ln>
                <a:solidFill>
                  <a:srgbClr val="808080"/>
                </a:solidFill>
                <a:effectLst/>
                <a:latin typeface="JetBrains Mono"/>
              </a:rPr>
              <a:t>#Khai </a:t>
            </a:r>
            <a:r>
              <a:rPr kumimoji="0" lang="en-US" altLang="en-US" sz="2300" b="0" i="0" u="none" strike="noStrike" cap="none" normalizeH="0" baseline="0" dirty="0" err="1">
                <a:ln>
                  <a:noFill/>
                </a:ln>
                <a:solidFill>
                  <a:srgbClr val="808080"/>
                </a:solidFill>
                <a:effectLst/>
                <a:latin typeface="JetBrains Mono"/>
              </a:rPr>
              <a:t>báo</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đối</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tượng</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sử</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dụng</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lớp</a:t>
            </a:r>
            <a:br>
              <a:rPr kumimoji="0" lang="en-US" altLang="en-US" sz="2300" b="0" i="0" u="none" strike="noStrike" cap="none" normalizeH="0" baseline="0" dirty="0">
                <a:ln>
                  <a:noFill/>
                </a:ln>
                <a:solidFill>
                  <a:srgbClr val="808080"/>
                </a:solidFill>
                <a:effectLst/>
                <a:latin typeface="JetBrains Mono"/>
              </a:rPr>
            </a:br>
            <a:r>
              <a:rPr kumimoji="0" lang="en-US" altLang="en-US" sz="2300" b="0" i="0" u="none" strike="noStrike" cap="none" normalizeH="0" baseline="0" dirty="0" err="1">
                <a:ln>
                  <a:noFill/>
                </a:ln>
                <a:solidFill>
                  <a:srgbClr val="A9B7C6"/>
                </a:solidFill>
                <a:effectLst/>
                <a:latin typeface="JetBrains Mono"/>
              </a:rPr>
              <a:t>sv</a:t>
            </a:r>
            <a:r>
              <a:rPr kumimoji="0" lang="en-US" altLang="en-US" sz="2300" b="0" i="0" u="none" strike="noStrike" cap="none" normalizeH="0" baseline="0" dirty="0">
                <a:ln>
                  <a:noFill/>
                </a:ln>
                <a:solidFill>
                  <a:srgbClr val="A9B7C6"/>
                </a:solidFill>
                <a:effectLst/>
                <a:latin typeface="JetBrains Mono"/>
              </a:rPr>
              <a:t>=</a:t>
            </a:r>
            <a:r>
              <a:rPr kumimoji="0" lang="en-US" altLang="en-US" sz="2300" b="0" i="0" u="none" strike="noStrike" cap="none" normalizeH="0" baseline="0" dirty="0" err="1">
                <a:ln>
                  <a:noFill/>
                </a:ln>
                <a:solidFill>
                  <a:srgbClr val="A9B7C6"/>
                </a:solidFill>
                <a:effectLst/>
                <a:latin typeface="JetBrains Mono"/>
              </a:rPr>
              <a:t>sinhVien</a:t>
            </a:r>
            <a:r>
              <a:rPr kumimoji="0" lang="en-US" altLang="en-US" sz="2300" b="0" i="0" u="none" strike="noStrike" cap="none" normalizeH="0" baseline="0" dirty="0">
                <a:ln>
                  <a:noFill/>
                </a:ln>
                <a:solidFill>
                  <a:srgbClr val="A9B7C6"/>
                </a:solidFill>
                <a:effectLst/>
                <a:latin typeface="JetBrains Mono"/>
              </a:rPr>
              <a:t>(</a:t>
            </a:r>
            <a:r>
              <a:rPr kumimoji="0" lang="en-US" altLang="en-US" sz="2300" b="0" i="0" u="none" strike="noStrike" cap="none" normalizeH="0" baseline="0" dirty="0">
                <a:ln>
                  <a:noFill/>
                </a:ln>
                <a:solidFill>
                  <a:srgbClr val="6A8759"/>
                </a:solidFill>
                <a:effectLst/>
                <a:latin typeface="JetBrains Mono"/>
              </a:rPr>
              <a:t>"A12"</a:t>
            </a:r>
            <a:r>
              <a:rPr kumimoji="0" lang="en-US" altLang="en-US" sz="2300" b="0" i="0" u="none" strike="noStrike" cap="none" normalizeH="0" baseline="0" dirty="0">
                <a:ln>
                  <a:noFill/>
                </a:ln>
                <a:solidFill>
                  <a:srgbClr val="CC7832"/>
                </a:solidFill>
                <a:effectLst/>
                <a:latin typeface="JetBrains Mono"/>
              </a:rPr>
              <a:t>,</a:t>
            </a:r>
            <a:r>
              <a:rPr kumimoji="0" lang="en-US" altLang="en-US" sz="2300" b="0" i="0" u="none" strike="noStrike" cap="none" normalizeH="0" baseline="0" dirty="0">
                <a:ln>
                  <a:noFill/>
                </a:ln>
                <a:solidFill>
                  <a:srgbClr val="6A8759"/>
                </a:solidFill>
                <a:effectLst/>
                <a:latin typeface="JetBrains Mono"/>
              </a:rPr>
              <a:t>"Dung"</a:t>
            </a:r>
            <a:r>
              <a:rPr kumimoji="0" lang="en-US" altLang="en-US" sz="2300" b="0" i="0" u="none" strike="noStrike" cap="none" normalizeH="0" baseline="0" dirty="0">
                <a:ln>
                  <a:noFill/>
                </a:ln>
                <a:solidFill>
                  <a:srgbClr val="CC7832"/>
                </a:solidFill>
                <a:effectLst/>
                <a:latin typeface="JetBrains Mono"/>
              </a:rPr>
              <a:t>,</a:t>
            </a:r>
            <a:r>
              <a:rPr kumimoji="0" lang="en-US" altLang="en-US" sz="2300" b="0" i="0" u="none" strike="noStrike" cap="none" normalizeH="0" baseline="0" dirty="0">
                <a:ln>
                  <a:noFill/>
                </a:ln>
                <a:solidFill>
                  <a:srgbClr val="6897BB"/>
                </a:solidFill>
                <a:effectLst/>
                <a:latin typeface="JetBrains Mono"/>
              </a:rPr>
              <a:t>45</a:t>
            </a:r>
            <a:r>
              <a:rPr kumimoji="0" lang="en-US" altLang="en-US" sz="2300" b="0" i="0" u="none" strike="noStrike" cap="none" normalizeH="0" baseline="0" dirty="0">
                <a:ln>
                  <a:noFill/>
                </a:ln>
                <a:solidFill>
                  <a:srgbClr val="CC7832"/>
                </a:solidFill>
                <a:effectLst/>
                <a:latin typeface="JetBrains Mono"/>
              </a:rPr>
              <a:t>,</a:t>
            </a:r>
            <a:r>
              <a:rPr kumimoji="0" lang="en-US" altLang="en-US" sz="2300" b="0" i="0" u="none" strike="noStrike" cap="none" normalizeH="0" baseline="0" dirty="0">
                <a:ln>
                  <a:noFill/>
                </a:ln>
                <a:solidFill>
                  <a:srgbClr val="6A8759"/>
                </a:solidFill>
                <a:effectLst/>
                <a:latin typeface="JetBrains Mono"/>
              </a:rPr>
              <a:t>"Hà </a:t>
            </a:r>
            <a:r>
              <a:rPr kumimoji="0" lang="en-US" altLang="en-US" sz="2300" b="0" i="0" u="none" strike="noStrike" cap="none" normalizeH="0" baseline="0" dirty="0" err="1">
                <a:ln>
                  <a:noFill/>
                </a:ln>
                <a:solidFill>
                  <a:srgbClr val="6A8759"/>
                </a:solidFill>
                <a:effectLst/>
                <a:latin typeface="JetBrains Mono"/>
              </a:rPr>
              <a:t>Nội</a:t>
            </a:r>
            <a:r>
              <a:rPr kumimoji="0" lang="en-US" altLang="en-US" sz="2300" b="0" i="0" u="none" strike="noStrike" cap="none" normalizeH="0" baseline="0" dirty="0">
                <a:ln>
                  <a:noFill/>
                </a:ln>
                <a:solidFill>
                  <a:srgbClr val="6A8759"/>
                </a:solidFill>
                <a:effectLst/>
                <a:latin typeface="JetBrains Mono"/>
              </a:rPr>
              <a:t>"</a:t>
            </a:r>
            <a:r>
              <a:rPr kumimoji="0" lang="en-US" altLang="en-US" sz="2300" b="0" i="0" u="none" strike="noStrike" cap="none" normalizeH="0" baseline="0" dirty="0">
                <a:ln>
                  <a:noFill/>
                </a:ln>
                <a:solidFill>
                  <a:srgbClr val="A9B7C6"/>
                </a:solidFill>
                <a:effectLst/>
                <a:latin typeface="JetBrains Mono"/>
              </a:rPr>
              <a:t>)</a:t>
            </a:r>
            <a:br>
              <a:rPr kumimoji="0" lang="en-US" altLang="en-US" sz="2300" b="0" i="0" u="none" strike="noStrike" cap="none" normalizeH="0" baseline="0" dirty="0">
                <a:ln>
                  <a:noFill/>
                </a:ln>
                <a:solidFill>
                  <a:srgbClr val="A9B7C6"/>
                </a:solidFill>
                <a:effectLst/>
                <a:latin typeface="JetBrains Mono"/>
              </a:rPr>
            </a:br>
            <a:r>
              <a:rPr kumimoji="0" lang="en-US" altLang="en-US" sz="2300" b="0" i="0" u="none" strike="noStrike" cap="none" normalizeH="0" baseline="0" dirty="0">
                <a:ln>
                  <a:noFill/>
                </a:ln>
                <a:solidFill>
                  <a:srgbClr val="808080"/>
                </a:solidFill>
                <a:effectLst/>
                <a:latin typeface="JetBrains Mono"/>
              </a:rPr>
              <a:t>#gọi </a:t>
            </a:r>
            <a:r>
              <a:rPr kumimoji="0" lang="en-US" altLang="en-US" sz="2300" b="0" i="0" u="none" strike="noStrike" cap="none" normalizeH="0" baseline="0" dirty="0" err="1">
                <a:ln>
                  <a:noFill/>
                </a:ln>
                <a:solidFill>
                  <a:srgbClr val="808080"/>
                </a:solidFill>
                <a:effectLst/>
                <a:latin typeface="JetBrains Mono"/>
              </a:rPr>
              <a:t>phương</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thức</a:t>
            </a:r>
            <a:br>
              <a:rPr kumimoji="0" lang="en-US" altLang="en-US" sz="2300" b="0" i="0" u="none" strike="noStrike" cap="none" normalizeH="0" baseline="0" dirty="0">
                <a:ln>
                  <a:noFill/>
                </a:ln>
                <a:solidFill>
                  <a:srgbClr val="808080"/>
                </a:solidFill>
                <a:effectLst/>
                <a:latin typeface="JetBrains Mono"/>
              </a:rPr>
            </a:br>
            <a:r>
              <a:rPr kumimoji="0" lang="en-US" altLang="en-US" sz="2300" b="0" i="0" u="none" strike="noStrike" cap="none" normalizeH="0" baseline="0" dirty="0" err="1">
                <a:ln>
                  <a:noFill/>
                </a:ln>
                <a:solidFill>
                  <a:srgbClr val="A9B7C6"/>
                </a:solidFill>
                <a:effectLst/>
                <a:latin typeface="JetBrains Mono"/>
              </a:rPr>
              <a:t>sv.hienthi</a:t>
            </a:r>
            <a:r>
              <a:rPr kumimoji="0" lang="en-US" altLang="en-US" sz="2300" b="0" i="0" u="none" strike="noStrike" cap="none" normalizeH="0" baseline="0" dirty="0">
                <a:ln>
                  <a:noFill/>
                </a:ln>
                <a:solidFill>
                  <a:srgbClr val="A9B7C6"/>
                </a:solidFill>
                <a:effectLst/>
                <a:latin typeface="JetBrains Mono"/>
              </a:rPr>
              <a:t>()</a:t>
            </a:r>
            <a:endParaRPr kumimoji="0" lang="en-US" altLang="en-US" sz="23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627941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latin typeface="Cambria" panose="02040503050406030204" pitchFamily="18" charset="0"/>
                <a:ea typeface="Cambria" panose="02040503050406030204" pitchFamily="18" charset="0"/>
              </a:rPr>
              <a:t>Bài</a:t>
            </a:r>
            <a:r>
              <a:rPr lang="en-US">
                <a:latin typeface="Cambria" panose="02040503050406030204" pitchFamily="18" charset="0"/>
                <a:ea typeface="Cambria" panose="02040503050406030204" pitchFamily="18" charset="0"/>
              </a:rPr>
              <a:t> 4 – </a:t>
            </a:r>
            <a:r>
              <a:rPr lang="en-US" spc="-5" err="1">
                <a:latin typeface="Cambria" panose="02040503050406030204" pitchFamily="18" charset="0"/>
                <a:ea typeface="Cambria" panose="02040503050406030204" pitchFamily="18" charset="0"/>
                <a:cs typeface="Arial"/>
              </a:rPr>
              <a:t>Lập</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trình</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hướng</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tượng</a:t>
            </a:r>
            <a:endParaRPr lang="en-US">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a:solidFill>
                  <a:schemeClr val="bg1"/>
                </a:solidFill>
                <a:latin typeface="Cambria" panose="02040503050406030204" pitchFamily="18" charset="0"/>
              </a:rPr>
              <a:t>LỚP (CLASS) TRONG PYTHON</a:t>
            </a:r>
          </a:p>
        </p:txBody>
      </p:sp>
      <p:sp>
        <p:nvSpPr>
          <p:cNvPr id="4" name="TextBox 3"/>
          <p:cNvSpPr txBox="1"/>
          <p:nvPr/>
        </p:nvSpPr>
        <p:spPr>
          <a:xfrm>
            <a:off x="127054" y="677516"/>
            <a:ext cx="10108095" cy="477054"/>
          </a:xfrm>
          <a:prstGeom prst="rect">
            <a:avLst/>
          </a:prstGeom>
          <a:noFill/>
        </p:spPr>
        <p:txBody>
          <a:bodyPr wrap="square" rtlCol="0">
            <a:spAutoFit/>
          </a:bodyPr>
          <a:lstStyle/>
          <a:p>
            <a:r>
              <a:rPr lang="en-US" sz="2500" b="1" err="1">
                <a:latin typeface="Cambria" panose="02040503050406030204" pitchFamily="18" charset="0"/>
                <a:ea typeface="Cambria" panose="02040503050406030204" pitchFamily="18" charset="0"/>
              </a:rPr>
              <a:t>Phương</a:t>
            </a:r>
            <a:r>
              <a:rPr lang="en-US" sz="2500" b="1">
                <a:latin typeface="Cambria" panose="02040503050406030204" pitchFamily="18" charset="0"/>
                <a:ea typeface="Cambria" panose="02040503050406030204" pitchFamily="18" charset="0"/>
              </a:rPr>
              <a:t> </a:t>
            </a:r>
            <a:r>
              <a:rPr lang="en-US" sz="2500" b="1" err="1">
                <a:latin typeface="Cambria" panose="02040503050406030204" pitchFamily="18" charset="0"/>
                <a:ea typeface="Cambria" panose="02040503050406030204" pitchFamily="18" charset="0"/>
              </a:rPr>
              <a:t>thức</a:t>
            </a:r>
            <a:r>
              <a:rPr lang="en-US" sz="2500" b="1">
                <a:latin typeface="Cambria" panose="02040503050406030204" pitchFamily="18" charset="0"/>
                <a:ea typeface="Cambria" panose="02040503050406030204" pitchFamily="18" charset="0"/>
              </a:rPr>
              <a:t> HỦY</a:t>
            </a:r>
          </a:p>
        </p:txBody>
      </p:sp>
      <p:sp>
        <p:nvSpPr>
          <p:cNvPr id="12" name="Content Placeholder 2"/>
          <p:cNvSpPr txBox="1">
            <a:spLocks/>
          </p:cNvSpPr>
          <p:nvPr/>
        </p:nvSpPr>
        <p:spPr>
          <a:xfrm>
            <a:off x="258902" y="1154570"/>
            <a:ext cx="11833222" cy="5025801"/>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b="1"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b="1" i="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i="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lnSpc>
                <a:spcPct val="130000"/>
              </a:lnSpc>
              <a:spcBef>
                <a:spcPts val="0"/>
              </a:spcBef>
            </a:pPr>
            <a:r>
              <a:rPr lang="vi-VN" sz="2400" b="0" dirty="0">
                <a:latin typeface="Cambria" panose="02040503050406030204" pitchFamily="18" charset="0"/>
                <a:ea typeface="Cambria" panose="02040503050406030204" pitchFamily="18" charset="0"/>
                <a:cs typeface="Tahoma" panose="020B0604030504040204" pitchFamily="34" charset="0"/>
              </a:rPr>
              <a:t>Các hàm hàm hủy sẽ được gọi khi một đối tượng bị hủy đi.</a:t>
            </a:r>
            <a:endParaRPr lang="en-US" sz="2400" b="0" dirty="0">
              <a:latin typeface="Cambria" panose="02040503050406030204" pitchFamily="18" charset="0"/>
              <a:ea typeface="Cambria" panose="02040503050406030204" pitchFamily="18" charset="0"/>
              <a:cs typeface="Tahoma" panose="020B0604030504040204" pitchFamily="34" charset="0"/>
            </a:endParaRPr>
          </a:p>
          <a:p>
            <a:pPr algn="just">
              <a:lnSpc>
                <a:spcPct val="130000"/>
              </a:lnSpc>
              <a:spcBef>
                <a:spcPts val="0"/>
              </a:spcBef>
            </a:pPr>
            <a:r>
              <a:rPr lang="vi-VN" sz="2400" b="0" dirty="0">
                <a:latin typeface="Cambria" panose="02040503050406030204" pitchFamily="18" charset="0"/>
                <a:ea typeface="Cambria" panose="02040503050406030204" pitchFamily="18" charset="0"/>
                <a:cs typeface="Tahoma" panose="020B0604030504040204" pitchFamily="34" charset="0"/>
              </a:rPr>
              <a:t>Phương thức </a:t>
            </a:r>
            <a:r>
              <a:rPr lang="vi-VN" sz="2400" dirty="0">
                <a:solidFill>
                  <a:srgbClr val="FF0000"/>
                </a:solidFill>
                <a:latin typeface="Cambria" panose="02040503050406030204" pitchFamily="18" charset="0"/>
                <a:ea typeface="Cambria" panose="02040503050406030204" pitchFamily="18" charset="0"/>
                <a:cs typeface="Tahoma" panose="020B0604030504040204" pitchFamily="34" charset="0"/>
              </a:rPr>
              <a:t>__del__() </a:t>
            </a:r>
            <a:r>
              <a:rPr lang="vi-VN" sz="2400" b="0" dirty="0">
                <a:latin typeface="Cambria" panose="02040503050406030204" pitchFamily="18" charset="0"/>
                <a:ea typeface="Cambria" panose="02040503050406030204" pitchFamily="18" charset="0"/>
                <a:cs typeface="Tahoma" panose="020B0604030504040204" pitchFamily="34" charset="0"/>
              </a:rPr>
              <a:t>còn được biết đến là phương thức destructor trong Python. Nó sẽ được gọi khi tất cả các tham chiếu đến đối tượng bị xóa đi</a:t>
            </a:r>
            <a:endParaRPr lang="en-US" sz="2400" b="0" dirty="0">
              <a:latin typeface="Cambria" panose="02040503050406030204" pitchFamily="18" charset="0"/>
              <a:ea typeface="Cambria" panose="02040503050406030204" pitchFamily="18" charset="0"/>
              <a:cs typeface="Tahoma" panose="020B0604030504040204" pitchFamily="34" charset="0"/>
            </a:endParaRPr>
          </a:p>
          <a:p>
            <a:pPr marL="0" indent="0" algn="just">
              <a:lnSpc>
                <a:spcPct val="130000"/>
              </a:lnSpc>
              <a:spcBef>
                <a:spcPts val="0"/>
              </a:spcBef>
              <a:buNone/>
            </a:pPr>
            <a:r>
              <a:rPr lang="en-US" sz="2400" dirty="0" err="1">
                <a:latin typeface="Cambria" panose="02040503050406030204" pitchFamily="18" charset="0"/>
                <a:ea typeface="Cambria" panose="02040503050406030204" pitchFamily="18" charset="0"/>
                <a:cs typeface="Tahoma" panose="020B0604030504040204" pitchFamily="34" charset="0"/>
              </a:rPr>
              <a:t>Cú</a:t>
            </a:r>
            <a:r>
              <a:rPr lang="en-US" sz="2400" dirty="0">
                <a:latin typeface="Cambria" panose="02040503050406030204" pitchFamily="18" charset="0"/>
                <a:ea typeface="Cambria" panose="02040503050406030204" pitchFamily="18" charset="0"/>
                <a:cs typeface="Tahoma" panose="020B0604030504040204" pitchFamily="34" charset="0"/>
              </a:rPr>
              <a:t> </a:t>
            </a:r>
            <a:r>
              <a:rPr lang="en-US" sz="2400" dirty="0" err="1">
                <a:latin typeface="Cambria" panose="02040503050406030204" pitchFamily="18" charset="0"/>
                <a:ea typeface="Cambria" panose="02040503050406030204" pitchFamily="18" charset="0"/>
                <a:cs typeface="Tahoma" panose="020B0604030504040204" pitchFamily="34" charset="0"/>
              </a:rPr>
              <a:t>pháp</a:t>
            </a:r>
            <a:r>
              <a:rPr lang="en-US" sz="2400" b="0" dirty="0">
                <a:latin typeface="Cambria" panose="02040503050406030204" pitchFamily="18" charset="0"/>
                <a:ea typeface="Cambria" panose="02040503050406030204" pitchFamily="18" charset="0"/>
                <a:cs typeface="Tahoma" panose="020B0604030504040204" pitchFamily="34" charset="0"/>
              </a:rPr>
              <a:t>:</a:t>
            </a:r>
          </a:p>
          <a:p>
            <a:pPr algn="just">
              <a:lnSpc>
                <a:spcPct val="130000"/>
              </a:lnSpc>
              <a:spcBef>
                <a:spcPts val="0"/>
              </a:spcBef>
            </a:pPr>
            <a:endParaRPr lang="en-US" sz="2400" dirty="0">
              <a:latin typeface="Cambria" panose="02040503050406030204" pitchFamily="18" charset="0"/>
              <a:ea typeface="Cambria" panose="02040503050406030204" pitchFamily="18" charset="0"/>
              <a:cs typeface="Tahoma" panose="020B0604030504040204" pitchFamily="34" charset="0"/>
            </a:endParaRPr>
          </a:p>
        </p:txBody>
      </p:sp>
      <p:pic>
        <p:nvPicPr>
          <p:cNvPr id="13" name="Picture 12"/>
          <p:cNvPicPr>
            <a:picLocks noChangeAspect="1"/>
          </p:cNvPicPr>
          <p:nvPr/>
        </p:nvPicPr>
        <p:blipFill>
          <a:blip r:embed="rId2"/>
          <a:stretch>
            <a:fillRect/>
          </a:stretch>
        </p:blipFill>
        <p:spPr>
          <a:xfrm>
            <a:off x="407505" y="3158153"/>
            <a:ext cx="3752517" cy="1065162"/>
          </a:xfrm>
          <a:prstGeom prst="rect">
            <a:avLst/>
          </a:prstGeom>
        </p:spPr>
      </p:pic>
      <p:sp>
        <p:nvSpPr>
          <p:cNvPr id="3" name="Rectangle 1">
            <a:extLst>
              <a:ext uri="{FF2B5EF4-FFF2-40B4-BE49-F238E27FC236}">
                <a16:creationId xmlns:a16="http://schemas.microsoft.com/office/drawing/2014/main" id="{C90F0773-5BB8-430D-BC45-1B114965E707}"/>
              </a:ext>
            </a:extLst>
          </p:cNvPr>
          <p:cNvSpPr>
            <a:spLocks noChangeArrowheads="1"/>
          </p:cNvSpPr>
          <p:nvPr/>
        </p:nvSpPr>
        <p:spPr bwMode="auto">
          <a:xfrm>
            <a:off x="4160022" y="2625552"/>
            <a:ext cx="4587087" cy="355481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rgbClr val="808080"/>
                </a:solidFill>
                <a:effectLst/>
                <a:latin typeface="JetBrains Mono"/>
              </a:rPr>
              <a:t>#</a:t>
            </a:r>
            <a:r>
              <a:rPr kumimoji="0" lang="en-US" altLang="en-US" sz="1500" b="0" i="0" u="none" strike="noStrike" cap="none" normalizeH="0" baseline="0" dirty="0" err="1">
                <a:ln>
                  <a:noFill/>
                </a:ln>
                <a:solidFill>
                  <a:srgbClr val="808080"/>
                </a:solidFill>
                <a:effectLst/>
                <a:latin typeface="JetBrains Mono"/>
              </a:rPr>
              <a:t>Khai</a:t>
            </a:r>
            <a:r>
              <a:rPr kumimoji="0" lang="en-US" altLang="en-US" sz="1500" b="0" i="0" u="none" strike="noStrike" cap="none" normalizeH="0" baseline="0" dirty="0">
                <a:ln>
                  <a:noFill/>
                </a:ln>
                <a:solidFill>
                  <a:srgbClr val="808080"/>
                </a:solidFill>
                <a:effectLst/>
                <a:latin typeface="JetBrains Mono"/>
              </a:rPr>
              <a:t> </a:t>
            </a:r>
            <a:r>
              <a:rPr kumimoji="0" lang="en-US" altLang="en-US" sz="1500" b="0" i="0" u="none" strike="noStrike" cap="none" normalizeH="0" baseline="0" dirty="0" err="1">
                <a:ln>
                  <a:noFill/>
                </a:ln>
                <a:solidFill>
                  <a:srgbClr val="808080"/>
                </a:solidFill>
                <a:effectLst/>
                <a:latin typeface="JetBrains Mono"/>
              </a:rPr>
              <a:t>báo</a:t>
            </a:r>
            <a:r>
              <a:rPr kumimoji="0" lang="en-US" altLang="en-US" sz="1500" b="0" i="0" u="none" strike="noStrike" cap="none" normalizeH="0" baseline="0" dirty="0">
                <a:ln>
                  <a:noFill/>
                </a:ln>
                <a:solidFill>
                  <a:srgbClr val="808080"/>
                </a:solidFill>
                <a:effectLst/>
                <a:latin typeface="JetBrains Mono"/>
              </a:rPr>
              <a:t> 1 </a:t>
            </a:r>
            <a:r>
              <a:rPr kumimoji="0" lang="en-US" altLang="en-US" sz="1500" b="0" i="0" u="none" strike="noStrike" cap="none" normalizeH="0" baseline="0" dirty="0" err="1">
                <a:ln>
                  <a:noFill/>
                </a:ln>
                <a:solidFill>
                  <a:srgbClr val="808080"/>
                </a:solidFill>
                <a:effectLst/>
                <a:latin typeface="JetBrains Mono"/>
              </a:rPr>
              <a:t>lớp</a:t>
            </a:r>
            <a:r>
              <a:rPr kumimoji="0" lang="en-US" altLang="en-US" sz="1500" b="0" i="0" u="none" strike="noStrike" cap="none" normalizeH="0" baseline="0" dirty="0">
                <a:ln>
                  <a:noFill/>
                </a:ln>
                <a:solidFill>
                  <a:srgbClr val="808080"/>
                </a:solidFill>
                <a:effectLst/>
                <a:latin typeface="JetBrains Mono"/>
              </a:rPr>
              <a:t> </a:t>
            </a:r>
            <a:r>
              <a:rPr kumimoji="0" lang="en-US" altLang="en-US" sz="1500" b="0" i="0" u="none" strike="noStrike" cap="none" normalizeH="0" baseline="0" dirty="0" err="1">
                <a:ln>
                  <a:noFill/>
                </a:ln>
                <a:solidFill>
                  <a:srgbClr val="808080"/>
                </a:solidFill>
                <a:effectLst/>
                <a:latin typeface="JetBrains Mono"/>
              </a:rPr>
              <a:t>có</a:t>
            </a:r>
            <a:r>
              <a:rPr kumimoji="0" lang="en-US" altLang="en-US" sz="1500" b="0" i="0" u="none" strike="noStrike" cap="none" normalizeH="0" baseline="0" dirty="0">
                <a:ln>
                  <a:noFill/>
                </a:ln>
                <a:solidFill>
                  <a:srgbClr val="808080"/>
                </a:solidFill>
                <a:effectLst/>
                <a:latin typeface="JetBrains Mono"/>
              </a:rPr>
              <a:t> 4 </a:t>
            </a:r>
            <a:r>
              <a:rPr kumimoji="0" lang="en-US" altLang="en-US" sz="1500" b="0" i="0" u="none" strike="noStrike" cap="none" normalizeH="0" baseline="0" dirty="0" err="1">
                <a:ln>
                  <a:noFill/>
                </a:ln>
                <a:solidFill>
                  <a:srgbClr val="808080"/>
                </a:solidFill>
                <a:effectLst/>
                <a:latin typeface="JetBrains Mono"/>
              </a:rPr>
              <a:t>thuộc</a:t>
            </a:r>
            <a:r>
              <a:rPr kumimoji="0" lang="en-US" altLang="en-US" sz="1500" b="0" i="0" u="none" strike="noStrike" cap="none" normalizeH="0" baseline="0" dirty="0">
                <a:ln>
                  <a:noFill/>
                </a:ln>
                <a:solidFill>
                  <a:srgbClr val="808080"/>
                </a:solidFill>
                <a:effectLst/>
                <a:latin typeface="JetBrains Mono"/>
              </a:rPr>
              <a:t> </a:t>
            </a:r>
            <a:r>
              <a:rPr kumimoji="0" lang="en-US" altLang="en-US" sz="1500" b="0" i="0" u="none" strike="noStrike" cap="none" normalizeH="0" baseline="0" dirty="0" err="1">
                <a:ln>
                  <a:noFill/>
                </a:ln>
                <a:solidFill>
                  <a:srgbClr val="808080"/>
                </a:solidFill>
                <a:effectLst/>
                <a:latin typeface="JetBrains Mono"/>
              </a:rPr>
              <a:t>tính</a:t>
            </a:r>
            <a:r>
              <a:rPr kumimoji="0" lang="en-US" altLang="en-US" sz="1500" b="0" i="0" u="none" strike="noStrike" cap="none" normalizeH="0" baseline="0" dirty="0">
                <a:ln>
                  <a:noFill/>
                </a:ln>
                <a:solidFill>
                  <a:srgbClr val="808080"/>
                </a:solidFill>
                <a:effectLst/>
                <a:latin typeface="JetBrains Mono"/>
              </a:rPr>
              <a:t>, 1 phuong </a:t>
            </a:r>
            <a:r>
              <a:rPr kumimoji="0" lang="en-US" altLang="en-US" sz="1500" b="0" i="0" u="none" strike="noStrike" cap="none" normalizeH="0" baseline="0" dirty="0" err="1">
                <a:ln>
                  <a:noFill/>
                </a:ln>
                <a:solidFill>
                  <a:srgbClr val="808080"/>
                </a:solidFill>
                <a:effectLst/>
                <a:latin typeface="JetBrains Mono"/>
              </a:rPr>
              <a:t>thức</a:t>
            </a:r>
            <a:br>
              <a:rPr kumimoji="0" lang="en-US" altLang="en-US" sz="1500" b="0" i="0" u="none" strike="noStrike" cap="none" normalizeH="0" baseline="0" dirty="0">
                <a:ln>
                  <a:noFill/>
                </a:ln>
                <a:solidFill>
                  <a:srgbClr val="808080"/>
                </a:solidFill>
                <a:effectLst/>
                <a:latin typeface="JetBrains Mono"/>
              </a:rPr>
            </a:br>
            <a:r>
              <a:rPr kumimoji="0" lang="en-US" altLang="en-US" sz="1500" b="0" i="0" u="none" strike="noStrike" cap="none" normalizeH="0" baseline="0" dirty="0">
                <a:ln>
                  <a:noFill/>
                </a:ln>
                <a:solidFill>
                  <a:srgbClr val="CC7832"/>
                </a:solidFill>
                <a:effectLst/>
                <a:latin typeface="JetBrains Mono"/>
              </a:rPr>
              <a:t>class </a:t>
            </a:r>
            <a:r>
              <a:rPr kumimoji="0" lang="en-US" altLang="en-US" sz="1500" b="0" i="0" u="none" strike="noStrike" cap="none" normalizeH="0" baseline="0" dirty="0" err="1">
                <a:ln>
                  <a:noFill/>
                </a:ln>
                <a:solidFill>
                  <a:srgbClr val="A9B7C6"/>
                </a:solidFill>
                <a:effectLst/>
                <a:latin typeface="JetBrains Mono"/>
              </a:rPr>
              <a:t>sinhVien</a:t>
            </a:r>
            <a:r>
              <a:rPr kumimoji="0" lang="en-US" altLang="en-US" sz="1500" b="0" i="0" u="none" strike="noStrike" cap="none" normalizeH="0" baseline="0" dirty="0">
                <a:ln>
                  <a:noFill/>
                </a:ln>
                <a:solidFill>
                  <a:srgbClr val="A9B7C6"/>
                </a:solidFill>
                <a:effectLst/>
                <a:latin typeface="JetBrains Mono"/>
              </a:rPr>
              <a:t>:</a:t>
            </a:r>
            <a:br>
              <a:rPr kumimoji="0" lang="en-US" altLang="en-US" sz="1500" b="0" i="0" u="none" strike="noStrike" cap="none" normalizeH="0" baseline="0" dirty="0">
                <a:ln>
                  <a:noFill/>
                </a:ln>
                <a:solidFill>
                  <a:srgbClr val="A9B7C6"/>
                </a:solidFill>
                <a:effectLst/>
                <a:latin typeface="JetBrains Mono"/>
              </a:rPr>
            </a:br>
            <a:r>
              <a:rPr kumimoji="0" lang="en-US" altLang="en-US" sz="1500" b="0" i="0" u="none" strike="noStrike" cap="none" normalizeH="0" baseline="0" dirty="0">
                <a:ln>
                  <a:noFill/>
                </a:ln>
                <a:solidFill>
                  <a:srgbClr val="A9B7C6"/>
                </a:solidFill>
                <a:effectLst/>
                <a:latin typeface="JetBrains Mono"/>
              </a:rPr>
              <a:t>    </a:t>
            </a:r>
            <a:r>
              <a:rPr kumimoji="0" lang="en-US" altLang="en-US" sz="1500" b="0" i="0" u="none" strike="noStrike" cap="none" normalizeH="0" baseline="0" dirty="0">
                <a:ln>
                  <a:noFill/>
                </a:ln>
                <a:solidFill>
                  <a:srgbClr val="808080"/>
                </a:solidFill>
                <a:effectLst/>
                <a:latin typeface="JetBrains Mono"/>
              </a:rPr>
              <a:t>#</a:t>
            </a:r>
            <a:r>
              <a:rPr kumimoji="0" lang="en-US" altLang="en-US" sz="1500" b="0" i="0" u="none" strike="noStrike" cap="none" normalizeH="0" baseline="0" dirty="0" err="1">
                <a:ln>
                  <a:noFill/>
                </a:ln>
                <a:solidFill>
                  <a:srgbClr val="808080"/>
                </a:solidFill>
                <a:effectLst/>
                <a:latin typeface="JetBrains Mono"/>
              </a:rPr>
              <a:t>Khai</a:t>
            </a:r>
            <a:r>
              <a:rPr kumimoji="0" lang="en-US" altLang="en-US" sz="1500" b="0" i="0" u="none" strike="noStrike" cap="none" normalizeH="0" baseline="0" dirty="0">
                <a:ln>
                  <a:noFill/>
                </a:ln>
                <a:solidFill>
                  <a:srgbClr val="808080"/>
                </a:solidFill>
                <a:effectLst/>
                <a:latin typeface="JetBrains Mono"/>
              </a:rPr>
              <a:t> </a:t>
            </a:r>
            <a:r>
              <a:rPr kumimoji="0" lang="en-US" altLang="en-US" sz="1500" b="0" i="0" u="none" strike="noStrike" cap="none" normalizeH="0" baseline="0" dirty="0" err="1">
                <a:ln>
                  <a:noFill/>
                </a:ln>
                <a:solidFill>
                  <a:srgbClr val="808080"/>
                </a:solidFill>
                <a:effectLst/>
                <a:latin typeface="JetBrains Mono"/>
              </a:rPr>
              <a:t>báo</a:t>
            </a:r>
            <a:r>
              <a:rPr kumimoji="0" lang="en-US" altLang="en-US" sz="1500" b="0" i="0" u="none" strike="noStrike" cap="none" normalizeH="0" baseline="0" dirty="0">
                <a:ln>
                  <a:noFill/>
                </a:ln>
                <a:solidFill>
                  <a:srgbClr val="808080"/>
                </a:solidFill>
                <a:effectLst/>
                <a:latin typeface="JetBrains Mono"/>
              </a:rPr>
              <a:t> phuong </a:t>
            </a:r>
            <a:r>
              <a:rPr kumimoji="0" lang="en-US" altLang="en-US" sz="1500" b="0" i="0" u="none" strike="noStrike" cap="none" normalizeH="0" baseline="0" dirty="0" err="1">
                <a:ln>
                  <a:noFill/>
                </a:ln>
                <a:solidFill>
                  <a:srgbClr val="808080"/>
                </a:solidFill>
                <a:effectLst/>
                <a:latin typeface="JetBrains Mono"/>
              </a:rPr>
              <a:t>thức</a:t>
            </a:r>
            <a:r>
              <a:rPr kumimoji="0" lang="en-US" altLang="en-US" sz="1500" b="0" i="0" u="none" strike="noStrike" cap="none" normalizeH="0" baseline="0" dirty="0">
                <a:ln>
                  <a:noFill/>
                </a:ln>
                <a:solidFill>
                  <a:srgbClr val="808080"/>
                </a:solidFill>
                <a:effectLst/>
                <a:latin typeface="JetBrains Mono"/>
              </a:rPr>
              <a:t> </a:t>
            </a:r>
            <a:r>
              <a:rPr kumimoji="0" lang="en-US" altLang="en-US" sz="1500" b="0" i="0" u="none" strike="noStrike" cap="none" normalizeH="0" baseline="0" dirty="0" err="1">
                <a:ln>
                  <a:noFill/>
                </a:ln>
                <a:solidFill>
                  <a:srgbClr val="808080"/>
                </a:solidFill>
                <a:effectLst/>
                <a:latin typeface="JetBrains Mono"/>
              </a:rPr>
              <a:t>khởi</a:t>
            </a:r>
            <a:r>
              <a:rPr kumimoji="0" lang="en-US" altLang="en-US" sz="1500" b="0" i="0" u="none" strike="noStrike" cap="none" normalizeH="0" baseline="0" dirty="0">
                <a:ln>
                  <a:noFill/>
                </a:ln>
                <a:solidFill>
                  <a:srgbClr val="808080"/>
                </a:solidFill>
                <a:effectLst/>
                <a:latin typeface="JetBrains Mono"/>
              </a:rPr>
              <a:t> </a:t>
            </a:r>
            <a:r>
              <a:rPr kumimoji="0" lang="en-US" altLang="en-US" sz="1500" b="0" i="0" u="none" strike="noStrike" cap="none" normalizeH="0" baseline="0" dirty="0" err="1">
                <a:ln>
                  <a:noFill/>
                </a:ln>
                <a:solidFill>
                  <a:srgbClr val="808080"/>
                </a:solidFill>
                <a:effectLst/>
                <a:latin typeface="JetBrains Mono"/>
              </a:rPr>
              <a:t>tạo</a:t>
            </a:r>
            <a:r>
              <a:rPr kumimoji="0" lang="en-US" altLang="en-US" sz="1500" b="0" i="0" u="none" strike="noStrike" cap="none" normalizeH="0" baseline="0" dirty="0">
                <a:ln>
                  <a:noFill/>
                </a:ln>
                <a:solidFill>
                  <a:srgbClr val="808080"/>
                </a:solidFill>
                <a:effectLst/>
                <a:latin typeface="JetBrains Mono"/>
              </a:rPr>
              <a:t> </a:t>
            </a:r>
            <a:r>
              <a:rPr kumimoji="0" lang="en-US" altLang="en-US" sz="1500" b="0" i="0" u="none" strike="noStrike" cap="none" normalizeH="0" baseline="0" dirty="0" err="1">
                <a:ln>
                  <a:noFill/>
                </a:ln>
                <a:solidFill>
                  <a:srgbClr val="808080"/>
                </a:solidFill>
                <a:effectLst/>
                <a:latin typeface="JetBrains Mono"/>
              </a:rPr>
              <a:t>không</a:t>
            </a:r>
            <a:r>
              <a:rPr kumimoji="0" lang="en-US" altLang="en-US" sz="1500" b="0" i="0" u="none" strike="noStrike" cap="none" normalizeH="0" baseline="0" dirty="0">
                <a:ln>
                  <a:noFill/>
                </a:ln>
                <a:solidFill>
                  <a:srgbClr val="808080"/>
                </a:solidFill>
                <a:effectLst/>
                <a:latin typeface="JetBrains Mono"/>
              </a:rPr>
              <a:t> </a:t>
            </a:r>
            <a:r>
              <a:rPr kumimoji="0" lang="en-US" altLang="en-US" sz="1500" b="0" i="0" u="none" strike="noStrike" cap="none" normalizeH="0" baseline="0" dirty="0" err="1">
                <a:ln>
                  <a:noFill/>
                </a:ln>
                <a:solidFill>
                  <a:srgbClr val="808080"/>
                </a:solidFill>
                <a:effectLst/>
                <a:latin typeface="JetBrains Mono"/>
              </a:rPr>
              <a:t>tham</a:t>
            </a:r>
            <a:r>
              <a:rPr kumimoji="0" lang="en-US" altLang="en-US" sz="1500" b="0" i="0" u="none" strike="noStrike" cap="none" normalizeH="0" baseline="0" dirty="0">
                <a:ln>
                  <a:noFill/>
                </a:ln>
                <a:solidFill>
                  <a:srgbClr val="808080"/>
                </a:solidFill>
                <a:effectLst/>
                <a:latin typeface="JetBrains Mono"/>
              </a:rPr>
              <a:t> </a:t>
            </a:r>
            <a:r>
              <a:rPr kumimoji="0" lang="en-US" altLang="en-US" sz="1500" b="0" i="0" u="none" strike="noStrike" cap="none" normalizeH="0" baseline="0" dirty="0" err="1">
                <a:ln>
                  <a:noFill/>
                </a:ln>
                <a:solidFill>
                  <a:srgbClr val="808080"/>
                </a:solidFill>
                <a:effectLst/>
                <a:latin typeface="JetBrains Mono"/>
              </a:rPr>
              <a:t>số</a:t>
            </a:r>
            <a:br>
              <a:rPr kumimoji="0" lang="en-US" altLang="en-US" sz="1500" b="0" i="0" u="none" strike="noStrike" cap="none" normalizeH="0" baseline="0" dirty="0">
                <a:ln>
                  <a:noFill/>
                </a:ln>
                <a:solidFill>
                  <a:srgbClr val="808080"/>
                </a:solidFill>
                <a:effectLst/>
                <a:latin typeface="JetBrains Mono"/>
              </a:rPr>
            </a:br>
            <a:r>
              <a:rPr kumimoji="0" lang="en-US" altLang="en-US" sz="1500" b="0" i="0" u="none" strike="noStrike" cap="none" normalizeH="0" baseline="0" dirty="0">
                <a:ln>
                  <a:noFill/>
                </a:ln>
                <a:solidFill>
                  <a:srgbClr val="808080"/>
                </a:solidFill>
                <a:effectLst/>
                <a:latin typeface="JetBrains Mono"/>
              </a:rPr>
              <a:t>    </a:t>
            </a:r>
            <a:r>
              <a:rPr kumimoji="0" lang="en-US" altLang="en-US" sz="1500" b="0" i="0" u="none" strike="noStrike" cap="none" normalizeH="0" baseline="0" dirty="0" err="1">
                <a:ln>
                  <a:noFill/>
                </a:ln>
                <a:solidFill>
                  <a:srgbClr val="CC7832"/>
                </a:solidFill>
                <a:effectLst/>
                <a:latin typeface="JetBrains Mono"/>
              </a:rPr>
              <a:t>def</a:t>
            </a:r>
            <a:r>
              <a:rPr kumimoji="0" lang="en-US" altLang="en-US" sz="1500" b="0" i="0" u="none" strike="noStrike" cap="none" normalizeH="0" baseline="0" dirty="0">
                <a:ln>
                  <a:noFill/>
                </a:ln>
                <a:solidFill>
                  <a:srgbClr val="CC7832"/>
                </a:solidFill>
                <a:effectLst/>
                <a:latin typeface="JetBrains Mono"/>
              </a:rPr>
              <a:t> </a:t>
            </a:r>
            <a:r>
              <a:rPr kumimoji="0" lang="en-US" altLang="en-US" sz="1500" b="0" i="0" u="none" strike="noStrike" cap="none" normalizeH="0" baseline="0" dirty="0">
                <a:ln>
                  <a:noFill/>
                </a:ln>
                <a:solidFill>
                  <a:srgbClr val="B200B2"/>
                </a:solidFill>
                <a:effectLst/>
                <a:latin typeface="JetBrains Mono"/>
              </a:rPr>
              <a:t>__</a:t>
            </a:r>
            <a:r>
              <a:rPr kumimoji="0" lang="en-US" altLang="en-US" sz="1500" b="0" i="0" u="none" strike="noStrike" cap="none" normalizeH="0" baseline="0" dirty="0" err="1">
                <a:ln>
                  <a:noFill/>
                </a:ln>
                <a:solidFill>
                  <a:srgbClr val="B200B2"/>
                </a:solidFill>
                <a:effectLst/>
                <a:latin typeface="JetBrains Mono"/>
              </a:rPr>
              <a:t>init</a:t>
            </a:r>
            <a:r>
              <a:rPr kumimoji="0" lang="en-US" altLang="en-US" sz="1500" b="0" i="0" u="none" strike="noStrike" cap="none" normalizeH="0" baseline="0" dirty="0">
                <a:ln>
                  <a:noFill/>
                </a:ln>
                <a:solidFill>
                  <a:srgbClr val="B200B2"/>
                </a:solidFill>
                <a:effectLst/>
                <a:latin typeface="JetBrains Mono"/>
              </a:rPr>
              <a:t>__</a:t>
            </a:r>
            <a:r>
              <a:rPr kumimoji="0" lang="en-US" altLang="en-US" sz="1500" b="0" i="0" u="none" strike="noStrike" cap="none" normalizeH="0" baseline="0" dirty="0">
                <a:ln>
                  <a:noFill/>
                </a:ln>
                <a:solidFill>
                  <a:srgbClr val="A9B7C6"/>
                </a:solidFill>
                <a:effectLst/>
                <a:latin typeface="JetBrains Mono"/>
              </a:rPr>
              <a:t>(</a:t>
            </a:r>
            <a:r>
              <a:rPr kumimoji="0" lang="en-US" altLang="en-US" sz="1500" b="0" i="0" u="none" strike="noStrike" cap="none" normalizeH="0" baseline="0" dirty="0">
                <a:ln>
                  <a:noFill/>
                </a:ln>
                <a:solidFill>
                  <a:srgbClr val="94558D"/>
                </a:solidFill>
                <a:effectLst/>
                <a:latin typeface="JetBrains Mono"/>
              </a:rPr>
              <a:t>self</a:t>
            </a:r>
            <a:r>
              <a:rPr kumimoji="0" lang="en-US" altLang="en-US" sz="1500" b="0" i="0" u="none" strike="noStrike" cap="none" normalizeH="0" baseline="0" dirty="0">
                <a:ln>
                  <a:noFill/>
                </a:ln>
                <a:solidFill>
                  <a:srgbClr val="A9B7C6"/>
                </a:solidFill>
                <a:effectLst/>
                <a:latin typeface="JetBrains Mono"/>
              </a:rPr>
              <a:t>):</a:t>
            </a:r>
            <a:br>
              <a:rPr kumimoji="0" lang="en-US" altLang="en-US" sz="1500" b="0" i="0" u="none" strike="noStrike" cap="none" normalizeH="0" baseline="0" dirty="0">
                <a:ln>
                  <a:noFill/>
                </a:ln>
                <a:solidFill>
                  <a:srgbClr val="A9B7C6"/>
                </a:solidFill>
                <a:effectLst/>
                <a:latin typeface="JetBrains Mono"/>
              </a:rPr>
            </a:br>
            <a:r>
              <a:rPr kumimoji="0" lang="en-US" altLang="en-US" sz="1500" b="0" i="0" u="none" strike="noStrike" cap="none" normalizeH="0" baseline="0" dirty="0">
                <a:ln>
                  <a:noFill/>
                </a:ln>
                <a:solidFill>
                  <a:srgbClr val="A9B7C6"/>
                </a:solidFill>
                <a:effectLst/>
                <a:latin typeface="JetBrains Mono"/>
              </a:rPr>
              <a:t>        </a:t>
            </a:r>
            <a:r>
              <a:rPr kumimoji="0" lang="en-US" altLang="en-US" sz="1500" b="0" i="0" u="none" strike="noStrike" cap="none" normalizeH="0" baseline="0" dirty="0" err="1">
                <a:ln>
                  <a:noFill/>
                </a:ln>
                <a:solidFill>
                  <a:srgbClr val="94558D"/>
                </a:solidFill>
                <a:effectLst/>
                <a:latin typeface="JetBrains Mono"/>
              </a:rPr>
              <a:t>self</a:t>
            </a:r>
            <a:r>
              <a:rPr kumimoji="0" lang="en-US" altLang="en-US" sz="1500" b="0" i="0" u="none" strike="noStrike" cap="none" normalizeH="0" baseline="0" dirty="0" err="1">
                <a:ln>
                  <a:noFill/>
                </a:ln>
                <a:solidFill>
                  <a:srgbClr val="A9B7C6"/>
                </a:solidFill>
                <a:effectLst/>
                <a:latin typeface="JetBrains Mono"/>
              </a:rPr>
              <a:t>.masv</a:t>
            </a:r>
            <a:r>
              <a:rPr kumimoji="0" lang="en-US" altLang="en-US" sz="1500" b="0" i="0" u="none" strike="noStrike" cap="none" normalizeH="0" baseline="0" dirty="0">
                <a:ln>
                  <a:noFill/>
                </a:ln>
                <a:solidFill>
                  <a:srgbClr val="A9B7C6"/>
                </a:solidFill>
                <a:effectLst/>
                <a:latin typeface="JetBrains Mono"/>
              </a:rPr>
              <a:t> = </a:t>
            </a:r>
            <a:r>
              <a:rPr kumimoji="0" lang="en-US" altLang="en-US" sz="1500" b="0" i="0" u="none" strike="noStrike" cap="none" normalizeH="0" baseline="0" dirty="0">
                <a:ln>
                  <a:noFill/>
                </a:ln>
                <a:solidFill>
                  <a:srgbClr val="6A8759"/>
                </a:solidFill>
                <a:effectLst/>
                <a:latin typeface="JetBrains Mono"/>
              </a:rPr>
              <a:t>"A34"</a:t>
            </a:r>
            <a:br>
              <a:rPr kumimoji="0" lang="en-US" altLang="en-US" sz="1500" b="0" i="0" u="none" strike="noStrike" cap="none" normalizeH="0" baseline="0" dirty="0">
                <a:ln>
                  <a:noFill/>
                </a:ln>
                <a:solidFill>
                  <a:srgbClr val="6A8759"/>
                </a:solidFill>
                <a:effectLst/>
                <a:latin typeface="JetBrains Mono"/>
              </a:rPr>
            </a:br>
            <a:r>
              <a:rPr kumimoji="0" lang="en-US" altLang="en-US" sz="1500" b="0" i="0" u="none" strike="noStrike" cap="none" normalizeH="0" baseline="0" dirty="0">
                <a:ln>
                  <a:noFill/>
                </a:ln>
                <a:solidFill>
                  <a:srgbClr val="6A8759"/>
                </a:solidFill>
                <a:effectLst/>
                <a:latin typeface="JetBrains Mono"/>
              </a:rPr>
              <a:t>        </a:t>
            </a:r>
            <a:r>
              <a:rPr kumimoji="0" lang="en-US" altLang="en-US" sz="1500" b="0" i="0" u="none" strike="noStrike" cap="none" normalizeH="0" baseline="0" dirty="0">
                <a:ln>
                  <a:noFill/>
                </a:ln>
                <a:solidFill>
                  <a:srgbClr val="94558D"/>
                </a:solidFill>
                <a:effectLst/>
                <a:latin typeface="JetBrains Mono"/>
              </a:rPr>
              <a:t>self</a:t>
            </a:r>
            <a:r>
              <a:rPr kumimoji="0" lang="en-US" altLang="en-US" sz="1500" b="0" i="0" u="none" strike="noStrike" cap="none" normalizeH="0" baseline="0" dirty="0">
                <a:ln>
                  <a:noFill/>
                </a:ln>
                <a:solidFill>
                  <a:srgbClr val="A9B7C6"/>
                </a:solidFill>
                <a:effectLst/>
                <a:latin typeface="JetBrains Mono"/>
              </a:rPr>
              <a:t>.ht = </a:t>
            </a:r>
            <a:r>
              <a:rPr kumimoji="0" lang="en-US" altLang="en-US" sz="1500" b="0" i="0" u="none" strike="noStrike" cap="none" normalizeH="0" baseline="0" dirty="0">
                <a:ln>
                  <a:noFill/>
                </a:ln>
                <a:solidFill>
                  <a:srgbClr val="6A8759"/>
                </a:solidFill>
                <a:effectLst/>
                <a:latin typeface="JetBrains Mono"/>
              </a:rPr>
              <a:t>"Dung"</a:t>
            </a:r>
            <a:br>
              <a:rPr kumimoji="0" lang="en-US" altLang="en-US" sz="1500" b="0" i="0" u="none" strike="noStrike" cap="none" normalizeH="0" baseline="0" dirty="0">
                <a:ln>
                  <a:noFill/>
                </a:ln>
                <a:solidFill>
                  <a:srgbClr val="6A8759"/>
                </a:solidFill>
                <a:effectLst/>
                <a:latin typeface="JetBrains Mono"/>
              </a:rPr>
            </a:br>
            <a:r>
              <a:rPr kumimoji="0" lang="en-US" altLang="en-US" sz="1500" b="0" i="0" u="none" strike="noStrike" cap="none" normalizeH="0" baseline="0" dirty="0">
                <a:ln>
                  <a:noFill/>
                </a:ln>
                <a:solidFill>
                  <a:srgbClr val="6A8759"/>
                </a:solidFill>
                <a:effectLst/>
                <a:latin typeface="JetBrains Mono"/>
              </a:rPr>
              <a:t>        </a:t>
            </a:r>
            <a:r>
              <a:rPr kumimoji="0" lang="en-US" altLang="en-US" sz="1500" b="0" i="0" u="none" strike="noStrike" cap="none" normalizeH="0" baseline="0" dirty="0" err="1">
                <a:ln>
                  <a:noFill/>
                </a:ln>
                <a:solidFill>
                  <a:srgbClr val="94558D"/>
                </a:solidFill>
                <a:effectLst/>
                <a:latin typeface="JetBrains Mono"/>
              </a:rPr>
              <a:t>self</a:t>
            </a:r>
            <a:r>
              <a:rPr kumimoji="0" lang="en-US" altLang="en-US" sz="1500" b="0" i="0" u="none" strike="noStrike" cap="none" normalizeH="0" baseline="0" dirty="0" err="1">
                <a:ln>
                  <a:noFill/>
                </a:ln>
                <a:solidFill>
                  <a:srgbClr val="A9B7C6"/>
                </a:solidFill>
                <a:effectLst/>
                <a:latin typeface="JetBrains Mono"/>
              </a:rPr>
              <a:t>.tuoi</a:t>
            </a:r>
            <a:r>
              <a:rPr kumimoji="0" lang="en-US" altLang="en-US" sz="1500" b="0" i="0" u="none" strike="noStrike" cap="none" normalizeH="0" baseline="0" dirty="0">
                <a:ln>
                  <a:noFill/>
                </a:ln>
                <a:solidFill>
                  <a:srgbClr val="A9B7C6"/>
                </a:solidFill>
                <a:effectLst/>
                <a:latin typeface="JetBrains Mono"/>
              </a:rPr>
              <a:t> = </a:t>
            </a:r>
            <a:r>
              <a:rPr kumimoji="0" lang="en-US" altLang="en-US" sz="1500" b="0" i="0" u="none" strike="noStrike" cap="none" normalizeH="0" baseline="0" dirty="0">
                <a:ln>
                  <a:noFill/>
                </a:ln>
                <a:solidFill>
                  <a:srgbClr val="6897BB"/>
                </a:solidFill>
                <a:effectLst/>
                <a:latin typeface="JetBrains Mono"/>
              </a:rPr>
              <a:t>23</a:t>
            </a:r>
            <a:br>
              <a:rPr kumimoji="0" lang="en-US" altLang="en-US" sz="1500" b="0" i="0" u="none" strike="noStrike" cap="none" normalizeH="0" baseline="0" dirty="0">
                <a:ln>
                  <a:noFill/>
                </a:ln>
                <a:solidFill>
                  <a:srgbClr val="6897BB"/>
                </a:solidFill>
                <a:effectLst/>
                <a:latin typeface="JetBrains Mono"/>
              </a:rPr>
            </a:br>
            <a:r>
              <a:rPr kumimoji="0" lang="en-US" altLang="en-US" sz="1500" b="0" i="0" u="none" strike="noStrike" cap="none" normalizeH="0" baseline="0" dirty="0">
                <a:ln>
                  <a:noFill/>
                </a:ln>
                <a:solidFill>
                  <a:srgbClr val="6897BB"/>
                </a:solidFill>
                <a:effectLst/>
                <a:latin typeface="JetBrains Mono"/>
              </a:rPr>
              <a:t>        </a:t>
            </a:r>
            <a:r>
              <a:rPr kumimoji="0" lang="en-US" altLang="en-US" sz="1500" b="0" i="0" u="none" strike="noStrike" cap="none" normalizeH="0" baseline="0" dirty="0" err="1">
                <a:ln>
                  <a:noFill/>
                </a:ln>
                <a:solidFill>
                  <a:srgbClr val="94558D"/>
                </a:solidFill>
                <a:effectLst/>
                <a:latin typeface="JetBrains Mono"/>
              </a:rPr>
              <a:t>self</a:t>
            </a:r>
            <a:r>
              <a:rPr kumimoji="0" lang="en-US" altLang="en-US" sz="1500" b="0" i="0" u="none" strike="noStrike" cap="none" normalizeH="0" baseline="0" dirty="0" err="1">
                <a:ln>
                  <a:noFill/>
                </a:ln>
                <a:solidFill>
                  <a:srgbClr val="A9B7C6"/>
                </a:solidFill>
                <a:effectLst/>
                <a:latin typeface="JetBrains Mono"/>
              </a:rPr>
              <a:t>.dc</a:t>
            </a:r>
            <a:r>
              <a:rPr kumimoji="0" lang="en-US" altLang="en-US" sz="1500" b="0" i="0" u="none" strike="noStrike" cap="none" normalizeH="0" baseline="0" dirty="0">
                <a:ln>
                  <a:noFill/>
                </a:ln>
                <a:solidFill>
                  <a:srgbClr val="A9B7C6"/>
                </a:solidFill>
                <a:effectLst/>
                <a:latin typeface="JetBrains Mono"/>
              </a:rPr>
              <a:t> = </a:t>
            </a:r>
            <a:r>
              <a:rPr kumimoji="0" lang="en-US" altLang="en-US" sz="1500" b="0" i="0" u="none" strike="noStrike" cap="none" normalizeH="0" baseline="0" dirty="0">
                <a:ln>
                  <a:noFill/>
                </a:ln>
                <a:solidFill>
                  <a:srgbClr val="6A8759"/>
                </a:solidFill>
                <a:effectLst/>
                <a:latin typeface="JetBrains Mono"/>
              </a:rPr>
              <a:t>"</a:t>
            </a:r>
            <a:r>
              <a:rPr kumimoji="0" lang="en-US" altLang="en-US" sz="1500" b="0" i="0" u="none" strike="noStrike" cap="none" normalizeH="0" baseline="0" dirty="0" err="1">
                <a:ln>
                  <a:noFill/>
                </a:ln>
                <a:solidFill>
                  <a:srgbClr val="6A8759"/>
                </a:solidFill>
                <a:effectLst/>
                <a:latin typeface="JetBrains Mono"/>
              </a:rPr>
              <a:t>Bắc</a:t>
            </a:r>
            <a:r>
              <a:rPr kumimoji="0" lang="en-US" altLang="en-US" sz="1500" b="0" i="0" u="none" strike="noStrike" cap="none" normalizeH="0" baseline="0" dirty="0">
                <a:ln>
                  <a:noFill/>
                </a:ln>
                <a:solidFill>
                  <a:srgbClr val="6A8759"/>
                </a:solidFill>
                <a:effectLst/>
                <a:latin typeface="JetBrains Mono"/>
              </a:rPr>
              <a:t> </a:t>
            </a:r>
            <a:r>
              <a:rPr kumimoji="0" lang="en-US" altLang="en-US" sz="1500" b="0" i="0" u="none" strike="noStrike" cap="none" normalizeH="0" baseline="0" dirty="0" err="1">
                <a:ln>
                  <a:noFill/>
                </a:ln>
                <a:solidFill>
                  <a:srgbClr val="6A8759"/>
                </a:solidFill>
                <a:effectLst/>
                <a:latin typeface="JetBrains Mono"/>
              </a:rPr>
              <a:t>giang</a:t>
            </a:r>
            <a:r>
              <a:rPr kumimoji="0" lang="en-US" altLang="en-US" sz="1500" b="0" i="0" u="none" strike="noStrike" cap="none" normalizeH="0" baseline="0" dirty="0">
                <a:ln>
                  <a:noFill/>
                </a:ln>
                <a:solidFill>
                  <a:srgbClr val="6A8759"/>
                </a:solidFill>
                <a:effectLst/>
                <a:latin typeface="JetBrains Mono"/>
              </a:rPr>
              <a:t>"</a:t>
            </a:r>
            <a:br>
              <a:rPr kumimoji="0" lang="en-US" altLang="en-US" sz="1500" b="0" i="0" u="none" strike="noStrike" cap="none" normalizeH="0" baseline="0" dirty="0">
                <a:ln>
                  <a:noFill/>
                </a:ln>
                <a:solidFill>
                  <a:srgbClr val="6A8759"/>
                </a:solidFill>
                <a:effectLst/>
                <a:latin typeface="JetBrains Mono"/>
              </a:rPr>
            </a:br>
            <a:r>
              <a:rPr kumimoji="0" lang="en-US" altLang="en-US" sz="1500" b="0" i="0" u="none" strike="noStrike" cap="none" normalizeH="0" baseline="0" dirty="0">
                <a:ln>
                  <a:noFill/>
                </a:ln>
                <a:solidFill>
                  <a:srgbClr val="6A8759"/>
                </a:solidFill>
                <a:effectLst/>
                <a:latin typeface="JetBrains Mono"/>
              </a:rPr>
              <a:t>    </a:t>
            </a:r>
            <a:r>
              <a:rPr kumimoji="0" lang="en-US" altLang="en-US" sz="1500" b="0" i="0" u="none" strike="noStrike" cap="none" normalizeH="0" baseline="0" dirty="0" err="1">
                <a:ln>
                  <a:noFill/>
                </a:ln>
                <a:solidFill>
                  <a:srgbClr val="CC7832"/>
                </a:solidFill>
                <a:effectLst/>
                <a:latin typeface="JetBrains Mono"/>
              </a:rPr>
              <a:t>def</a:t>
            </a:r>
            <a:r>
              <a:rPr kumimoji="0" lang="en-US" altLang="en-US" sz="1500" b="0" i="0" u="none" strike="noStrike" cap="none" normalizeH="0" baseline="0" dirty="0">
                <a:ln>
                  <a:noFill/>
                </a:ln>
                <a:solidFill>
                  <a:srgbClr val="CC7832"/>
                </a:solidFill>
                <a:effectLst/>
                <a:latin typeface="JetBrains Mono"/>
              </a:rPr>
              <a:t> </a:t>
            </a:r>
            <a:r>
              <a:rPr kumimoji="0" lang="en-US" altLang="en-US" sz="1500" b="0" i="0" u="none" strike="noStrike" cap="none" normalizeH="0" baseline="0" dirty="0" err="1">
                <a:ln>
                  <a:noFill/>
                </a:ln>
                <a:solidFill>
                  <a:srgbClr val="FFC66D"/>
                </a:solidFill>
                <a:effectLst/>
                <a:latin typeface="JetBrains Mono"/>
              </a:rPr>
              <a:t>hienthi</a:t>
            </a:r>
            <a:r>
              <a:rPr kumimoji="0" lang="en-US" altLang="en-US" sz="1500" b="0" i="0" u="none" strike="noStrike" cap="none" normalizeH="0" baseline="0" dirty="0">
                <a:ln>
                  <a:noFill/>
                </a:ln>
                <a:solidFill>
                  <a:srgbClr val="A9B7C6"/>
                </a:solidFill>
                <a:effectLst/>
                <a:latin typeface="JetBrains Mono"/>
              </a:rPr>
              <a:t>(</a:t>
            </a:r>
            <a:r>
              <a:rPr kumimoji="0" lang="en-US" altLang="en-US" sz="1500" b="0" i="0" u="none" strike="noStrike" cap="none" normalizeH="0" baseline="0" dirty="0">
                <a:ln>
                  <a:noFill/>
                </a:ln>
                <a:solidFill>
                  <a:srgbClr val="94558D"/>
                </a:solidFill>
                <a:effectLst/>
                <a:latin typeface="JetBrains Mono"/>
              </a:rPr>
              <a:t>self</a:t>
            </a:r>
            <a:r>
              <a:rPr kumimoji="0" lang="en-US" altLang="en-US" sz="1500" b="0" i="0" u="none" strike="noStrike" cap="none" normalizeH="0" baseline="0" dirty="0">
                <a:ln>
                  <a:noFill/>
                </a:ln>
                <a:solidFill>
                  <a:srgbClr val="A9B7C6"/>
                </a:solidFill>
                <a:effectLst/>
                <a:latin typeface="JetBrains Mono"/>
              </a:rPr>
              <a:t>):</a:t>
            </a:r>
            <a:br>
              <a:rPr kumimoji="0" lang="en-US" altLang="en-US" sz="1500" b="0" i="0" u="none" strike="noStrike" cap="none" normalizeH="0" baseline="0" dirty="0">
                <a:ln>
                  <a:noFill/>
                </a:ln>
                <a:solidFill>
                  <a:srgbClr val="A9B7C6"/>
                </a:solidFill>
                <a:effectLst/>
                <a:latin typeface="JetBrains Mono"/>
              </a:rPr>
            </a:br>
            <a:r>
              <a:rPr kumimoji="0" lang="en-US" altLang="en-US" sz="1500" b="0" i="0" u="none" strike="noStrike" cap="none" normalizeH="0" baseline="0" dirty="0">
                <a:ln>
                  <a:noFill/>
                </a:ln>
                <a:solidFill>
                  <a:srgbClr val="A9B7C6"/>
                </a:solidFill>
                <a:effectLst/>
                <a:latin typeface="JetBrains Mono"/>
              </a:rPr>
              <a:t>        </a:t>
            </a:r>
            <a:r>
              <a:rPr kumimoji="0" lang="en-US" altLang="en-US" sz="1500" b="0" i="0" u="none" strike="noStrike" cap="none" normalizeH="0" baseline="0" dirty="0">
                <a:ln>
                  <a:noFill/>
                </a:ln>
                <a:solidFill>
                  <a:srgbClr val="8888C6"/>
                </a:solidFill>
                <a:effectLst/>
                <a:latin typeface="JetBrains Mono"/>
              </a:rPr>
              <a:t>print</a:t>
            </a:r>
            <a:r>
              <a:rPr kumimoji="0" lang="en-US" altLang="en-US" sz="1500" b="0" i="0" u="none" strike="noStrike" cap="none" normalizeH="0" baseline="0" dirty="0">
                <a:ln>
                  <a:noFill/>
                </a:ln>
                <a:solidFill>
                  <a:srgbClr val="A9B7C6"/>
                </a:solidFill>
                <a:effectLst/>
                <a:latin typeface="JetBrains Mono"/>
              </a:rPr>
              <a:t>(</a:t>
            </a:r>
            <a:r>
              <a:rPr kumimoji="0" lang="en-US" altLang="en-US" sz="1500" b="0" i="0" u="none" strike="noStrike" cap="none" normalizeH="0" baseline="0" dirty="0">
                <a:ln>
                  <a:noFill/>
                </a:ln>
                <a:solidFill>
                  <a:srgbClr val="6A8759"/>
                </a:solidFill>
                <a:effectLst/>
                <a:latin typeface="JetBrains Mono"/>
              </a:rPr>
              <a:t>"</a:t>
            </a:r>
            <a:r>
              <a:rPr kumimoji="0" lang="en-US" altLang="en-US" sz="1500" b="0" i="0" u="none" strike="noStrike" cap="none" normalizeH="0" baseline="0" dirty="0" err="1">
                <a:ln>
                  <a:noFill/>
                </a:ln>
                <a:solidFill>
                  <a:srgbClr val="6A8759"/>
                </a:solidFill>
                <a:effectLst/>
                <a:latin typeface="JetBrains Mono"/>
              </a:rPr>
              <a:t>Mã</a:t>
            </a:r>
            <a:r>
              <a:rPr kumimoji="0" lang="en-US" altLang="en-US" sz="1500" b="0" i="0" u="none" strike="noStrike" cap="none" normalizeH="0" baseline="0" dirty="0">
                <a:ln>
                  <a:noFill/>
                </a:ln>
                <a:solidFill>
                  <a:srgbClr val="6A8759"/>
                </a:solidFill>
                <a:effectLst/>
                <a:latin typeface="JetBrains Mono"/>
              </a:rPr>
              <a:t> </a:t>
            </a:r>
            <a:r>
              <a:rPr kumimoji="0" lang="en-US" altLang="en-US" sz="1500" b="0" i="0" u="none" strike="noStrike" cap="none" normalizeH="0" baseline="0" dirty="0" err="1">
                <a:ln>
                  <a:noFill/>
                </a:ln>
                <a:solidFill>
                  <a:srgbClr val="6A8759"/>
                </a:solidFill>
                <a:effectLst/>
                <a:latin typeface="JetBrains Mono"/>
              </a:rPr>
              <a:t>sinh</a:t>
            </a:r>
            <a:r>
              <a:rPr kumimoji="0" lang="en-US" altLang="en-US" sz="1500" b="0" i="0" u="none" strike="noStrike" cap="none" normalizeH="0" baseline="0" dirty="0">
                <a:ln>
                  <a:noFill/>
                </a:ln>
                <a:solidFill>
                  <a:srgbClr val="6A8759"/>
                </a:solidFill>
                <a:effectLst/>
                <a:latin typeface="JetBrains Mono"/>
              </a:rPr>
              <a:t> </a:t>
            </a:r>
            <a:r>
              <a:rPr kumimoji="0" lang="en-US" altLang="en-US" sz="1500" b="0" i="0" u="none" strike="noStrike" cap="none" normalizeH="0" baseline="0" dirty="0" err="1">
                <a:ln>
                  <a:noFill/>
                </a:ln>
                <a:solidFill>
                  <a:srgbClr val="6A8759"/>
                </a:solidFill>
                <a:effectLst/>
                <a:latin typeface="JetBrains Mono"/>
              </a:rPr>
              <a:t>viên</a:t>
            </a:r>
            <a:r>
              <a:rPr kumimoji="0" lang="en-US" altLang="en-US" sz="1500" b="0" i="0" u="none" strike="noStrike" cap="none" normalizeH="0" baseline="0" dirty="0">
                <a:ln>
                  <a:noFill/>
                </a:ln>
                <a:solidFill>
                  <a:srgbClr val="6A8759"/>
                </a:solidFill>
                <a:effectLst/>
                <a:latin typeface="JetBrains Mono"/>
              </a:rPr>
              <a:t>:"</a:t>
            </a:r>
            <a:r>
              <a:rPr kumimoji="0" lang="en-US" altLang="en-US" sz="1500" b="0" i="0" u="none" strike="noStrike" cap="none" normalizeH="0" baseline="0" dirty="0">
                <a:ln>
                  <a:noFill/>
                </a:ln>
                <a:solidFill>
                  <a:srgbClr val="CC7832"/>
                </a:solidFill>
                <a:effectLst/>
                <a:latin typeface="JetBrains Mono"/>
              </a:rPr>
              <a:t>,</a:t>
            </a:r>
            <a:r>
              <a:rPr kumimoji="0" lang="en-US" altLang="en-US" sz="1500" b="0" i="0" u="none" strike="noStrike" cap="none" normalizeH="0" baseline="0" dirty="0" err="1">
                <a:ln>
                  <a:noFill/>
                </a:ln>
                <a:solidFill>
                  <a:srgbClr val="94558D"/>
                </a:solidFill>
                <a:effectLst/>
                <a:latin typeface="JetBrains Mono"/>
              </a:rPr>
              <a:t>self</a:t>
            </a:r>
            <a:r>
              <a:rPr kumimoji="0" lang="en-US" altLang="en-US" sz="1500" b="0" i="0" u="none" strike="noStrike" cap="none" normalizeH="0" baseline="0" dirty="0" err="1">
                <a:ln>
                  <a:noFill/>
                </a:ln>
                <a:solidFill>
                  <a:srgbClr val="A9B7C6"/>
                </a:solidFill>
                <a:effectLst/>
                <a:latin typeface="JetBrains Mono"/>
              </a:rPr>
              <a:t>.masv</a:t>
            </a:r>
            <a:r>
              <a:rPr kumimoji="0" lang="en-US" altLang="en-US" sz="1500" b="0" i="0" u="none" strike="noStrike" cap="none" normalizeH="0" baseline="0" dirty="0">
                <a:ln>
                  <a:noFill/>
                </a:ln>
                <a:solidFill>
                  <a:srgbClr val="A9B7C6"/>
                </a:solidFill>
                <a:effectLst/>
                <a:latin typeface="JetBrains Mono"/>
              </a:rPr>
              <a:t>)</a:t>
            </a:r>
            <a:br>
              <a:rPr kumimoji="0" lang="en-US" altLang="en-US" sz="1500" b="0" i="0" u="none" strike="noStrike" cap="none" normalizeH="0" baseline="0" dirty="0">
                <a:ln>
                  <a:noFill/>
                </a:ln>
                <a:solidFill>
                  <a:srgbClr val="A9B7C6"/>
                </a:solidFill>
                <a:effectLst/>
                <a:latin typeface="JetBrains Mono"/>
              </a:rPr>
            </a:br>
            <a:r>
              <a:rPr kumimoji="0" lang="en-US" altLang="en-US" sz="1500" b="0" i="0" u="none" strike="noStrike" cap="none" normalizeH="0" baseline="0" dirty="0">
                <a:ln>
                  <a:noFill/>
                </a:ln>
                <a:solidFill>
                  <a:srgbClr val="A9B7C6"/>
                </a:solidFill>
                <a:effectLst/>
                <a:latin typeface="JetBrains Mono"/>
              </a:rPr>
              <a:t>        </a:t>
            </a:r>
            <a:r>
              <a:rPr kumimoji="0" lang="en-US" altLang="en-US" sz="1500" b="0" i="0" u="none" strike="noStrike" cap="none" normalizeH="0" baseline="0" dirty="0">
                <a:ln>
                  <a:noFill/>
                </a:ln>
                <a:solidFill>
                  <a:srgbClr val="8888C6"/>
                </a:solidFill>
                <a:effectLst/>
                <a:latin typeface="JetBrains Mono"/>
              </a:rPr>
              <a:t>print</a:t>
            </a:r>
            <a:r>
              <a:rPr kumimoji="0" lang="en-US" altLang="en-US" sz="1500" b="0" i="0" u="none" strike="noStrike" cap="none" normalizeH="0" baseline="0" dirty="0">
                <a:ln>
                  <a:noFill/>
                </a:ln>
                <a:solidFill>
                  <a:srgbClr val="A9B7C6"/>
                </a:solidFill>
                <a:effectLst/>
                <a:latin typeface="JetBrains Mono"/>
              </a:rPr>
              <a:t>(</a:t>
            </a:r>
            <a:r>
              <a:rPr kumimoji="0" lang="en-US" altLang="en-US" sz="1500" b="0" i="0" u="none" strike="noStrike" cap="none" normalizeH="0" baseline="0" dirty="0">
                <a:ln>
                  <a:noFill/>
                </a:ln>
                <a:solidFill>
                  <a:srgbClr val="6A8759"/>
                </a:solidFill>
                <a:effectLst/>
                <a:latin typeface="JetBrains Mono"/>
              </a:rPr>
              <a:t>"</a:t>
            </a:r>
            <a:r>
              <a:rPr kumimoji="0" lang="en-US" altLang="en-US" sz="1500" b="0" i="0" u="none" strike="noStrike" cap="none" normalizeH="0" baseline="0" dirty="0" err="1">
                <a:ln>
                  <a:noFill/>
                </a:ln>
                <a:solidFill>
                  <a:srgbClr val="6A8759"/>
                </a:solidFill>
                <a:effectLst/>
                <a:latin typeface="JetBrains Mono"/>
              </a:rPr>
              <a:t>Họ</a:t>
            </a:r>
            <a:r>
              <a:rPr kumimoji="0" lang="en-US" altLang="en-US" sz="1500" b="0" i="0" u="none" strike="noStrike" cap="none" normalizeH="0" baseline="0" dirty="0">
                <a:ln>
                  <a:noFill/>
                </a:ln>
                <a:solidFill>
                  <a:srgbClr val="6A8759"/>
                </a:solidFill>
                <a:effectLst/>
                <a:latin typeface="JetBrains Mono"/>
              </a:rPr>
              <a:t> </a:t>
            </a:r>
            <a:r>
              <a:rPr kumimoji="0" lang="en-US" altLang="en-US" sz="1500" b="0" i="0" u="none" strike="noStrike" cap="none" normalizeH="0" baseline="0" dirty="0" err="1">
                <a:ln>
                  <a:noFill/>
                </a:ln>
                <a:solidFill>
                  <a:srgbClr val="6A8759"/>
                </a:solidFill>
                <a:effectLst/>
                <a:latin typeface="JetBrains Mono"/>
              </a:rPr>
              <a:t>tên</a:t>
            </a:r>
            <a:r>
              <a:rPr kumimoji="0" lang="en-US" altLang="en-US" sz="1500" b="0" i="0" u="none" strike="noStrike" cap="none" normalizeH="0" baseline="0" dirty="0">
                <a:ln>
                  <a:noFill/>
                </a:ln>
                <a:solidFill>
                  <a:srgbClr val="6A8759"/>
                </a:solidFill>
                <a:effectLst/>
                <a:latin typeface="JetBrains Mono"/>
              </a:rPr>
              <a:t> </a:t>
            </a:r>
            <a:r>
              <a:rPr kumimoji="0" lang="en-US" altLang="en-US" sz="1500" b="0" i="0" u="none" strike="noStrike" cap="none" normalizeH="0" baseline="0" dirty="0" err="1">
                <a:ln>
                  <a:noFill/>
                </a:ln>
                <a:solidFill>
                  <a:srgbClr val="6A8759"/>
                </a:solidFill>
                <a:effectLst/>
                <a:latin typeface="JetBrains Mono"/>
              </a:rPr>
              <a:t>sinh</a:t>
            </a:r>
            <a:r>
              <a:rPr kumimoji="0" lang="en-US" altLang="en-US" sz="1500" b="0" i="0" u="none" strike="noStrike" cap="none" normalizeH="0" baseline="0" dirty="0">
                <a:ln>
                  <a:noFill/>
                </a:ln>
                <a:solidFill>
                  <a:srgbClr val="6A8759"/>
                </a:solidFill>
                <a:effectLst/>
                <a:latin typeface="JetBrains Mono"/>
              </a:rPr>
              <a:t> </a:t>
            </a:r>
            <a:r>
              <a:rPr kumimoji="0" lang="en-US" altLang="en-US" sz="1500" b="0" i="0" u="none" strike="noStrike" cap="none" normalizeH="0" baseline="0" dirty="0" err="1">
                <a:ln>
                  <a:noFill/>
                </a:ln>
                <a:solidFill>
                  <a:srgbClr val="6A8759"/>
                </a:solidFill>
                <a:effectLst/>
                <a:latin typeface="JetBrains Mono"/>
              </a:rPr>
              <a:t>viên</a:t>
            </a:r>
            <a:r>
              <a:rPr kumimoji="0" lang="en-US" altLang="en-US" sz="1500" b="0" i="0" u="none" strike="noStrike" cap="none" normalizeH="0" baseline="0" dirty="0">
                <a:ln>
                  <a:noFill/>
                </a:ln>
                <a:solidFill>
                  <a:srgbClr val="6A8759"/>
                </a:solidFill>
                <a:effectLst/>
                <a:latin typeface="JetBrains Mono"/>
              </a:rPr>
              <a:t>:"</a:t>
            </a:r>
            <a:r>
              <a:rPr kumimoji="0" lang="en-US" altLang="en-US" sz="1500" b="0" i="0" u="none" strike="noStrike" cap="none" normalizeH="0" baseline="0" dirty="0">
                <a:ln>
                  <a:noFill/>
                </a:ln>
                <a:solidFill>
                  <a:srgbClr val="CC7832"/>
                </a:solidFill>
                <a:effectLst/>
                <a:latin typeface="JetBrains Mono"/>
              </a:rPr>
              <a:t>, </a:t>
            </a:r>
            <a:r>
              <a:rPr kumimoji="0" lang="en-US" altLang="en-US" sz="1500" b="0" i="0" u="none" strike="noStrike" cap="none" normalizeH="0" baseline="0" dirty="0">
                <a:ln>
                  <a:noFill/>
                </a:ln>
                <a:solidFill>
                  <a:srgbClr val="94558D"/>
                </a:solidFill>
                <a:effectLst/>
                <a:latin typeface="JetBrains Mono"/>
              </a:rPr>
              <a:t>self</a:t>
            </a:r>
            <a:r>
              <a:rPr kumimoji="0" lang="en-US" altLang="en-US" sz="1500" b="0" i="0" u="none" strike="noStrike" cap="none" normalizeH="0" baseline="0" dirty="0">
                <a:ln>
                  <a:noFill/>
                </a:ln>
                <a:solidFill>
                  <a:srgbClr val="A9B7C6"/>
                </a:solidFill>
                <a:effectLst/>
                <a:latin typeface="JetBrains Mono"/>
              </a:rPr>
              <a:t>.ht)</a:t>
            </a:r>
            <a:br>
              <a:rPr kumimoji="0" lang="en-US" altLang="en-US" sz="1500" b="0" i="0" u="none" strike="noStrike" cap="none" normalizeH="0" baseline="0" dirty="0">
                <a:ln>
                  <a:noFill/>
                </a:ln>
                <a:solidFill>
                  <a:srgbClr val="A9B7C6"/>
                </a:solidFill>
                <a:effectLst/>
                <a:latin typeface="JetBrains Mono"/>
              </a:rPr>
            </a:br>
            <a:r>
              <a:rPr kumimoji="0" lang="en-US" altLang="en-US" sz="1500" b="0" i="0" u="none" strike="noStrike" cap="none" normalizeH="0" baseline="0" dirty="0">
                <a:ln>
                  <a:noFill/>
                </a:ln>
                <a:solidFill>
                  <a:srgbClr val="A9B7C6"/>
                </a:solidFill>
                <a:effectLst/>
                <a:latin typeface="JetBrains Mono"/>
              </a:rPr>
              <a:t>        </a:t>
            </a:r>
            <a:r>
              <a:rPr kumimoji="0" lang="en-US" altLang="en-US" sz="1500" b="0" i="0" u="none" strike="noStrike" cap="none" normalizeH="0" baseline="0" dirty="0">
                <a:ln>
                  <a:noFill/>
                </a:ln>
                <a:solidFill>
                  <a:srgbClr val="8888C6"/>
                </a:solidFill>
                <a:effectLst/>
                <a:latin typeface="JetBrains Mono"/>
              </a:rPr>
              <a:t>print</a:t>
            </a:r>
            <a:r>
              <a:rPr kumimoji="0" lang="en-US" altLang="en-US" sz="1500" b="0" i="0" u="none" strike="noStrike" cap="none" normalizeH="0" baseline="0" dirty="0">
                <a:ln>
                  <a:noFill/>
                </a:ln>
                <a:solidFill>
                  <a:srgbClr val="A9B7C6"/>
                </a:solidFill>
                <a:effectLst/>
                <a:latin typeface="JetBrains Mono"/>
              </a:rPr>
              <a:t>(</a:t>
            </a:r>
            <a:r>
              <a:rPr kumimoji="0" lang="en-US" altLang="en-US" sz="1500" b="0" i="0" u="none" strike="noStrike" cap="none" normalizeH="0" baseline="0" dirty="0">
                <a:ln>
                  <a:noFill/>
                </a:ln>
                <a:solidFill>
                  <a:srgbClr val="6A8759"/>
                </a:solidFill>
                <a:effectLst/>
                <a:latin typeface="JetBrains Mono"/>
              </a:rPr>
              <a:t>"</a:t>
            </a:r>
            <a:r>
              <a:rPr kumimoji="0" lang="en-US" altLang="en-US" sz="1500" b="0" i="0" u="none" strike="noStrike" cap="none" normalizeH="0" baseline="0" dirty="0" err="1">
                <a:ln>
                  <a:noFill/>
                </a:ln>
                <a:solidFill>
                  <a:srgbClr val="6A8759"/>
                </a:solidFill>
                <a:effectLst/>
                <a:latin typeface="JetBrains Mono"/>
              </a:rPr>
              <a:t>Tuổi</a:t>
            </a:r>
            <a:r>
              <a:rPr kumimoji="0" lang="en-US" altLang="en-US" sz="1500" b="0" i="0" u="none" strike="noStrike" cap="none" normalizeH="0" baseline="0" dirty="0">
                <a:ln>
                  <a:noFill/>
                </a:ln>
                <a:solidFill>
                  <a:srgbClr val="6A8759"/>
                </a:solidFill>
                <a:effectLst/>
                <a:latin typeface="JetBrains Mono"/>
              </a:rPr>
              <a:t> </a:t>
            </a:r>
            <a:r>
              <a:rPr kumimoji="0" lang="en-US" altLang="en-US" sz="1500" b="0" i="0" u="none" strike="noStrike" cap="none" normalizeH="0" baseline="0" dirty="0" err="1">
                <a:ln>
                  <a:noFill/>
                </a:ln>
                <a:solidFill>
                  <a:srgbClr val="6A8759"/>
                </a:solidFill>
                <a:effectLst/>
                <a:latin typeface="JetBrains Mono"/>
              </a:rPr>
              <a:t>sinh</a:t>
            </a:r>
            <a:r>
              <a:rPr kumimoji="0" lang="en-US" altLang="en-US" sz="1500" b="0" i="0" u="none" strike="noStrike" cap="none" normalizeH="0" baseline="0" dirty="0">
                <a:ln>
                  <a:noFill/>
                </a:ln>
                <a:solidFill>
                  <a:srgbClr val="6A8759"/>
                </a:solidFill>
                <a:effectLst/>
                <a:latin typeface="JetBrains Mono"/>
              </a:rPr>
              <a:t> </a:t>
            </a:r>
            <a:r>
              <a:rPr kumimoji="0" lang="en-US" altLang="en-US" sz="1500" b="0" i="0" u="none" strike="noStrike" cap="none" normalizeH="0" baseline="0" dirty="0" err="1">
                <a:ln>
                  <a:noFill/>
                </a:ln>
                <a:solidFill>
                  <a:srgbClr val="6A8759"/>
                </a:solidFill>
                <a:effectLst/>
                <a:latin typeface="JetBrains Mono"/>
              </a:rPr>
              <a:t>viên</a:t>
            </a:r>
            <a:r>
              <a:rPr kumimoji="0" lang="en-US" altLang="en-US" sz="1500" b="0" i="0" u="none" strike="noStrike" cap="none" normalizeH="0" baseline="0" dirty="0">
                <a:ln>
                  <a:noFill/>
                </a:ln>
                <a:solidFill>
                  <a:srgbClr val="6A8759"/>
                </a:solidFill>
                <a:effectLst/>
                <a:latin typeface="JetBrains Mono"/>
              </a:rPr>
              <a:t>:"</a:t>
            </a:r>
            <a:r>
              <a:rPr kumimoji="0" lang="en-US" altLang="en-US" sz="1500" b="0" i="0" u="none" strike="noStrike" cap="none" normalizeH="0" baseline="0" dirty="0">
                <a:ln>
                  <a:noFill/>
                </a:ln>
                <a:solidFill>
                  <a:srgbClr val="CC7832"/>
                </a:solidFill>
                <a:effectLst/>
                <a:latin typeface="JetBrains Mono"/>
              </a:rPr>
              <a:t>, </a:t>
            </a:r>
            <a:r>
              <a:rPr kumimoji="0" lang="en-US" altLang="en-US" sz="1500" b="0" i="0" u="none" strike="noStrike" cap="none" normalizeH="0" baseline="0" dirty="0" err="1">
                <a:ln>
                  <a:noFill/>
                </a:ln>
                <a:solidFill>
                  <a:srgbClr val="94558D"/>
                </a:solidFill>
                <a:effectLst/>
                <a:latin typeface="JetBrains Mono"/>
              </a:rPr>
              <a:t>self</a:t>
            </a:r>
            <a:r>
              <a:rPr kumimoji="0" lang="en-US" altLang="en-US" sz="1500" b="0" i="0" u="none" strike="noStrike" cap="none" normalizeH="0" baseline="0" dirty="0" err="1">
                <a:ln>
                  <a:noFill/>
                </a:ln>
                <a:solidFill>
                  <a:srgbClr val="A9B7C6"/>
                </a:solidFill>
                <a:effectLst/>
                <a:latin typeface="JetBrains Mono"/>
              </a:rPr>
              <a:t>.tuoi</a:t>
            </a:r>
            <a:r>
              <a:rPr kumimoji="0" lang="en-US" altLang="en-US" sz="1500" b="0" i="0" u="none" strike="noStrike" cap="none" normalizeH="0" baseline="0" dirty="0">
                <a:ln>
                  <a:noFill/>
                </a:ln>
                <a:solidFill>
                  <a:srgbClr val="A9B7C6"/>
                </a:solidFill>
                <a:effectLst/>
                <a:latin typeface="JetBrains Mono"/>
              </a:rPr>
              <a:t>)</a:t>
            </a:r>
            <a:br>
              <a:rPr kumimoji="0" lang="en-US" altLang="en-US" sz="1500" b="0" i="0" u="none" strike="noStrike" cap="none" normalizeH="0" baseline="0" dirty="0">
                <a:ln>
                  <a:noFill/>
                </a:ln>
                <a:solidFill>
                  <a:srgbClr val="A9B7C6"/>
                </a:solidFill>
                <a:effectLst/>
                <a:latin typeface="JetBrains Mono"/>
              </a:rPr>
            </a:br>
            <a:r>
              <a:rPr kumimoji="0" lang="en-US" altLang="en-US" sz="1500" b="0" i="0" u="none" strike="noStrike" cap="none" normalizeH="0" baseline="0" dirty="0">
                <a:ln>
                  <a:noFill/>
                </a:ln>
                <a:solidFill>
                  <a:srgbClr val="A9B7C6"/>
                </a:solidFill>
                <a:effectLst/>
                <a:latin typeface="JetBrains Mono"/>
              </a:rPr>
              <a:t>        </a:t>
            </a:r>
            <a:r>
              <a:rPr kumimoji="0" lang="en-US" altLang="en-US" sz="1500" b="0" i="0" u="none" strike="noStrike" cap="none" normalizeH="0" baseline="0" dirty="0">
                <a:ln>
                  <a:noFill/>
                </a:ln>
                <a:solidFill>
                  <a:srgbClr val="8888C6"/>
                </a:solidFill>
                <a:effectLst/>
                <a:latin typeface="JetBrains Mono"/>
              </a:rPr>
              <a:t>print</a:t>
            </a:r>
            <a:r>
              <a:rPr kumimoji="0" lang="en-US" altLang="en-US" sz="1500" b="0" i="0" u="none" strike="noStrike" cap="none" normalizeH="0" baseline="0" dirty="0">
                <a:ln>
                  <a:noFill/>
                </a:ln>
                <a:solidFill>
                  <a:srgbClr val="A9B7C6"/>
                </a:solidFill>
                <a:effectLst/>
                <a:latin typeface="JetBrains Mono"/>
              </a:rPr>
              <a:t>(</a:t>
            </a:r>
            <a:r>
              <a:rPr kumimoji="0" lang="en-US" altLang="en-US" sz="1500" b="0" i="0" u="none" strike="noStrike" cap="none" normalizeH="0" baseline="0" dirty="0">
                <a:ln>
                  <a:noFill/>
                </a:ln>
                <a:solidFill>
                  <a:srgbClr val="6A8759"/>
                </a:solidFill>
                <a:effectLst/>
                <a:latin typeface="JetBrains Mono"/>
              </a:rPr>
              <a:t>"</a:t>
            </a:r>
            <a:r>
              <a:rPr kumimoji="0" lang="en-US" altLang="en-US" sz="1500" b="0" i="0" u="none" strike="noStrike" cap="none" normalizeH="0" baseline="0" dirty="0" err="1">
                <a:ln>
                  <a:noFill/>
                </a:ln>
                <a:solidFill>
                  <a:srgbClr val="6A8759"/>
                </a:solidFill>
                <a:effectLst/>
                <a:latin typeface="JetBrains Mono"/>
              </a:rPr>
              <a:t>Địa</a:t>
            </a:r>
            <a:r>
              <a:rPr kumimoji="0" lang="en-US" altLang="en-US" sz="1500" b="0" i="0" u="none" strike="noStrike" cap="none" normalizeH="0" baseline="0" dirty="0">
                <a:ln>
                  <a:noFill/>
                </a:ln>
                <a:solidFill>
                  <a:srgbClr val="6A8759"/>
                </a:solidFill>
                <a:effectLst/>
                <a:latin typeface="JetBrains Mono"/>
              </a:rPr>
              <a:t> </a:t>
            </a:r>
            <a:r>
              <a:rPr kumimoji="0" lang="en-US" altLang="en-US" sz="1500" b="0" i="0" u="none" strike="noStrike" cap="none" normalizeH="0" baseline="0" dirty="0" err="1">
                <a:ln>
                  <a:noFill/>
                </a:ln>
                <a:solidFill>
                  <a:srgbClr val="6A8759"/>
                </a:solidFill>
                <a:effectLst/>
                <a:latin typeface="JetBrains Mono"/>
              </a:rPr>
              <a:t>chỉ</a:t>
            </a:r>
            <a:r>
              <a:rPr kumimoji="0" lang="en-US" altLang="en-US" sz="1500" b="0" i="0" u="none" strike="noStrike" cap="none" normalizeH="0" baseline="0" dirty="0">
                <a:ln>
                  <a:noFill/>
                </a:ln>
                <a:solidFill>
                  <a:srgbClr val="6A8759"/>
                </a:solidFill>
                <a:effectLst/>
                <a:latin typeface="JetBrains Mono"/>
              </a:rPr>
              <a:t> </a:t>
            </a:r>
            <a:r>
              <a:rPr kumimoji="0" lang="en-US" altLang="en-US" sz="1500" b="0" i="0" u="none" strike="noStrike" cap="none" normalizeH="0" baseline="0" dirty="0" err="1">
                <a:ln>
                  <a:noFill/>
                </a:ln>
                <a:solidFill>
                  <a:srgbClr val="6A8759"/>
                </a:solidFill>
                <a:effectLst/>
                <a:latin typeface="JetBrains Mono"/>
              </a:rPr>
              <a:t>sinh</a:t>
            </a:r>
            <a:r>
              <a:rPr kumimoji="0" lang="en-US" altLang="en-US" sz="1500" b="0" i="0" u="none" strike="noStrike" cap="none" normalizeH="0" baseline="0" dirty="0">
                <a:ln>
                  <a:noFill/>
                </a:ln>
                <a:solidFill>
                  <a:srgbClr val="6A8759"/>
                </a:solidFill>
                <a:effectLst/>
                <a:latin typeface="JetBrains Mono"/>
              </a:rPr>
              <a:t> </a:t>
            </a:r>
            <a:r>
              <a:rPr kumimoji="0" lang="en-US" altLang="en-US" sz="1500" b="0" i="0" u="none" strike="noStrike" cap="none" normalizeH="0" baseline="0" dirty="0" err="1">
                <a:ln>
                  <a:noFill/>
                </a:ln>
                <a:solidFill>
                  <a:srgbClr val="6A8759"/>
                </a:solidFill>
                <a:effectLst/>
                <a:latin typeface="JetBrains Mono"/>
              </a:rPr>
              <a:t>viên</a:t>
            </a:r>
            <a:r>
              <a:rPr kumimoji="0" lang="en-US" altLang="en-US" sz="1500" b="0" i="0" u="none" strike="noStrike" cap="none" normalizeH="0" baseline="0" dirty="0">
                <a:ln>
                  <a:noFill/>
                </a:ln>
                <a:solidFill>
                  <a:srgbClr val="6A8759"/>
                </a:solidFill>
                <a:effectLst/>
                <a:latin typeface="JetBrains Mono"/>
              </a:rPr>
              <a:t>:"</a:t>
            </a:r>
            <a:r>
              <a:rPr kumimoji="0" lang="en-US" altLang="en-US" sz="1500" b="0" i="0" u="none" strike="noStrike" cap="none" normalizeH="0" baseline="0" dirty="0">
                <a:ln>
                  <a:noFill/>
                </a:ln>
                <a:solidFill>
                  <a:srgbClr val="CC7832"/>
                </a:solidFill>
                <a:effectLst/>
                <a:latin typeface="JetBrains Mono"/>
              </a:rPr>
              <a:t>, </a:t>
            </a:r>
            <a:r>
              <a:rPr kumimoji="0" lang="en-US" altLang="en-US" sz="1500" b="0" i="0" u="none" strike="noStrike" cap="none" normalizeH="0" baseline="0" dirty="0" err="1">
                <a:ln>
                  <a:noFill/>
                </a:ln>
                <a:solidFill>
                  <a:srgbClr val="94558D"/>
                </a:solidFill>
                <a:effectLst/>
                <a:latin typeface="JetBrains Mono"/>
              </a:rPr>
              <a:t>self</a:t>
            </a:r>
            <a:r>
              <a:rPr kumimoji="0" lang="en-US" altLang="en-US" sz="1500" b="0" i="0" u="none" strike="noStrike" cap="none" normalizeH="0" baseline="0" dirty="0" err="1">
                <a:ln>
                  <a:noFill/>
                </a:ln>
                <a:solidFill>
                  <a:srgbClr val="A9B7C6"/>
                </a:solidFill>
                <a:effectLst/>
                <a:latin typeface="JetBrains Mono"/>
              </a:rPr>
              <a:t>.dc</a:t>
            </a:r>
            <a:r>
              <a:rPr kumimoji="0" lang="en-US" altLang="en-US" sz="1500" b="0" i="0" u="none" strike="noStrike" cap="none" normalizeH="0" baseline="0" dirty="0">
                <a:ln>
                  <a:noFill/>
                </a:ln>
                <a:solidFill>
                  <a:srgbClr val="A9B7C6"/>
                </a:solidFill>
                <a:effectLst/>
                <a:latin typeface="JetBrains Mono"/>
              </a:rPr>
              <a:t>)</a:t>
            </a:r>
            <a:br>
              <a:rPr kumimoji="0" lang="en-US" altLang="en-US" sz="1500" b="0" i="0" u="none" strike="noStrike" cap="none" normalizeH="0" baseline="0" dirty="0">
                <a:ln>
                  <a:noFill/>
                </a:ln>
                <a:solidFill>
                  <a:srgbClr val="A9B7C6"/>
                </a:solidFill>
                <a:effectLst/>
                <a:latin typeface="JetBrains Mono"/>
              </a:rPr>
            </a:br>
            <a:r>
              <a:rPr kumimoji="0" lang="en-US" altLang="en-US" sz="1500" b="0" i="0" u="none" strike="noStrike" cap="none" normalizeH="0" baseline="0" dirty="0">
                <a:ln>
                  <a:noFill/>
                </a:ln>
                <a:solidFill>
                  <a:srgbClr val="A9B7C6"/>
                </a:solidFill>
                <a:effectLst/>
                <a:latin typeface="JetBrains Mono"/>
              </a:rPr>
              <a:t>    </a:t>
            </a:r>
            <a:r>
              <a:rPr kumimoji="0" lang="en-US" altLang="en-US" sz="1500" b="0" i="0" u="none" strike="noStrike" cap="none" normalizeH="0" baseline="0" dirty="0" err="1">
                <a:ln>
                  <a:noFill/>
                </a:ln>
                <a:solidFill>
                  <a:srgbClr val="CC7832"/>
                </a:solidFill>
                <a:effectLst/>
                <a:latin typeface="JetBrains Mono"/>
              </a:rPr>
              <a:t>def</a:t>
            </a:r>
            <a:r>
              <a:rPr kumimoji="0" lang="en-US" altLang="en-US" sz="1500" b="0" i="0" u="none" strike="noStrike" cap="none" normalizeH="0" baseline="0" dirty="0">
                <a:ln>
                  <a:noFill/>
                </a:ln>
                <a:solidFill>
                  <a:srgbClr val="CC7832"/>
                </a:solidFill>
                <a:effectLst/>
                <a:latin typeface="JetBrains Mono"/>
              </a:rPr>
              <a:t> </a:t>
            </a:r>
            <a:r>
              <a:rPr kumimoji="0" lang="en-US" altLang="en-US" sz="1500" b="0" i="0" u="none" strike="noStrike" cap="none" normalizeH="0" baseline="0" dirty="0">
                <a:ln>
                  <a:noFill/>
                </a:ln>
                <a:solidFill>
                  <a:srgbClr val="B200B2"/>
                </a:solidFill>
                <a:effectLst/>
                <a:latin typeface="JetBrains Mono"/>
              </a:rPr>
              <a:t>__del__</a:t>
            </a:r>
            <a:r>
              <a:rPr kumimoji="0" lang="en-US" altLang="en-US" sz="1500" b="0" i="0" u="none" strike="noStrike" cap="none" normalizeH="0" baseline="0" dirty="0">
                <a:ln>
                  <a:noFill/>
                </a:ln>
                <a:solidFill>
                  <a:srgbClr val="A9B7C6"/>
                </a:solidFill>
                <a:effectLst/>
                <a:latin typeface="JetBrains Mono"/>
              </a:rPr>
              <a:t>(</a:t>
            </a:r>
            <a:r>
              <a:rPr kumimoji="0" lang="en-US" altLang="en-US" sz="1500" b="0" i="0" u="none" strike="noStrike" cap="none" normalizeH="0" baseline="0" dirty="0">
                <a:ln>
                  <a:noFill/>
                </a:ln>
                <a:solidFill>
                  <a:srgbClr val="94558D"/>
                </a:solidFill>
                <a:effectLst/>
                <a:latin typeface="JetBrains Mono"/>
              </a:rPr>
              <a:t>self</a:t>
            </a:r>
            <a:r>
              <a:rPr kumimoji="0" lang="en-US" altLang="en-US" sz="1500" b="0" i="0" u="none" strike="noStrike" cap="none" normalizeH="0" baseline="0" dirty="0">
                <a:ln>
                  <a:noFill/>
                </a:ln>
                <a:solidFill>
                  <a:srgbClr val="A9B7C6"/>
                </a:solidFill>
                <a:effectLst/>
                <a:latin typeface="JetBrains Mono"/>
              </a:rPr>
              <a:t>):</a:t>
            </a:r>
            <a:br>
              <a:rPr kumimoji="0" lang="en-US" altLang="en-US" sz="1500" b="0" i="0" u="none" strike="noStrike" cap="none" normalizeH="0" baseline="0" dirty="0">
                <a:ln>
                  <a:noFill/>
                </a:ln>
                <a:solidFill>
                  <a:srgbClr val="A9B7C6"/>
                </a:solidFill>
                <a:effectLst/>
                <a:latin typeface="JetBrains Mono"/>
              </a:rPr>
            </a:br>
            <a:r>
              <a:rPr kumimoji="0" lang="en-US" altLang="en-US" sz="1500" b="0" i="0" u="none" strike="noStrike" cap="none" normalizeH="0" baseline="0" dirty="0">
                <a:ln>
                  <a:noFill/>
                </a:ln>
                <a:solidFill>
                  <a:srgbClr val="A9B7C6"/>
                </a:solidFill>
                <a:effectLst/>
                <a:latin typeface="JetBrains Mono"/>
              </a:rPr>
              <a:t>        </a:t>
            </a:r>
            <a:r>
              <a:rPr kumimoji="0" lang="en-US" altLang="en-US" sz="1500" b="0" i="0" u="none" strike="noStrike" cap="none" normalizeH="0" baseline="0" dirty="0">
                <a:ln>
                  <a:noFill/>
                </a:ln>
                <a:solidFill>
                  <a:srgbClr val="8888C6"/>
                </a:solidFill>
                <a:effectLst/>
                <a:latin typeface="JetBrains Mono"/>
              </a:rPr>
              <a:t>print</a:t>
            </a:r>
            <a:r>
              <a:rPr kumimoji="0" lang="en-US" altLang="en-US" sz="1500" b="0" i="0" u="none" strike="noStrike" cap="none" normalizeH="0" baseline="0" dirty="0">
                <a:ln>
                  <a:noFill/>
                </a:ln>
                <a:solidFill>
                  <a:srgbClr val="A9B7C6"/>
                </a:solidFill>
                <a:effectLst/>
                <a:latin typeface="JetBrains Mono"/>
              </a:rPr>
              <a:t>(</a:t>
            </a:r>
            <a:r>
              <a:rPr kumimoji="0" lang="en-US" altLang="en-US" sz="1500" b="0" i="0" u="none" strike="noStrike" cap="none" normalizeH="0" baseline="0" dirty="0">
                <a:ln>
                  <a:noFill/>
                </a:ln>
                <a:solidFill>
                  <a:srgbClr val="6A8759"/>
                </a:solidFill>
                <a:effectLst/>
                <a:latin typeface="JetBrains Mono"/>
              </a:rPr>
              <a:t>"</a:t>
            </a:r>
            <a:r>
              <a:rPr kumimoji="0" lang="en-US" altLang="en-US" sz="1500" b="0" i="0" u="none" strike="noStrike" cap="none" normalizeH="0" baseline="0" dirty="0" err="1">
                <a:ln>
                  <a:noFill/>
                </a:ln>
                <a:solidFill>
                  <a:srgbClr val="6A8759"/>
                </a:solidFill>
                <a:effectLst/>
                <a:latin typeface="JetBrains Mono"/>
              </a:rPr>
              <a:t>huỷ</a:t>
            </a:r>
            <a:r>
              <a:rPr kumimoji="0" lang="en-US" altLang="en-US" sz="1500" b="0" i="0" u="none" strike="noStrike" cap="none" normalizeH="0" baseline="0" dirty="0">
                <a:ln>
                  <a:noFill/>
                </a:ln>
                <a:solidFill>
                  <a:srgbClr val="6A8759"/>
                </a:solidFill>
                <a:effectLst/>
                <a:latin typeface="JetBrains Mono"/>
              </a:rPr>
              <a:t>"</a:t>
            </a:r>
            <a:r>
              <a:rPr kumimoji="0" lang="en-US" altLang="en-US" sz="1500" b="0" i="0" u="none" strike="noStrike" cap="none" normalizeH="0" baseline="0" dirty="0">
                <a:ln>
                  <a:noFill/>
                </a:ln>
                <a:solidFill>
                  <a:srgbClr val="A9B7C6"/>
                </a:solidFill>
                <a:effectLst/>
                <a:latin typeface="JetBrains Mono"/>
              </a:rPr>
              <a:t>)</a:t>
            </a:r>
            <a:endParaRPr kumimoji="0" lang="en-US" altLang="en-US" sz="1500" b="0" i="0" u="none" strike="noStrike" cap="none" normalizeH="0" baseline="0" dirty="0">
              <a:ln>
                <a:noFill/>
              </a:ln>
              <a:solidFill>
                <a:schemeClr val="tx1"/>
              </a:solidFill>
              <a:effectLst/>
              <a:latin typeface="Arial" panose="020B0604020202020204" pitchFamily="34" charset="0"/>
            </a:endParaRPr>
          </a:p>
        </p:txBody>
      </p:sp>
      <p:sp>
        <p:nvSpPr>
          <p:cNvPr id="11" name="Rectangle 2">
            <a:extLst>
              <a:ext uri="{FF2B5EF4-FFF2-40B4-BE49-F238E27FC236}">
                <a16:creationId xmlns:a16="http://schemas.microsoft.com/office/drawing/2014/main" id="{41B11B0C-C0EC-4315-83AB-B00500AAC152}"/>
              </a:ext>
            </a:extLst>
          </p:cNvPr>
          <p:cNvSpPr>
            <a:spLocks noChangeArrowheads="1"/>
          </p:cNvSpPr>
          <p:nvPr/>
        </p:nvSpPr>
        <p:spPr bwMode="auto">
          <a:xfrm>
            <a:off x="7573617" y="3667470"/>
            <a:ext cx="4518507" cy="1862048"/>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dirty="0">
                <a:ln>
                  <a:noFill/>
                </a:ln>
                <a:solidFill>
                  <a:srgbClr val="808080"/>
                </a:solidFill>
                <a:effectLst/>
                <a:latin typeface="JetBrains Mono"/>
              </a:rPr>
              <a:t>#</a:t>
            </a:r>
            <a:r>
              <a:rPr kumimoji="0" lang="en-US" altLang="en-US" sz="2300" b="0" i="0" u="none" strike="noStrike" cap="none" normalizeH="0" baseline="0" dirty="0" err="1">
                <a:ln>
                  <a:noFill/>
                </a:ln>
                <a:solidFill>
                  <a:srgbClr val="808080"/>
                </a:solidFill>
                <a:effectLst/>
                <a:latin typeface="JetBrains Mono"/>
              </a:rPr>
              <a:t>Khai</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báo</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đối</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tượng</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sử</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dụng</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lớp</a:t>
            </a:r>
            <a:br>
              <a:rPr kumimoji="0" lang="en-US" altLang="en-US" sz="2300" b="0" i="0" u="none" strike="noStrike" cap="none" normalizeH="0" baseline="0" dirty="0">
                <a:ln>
                  <a:noFill/>
                </a:ln>
                <a:solidFill>
                  <a:srgbClr val="808080"/>
                </a:solidFill>
                <a:effectLst/>
                <a:latin typeface="JetBrains Mono"/>
              </a:rPr>
            </a:br>
            <a:r>
              <a:rPr kumimoji="0" lang="en-US" altLang="en-US" sz="2300" b="0" i="0" u="none" strike="noStrike" cap="none" normalizeH="0" baseline="0" dirty="0" err="1">
                <a:ln>
                  <a:noFill/>
                </a:ln>
                <a:solidFill>
                  <a:srgbClr val="A9B7C6"/>
                </a:solidFill>
                <a:effectLst/>
                <a:latin typeface="JetBrains Mono"/>
              </a:rPr>
              <a:t>sv</a:t>
            </a:r>
            <a:r>
              <a:rPr kumimoji="0" lang="en-US" altLang="en-US" sz="2300" b="0" i="0" u="none" strike="noStrike" cap="none" normalizeH="0" baseline="0" dirty="0">
                <a:ln>
                  <a:noFill/>
                </a:ln>
                <a:solidFill>
                  <a:srgbClr val="A9B7C6"/>
                </a:solidFill>
                <a:effectLst/>
                <a:latin typeface="JetBrains Mono"/>
              </a:rPr>
              <a:t>=</a:t>
            </a:r>
            <a:r>
              <a:rPr kumimoji="0" lang="en-US" altLang="en-US" sz="2300" b="0" i="0" u="none" strike="noStrike" cap="none" normalizeH="0" baseline="0" dirty="0" err="1">
                <a:ln>
                  <a:noFill/>
                </a:ln>
                <a:solidFill>
                  <a:srgbClr val="A9B7C6"/>
                </a:solidFill>
                <a:effectLst/>
                <a:latin typeface="JetBrains Mono"/>
              </a:rPr>
              <a:t>sinhVien</a:t>
            </a:r>
            <a:r>
              <a:rPr kumimoji="0" lang="en-US" altLang="en-US" sz="2300" b="0" i="0" u="none" strike="noStrike" cap="none" normalizeH="0" baseline="0" dirty="0">
                <a:ln>
                  <a:noFill/>
                </a:ln>
                <a:solidFill>
                  <a:srgbClr val="A9B7C6"/>
                </a:solidFill>
                <a:effectLst/>
                <a:latin typeface="JetBrains Mono"/>
              </a:rPr>
              <a:t>()</a:t>
            </a:r>
            <a:br>
              <a:rPr kumimoji="0" lang="en-US" altLang="en-US" sz="2300" b="0" i="0" u="none" strike="noStrike" cap="none" normalizeH="0" baseline="0" dirty="0">
                <a:ln>
                  <a:noFill/>
                </a:ln>
                <a:solidFill>
                  <a:srgbClr val="A9B7C6"/>
                </a:solidFill>
                <a:effectLst/>
                <a:latin typeface="JetBrains Mono"/>
              </a:rPr>
            </a:br>
            <a:r>
              <a:rPr kumimoji="0" lang="en-US" altLang="en-US" sz="2300" b="0" i="0" u="none" strike="noStrike" cap="none" normalizeH="0" baseline="0" dirty="0">
                <a:ln>
                  <a:noFill/>
                </a:ln>
                <a:solidFill>
                  <a:srgbClr val="808080"/>
                </a:solidFill>
                <a:effectLst/>
                <a:latin typeface="JetBrains Mono"/>
              </a:rPr>
              <a:t>#</a:t>
            </a:r>
            <a:r>
              <a:rPr kumimoji="0" lang="en-US" altLang="en-US" sz="2300" b="0" i="0" u="none" strike="noStrike" cap="none" normalizeH="0" baseline="0" dirty="0" err="1">
                <a:ln>
                  <a:noFill/>
                </a:ln>
                <a:solidFill>
                  <a:srgbClr val="808080"/>
                </a:solidFill>
                <a:effectLst/>
                <a:latin typeface="JetBrains Mono"/>
              </a:rPr>
              <a:t>gọi</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phương</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thức</a:t>
            </a:r>
            <a:br>
              <a:rPr kumimoji="0" lang="en-US" altLang="en-US" sz="2300" b="0" i="0" u="none" strike="noStrike" cap="none" normalizeH="0" baseline="0" dirty="0">
                <a:ln>
                  <a:noFill/>
                </a:ln>
                <a:solidFill>
                  <a:srgbClr val="808080"/>
                </a:solidFill>
                <a:effectLst/>
                <a:latin typeface="JetBrains Mono"/>
              </a:rPr>
            </a:br>
            <a:r>
              <a:rPr kumimoji="0" lang="en-US" altLang="en-US" sz="2300" b="0" i="0" u="none" strike="noStrike" cap="none" normalizeH="0" baseline="0" dirty="0" err="1">
                <a:ln>
                  <a:noFill/>
                </a:ln>
                <a:solidFill>
                  <a:srgbClr val="A9B7C6"/>
                </a:solidFill>
                <a:effectLst/>
                <a:latin typeface="JetBrains Mono"/>
              </a:rPr>
              <a:t>sv.hienthi</a:t>
            </a:r>
            <a:r>
              <a:rPr kumimoji="0" lang="en-US" altLang="en-US" sz="2300" b="0" i="0" u="none" strike="noStrike" cap="none" normalizeH="0" baseline="0" dirty="0">
                <a:ln>
                  <a:noFill/>
                </a:ln>
                <a:solidFill>
                  <a:srgbClr val="A9B7C6"/>
                </a:solidFill>
                <a:effectLst/>
                <a:latin typeface="JetBrains Mono"/>
              </a:rPr>
              <a:t>()</a:t>
            </a:r>
            <a:br>
              <a:rPr kumimoji="0" lang="en-US" altLang="en-US" sz="2300" b="0" i="0" u="none" strike="noStrike" cap="none" normalizeH="0" baseline="0" dirty="0">
                <a:ln>
                  <a:noFill/>
                </a:ln>
                <a:solidFill>
                  <a:srgbClr val="A9B7C6"/>
                </a:solidFill>
                <a:effectLst/>
                <a:latin typeface="JetBrains Mono"/>
              </a:rPr>
            </a:br>
            <a:r>
              <a:rPr kumimoji="0" lang="en-US" altLang="en-US" sz="2300" b="0" i="0" u="none" strike="noStrike" cap="none" normalizeH="0" baseline="0" dirty="0">
                <a:ln>
                  <a:noFill/>
                </a:ln>
                <a:solidFill>
                  <a:srgbClr val="CC7832"/>
                </a:solidFill>
                <a:effectLst/>
                <a:latin typeface="JetBrains Mono"/>
              </a:rPr>
              <a:t>del </a:t>
            </a:r>
            <a:r>
              <a:rPr kumimoji="0" lang="en-US" altLang="en-US" sz="2300" b="0" i="0" u="none" strike="noStrike" cap="none" normalizeH="0" baseline="0" dirty="0" err="1">
                <a:ln>
                  <a:noFill/>
                </a:ln>
                <a:solidFill>
                  <a:srgbClr val="A9B7C6"/>
                </a:solidFill>
                <a:effectLst/>
                <a:latin typeface="JetBrains Mono"/>
              </a:rPr>
              <a:t>sinhVien</a:t>
            </a:r>
            <a:endParaRPr kumimoji="0" lang="en-US" altLang="en-US" sz="23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537671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latin typeface="Cambria" panose="02040503050406030204" pitchFamily="18" charset="0"/>
                <a:ea typeface="Cambria" panose="02040503050406030204" pitchFamily="18" charset="0"/>
              </a:rPr>
              <a:t>Bài</a:t>
            </a:r>
            <a:r>
              <a:rPr lang="en-US">
                <a:latin typeface="Cambria" panose="02040503050406030204" pitchFamily="18" charset="0"/>
                <a:ea typeface="Cambria" panose="02040503050406030204" pitchFamily="18" charset="0"/>
              </a:rPr>
              <a:t> 4 – </a:t>
            </a:r>
            <a:r>
              <a:rPr lang="en-US" spc="-5" err="1">
                <a:latin typeface="Cambria" panose="02040503050406030204" pitchFamily="18" charset="0"/>
                <a:ea typeface="Cambria" panose="02040503050406030204" pitchFamily="18" charset="0"/>
                <a:cs typeface="Arial"/>
              </a:rPr>
              <a:t>Lập</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trình</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hướng</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tượng</a:t>
            </a:r>
            <a:endParaRPr lang="en-US">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a:solidFill>
                  <a:schemeClr val="bg1"/>
                </a:solidFill>
                <a:latin typeface="Cambria" panose="02040503050406030204" pitchFamily="18" charset="0"/>
              </a:rPr>
              <a:t>LỚP (CLASS) TRONG PYTHON</a:t>
            </a:r>
          </a:p>
        </p:txBody>
      </p:sp>
      <p:sp>
        <p:nvSpPr>
          <p:cNvPr id="10" name="TextBox 9">
            <a:extLst>
              <a:ext uri="{FF2B5EF4-FFF2-40B4-BE49-F238E27FC236}">
                <a16:creationId xmlns:a16="http://schemas.microsoft.com/office/drawing/2014/main" id="{65C47043-AED2-49A4-92F5-32C10E971E2B}"/>
              </a:ext>
            </a:extLst>
          </p:cNvPr>
          <p:cNvSpPr txBox="1"/>
          <p:nvPr/>
        </p:nvSpPr>
        <p:spPr>
          <a:xfrm>
            <a:off x="127054" y="677516"/>
            <a:ext cx="11932424" cy="861774"/>
          </a:xfrm>
          <a:prstGeom prst="rect">
            <a:avLst/>
          </a:prstGeom>
          <a:noFill/>
        </p:spPr>
        <p:txBody>
          <a:bodyPr wrap="square" rtlCol="0">
            <a:spAutoFit/>
          </a:bodyPr>
          <a:lstStyle/>
          <a:p>
            <a:pPr fontAlgn="base"/>
            <a:r>
              <a:rPr lang="en-US" sz="2500" b="1" dirty="0" err="1">
                <a:latin typeface="Cambria" panose="02040503050406030204" pitchFamily="18" charset="0"/>
                <a:ea typeface="Cambria" panose="02040503050406030204" pitchFamily="18" charset="0"/>
              </a:rPr>
              <a:t>Ví</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dụ</a:t>
            </a:r>
            <a:r>
              <a:rPr lang="en-US" sz="2500" b="1" dirty="0">
                <a:latin typeface="Cambria" panose="02040503050406030204" pitchFamily="18" charset="0"/>
                <a:ea typeface="Cambria" panose="02040503050406030204" pitchFamily="18" charset="0"/>
              </a:rPr>
              <a:t> 3: </a:t>
            </a:r>
            <a:r>
              <a:rPr lang="vi-VN" sz="2500" dirty="0">
                <a:solidFill>
                  <a:srgbClr val="414141"/>
                </a:solidFill>
                <a:latin typeface="Cambria" panose="02040503050406030204" pitchFamily="18" charset="0"/>
                <a:ea typeface="Cambria" panose="02040503050406030204" pitchFamily="18" charset="0"/>
              </a:rPr>
              <a:t>Tạo class </a:t>
            </a:r>
            <a:r>
              <a:rPr lang="en-US" sz="2500" b="1" dirty="0" err="1">
                <a:solidFill>
                  <a:srgbClr val="414141"/>
                </a:solidFill>
                <a:latin typeface="Cambria" panose="02040503050406030204" pitchFamily="18" charset="0"/>
                <a:ea typeface="Cambria" panose="02040503050406030204" pitchFamily="18" charset="0"/>
              </a:rPr>
              <a:t>sinhVien</a:t>
            </a:r>
            <a:r>
              <a:rPr lang="vi-VN" sz="2500" b="1" dirty="0">
                <a:solidFill>
                  <a:srgbClr val="414141"/>
                </a:solidFill>
                <a:latin typeface="Cambria" panose="02040503050406030204" pitchFamily="18" charset="0"/>
                <a:ea typeface="Cambria" panose="02040503050406030204" pitchFamily="18" charset="0"/>
              </a:rPr>
              <a:t> </a:t>
            </a:r>
            <a:r>
              <a:rPr lang="vi-VN" sz="2500" dirty="0">
                <a:solidFill>
                  <a:srgbClr val="414141"/>
                </a:solidFill>
                <a:latin typeface="Cambria" panose="02040503050406030204" pitchFamily="18" charset="0"/>
                <a:ea typeface="Cambria" panose="02040503050406030204" pitchFamily="18" charset="0"/>
              </a:rPr>
              <a:t>gồm </a:t>
            </a:r>
            <a:r>
              <a:rPr lang="en-US" sz="2500" dirty="0">
                <a:solidFill>
                  <a:srgbClr val="414141"/>
                </a:solidFill>
                <a:latin typeface="Cambria" panose="02040503050406030204" pitchFamily="18" charset="0"/>
                <a:ea typeface="Cambria" panose="02040503050406030204" pitchFamily="18" charset="0"/>
              </a:rPr>
              <a:t>4</a:t>
            </a:r>
            <a:r>
              <a:rPr lang="vi-VN" sz="2500" dirty="0">
                <a:solidFill>
                  <a:srgbClr val="414141"/>
                </a:solidFill>
                <a:latin typeface="Cambria" panose="02040503050406030204" pitchFamily="18" charset="0"/>
                <a:ea typeface="Cambria" panose="02040503050406030204" pitchFamily="18" charset="0"/>
              </a:rPr>
              <a:t> thuộc tính</a:t>
            </a:r>
            <a:r>
              <a:rPr lang="en-US" sz="2500" dirty="0">
                <a:solidFill>
                  <a:srgbClr val="414141"/>
                </a:solidFill>
                <a:latin typeface="Cambria" panose="02040503050406030204" pitchFamily="18" charset="0"/>
                <a:ea typeface="Cambria" panose="02040503050406030204" pitchFamily="18" charset="0"/>
              </a:rPr>
              <a:t>: </a:t>
            </a:r>
            <a:r>
              <a:rPr lang="vi-VN" sz="2500" dirty="0">
                <a:solidFill>
                  <a:srgbClr val="414141"/>
                </a:solidFill>
                <a:latin typeface="Cambria" panose="02040503050406030204" pitchFamily="18" charset="0"/>
                <a:ea typeface="Cambria" panose="02040503050406030204" pitchFamily="18" charset="0"/>
              </a:rPr>
              <a:t>mã sinh viên</a:t>
            </a:r>
            <a:r>
              <a:rPr lang="en-US" sz="2500" dirty="0">
                <a:solidFill>
                  <a:srgbClr val="414141"/>
                </a:solidFill>
                <a:latin typeface="Cambria" panose="02040503050406030204" pitchFamily="18" charset="0"/>
                <a:ea typeface="Cambria" panose="02040503050406030204" pitchFamily="18" charset="0"/>
              </a:rPr>
              <a:t>, </a:t>
            </a:r>
            <a:r>
              <a:rPr lang="en-US" sz="2500" dirty="0" err="1">
                <a:solidFill>
                  <a:srgbClr val="414141"/>
                </a:solidFill>
                <a:latin typeface="Cambria" panose="02040503050406030204" pitchFamily="18" charset="0"/>
                <a:ea typeface="Cambria" panose="02040503050406030204" pitchFamily="18" charset="0"/>
              </a:rPr>
              <a:t>họ</a:t>
            </a:r>
            <a:r>
              <a:rPr lang="en-US" sz="2500" dirty="0">
                <a:solidFill>
                  <a:srgbClr val="414141"/>
                </a:solidFill>
                <a:latin typeface="Cambria" panose="02040503050406030204" pitchFamily="18" charset="0"/>
                <a:ea typeface="Cambria" panose="02040503050406030204" pitchFamily="18" charset="0"/>
              </a:rPr>
              <a:t> </a:t>
            </a:r>
            <a:r>
              <a:rPr lang="en-US" sz="2500" dirty="0" err="1">
                <a:solidFill>
                  <a:srgbClr val="414141"/>
                </a:solidFill>
                <a:latin typeface="Cambria" panose="02040503050406030204" pitchFamily="18" charset="0"/>
                <a:ea typeface="Cambria" panose="02040503050406030204" pitchFamily="18" charset="0"/>
              </a:rPr>
              <a:t>tên</a:t>
            </a:r>
            <a:r>
              <a:rPr lang="en-US" sz="2500" dirty="0">
                <a:solidFill>
                  <a:srgbClr val="414141"/>
                </a:solidFill>
                <a:latin typeface="Cambria" panose="02040503050406030204" pitchFamily="18" charset="0"/>
                <a:ea typeface="Cambria" panose="02040503050406030204" pitchFamily="18" charset="0"/>
              </a:rPr>
              <a:t>, </a:t>
            </a:r>
            <a:r>
              <a:rPr lang="en-US" sz="2500" dirty="0" err="1">
                <a:solidFill>
                  <a:srgbClr val="414141"/>
                </a:solidFill>
                <a:latin typeface="Cambria" panose="02040503050406030204" pitchFamily="18" charset="0"/>
                <a:ea typeface="Cambria" panose="02040503050406030204" pitchFamily="18" charset="0"/>
              </a:rPr>
              <a:t>địa</a:t>
            </a:r>
            <a:r>
              <a:rPr lang="en-US" sz="2500" dirty="0">
                <a:solidFill>
                  <a:srgbClr val="414141"/>
                </a:solidFill>
                <a:latin typeface="Cambria" panose="02040503050406030204" pitchFamily="18" charset="0"/>
                <a:ea typeface="Cambria" panose="02040503050406030204" pitchFamily="18" charset="0"/>
              </a:rPr>
              <a:t> </a:t>
            </a:r>
            <a:r>
              <a:rPr lang="en-US" sz="2500" dirty="0" err="1">
                <a:solidFill>
                  <a:srgbClr val="414141"/>
                </a:solidFill>
                <a:latin typeface="Cambria" panose="02040503050406030204" pitchFamily="18" charset="0"/>
                <a:ea typeface="Cambria" panose="02040503050406030204" pitchFamily="18" charset="0"/>
              </a:rPr>
              <a:t>chỉ</a:t>
            </a:r>
            <a:r>
              <a:rPr lang="en-US" sz="2500" dirty="0">
                <a:solidFill>
                  <a:srgbClr val="414141"/>
                </a:solidFill>
                <a:latin typeface="Cambria" panose="02040503050406030204" pitchFamily="18" charset="0"/>
                <a:ea typeface="Cambria" panose="02040503050406030204" pitchFamily="18" charset="0"/>
              </a:rPr>
              <a:t>, </a:t>
            </a:r>
            <a:r>
              <a:rPr lang="en-US" sz="2500" dirty="0" err="1">
                <a:solidFill>
                  <a:srgbClr val="414141"/>
                </a:solidFill>
                <a:latin typeface="Cambria" panose="02040503050406030204" pitchFamily="18" charset="0"/>
                <a:ea typeface="Cambria" panose="02040503050406030204" pitchFamily="18" charset="0"/>
              </a:rPr>
              <a:t>tuổi</a:t>
            </a:r>
            <a:r>
              <a:rPr lang="en-US" sz="2500" dirty="0">
                <a:solidFill>
                  <a:srgbClr val="414141"/>
                </a:solidFill>
                <a:latin typeface="Cambria" panose="02040503050406030204" pitchFamily="18" charset="0"/>
                <a:ea typeface="Cambria" panose="02040503050406030204" pitchFamily="18" charset="0"/>
              </a:rPr>
              <a:t> </a:t>
            </a:r>
            <a:r>
              <a:rPr lang="en-US" sz="2500" dirty="0" err="1">
                <a:solidFill>
                  <a:srgbClr val="414141"/>
                </a:solidFill>
                <a:latin typeface="Cambria" panose="02040503050406030204" pitchFamily="18" charset="0"/>
                <a:ea typeface="Cambria" panose="02040503050406030204" pitchFamily="18" charset="0"/>
              </a:rPr>
              <a:t>và</a:t>
            </a:r>
            <a:r>
              <a:rPr lang="en-US" sz="2500" dirty="0">
                <a:solidFill>
                  <a:srgbClr val="414141"/>
                </a:solidFill>
                <a:latin typeface="Cambria" panose="02040503050406030204" pitchFamily="18" charset="0"/>
                <a:ea typeface="Cambria" panose="02040503050406030204" pitchFamily="18" charset="0"/>
              </a:rPr>
              <a:t> 3 </a:t>
            </a:r>
            <a:r>
              <a:rPr lang="en-US" sz="2500" dirty="0" err="1">
                <a:solidFill>
                  <a:srgbClr val="414141"/>
                </a:solidFill>
                <a:latin typeface="Cambria" panose="02040503050406030204" pitchFamily="18" charset="0"/>
                <a:ea typeface="Cambria" panose="02040503050406030204" pitchFamily="18" charset="0"/>
              </a:rPr>
              <a:t>phương</a:t>
            </a:r>
            <a:r>
              <a:rPr lang="en-US" sz="2500" dirty="0">
                <a:solidFill>
                  <a:srgbClr val="414141"/>
                </a:solidFill>
                <a:latin typeface="Cambria" panose="02040503050406030204" pitchFamily="18" charset="0"/>
                <a:ea typeface="Cambria" panose="02040503050406030204" pitchFamily="18" charset="0"/>
              </a:rPr>
              <a:t> </a:t>
            </a:r>
            <a:r>
              <a:rPr lang="en-US" sz="2500" dirty="0" err="1">
                <a:solidFill>
                  <a:srgbClr val="414141"/>
                </a:solidFill>
                <a:latin typeface="Cambria" panose="02040503050406030204" pitchFamily="18" charset="0"/>
                <a:ea typeface="Cambria" panose="02040503050406030204" pitchFamily="18" charset="0"/>
              </a:rPr>
              <a:t>thức</a:t>
            </a:r>
            <a:r>
              <a:rPr lang="en-US" sz="2500" dirty="0">
                <a:solidFill>
                  <a:srgbClr val="414141"/>
                </a:solidFill>
                <a:latin typeface="Cambria" panose="02040503050406030204" pitchFamily="18" charset="0"/>
                <a:ea typeface="Cambria" panose="02040503050406030204" pitchFamily="18" charset="0"/>
              </a:rPr>
              <a:t>: </a:t>
            </a:r>
            <a:r>
              <a:rPr lang="en-US" sz="2500" dirty="0" err="1">
                <a:solidFill>
                  <a:srgbClr val="414141"/>
                </a:solidFill>
                <a:latin typeface="Cambria" panose="02040503050406030204" pitchFamily="18" charset="0"/>
                <a:ea typeface="Cambria" panose="02040503050406030204" pitchFamily="18" charset="0"/>
              </a:rPr>
              <a:t>khởi</a:t>
            </a:r>
            <a:r>
              <a:rPr lang="en-US" sz="2500" dirty="0">
                <a:solidFill>
                  <a:srgbClr val="414141"/>
                </a:solidFill>
                <a:latin typeface="Cambria" panose="02040503050406030204" pitchFamily="18" charset="0"/>
                <a:ea typeface="Cambria" panose="02040503050406030204" pitchFamily="18" charset="0"/>
              </a:rPr>
              <a:t> </a:t>
            </a:r>
            <a:r>
              <a:rPr lang="en-US" sz="2500" dirty="0" err="1">
                <a:solidFill>
                  <a:srgbClr val="414141"/>
                </a:solidFill>
                <a:latin typeface="Cambria" panose="02040503050406030204" pitchFamily="18" charset="0"/>
                <a:ea typeface="Cambria" panose="02040503050406030204" pitchFamily="18" charset="0"/>
              </a:rPr>
              <a:t>tạo</a:t>
            </a:r>
            <a:r>
              <a:rPr lang="en-US" sz="2500" dirty="0">
                <a:solidFill>
                  <a:srgbClr val="414141"/>
                </a:solidFill>
                <a:latin typeface="Cambria" panose="02040503050406030204" pitchFamily="18" charset="0"/>
                <a:ea typeface="Cambria" panose="02040503050406030204" pitchFamily="18" charset="0"/>
              </a:rPr>
              <a:t>, </a:t>
            </a:r>
            <a:r>
              <a:rPr lang="en-US" sz="2500" dirty="0" err="1">
                <a:solidFill>
                  <a:srgbClr val="414141"/>
                </a:solidFill>
                <a:latin typeface="Cambria" panose="02040503050406030204" pitchFamily="18" charset="0"/>
                <a:ea typeface="Cambria" panose="02040503050406030204" pitchFamily="18" charset="0"/>
              </a:rPr>
              <a:t>nhập</a:t>
            </a:r>
            <a:r>
              <a:rPr lang="en-US" sz="2500" dirty="0">
                <a:solidFill>
                  <a:srgbClr val="414141"/>
                </a:solidFill>
                <a:latin typeface="Cambria" panose="02040503050406030204" pitchFamily="18" charset="0"/>
                <a:ea typeface="Cambria" panose="02040503050406030204" pitchFamily="18" charset="0"/>
              </a:rPr>
              <a:t>,</a:t>
            </a:r>
            <a:r>
              <a:rPr lang="vi-VN" sz="2500" dirty="0">
                <a:solidFill>
                  <a:srgbClr val="414141"/>
                </a:solidFill>
                <a:latin typeface="Cambria" panose="02040503050406030204" pitchFamily="18" charset="0"/>
                <a:ea typeface="Cambria" panose="02040503050406030204" pitchFamily="18" charset="0"/>
              </a:rPr>
              <a:t> hiển thị thông tin sinh viên</a:t>
            </a:r>
            <a:r>
              <a:rPr lang="en-US" sz="2500" dirty="0">
                <a:solidFill>
                  <a:srgbClr val="414141"/>
                </a:solidFill>
                <a:latin typeface="Cambria" panose="02040503050406030204" pitchFamily="18" charset="0"/>
                <a:ea typeface="Cambria" panose="02040503050406030204" pitchFamily="18" charset="0"/>
              </a:rPr>
              <a:t>. </a:t>
            </a:r>
            <a:r>
              <a:rPr lang="en-US" sz="2500" b="1" dirty="0" err="1">
                <a:solidFill>
                  <a:srgbClr val="FF0000"/>
                </a:solidFill>
                <a:latin typeface="Cambria" panose="02040503050406030204" pitchFamily="18" charset="0"/>
                <a:ea typeface="Cambria" panose="02040503050406030204" pitchFamily="18" charset="0"/>
              </a:rPr>
              <a:t>Hãy</a:t>
            </a:r>
            <a:r>
              <a:rPr lang="en-US" sz="2500" b="1" dirty="0">
                <a:solidFill>
                  <a:srgbClr val="FF0000"/>
                </a:solidFill>
                <a:latin typeface="Cambria" panose="02040503050406030204" pitchFamily="18" charset="0"/>
                <a:ea typeface="Cambria" panose="02040503050406030204" pitchFamily="18" charset="0"/>
              </a:rPr>
              <a:t> </a:t>
            </a:r>
            <a:r>
              <a:rPr lang="en-US" sz="2500" b="1" dirty="0" err="1">
                <a:solidFill>
                  <a:srgbClr val="FF0000"/>
                </a:solidFill>
                <a:latin typeface="Cambria" panose="02040503050406030204" pitchFamily="18" charset="0"/>
                <a:ea typeface="Cambria" panose="02040503050406030204" pitchFamily="18" charset="0"/>
              </a:rPr>
              <a:t>quản</a:t>
            </a:r>
            <a:r>
              <a:rPr lang="en-US" sz="2500" b="1" dirty="0">
                <a:solidFill>
                  <a:srgbClr val="FF0000"/>
                </a:solidFill>
                <a:latin typeface="Cambria" panose="02040503050406030204" pitchFamily="18" charset="0"/>
                <a:ea typeface="Cambria" panose="02040503050406030204" pitchFamily="18" charset="0"/>
              </a:rPr>
              <a:t> </a:t>
            </a:r>
            <a:r>
              <a:rPr lang="en-US" sz="2500" b="1" dirty="0" err="1">
                <a:solidFill>
                  <a:srgbClr val="FF0000"/>
                </a:solidFill>
                <a:latin typeface="Cambria" panose="02040503050406030204" pitchFamily="18" charset="0"/>
                <a:ea typeface="Cambria" panose="02040503050406030204" pitchFamily="18" charset="0"/>
              </a:rPr>
              <a:t>lý</a:t>
            </a:r>
            <a:r>
              <a:rPr lang="en-US" sz="2500" b="1" dirty="0">
                <a:solidFill>
                  <a:srgbClr val="FF0000"/>
                </a:solidFill>
                <a:latin typeface="Cambria" panose="02040503050406030204" pitchFamily="18" charset="0"/>
                <a:ea typeface="Cambria" panose="02040503050406030204" pitchFamily="18" charset="0"/>
              </a:rPr>
              <a:t> n </a:t>
            </a:r>
            <a:r>
              <a:rPr lang="en-US" sz="2500" b="1" dirty="0" err="1">
                <a:solidFill>
                  <a:srgbClr val="FF0000"/>
                </a:solidFill>
                <a:latin typeface="Cambria" panose="02040503050406030204" pitchFamily="18" charset="0"/>
                <a:ea typeface="Cambria" panose="02040503050406030204" pitchFamily="18" charset="0"/>
              </a:rPr>
              <a:t>sinh</a:t>
            </a:r>
            <a:r>
              <a:rPr lang="en-US" sz="2500" b="1" dirty="0">
                <a:solidFill>
                  <a:srgbClr val="FF0000"/>
                </a:solidFill>
                <a:latin typeface="Cambria" panose="02040503050406030204" pitchFamily="18" charset="0"/>
                <a:ea typeface="Cambria" panose="02040503050406030204" pitchFamily="18" charset="0"/>
              </a:rPr>
              <a:t> </a:t>
            </a:r>
            <a:r>
              <a:rPr lang="en-US" sz="2500" b="1" dirty="0" err="1">
                <a:solidFill>
                  <a:srgbClr val="FF0000"/>
                </a:solidFill>
                <a:latin typeface="Cambria" panose="02040503050406030204" pitchFamily="18" charset="0"/>
                <a:ea typeface="Cambria" panose="02040503050406030204" pitchFamily="18" charset="0"/>
              </a:rPr>
              <a:t>viên</a:t>
            </a:r>
            <a:r>
              <a:rPr lang="en-US" sz="2500" dirty="0">
                <a:solidFill>
                  <a:srgbClr val="414141"/>
                </a:solidFill>
                <a:latin typeface="Cambria" panose="02040503050406030204" pitchFamily="18" charset="0"/>
                <a:ea typeface="Cambria" panose="02040503050406030204" pitchFamily="18" charset="0"/>
              </a:rPr>
              <a:t>.</a:t>
            </a:r>
            <a:endParaRPr lang="vi-VN" sz="2500" b="0" i="0" dirty="0">
              <a:solidFill>
                <a:srgbClr val="414141"/>
              </a:solidFill>
              <a:effectLst/>
              <a:latin typeface="Cambria" panose="02040503050406030204" pitchFamily="18" charset="0"/>
              <a:ea typeface="Cambria" panose="02040503050406030204" pitchFamily="18" charset="0"/>
            </a:endParaRPr>
          </a:p>
        </p:txBody>
      </p:sp>
      <p:sp>
        <p:nvSpPr>
          <p:cNvPr id="5" name="Rectangle 1">
            <a:extLst>
              <a:ext uri="{FF2B5EF4-FFF2-40B4-BE49-F238E27FC236}">
                <a16:creationId xmlns:a16="http://schemas.microsoft.com/office/drawing/2014/main" id="{FB22B7A5-7B67-4E1D-8CBE-2E2BA9E31B15}"/>
              </a:ext>
            </a:extLst>
          </p:cNvPr>
          <p:cNvSpPr>
            <a:spLocks noChangeArrowheads="1"/>
          </p:cNvSpPr>
          <p:nvPr/>
        </p:nvSpPr>
        <p:spPr bwMode="auto">
          <a:xfrm>
            <a:off x="257131" y="1597160"/>
            <a:ext cx="6117038" cy="4524315"/>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CC7832"/>
                </a:solidFill>
                <a:effectLst/>
                <a:latin typeface="JetBrains Mono"/>
              </a:rPr>
              <a:t>class </a:t>
            </a:r>
            <a:r>
              <a:rPr kumimoji="0" lang="en-US" altLang="en-US" b="0" i="0" u="none" strike="noStrike" cap="none" normalizeH="0" baseline="0" dirty="0" err="1">
                <a:ln>
                  <a:noFill/>
                </a:ln>
                <a:solidFill>
                  <a:srgbClr val="A9B7C6"/>
                </a:solidFill>
                <a:effectLst/>
                <a:latin typeface="JetBrains Mono"/>
              </a:rPr>
              <a:t>sinhVien</a:t>
            </a:r>
            <a:r>
              <a:rPr kumimoji="0" lang="en-US" altLang="en-US" b="0" i="0" u="none" strike="noStrike" cap="none" normalizeH="0" baseline="0" dirty="0">
                <a:ln>
                  <a:noFill/>
                </a:ln>
                <a:solidFill>
                  <a:srgbClr val="A9B7C6"/>
                </a:solidFill>
                <a:effectLst/>
                <a:latin typeface="JetBrains Mono"/>
              </a:rPr>
              <a:t>:</a:t>
            </a:r>
            <a:br>
              <a:rPr kumimoji="0" lang="en-US" altLang="en-US" b="0" i="0" u="none" strike="noStrike" cap="none" normalizeH="0" baseline="0" dirty="0">
                <a:ln>
                  <a:noFill/>
                </a:ln>
                <a:solidFill>
                  <a:srgbClr val="A9B7C6"/>
                </a:solidFill>
                <a:effectLst/>
                <a:latin typeface="JetBrains Mono"/>
              </a:rPr>
            </a:br>
            <a:r>
              <a:rPr kumimoji="0" lang="en-US" altLang="en-US" b="0" i="0" u="none" strike="noStrike" cap="none" normalizeH="0" baseline="0" dirty="0">
                <a:ln>
                  <a:noFill/>
                </a:ln>
                <a:solidFill>
                  <a:srgbClr val="A9B7C6"/>
                </a:solidFill>
                <a:effectLst/>
                <a:latin typeface="JetBrains Mono"/>
              </a:rPr>
              <a:t>    </a:t>
            </a:r>
            <a:r>
              <a:rPr kumimoji="0" lang="en-US" altLang="en-US" b="0" i="0" u="none" strike="noStrike" cap="none" normalizeH="0" baseline="0" dirty="0">
                <a:ln>
                  <a:noFill/>
                </a:ln>
                <a:solidFill>
                  <a:srgbClr val="CC7832"/>
                </a:solidFill>
                <a:effectLst/>
                <a:latin typeface="JetBrains Mono"/>
              </a:rPr>
              <a:t>def </a:t>
            </a:r>
            <a:r>
              <a:rPr kumimoji="0" lang="en-US" altLang="en-US" b="0" i="0" u="none" strike="noStrike" cap="none" normalizeH="0" baseline="0" dirty="0">
                <a:ln>
                  <a:noFill/>
                </a:ln>
                <a:solidFill>
                  <a:srgbClr val="B200B2"/>
                </a:solidFill>
                <a:effectLst/>
                <a:latin typeface="JetBrains Mono"/>
              </a:rPr>
              <a:t>__</a:t>
            </a:r>
            <a:r>
              <a:rPr kumimoji="0" lang="en-US" altLang="en-US" b="0" i="0" u="none" strike="noStrike" cap="none" normalizeH="0" baseline="0" dirty="0" err="1">
                <a:ln>
                  <a:noFill/>
                </a:ln>
                <a:solidFill>
                  <a:srgbClr val="B200B2"/>
                </a:solidFill>
                <a:effectLst/>
                <a:latin typeface="JetBrains Mono"/>
              </a:rPr>
              <a:t>init</a:t>
            </a:r>
            <a:r>
              <a:rPr kumimoji="0" lang="en-US" altLang="en-US" b="0" i="0" u="none" strike="noStrike" cap="none" normalizeH="0" baseline="0" dirty="0">
                <a:ln>
                  <a:noFill/>
                </a:ln>
                <a:solidFill>
                  <a:srgbClr val="B200B2"/>
                </a:solidFill>
                <a:effectLst/>
                <a:latin typeface="JetBrains Mono"/>
              </a:rPr>
              <a:t>__</a:t>
            </a:r>
            <a:r>
              <a:rPr kumimoji="0" lang="en-US" altLang="en-US" b="0" i="0" u="none" strike="noStrike" cap="none" normalizeH="0" baseline="0" dirty="0">
                <a:ln>
                  <a:noFill/>
                </a:ln>
                <a:solidFill>
                  <a:srgbClr val="A9B7C6"/>
                </a:solidFill>
                <a:effectLst/>
                <a:latin typeface="JetBrains Mono"/>
              </a:rPr>
              <a:t>(</a:t>
            </a:r>
            <a:r>
              <a:rPr kumimoji="0" lang="en-US" altLang="en-US" b="0" i="0" u="none" strike="noStrike" cap="none" normalizeH="0" baseline="0" dirty="0">
                <a:ln>
                  <a:noFill/>
                </a:ln>
                <a:solidFill>
                  <a:srgbClr val="94558D"/>
                </a:solidFill>
                <a:effectLst/>
                <a:latin typeface="JetBrains Mono"/>
              </a:rPr>
              <a:t>self</a:t>
            </a:r>
            <a:r>
              <a:rPr kumimoji="0" lang="en-US" altLang="en-US" b="0" i="0" u="none" strike="noStrike" cap="none" normalizeH="0" baseline="0" dirty="0">
                <a:ln>
                  <a:noFill/>
                </a:ln>
                <a:solidFill>
                  <a:srgbClr val="A9B7C6"/>
                </a:solidFill>
                <a:effectLst/>
                <a:latin typeface="JetBrains Mono"/>
              </a:rPr>
              <a:t>):</a:t>
            </a:r>
            <a:br>
              <a:rPr kumimoji="0" lang="en-US" altLang="en-US" b="0" i="0" u="none" strike="noStrike" cap="none" normalizeH="0" baseline="0" dirty="0">
                <a:ln>
                  <a:noFill/>
                </a:ln>
                <a:solidFill>
                  <a:srgbClr val="A9B7C6"/>
                </a:solidFill>
                <a:effectLst/>
                <a:latin typeface="JetBrains Mono"/>
              </a:rPr>
            </a:br>
            <a:r>
              <a:rPr kumimoji="0" lang="en-US" altLang="en-US" b="0" i="0" u="none" strike="noStrike" cap="none" normalizeH="0" baseline="0" dirty="0">
                <a:ln>
                  <a:noFill/>
                </a:ln>
                <a:solidFill>
                  <a:srgbClr val="A9B7C6"/>
                </a:solidFill>
                <a:effectLst/>
                <a:latin typeface="JetBrains Mono"/>
              </a:rPr>
              <a:t>        </a:t>
            </a:r>
            <a:r>
              <a:rPr kumimoji="0" lang="en-US" altLang="en-US" b="0" i="0" u="none" strike="noStrike" cap="none" normalizeH="0" baseline="0" dirty="0" err="1">
                <a:ln>
                  <a:noFill/>
                </a:ln>
                <a:solidFill>
                  <a:srgbClr val="94558D"/>
                </a:solidFill>
                <a:effectLst/>
                <a:latin typeface="JetBrains Mono"/>
              </a:rPr>
              <a:t>self</a:t>
            </a:r>
            <a:r>
              <a:rPr kumimoji="0" lang="en-US" altLang="en-US" b="0" i="0" u="none" strike="noStrike" cap="none" normalizeH="0" baseline="0" dirty="0" err="1">
                <a:ln>
                  <a:noFill/>
                </a:ln>
                <a:solidFill>
                  <a:srgbClr val="A9B7C6"/>
                </a:solidFill>
                <a:effectLst/>
                <a:latin typeface="JetBrains Mono"/>
              </a:rPr>
              <a:t>.masv</a:t>
            </a:r>
            <a:r>
              <a:rPr kumimoji="0" lang="en-US" altLang="en-US" b="0" i="0" u="none" strike="noStrike" cap="none" normalizeH="0" baseline="0" dirty="0">
                <a:ln>
                  <a:noFill/>
                </a:ln>
                <a:solidFill>
                  <a:srgbClr val="A9B7C6"/>
                </a:solidFill>
                <a:effectLst/>
                <a:latin typeface="JetBrains Mono"/>
              </a:rPr>
              <a:t>=</a:t>
            </a:r>
            <a:r>
              <a:rPr kumimoji="0" lang="en-US" altLang="en-US" b="0" i="0" u="none" strike="noStrike" cap="none" normalizeH="0" baseline="0" dirty="0">
                <a:ln>
                  <a:noFill/>
                </a:ln>
                <a:solidFill>
                  <a:srgbClr val="6A8759"/>
                </a:solidFill>
                <a:effectLst/>
                <a:latin typeface="JetBrains Mono"/>
              </a:rPr>
              <a:t>""</a:t>
            </a:r>
            <a:br>
              <a:rPr kumimoji="0" lang="en-US" altLang="en-US" b="0" i="0" u="none" strike="noStrike" cap="none" normalizeH="0" baseline="0" dirty="0">
                <a:ln>
                  <a:noFill/>
                </a:ln>
                <a:solidFill>
                  <a:srgbClr val="6A8759"/>
                </a:solidFill>
                <a:effectLst/>
                <a:latin typeface="JetBrains Mono"/>
              </a:rPr>
            </a:br>
            <a:r>
              <a:rPr kumimoji="0" lang="en-US" altLang="en-US" b="0" i="0" u="none" strike="noStrike" cap="none" normalizeH="0" baseline="0" dirty="0">
                <a:ln>
                  <a:noFill/>
                </a:ln>
                <a:solidFill>
                  <a:srgbClr val="6A8759"/>
                </a:solidFill>
                <a:effectLst/>
                <a:latin typeface="JetBrains Mono"/>
              </a:rPr>
              <a:t>        </a:t>
            </a:r>
            <a:r>
              <a:rPr kumimoji="0" lang="en-US" altLang="en-US" b="0" i="0" u="none" strike="noStrike" cap="none" normalizeH="0" baseline="0" dirty="0">
                <a:ln>
                  <a:noFill/>
                </a:ln>
                <a:solidFill>
                  <a:srgbClr val="94558D"/>
                </a:solidFill>
                <a:effectLst/>
                <a:latin typeface="JetBrains Mono"/>
              </a:rPr>
              <a:t>self</a:t>
            </a:r>
            <a:r>
              <a:rPr kumimoji="0" lang="en-US" altLang="en-US" b="0" i="0" u="none" strike="noStrike" cap="none" normalizeH="0" baseline="0" dirty="0">
                <a:ln>
                  <a:noFill/>
                </a:ln>
                <a:solidFill>
                  <a:srgbClr val="A9B7C6"/>
                </a:solidFill>
                <a:effectLst/>
                <a:latin typeface="JetBrains Mono"/>
              </a:rPr>
              <a:t>.ht=</a:t>
            </a:r>
            <a:r>
              <a:rPr kumimoji="0" lang="en-US" altLang="en-US" b="0" i="0" u="none" strike="noStrike" cap="none" normalizeH="0" baseline="0" dirty="0">
                <a:ln>
                  <a:noFill/>
                </a:ln>
                <a:solidFill>
                  <a:srgbClr val="6A8759"/>
                </a:solidFill>
                <a:effectLst/>
                <a:latin typeface="JetBrains Mono"/>
              </a:rPr>
              <a:t>""</a:t>
            </a:r>
            <a:br>
              <a:rPr kumimoji="0" lang="en-US" altLang="en-US" b="0" i="0" u="none" strike="noStrike" cap="none" normalizeH="0" baseline="0" dirty="0">
                <a:ln>
                  <a:noFill/>
                </a:ln>
                <a:solidFill>
                  <a:srgbClr val="6A8759"/>
                </a:solidFill>
                <a:effectLst/>
                <a:latin typeface="JetBrains Mono"/>
              </a:rPr>
            </a:br>
            <a:r>
              <a:rPr kumimoji="0" lang="en-US" altLang="en-US" b="0" i="0" u="none" strike="noStrike" cap="none" normalizeH="0" baseline="0" dirty="0">
                <a:ln>
                  <a:noFill/>
                </a:ln>
                <a:solidFill>
                  <a:srgbClr val="6A8759"/>
                </a:solidFill>
                <a:effectLst/>
                <a:latin typeface="JetBrains Mono"/>
              </a:rPr>
              <a:t>        </a:t>
            </a:r>
            <a:r>
              <a:rPr kumimoji="0" lang="en-US" altLang="en-US" b="0" i="0" u="none" strike="noStrike" cap="none" normalizeH="0" baseline="0" dirty="0" err="1">
                <a:ln>
                  <a:noFill/>
                </a:ln>
                <a:solidFill>
                  <a:srgbClr val="94558D"/>
                </a:solidFill>
                <a:effectLst/>
                <a:latin typeface="JetBrains Mono"/>
              </a:rPr>
              <a:t>self</a:t>
            </a:r>
            <a:r>
              <a:rPr kumimoji="0" lang="en-US" altLang="en-US" b="0" i="0" u="none" strike="noStrike" cap="none" normalizeH="0" baseline="0" dirty="0" err="1">
                <a:ln>
                  <a:noFill/>
                </a:ln>
                <a:solidFill>
                  <a:srgbClr val="A9B7C6"/>
                </a:solidFill>
                <a:effectLst/>
                <a:latin typeface="JetBrains Mono"/>
              </a:rPr>
              <a:t>.tuoi</a:t>
            </a:r>
            <a:r>
              <a:rPr kumimoji="0" lang="en-US" altLang="en-US" b="0" i="0" u="none" strike="noStrike" cap="none" normalizeH="0" baseline="0" dirty="0">
                <a:ln>
                  <a:noFill/>
                </a:ln>
                <a:solidFill>
                  <a:srgbClr val="A9B7C6"/>
                </a:solidFill>
                <a:effectLst/>
                <a:latin typeface="JetBrains Mono"/>
              </a:rPr>
              <a:t>=</a:t>
            </a:r>
            <a:r>
              <a:rPr kumimoji="0" lang="en-US" altLang="en-US" b="0" i="0" u="none" strike="noStrike" cap="none" normalizeH="0" baseline="0" dirty="0">
                <a:ln>
                  <a:noFill/>
                </a:ln>
                <a:solidFill>
                  <a:srgbClr val="6897BB"/>
                </a:solidFill>
                <a:effectLst/>
                <a:latin typeface="JetBrains Mono"/>
              </a:rPr>
              <a:t>0</a:t>
            </a:r>
            <a:br>
              <a:rPr kumimoji="0" lang="en-US" altLang="en-US" b="0" i="0" u="none" strike="noStrike" cap="none" normalizeH="0" baseline="0" dirty="0">
                <a:ln>
                  <a:noFill/>
                </a:ln>
                <a:solidFill>
                  <a:srgbClr val="6897BB"/>
                </a:solidFill>
                <a:effectLst/>
                <a:latin typeface="JetBrains Mono"/>
              </a:rPr>
            </a:br>
            <a:r>
              <a:rPr kumimoji="0" lang="en-US" altLang="en-US" b="0" i="0" u="none" strike="noStrike" cap="none" normalizeH="0" baseline="0" dirty="0">
                <a:ln>
                  <a:noFill/>
                </a:ln>
                <a:solidFill>
                  <a:srgbClr val="6897BB"/>
                </a:solidFill>
                <a:effectLst/>
                <a:latin typeface="JetBrains Mono"/>
              </a:rPr>
              <a:t>        </a:t>
            </a:r>
            <a:r>
              <a:rPr kumimoji="0" lang="en-US" altLang="en-US" b="0" i="0" u="none" strike="noStrike" cap="none" normalizeH="0" baseline="0" dirty="0" err="1">
                <a:ln>
                  <a:noFill/>
                </a:ln>
                <a:solidFill>
                  <a:srgbClr val="94558D"/>
                </a:solidFill>
                <a:effectLst/>
                <a:latin typeface="JetBrains Mono"/>
              </a:rPr>
              <a:t>self</a:t>
            </a:r>
            <a:r>
              <a:rPr kumimoji="0" lang="en-US" altLang="en-US" b="0" i="0" u="none" strike="noStrike" cap="none" normalizeH="0" baseline="0" dirty="0" err="1">
                <a:ln>
                  <a:noFill/>
                </a:ln>
                <a:solidFill>
                  <a:srgbClr val="A9B7C6"/>
                </a:solidFill>
                <a:effectLst/>
                <a:latin typeface="JetBrains Mono"/>
              </a:rPr>
              <a:t>.dc</a:t>
            </a:r>
            <a:r>
              <a:rPr kumimoji="0" lang="en-US" altLang="en-US" b="0" i="0" u="none" strike="noStrike" cap="none" normalizeH="0" baseline="0" dirty="0">
                <a:ln>
                  <a:noFill/>
                </a:ln>
                <a:solidFill>
                  <a:srgbClr val="A9B7C6"/>
                </a:solidFill>
                <a:effectLst/>
                <a:latin typeface="JetBrains Mono"/>
              </a:rPr>
              <a:t>=</a:t>
            </a:r>
            <a:r>
              <a:rPr kumimoji="0" lang="en-US" altLang="en-US" b="0" i="0" u="none" strike="noStrike" cap="none" normalizeH="0" baseline="0" dirty="0">
                <a:ln>
                  <a:noFill/>
                </a:ln>
                <a:solidFill>
                  <a:srgbClr val="6A8759"/>
                </a:solidFill>
                <a:effectLst/>
                <a:latin typeface="JetBrains Mono"/>
              </a:rPr>
              <a:t>""</a:t>
            </a:r>
            <a:br>
              <a:rPr kumimoji="0" lang="en-US" altLang="en-US" b="0" i="0" u="none" strike="noStrike" cap="none" normalizeH="0" baseline="0" dirty="0">
                <a:ln>
                  <a:noFill/>
                </a:ln>
                <a:solidFill>
                  <a:srgbClr val="6A8759"/>
                </a:solidFill>
                <a:effectLst/>
                <a:latin typeface="JetBrains Mono"/>
              </a:rPr>
            </a:br>
            <a:r>
              <a:rPr kumimoji="0" lang="en-US" altLang="en-US" b="0" i="0" u="none" strike="noStrike" cap="none" normalizeH="0" baseline="0" dirty="0">
                <a:ln>
                  <a:noFill/>
                </a:ln>
                <a:solidFill>
                  <a:srgbClr val="6A8759"/>
                </a:solidFill>
                <a:effectLst/>
                <a:latin typeface="JetBrains Mono"/>
              </a:rPr>
              <a:t>    </a:t>
            </a:r>
            <a:r>
              <a:rPr kumimoji="0" lang="en-US" altLang="en-US" b="0" i="0" u="none" strike="noStrike" cap="none" normalizeH="0" baseline="0" dirty="0">
                <a:ln>
                  <a:noFill/>
                </a:ln>
                <a:solidFill>
                  <a:srgbClr val="CC7832"/>
                </a:solidFill>
                <a:effectLst/>
                <a:latin typeface="JetBrains Mono"/>
              </a:rPr>
              <a:t>def </a:t>
            </a:r>
            <a:r>
              <a:rPr kumimoji="0" lang="en-US" altLang="en-US" b="0" i="0" u="none" strike="noStrike" cap="none" normalizeH="0" baseline="0" dirty="0" err="1">
                <a:ln>
                  <a:noFill/>
                </a:ln>
                <a:solidFill>
                  <a:srgbClr val="FFC66D"/>
                </a:solidFill>
                <a:effectLst/>
                <a:latin typeface="JetBrains Mono"/>
              </a:rPr>
              <a:t>hienthi</a:t>
            </a:r>
            <a:r>
              <a:rPr kumimoji="0" lang="en-US" altLang="en-US" b="0" i="0" u="none" strike="noStrike" cap="none" normalizeH="0" baseline="0" dirty="0">
                <a:ln>
                  <a:noFill/>
                </a:ln>
                <a:solidFill>
                  <a:srgbClr val="A9B7C6"/>
                </a:solidFill>
                <a:effectLst/>
                <a:latin typeface="JetBrains Mono"/>
              </a:rPr>
              <a:t>(</a:t>
            </a:r>
            <a:r>
              <a:rPr kumimoji="0" lang="en-US" altLang="en-US" b="0" i="0" u="none" strike="noStrike" cap="none" normalizeH="0" baseline="0" dirty="0">
                <a:ln>
                  <a:noFill/>
                </a:ln>
                <a:solidFill>
                  <a:srgbClr val="94558D"/>
                </a:solidFill>
                <a:effectLst/>
                <a:latin typeface="JetBrains Mono"/>
              </a:rPr>
              <a:t>self</a:t>
            </a:r>
            <a:r>
              <a:rPr kumimoji="0" lang="en-US" altLang="en-US" b="0" i="0" u="none" strike="noStrike" cap="none" normalizeH="0" baseline="0" dirty="0">
                <a:ln>
                  <a:noFill/>
                </a:ln>
                <a:solidFill>
                  <a:srgbClr val="A9B7C6"/>
                </a:solidFill>
                <a:effectLst/>
                <a:latin typeface="JetBrains Mono"/>
              </a:rPr>
              <a:t>):</a:t>
            </a:r>
            <a:br>
              <a:rPr kumimoji="0" lang="en-US" altLang="en-US" b="0" i="0" u="none" strike="noStrike" cap="none" normalizeH="0" baseline="0" dirty="0">
                <a:ln>
                  <a:noFill/>
                </a:ln>
                <a:solidFill>
                  <a:srgbClr val="A9B7C6"/>
                </a:solidFill>
                <a:effectLst/>
                <a:latin typeface="JetBrains Mono"/>
              </a:rPr>
            </a:br>
            <a:r>
              <a:rPr kumimoji="0" lang="en-US" altLang="en-US" b="0" i="0" u="none" strike="noStrike" cap="none" normalizeH="0" baseline="0" dirty="0">
                <a:ln>
                  <a:noFill/>
                </a:ln>
                <a:solidFill>
                  <a:srgbClr val="A9B7C6"/>
                </a:solidFill>
                <a:effectLst/>
                <a:latin typeface="JetBrains Mono"/>
              </a:rPr>
              <a:t>        </a:t>
            </a:r>
            <a:r>
              <a:rPr kumimoji="0" lang="en-US" altLang="en-US" b="0" i="0" u="none" strike="noStrike" cap="none" normalizeH="0" baseline="0" dirty="0">
                <a:ln>
                  <a:noFill/>
                </a:ln>
                <a:solidFill>
                  <a:srgbClr val="8888C6"/>
                </a:solidFill>
                <a:effectLst/>
                <a:latin typeface="JetBrains Mono"/>
              </a:rPr>
              <a:t>print</a:t>
            </a:r>
            <a:r>
              <a:rPr kumimoji="0" lang="en-US" altLang="en-US" b="0" i="0" u="none" strike="noStrike" cap="none" normalizeH="0" baseline="0" dirty="0">
                <a:ln>
                  <a:noFill/>
                </a:ln>
                <a:solidFill>
                  <a:srgbClr val="A9B7C6"/>
                </a:solidFill>
                <a:effectLst/>
                <a:latin typeface="JetBrains Mono"/>
              </a:rPr>
              <a:t>(</a:t>
            </a:r>
            <a:r>
              <a:rPr kumimoji="0" lang="en-US" altLang="en-US" b="0" i="0" u="none" strike="noStrike" cap="none" normalizeH="0" baseline="0" dirty="0">
                <a:ln>
                  <a:noFill/>
                </a:ln>
                <a:solidFill>
                  <a:srgbClr val="6A8759"/>
                </a:solidFill>
                <a:effectLst/>
                <a:latin typeface="JetBrains Mono"/>
              </a:rPr>
              <a:t>"</a:t>
            </a:r>
            <a:r>
              <a:rPr kumimoji="0" lang="en-US" altLang="en-US" b="0" i="0" u="none" strike="noStrike" cap="none" normalizeH="0" baseline="0" dirty="0" err="1">
                <a:ln>
                  <a:noFill/>
                </a:ln>
                <a:solidFill>
                  <a:srgbClr val="6A8759"/>
                </a:solidFill>
                <a:effectLst/>
                <a:latin typeface="JetBrains Mono"/>
              </a:rPr>
              <a:t>Mã</a:t>
            </a:r>
            <a:r>
              <a:rPr kumimoji="0" lang="en-US" altLang="en-US" b="0" i="0" u="none" strike="noStrike" cap="none" normalizeH="0" baseline="0" dirty="0">
                <a:ln>
                  <a:noFill/>
                </a:ln>
                <a:solidFill>
                  <a:srgbClr val="6A8759"/>
                </a:solidFill>
                <a:effectLst/>
                <a:latin typeface="JetBrains Mono"/>
              </a:rPr>
              <a:t> </a:t>
            </a:r>
            <a:r>
              <a:rPr kumimoji="0" lang="en-US" altLang="en-US" b="0" i="0" u="none" strike="noStrike" cap="none" normalizeH="0" baseline="0" dirty="0" err="1">
                <a:ln>
                  <a:noFill/>
                </a:ln>
                <a:solidFill>
                  <a:srgbClr val="6A8759"/>
                </a:solidFill>
                <a:effectLst/>
                <a:latin typeface="JetBrains Mono"/>
              </a:rPr>
              <a:t>sinh</a:t>
            </a:r>
            <a:r>
              <a:rPr kumimoji="0" lang="en-US" altLang="en-US" b="0" i="0" u="none" strike="noStrike" cap="none" normalizeH="0" baseline="0" dirty="0">
                <a:ln>
                  <a:noFill/>
                </a:ln>
                <a:solidFill>
                  <a:srgbClr val="6A8759"/>
                </a:solidFill>
                <a:effectLst/>
                <a:latin typeface="JetBrains Mono"/>
              </a:rPr>
              <a:t> </a:t>
            </a:r>
            <a:r>
              <a:rPr kumimoji="0" lang="en-US" altLang="en-US" b="0" i="0" u="none" strike="noStrike" cap="none" normalizeH="0" baseline="0" dirty="0" err="1">
                <a:ln>
                  <a:noFill/>
                </a:ln>
                <a:solidFill>
                  <a:srgbClr val="6A8759"/>
                </a:solidFill>
                <a:effectLst/>
                <a:latin typeface="JetBrains Mono"/>
              </a:rPr>
              <a:t>vien</a:t>
            </a:r>
            <a:r>
              <a:rPr kumimoji="0" lang="en-US" altLang="en-US" b="0" i="0" u="none" strike="noStrike" cap="none" normalizeH="0" baseline="0" dirty="0">
                <a:ln>
                  <a:noFill/>
                </a:ln>
                <a:solidFill>
                  <a:srgbClr val="6A8759"/>
                </a:solidFill>
                <a:effectLst/>
                <a:latin typeface="JetBrains Mono"/>
              </a:rPr>
              <a:t>:"</a:t>
            </a:r>
            <a:r>
              <a:rPr kumimoji="0" lang="en-US" altLang="en-US" b="0" i="0" u="none" strike="noStrike" cap="none" normalizeH="0" baseline="0" dirty="0">
                <a:ln>
                  <a:noFill/>
                </a:ln>
                <a:solidFill>
                  <a:srgbClr val="CC7832"/>
                </a:solidFill>
                <a:effectLst/>
                <a:latin typeface="JetBrains Mono"/>
              </a:rPr>
              <a:t>,</a:t>
            </a:r>
            <a:r>
              <a:rPr kumimoji="0" lang="en-US" altLang="en-US" b="0" i="0" u="none" strike="noStrike" cap="none" normalizeH="0" baseline="0" dirty="0" err="1">
                <a:ln>
                  <a:noFill/>
                </a:ln>
                <a:solidFill>
                  <a:srgbClr val="94558D"/>
                </a:solidFill>
                <a:effectLst/>
                <a:latin typeface="JetBrains Mono"/>
              </a:rPr>
              <a:t>self</a:t>
            </a:r>
            <a:r>
              <a:rPr kumimoji="0" lang="en-US" altLang="en-US" b="0" i="0" u="none" strike="noStrike" cap="none" normalizeH="0" baseline="0" dirty="0" err="1">
                <a:ln>
                  <a:noFill/>
                </a:ln>
                <a:solidFill>
                  <a:srgbClr val="A9B7C6"/>
                </a:solidFill>
                <a:effectLst/>
                <a:latin typeface="JetBrains Mono"/>
              </a:rPr>
              <a:t>.masv</a:t>
            </a:r>
            <a:r>
              <a:rPr kumimoji="0" lang="en-US" altLang="en-US" b="0" i="0" u="none" strike="noStrike" cap="none" normalizeH="0" baseline="0" dirty="0">
                <a:ln>
                  <a:noFill/>
                </a:ln>
                <a:solidFill>
                  <a:srgbClr val="A9B7C6"/>
                </a:solidFill>
                <a:effectLst/>
                <a:latin typeface="JetBrains Mono"/>
              </a:rPr>
              <a:t>)</a:t>
            </a:r>
            <a:br>
              <a:rPr kumimoji="0" lang="en-US" altLang="en-US" b="0" i="0" u="none" strike="noStrike" cap="none" normalizeH="0" baseline="0" dirty="0">
                <a:ln>
                  <a:noFill/>
                </a:ln>
                <a:solidFill>
                  <a:srgbClr val="A9B7C6"/>
                </a:solidFill>
                <a:effectLst/>
                <a:latin typeface="JetBrains Mono"/>
              </a:rPr>
            </a:br>
            <a:r>
              <a:rPr kumimoji="0" lang="en-US" altLang="en-US" b="0" i="0" u="none" strike="noStrike" cap="none" normalizeH="0" baseline="0" dirty="0">
                <a:ln>
                  <a:noFill/>
                </a:ln>
                <a:solidFill>
                  <a:srgbClr val="A9B7C6"/>
                </a:solidFill>
                <a:effectLst/>
                <a:latin typeface="JetBrains Mono"/>
              </a:rPr>
              <a:t>        </a:t>
            </a:r>
            <a:r>
              <a:rPr kumimoji="0" lang="en-US" altLang="en-US" b="0" i="0" u="none" strike="noStrike" cap="none" normalizeH="0" baseline="0" dirty="0">
                <a:ln>
                  <a:noFill/>
                </a:ln>
                <a:solidFill>
                  <a:srgbClr val="8888C6"/>
                </a:solidFill>
                <a:effectLst/>
                <a:latin typeface="JetBrains Mono"/>
              </a:rPr>
              <a:t>print</a:t>
            </a:r>
            <a:r>
              <a:rPr kumimoji="0" lang="en-US" altLang="en-US" b="0" i="0" u="none" strike="noStrike" cap="none" normalizeH="0" baseline="0" dirty="0">
                <a:ln>
                  <a:noFill/>
                </a:ln>
                <a:solidFill>
                  <a:srgbClr val="A9B7C6"/>
                </a:solidFill>
                <a:effectLst/>
                <a:latin typeface="JetBrains Mono"/>
              </a:rPr>
              <a:t>(</a:t>
            </a:r>
            <a:r>
              <a:rPr kumimoji="0" lang="en-US" altLang="en-US" b="0" i="0" u="none" strike="noStrike" cap="none" normalizeH="0" baseline="0" dirty="0">
                <a:ln>
                  <a:noFill/>
                </a:ln>
                <a:solidFill>
                  <a:srgbClr val="6A8759"/>
                </a:solidFill>
                <a:effectLst/>
                <a:latin typeface="JetBrains Mono"/>
              </a:rPr>
              <a:t>"</a:t>
            </a:r>
            <a:r>
              <a:rPr kumimoji="0" lang="en-US" altLang="en-US" b="0" i="0" u="none" strike="noStrike" cap="none" normalizeH="0" baseline="0" dirty="0" err="1">
                <a:ln>
                  <a:noFill/>
                </a:ln>
                <a:solidFill>
                  <a:srgbClr val="6A8759"/>
                </a:solidFill>
                <a:effectLst/>
                <a:latin typeface="JetBrains Mono"/>
              </a:rPr>
              <a:t>họ</a:t>
            </a:r>
            <a:r>
              <a:rPr kumimoji="0" lang="en-US" altLang="en-US" b="0" i="0" u="none" strike="noStrike" cap="none" normalizeH="0" baseline="0" dirty="0">
                <a:ln>
                  <a:noFill/>
                </a:ln>
                <a:solidFill>
                  <a:srgbClr val="6A8759"/>
                </a:solidFill>
                <a:effectLst/>
                <a:latin typeface="JetBrains Mono"/>
              </a:rPr>
              <a:t> </a:t>
            </a:r>
            <a:r>
              <a:rPr kumimoji="0" lang="en-US" altLang="en-US" b="0" i="0" u="none" strike="noStrike" cap="none" normalizeH="0" baseline="0" dirty="0" err="1">
                <a:ln>
                  <a:noFill/>
                </a:ln>
                <a:solidFill>
                  <a:srgbClr val="6A8759"/>
                </a:solidFill>
                <a:effectLst/>
                <a:latin typeface="JetBrains Mono"/>
              </a:rPr>
              <a:t>tên</a:t>
            </a:r>
            <a:r>
              <a:rPr kumimoji="0" lang="en-US" altLang="en-US" b="0" i="0" u="none" strike="noStrike" cap="none" normalizeH="0" baseline="0" dirty="0">
                <a:ln>
                  <a:noFill/>
                </a:ln>
                <a:solidFill>
                  <a:srgbClr val="6A8759"/>
                </a:solidFill>
                <a:effectLst/>
                <a:latin typeface="JetBrains Mono"/>
              </a:rPr>
              <a:t> </a:t>
            </a:r>
            <a:r>
              <a:rPr kumimoji="0" lang="en-US" altLang="en-US" b="0" i="0" u="none" strike="noStrike" cap="none" normalizeH="0" baseline="0" dirty="0" err="1">
                <a:ln>
                  <a:noFill/>
                </a:ln>
                <a:solidFill>
                  <a:srgbClr val="6A8759"/>
                </a:solidFill>
                <a:effectLst/>
                <a:latin typeface="JetBrains Mono"/>
              </a:rPr>
              <a:t>sinh</a:t>
            </a:r>
            <a:r>
              <a:rPr kumimoji="0" lang="en-US" altLang="en-US" b="0" i="0" u="none" strike="noStrike" cap="none" normalizeH="0" baseline="0" dirty="0">
                <a:ln>
                  <a:noFill/>
                </a:ln>
                <a:solidFill>
                  <a:srgbClr val="6A8759"/>
                </a:solidFill>
                <a:effectLst/>
                <a:latin typeface="JetBrains Mono"/>
              </a:rPr>
              <a:t> </a:t>
            </a:r>
            <a:r>
              <a:rPr kumimoji="0" lang="en-US" altLang="en-US" b="0" i="0" u="none" strike="noStrike" cap="none" normalizeH="0" baseline="0" dirty="0" err="1">
                <a:ln>
                  <a:noFill/>
                </a:ln>
                <a:solidFill>
                  <a:srgbClr val="6A8759"/>
                </a:solidFill>
                <a:effectLst/>
                <a:latin typeface="JetBrains Mono"/>
              </a:rPr>
              <a:t>vien</a:t>
            </a:r>
            <a:r>
              <a:rPr kumimoji="0" lang="en-US" altLang="en-US" b="0" i="0" u="none" strike="noStrike" cap="none" normalizeH="0" baseline="0" dirty="0">
                <a:ln>
                  <a:noFill/>
                </a:ln>
                <a:solidFill>
                  <a:srgbClr val="6A8759"/>
                </a:solidFill>
                <a:effectLst/>
                <a:latin typeface="JetBrains Mono"/>
              </a:rPr>
              <a:t>:"</a:t>
            </a:r>
            <a:r>
              <a:rPr kumimoji="0" lang="en-US" altLang="en-US" b="0" i="0" u="none" strike="noStrike" cap="none" normalizeH="0" baseline="0" dirty="0">
                <a:ln>
                  <a:noFill/>
                </a:ln>
                <a:solidFill>
                  <a:srgbClr val="CC7832"/>
                </a:solidFill>
                <a:effectLst/>
                <a:latin typeface="JetBrains Mono"/>
              </a:rPr>
              <a:t>, </a:t>
            </a:r>
            <a:r>
              <a:rPr kumimoji="0" lang="en-US" altLang="en-US" b="0" i="0" u="none" strike="noStrike" cap="none" normalizeH="0" baseline="0" dirty="0">
                <a:ln>
                  <a:noFill/>
                </a:ln>
                <a:solidFill>
                  <a:srgbClr val="94558D"/>
                </a:solidFill>
                <a:effectLst/>
                <a:latin typeface="JetBrains Mono"/>
              </a:rPr>
              <a:t>self</a:t>
            </a:r>
            <a:r>
              <a:rPr kumimoji="0" lang="en-US" altLang="en-US" b="0" i="0" u="none" strike="noStrike" cap="none" normalizeH="0" baseline="0" dirty="0">
                <a:ln>
                  <a:noFill/>
                </a:ln>
                <a:solidFill>
                  <a:srgbClr val="A9B7C6"/>
                </a:solidFill>
                <a:effectLst/>
                <a:latin typeface="JetBrains Mono"/>
              </a:rPr>
              <a:t>.ht)</a:t>
            </a:r>
            <a:br>
              <a:rPr kumimoji="0" lang="en-US" altLang="en-US" b="0" i="0" u="none" strike="noStrike" cap="none" normalizeH="0" baseline="0" dirty="0">
                <a:ln>
                  <a:noFill/>
                </a:ln>
                <a:solidFill>
                  <a:srgbClr val="A9B7C6"/>
                </a:solidFill>
                <a:effectLst/>
                <a:latin typeface="JetBrains Mono"/>
              </a:rPr>
            </a:br>
            <a:r>
              <a:rPr kumimoji="0" lang="en-US" altLang="en-US" b="0" i="0" u="none" strike="noStrike" cap="none" normalizeH="0" baseline="0" dirty="0">
                <a:ln>
                  <a:noFill/>
                </a:ln>
                <a:solidFill>
                  <a:srgbClr val="A9B7C6"/>
                </a:solidFill>
                <a:effectLst/>
                <a:latin typeface="JetBrains Mono"/>
              </a:rPr>
              <a:t>        </a:t>
            </a:r>
            <a:r>
              <a:rPr kumimoji="0" lang="en-US" altLang="en-US" b="0" i="0" u="none" strike="noStrike" cap="none" normalizeH="0" baseline="0" dirty="0">
                <a:ln>
                  <a:noFill/>
                </a:ln>
                <a:solidFill>
                  <a:srgbClr val="8888C6"/>
                </a:solidFill>
                <a:effectLst/>
                <a:latin typeface="JetBrains Mono"/>
              </a:rPr>
              <a:t>print</a:t>
            </a:r>
            <a:r>
              <a:rPr kumimoji="0" lang="en-US" altLang="en-US" b="0" i="0" u="none" strike="noStrike" cap="none" normalizeH="0" baseline="0" dirty="0">
                <a:ln>
                  <a:noFill/>
                </a:ln>
                <a:solidFill>
                  <a:srgbClr val="A9B7C6"/>
                </a:solidFill>
                <a:effectLst/>
                <a:latin typeface="JetBrains Mono"/>
              </a:rPr>
              <a:t>(</a:t>
            </a:r>
            <a:r>
              <a:rPr kumimoji="0" lang="en-US" altLang="en-US" b="0" i="0" u="none" strike="noStrike" cap="none" normalizeH="0" baseline="0" dirty="0">
                <a:ln>
                  <a:noFill/>
                </a:ln>
                <a:solidFill>
                  <a:srgbClr val="6A8759"/>
                </a:solidFill>
                <a:effectLst/>
                <a:latin typeface="JetBrains Mono"/>
              </a:rPr>
              <a:t>"</a:t>
            </a:r>
            <a:r>
              <a:rPr kumimoji="0" lang="en-US" altLang="en-US" b="0" i="0" u="none" strike="noStrike" cap="none" normalizeH="0" baseline="0" dirty="0" err="1">
                <a:ln>
                  <a:noFill/>
                </a:ln>
                <a:solidFill>
                  <a:srgbClr val="6A8759"/>
                </a:solidFill>
                <a:effectLst/>
                <a:latin typeface="JetBrains Mono"/>
              </a:rPr>
              <a:t>Địa</a:t>
            </a:r>
            <a:r>
              <a:rPr kumimoji="0" lang="en-US" altLang="en-US" b="0" i="0" u="none" strike="noStrike" cap="none" normalizeH="0" baseline="0" dirty="0">
                <a:ln>
                  <a:noFill/>
                </a:ln>
                <a:solidFill>
                  <a:srgbClr val="6A8759"/>
                </a:solidFill>
                <a:effectLst/>
                <a:latin typeface="JetBrains Mono"/>
              </a:rPr>
              <a:t> </a:t>
            </a:r>
            <a:r>
              <a:rPr kumimoji="0" lang="en-US" altLang="en-US" b="0" i="0" u="none" strike="noStrike" cap="none" normalizeH="0" baseline="0" dirty="0" err="1">
                <a:ln>
                  <a:noFill/>
                </a:ln>
                <a:solidFill>
                  <a:srgbClr val="6A8759"/>
                </a:solidFill>
                <a:effectLst/>
                <a:latin typeface="JetBrains Mono"/>
              </a:rPr>
              <a:t>chỉ</a:t>
            </a:r>
            <a:r>
              <a:rPr kumimoji="0" lang="en-US" altLang="en-US" b="0" i="0" u="none" strike="noStrike" cap="none" normalizeH="0" baseline="0" dirty="0">
                <a:ln>
                  <a:noFill/>
                </a:ln>
                <a:solidFill>
                  <a:srgbClr val="6A8759"/>
                </a:solidFill>
                <a:effectLst/>
                <a:latin typeface="JetBrains Mono"/>
              </a:rPr>
              <a:t> </a:t>
            </a:r>
            <a:r>
              <a:rPr kumimoji="0" lang="en-US" altLang="en-US" b="0" i="0" u="none" strike="noStrike" cap="none" normalizeH="0" baseline="0" dirty="0" err="1">
                <a:ln>
                  <a:noFill/>
                </a:ln>
                <a:solidFill>
                  <a:srgbClr val="6A8759"/>
                </a:solidFill>
                <a:effectLst/>
                <a:latin typeface="JetBrains Mono"/>
              </a:rPr>
              <a:t>sinh</a:t>
            </a:r>
            <a:r>
              <a:rPr kumimoji="0" lang="en-US" altLang="en-US" b="0" i="0" u="none" strike="noStrike" cap="none" normalizeH="0" baseline="0" dirty="0">
                <a:ln>
                  <a:noFill/>
                </a:ln>
                <a:solidFill>
                  <a:srgbClr val="6A8759"/>
                </a:solidFill>
                <a:effectLst/>
                <a:latin typeface="JetBrains Mono"/>
              </a:rPr>
              <a:t> </a:t>
            </a:r>
            <a:r>
              <a:rPr kumimoji="0" lang="en-US" altLang="en-US" b="0" i="0" u="none" strike="noStrike" cap="none" normalizeH="0" baseline="0" dirty="0" err="1">
                <a:ln>
                  <a:noFill/>
                </a:ln>
                <a:solidFill>
                  <a:srgbClr val="6A8759"/>
                </a:solidFill>
                <a:effectLst/>
                <a:latin typeface="JetBrains Mono"/>
              </a:rPr>
              <a:t>vien</a:t>
            </a:r>
            <a:r>
              <a:rPr kumimoji="0" lang="en-US" altLang="en-US" b="0" i="0" u="none" strike="noStrike" cap="none" normalizeH="0" baseline="0" dirty="0">
                <a:ln>
                  <a:noFill/>
                </a:ln>
                <a:solidFill>
                  <a:srgbClr val="6A8759"/>
                </a:solidFill>
                <a:effectLst/>
                <a:latin typeface="JetBrains Mono"/>
              </a:rPr>
              <a:t>:"</a:t>
            </a:r>
            <a:r>
              <a:rPr kumimoji="0" lang="en-US" altLang="en-US" b="0" i="0" u="none" strike="noStrike" cap="none" normalizeH="0" baseline="0" dirty="0">
                <a:ln>
                  <a:noFill/>
                </a:ln>
                <a:solidFill>
                  <a:srgbClr val="CC7832"/>
                </a:solidFill>
                <a:effectLst/>
                <a:latin typeface="JetBrains Mono"/>
              </a:rPr>
              <a:t>, </a:t>
            </a:r>
            <a:r>
              <a:rPr kumimoji="0" lang="en-US" altLang="en-US" b="0" i="0" u="none" strike="noStrike" cap="none" normalizeH="0" baseline="0" dirty="0" err="1">
                <a:ln>
                  <a:noFill/>
                </a:ln>
                <a:solidFill>
                  <a:srgbClr val="94558D"/>
                </a:solidFill>
                <a:effectLst/>
                <a:latin typeface="JetBrains Mono"/>
              </a:rPr>
              <a:t>self</a:t>
            </a:r>
            <a:r>
              <a:rPr kumimoji="0" lang="en-US" altLang="en-US" b="0" i="0" u="none" strike="noStrike" cap="none" normalizeH="0" baseline="0" dirty="0" err="1">
                <a:ln>
                  <a:noFill/>
                </a:ln>
                <a:solidFill>
                  <a:srgbClr val="A9B7C6"/>
                </a:solidFill>
                <a:effectLst/>
                <a:latin typeface="JetBrains Mono"/>
              </a:rPr>
              <a:t>.dc</a:t>
            </a:r>
            <a:r>
              <a:rPr kumimoji="0" lang="en-US" altLang="en-US" b="0" i="0" u="none" strike="noStrike" cap="none" normalizeH="0" baseline="0" dirty="0">
                <a:ln>
                  <a:noFill/>
                </a:ln>
                <a:solidFill>
                  <a:srgbClr val="A9B7C6"/>
                </a:solidFill>
                <a:effectLst/>
                <a:latin typeface="JetBrains Mono"/>
              </a:rPr>
              <a:t>)</a:t>
            </a:r>
            <a:br>
              <a:rPr kumimoji="0" lang="en-US" altLang="en-US" b="0" i="0" u="none" strike="noStrike" cap="none" normalizeH="0" baseline="0" dirty="0">
                <a:ln>
                  <a:noFill/>
                </a:ln>
                <a:solidFill>
                  <a:srgbClr val="A9B7C6"/>
                </a:solidFill>
                <a:effectLst/>
                <a:latin typeface="JetBrains Mono"/>
              </a:rPr>
            </a:br>
            <a:r>
              <a:rPr kumimoji="0" lang="en-US" altLang="en-US" b="0" i="0" u="none" strike="noStrike" cap="none" normalizeH="0" baseline="0" dirty="0">
                <a:ln>
                  <a:noFill/>
                </a:ln>
                <a:solidFill>
                  <a:srgbClr val="A9B7C6"/>
                </a:solidFill>
                <a:effectLst/>
                <a:latin typeface="JetBrains Mono"/>
              </a:rPr>
              <a:t>        </a:t>
            </a:r>
            <a:r>
              <a:rPr kumimoji="0" lang="en-US" altLang="en-US" b="0" i="0" u="none" strike="noStrike" cap="none" normalizeH="0" baseline="0" dirty="0">
                <a:ln>
                  <a:noFill/>
                </a:ln>
                <a:solidFill>
                  <a:srgbClr val="8888C6"/>
                </a:solidFill>
                <a:effectLst/>
                <a:latin typeface="JetBrains Mono"/>
              </a:rPr>
              <a:t>print</a:t>
            </a:r>
            <a:r>
              <a:rPr kumimoji="0" lang="en-US" altLang="en-US" b="0" i="0" u="none" strike="noStrike" cap="none" normalizeH="0" baseline="0" dirty="0">
                <a:ln>
                  <a:noFill/>
                </a:ln>
                <a:solidFill>
                  <a:srgbClr val="A9B7C6"/>
                </a:solidFill>
                <a:effectLst/>
                <a:latin typeface="JetBrains Mono"/>
              </a:rPr>
              <a:t>(</a:t>
            </a:r>
            <a:r>
              <a:rPr kumimoji="0" lang="en-US" altLang="en-US" b="0" i="0" u="none" strike="noStrike" cap="none" normalizeH="0" baseline="0" dirty="0">
                <a:ln>
                  <a:noFill/>
                </a:ln>
                <a:solidFill>
                  <a:srgbClr val="6A8759"/>
                </a:solidFill>
                <a:effectLst/>
                <a:latin typeface="JetBrains Mono"/>
              </a:rPr>
              <a:t>"</a:t>
            </a:r>
            <a:r>
              <a:rPr kumimoji="0" lang="en-US" altLang="en-US" b="0" i="0" u="none" strike="noStrike" cap="none" normalizeH="0" baseline="0" dirty="0" err="1">
                <a:ln>
                  <a:noFill/>
                </a:ln>
                <a:solidFill>
                  <a:srgbClr val="6A8759"/>
                </a:solidFill>
                <a:effectLst/>
                <a:latin typeface="JetBrains Mono"/>
              </a:rPr>
              <a:t>Tuoi</a:t>
            </a:r>
            <a:r>
              <a:rPr kumimoji="0" lang="en-US" altLang="en-US" b="0" i="0" u="none" strike="noStrike" cap="none" normalizeH="0" baseline="0" dirty="0">
                <a:ln>
                  <a:noFill/>
                </a:ln>
                <a:solidFill>
                  <a:srgbClr val="6A8759"/>
                </a:solidFill>
                <a:effectLst/>
                <a:latin typeface="JetBrains Mono"/>
              </a:rPr>
              <a:t> </a:t>
            </a:r>
            <a:r>
              <a:rPr kumimoji="0" lang="en-US" altLang="en-US" b="0" i="0" u="none" strike="noStrike" cap="none" normalizeH="0" baseline="0" dirty="0" err="1">
                <a:ln>
                  <a:noFill/>
                </a:ln>
                <a:solidFill>
                  <a:srgbClr val="6A8759"/>
                </a:solidFill>
                <a:effectLst/>
                <a:latin typeface="JetBrains Mono"/>
              </a:rPr>
              <a:t>sinh</a:t>
            </a:r>
            <a:r>
              <a:rPr kumimoji="0" lang="en-US" altLang="en-US" b="0" i="0" u="none" strike="noStrike" cap="none" normalizeH="0" baseline="0" dirty="0">
                <a:ln>
                  <a:noFill/>
                </a:ln>
                <a:solidFill>
                  <a:srgbClr val="6A8759"/>
                </a:solidFill>
                <a:effectLst/>
                <a:latin typeface="JetBrains Mono"/>
              </a:rPr>
              <a:t> </a:t>
            </a:r>
            <a:r>
              <a:rPr kumimoji="0" lang="en-US" altLang="en-US" b="0" i="0" u="none" strike="noStrike" cap="none" normalizeH="0" baseline="0" dirty="0" err="1">
                <a:ln>
                  <a:noFill/>
                </a:ln>
                <a:solidFill>
                  <a:srgbClr val="6A8759"/>
                </a:solidFill>
                <a:effectLst/>
                <a:latin typeface="JetBrains Mono"/>
              </a:rPr>
              <a:t>vien</a:t>
            </a:r>
            <a:r>
              <a:rPr kumimoji="0" lang="en-US" altLang="en-US" b="0" i="0" u="none" strike="noStrike" cap="none" normalizeH="0" baseline="0" dirty="0">
                <a:ln>
                  <a:noFill/>
                </a:ln>
                <a:solidFill>
                  <a:srgbClr val="6A8759"/>
                </a:solidFill>
                <a:effectLst/>
                <a:latin typeface="JetBrains Mono"/>
              </a:rPr>
              <a:t>:"</a:t>
            </a:r>
            <a:r>
              <a:rPr kumimoji="0" lang="en-US" altLang="en-US" b="0" i="0" u="none" strike="noStrike" cap="none" normalizeH="0" baseline="0" dirty="0">
                <a:ln>
                  <a:noFill/>
                </a:ln>
                <a:solidFill>
                  <a:srgbClr val="CC7832"/>
                </a:solidFill>
                <a:effectLst/>
                <a:latin typeface="JetBrains Mono"/>
              </a:rPr>
              <a:t>,</a:t>
            </a:r>
            <a:r>
              <a:rPr kumimoji="0" lang="en-US" altLang="en-US" b="0" i="0" u="none" strike="noStrike" cap="none" normalizeH="0" baseline="0" dirty="0" err="1">
                <a:ln>
                  <a:noFill/>
                </a:ln>
                <a:solidFill>
                  <a:srgbClr val="94558D"/>
                </a:solidFill>
                <a:effectLst/>
                <a:latin typeface="JetBrains Mono"/>
              </a:rPr>
              <a:t>self</a:t>
            </a:r>
            <a:r>
              <a:rPr kumimoji="0" lang="en-US" altLang="en-US" b="0" i="0" u="none" strike="noStrike" cap="none" normalizeH="0" baseline="0" dirty="0" err="1">
                <a:ln>
                  <a:noFill/>
                </a:ln>
                <a:solidFill>
                  <a:srgbClr val="A9B7C6"/>
                </a:solidFill>
                <a:effectLst/>
                <a:latin typeface="JetBrains Mono"/>
              </a:rPr>
              <a:t>.tuoi</a:t>
            </a:r>
            <a:r>
              <a:rPr kumimoji="0" lang="en-US" altLang="en-US" b="0" i="0" u="none" strike="noStrike" cap="none" normalizeH="0" baseline="0" dirty="0">
                <a:ln>
                  <a:noFill/>
                </a:ln>
                <a:solidFill>
                  <a:srgbClr val="A9B7C6"/>
                </a:solidFill>
                <a:effectLst/>
                <a:latin typeface="JetBrains Mono"/>
              </a:rPr>
              <a:t>)</a:t>
            </a:r>
            <a:br>
              <a:rPr kumimoji="0" lang="en-US" altLang="en-US" b="0" i="0" u="none" strike="noStrike" cap="none" normalizeH="0" baseline="0" dirty="0">
                <a:ln>
                  <a:noFill/>
                </a:ln>
                <a:solidFill>
                  <a:srgbClr val="A9B7C6"/>
                </a:solidFill>
                <a:effectLst/>
                <a:latin typeface="JetBrains Mono"/>
              </a:rPr>
            </a:br>
            <a:r>
              <a:rPr kumimoji="0" lang="en-US" altLang="en-US" b="0" i="0" u="none" strike="noStrike" cap="none" normalizeH="0" baseline="0" dirty="0">
                <a:ln>
                  <a:noFill/>
                </a:ln>
                <a:solidFill>
                  <a:srgbClr val="A9B7C6"/>
                </a:solidFill>
                <a:effectLst/>
                <a:latin typeface="JetBrains Mono"/>
              </a:rPr>
              <a:t>    </a:t>
            </a:r>
            <a:r>
              <a:rPr kumimoji="0" lang="en-US" altLang="en-US" b="0" i="0" u="none" strike="noStrike" cap="none" normalizeH="0" baseline="0" dirty="0">
                <a:ln>
                  <a:noFill/>
                </a:ln>
                <a:solidFill>
                  <a:srgbClr val="CC7832"/>
                </a:solidFill>
                <a:effectLst/>
                <a:latin typeface="JetBrains Mono"/>
              </a:rPr>
              <a:t>def </a:t>
            </a:r>
            <a:r>
              <a:rPr kumimoji="0" lang="en-US" altLang="en-US" b="0" i="0" u="none" strike="noStrike" cap="none" normalizeH="0" baseline="0" dirty="0">
                <a:ln>
                  <a:noFill/>
                </a:ln>
                <a:solidFill>
                  <a:srgbClr val="FFC66D"/>
                </a:solidFill>
                <a:effectLst/>
                <a:latin typeface="JetBrains Mono"/>
              </a:rPr>
              <a:t>add</a:t>
            </a:r>
            <a:r>
              <a:rPr kumimoji="0" lang="en-US" altLang="en-US" b="0" i="0" u="none" strike="noStrike" cap="none" normalizeH="0" baseline="0" dirty="0">
                <a:ln>
                  <a:noFill/>
                </a:ln>
                <a:solidFill>
                  <a:srgbClr val="A9B7C6"/>
                </a:solidFill>
                <a:effectLst/>
                <a:latin typeface="JetBrains Mono"/>
              </a:rPr>
              <a:t>(</a:t>
            </a:r>
            <a:r>
              <a:rPr kumimoji="0" lang="en-US" altLang="en-US" b="0" i="0" u="none" strike="noStrike" cap="none" normalizeH="0" baseline="0" dirty="0">
                <a:ln>
                  <a:noFill/>
                </a:ln>
                <a:solidFill>
                  <a:srgbClr val="94558D"/>
                </a:solidFill>
                <a:effectLst/>
                <a:latin typeface="JetBrains Mono"/>
              </a:rPr>
              <a:t>self</a:t>
            </a:r>
            <a:r>
              <a:rPr kumimoji="0" lang="en-US" altLang="en-US" b="0" i="0" u="none" strike="noStrike" cap="none" normalizeH="0" baseline="0" dirty="0">
                <a:ln>
                  <a:noFill/>
                </a:ln>
                <a:solidFill>
                  <a:srgbClr val="A9B7C6"/>
                </a:solidFill>
                <a:effectLst/>
                <a:latin typeface="JetBrains Mono"/>
              </a:rPr>
              <a:t>):</a:t>
            </a:r>
            <a:br>
              <a:rPr kumimoji="0" lang="en-US" altLang="en-US" b="0" i="0" u="none" strike="noStrike" cap="none" normalizeH="0" baseline="0" dirty="0">
                <a:ln>
                  <a:noFill/>
                </a:ln>
                <a:solidFill>
                  <a:srgbClr val="A9B7C6"/>
                </a:solidFill>
                <a:effectLst/>
                <a:latin typeface="JetBrains Mono"/>
              </a:rPr>
            </a:br>
            <a:r>
              <a:rPr kumimoji="0" lang="en-US" altLang="en-US" b="0" i="0" u="none" strike="noStrike" cap="none" normalizeH="0" baseline="0" dirty="0">
                <a:ln>
                  <a:noFill/>
                </a:ln>
                <a:solidFill>
                  <a:srgbClr val="A9B7C6"/>
                </a:solidFill>
                <a:effectLst/>
                <a:latin typeface="JetBrains Mono"/>
              </a:rPr>
              <a:t>        </a:t>
            </a:r>
            <a:r>
              <a:rPr kumimoji="0" lang="en-US" altLang="en-US" b="0" i="0" u="none" strike="noStrike" cap="none" normalizeH="0" baseline="0" dirty="0" err="1">
                <a:ln>
                  <a:noFill/>
                </a:ln>
                <a:solidFill>
                  <a:srgbClr val="94558D"/>
                </a:solidFill>
                <a:effectLst/>
                <a:latin typeface="JetBrains Mono"/>
              </a:rPr>
              <a:t>self</a:t>
            </a:r>
            <a:r>
              <a:rPr kumimoji="0" lang="en-US" altLang="en-US" b="0" i="0" u="none" strike="noStrike" cap="none" normalizeH="0" baseline="0" dirty="0" err="1">
                <a:ln>
                  <a:noFill/>
                </a:ln>
                <a:solidFill>
                  <a:srgbClr val="A9B7C6"/>
                </a:solidFill>
                <a:effectLst/>
                <a:latin typeface="JetBrains Mono"/>
              </a:rPr>
              <a:t>.masv</a:t>
            </a:r>
            <a:r>
              <a:rPr kumimoji="0" lang="en-US" altLang="en-US" b="0" i="0" u="none" strike="noStrike" cap="none" normalizeH="0" baseline="0" dirty="0">
                <a:ln>
                  <a:noFill/>
                </a:ln>
                <a:solidFill>
                  <a:srgbClr val="A9B7C6"/>
                </a:solidFill>
                <a:effectLst/>
                <a:latin typeface="JetBrains Mono"/>
              </a:rPr>
              <a:t>=</a:t>
            </a:r>
            <a:r>
              <a:rPr kumimoji="0" lang="en-US" altLang="en-US" b="0" i="0" u="none" strike="noStrike" cap="none" normalizeH="0" baseline="0" dirty="0">
                <a:ln>
                  <a:noFill/>
                </a:ln>
                <a:solidFill>
                  <a:srgbClr val="8888C6"/>
                </a:solidFill>
                <a:effectLst/>
                <a:latin typeface="JetBrains Mono"/>
              </a:rPr>
              <a:t>input</a:t>
            </a:r>
            <a:r>
              <a:rPr kumimoji="0" lang="en-US" altLang="en-US" b="0" i="0" u="none" strike="noStrike" cap="none" normalizeH="0" baseline="0" dirty="0">
                <a:ln>
                  <a:noFill/>
                </a:ln>
                <a:solidFill>
                  <a:srgbClr val="A9B7C6"/>
                </a:solidFill>
                <a:effectLst/>
                <a:latin typeface="JetBrains Mono"/>
              </a:rPr>
              <a:t>(</a:t>
            </a:r>
            <a:r>
              <a:rPr kumimoji="0" lang="en-US" altLang="en-US" b="0" i="0" u="none" strike="noStrike" cap="none" normalizeH="0" baseline="0" dirty="0">
                <a:ln>
                  <a:noFill/>
                </a:ln>
                <a:solidFill>
                  <a:srgbClr val="6A8759"/>
                </a:solidFill>
                <a:effectLst/>
                <a:latin typeface="JetBrains Mono"/>
              </a:rPr>
              <a:t>"</a:t>
            </a:r>
            <a:r>
              <a:rPr kumimoji="0" lang="en-US" altLang="en-US" b="0" i="0" u="none" strike="noStrike" cap="none" normalizeH="0" baseline="0" dirty="0" err="1">
                <a:ln>
                  <a:noFill/>
                </a:ln>
                <a:solidFill>
                  <a:srgbClr val="6A8759"/>
                </a:solidFill>
                <a:effectLst/>
                <a:latin typeface="JetBrains Mono"/>
              </a:rPr>
              <a:t>Nhập</a:t>
            </a:r>
            <a:r>
              <a:rPr kumimoji="0" lang="en-US" altLang="en-US" b="0" i="0" u="none" strike="noStrike" cap="none" normalizeH="0" baseline="0" dirty="0">
                <a:ln>
                  <a:noFill/>
                </a:ln>
                <a:solidFill>
                  <a:srgbClr val="6A8759"/>
                </a:solidFill>
                <a:effectLst/>
                <a:latin typeface="JetBrains Mono"/>
              </a:rPr>
              <a:t> </a:t>
            </a:r>
            <a:r>
              <a:rPr kumimoji="0" lang="en-US" altLang="en-US" b="0" i="0" u="none" strike="noStrike" cap="none" normalizeH="0" baseline="0" dirty="0" err="1">
                <a:ln>
                  <a:noFill/>
                </a:ln>
                <a:solidFill>
                  <a:srgbClr val="6A8759"/>
                </a:solidFill>
                <a:effectLst/>
                <a:latin typeface="JetBrains Mono"/>
              </a:rPr>
              <a:t>mã</a:t>
            </a:r>
            <a:r>
              <a:rPr kumimoji="0" lang="en-US" altLang="en-US" b="0" i="0" u="none" strike="noStrike" cap="none" normalizeH="0" baseline="0" dirty="0">
                <a:ln>
                  <a:noFill/>
                </a:ln>
                <a:solidFill>
                  <a:srgbClr val="6A8759"/>
                </a:solidFill>
                <a:effectLst/>
                <a:latin typeface="JetBrains Mono"/>
              </a:rPr>
              <a:t> </a:t>
            </a:r>
            <a:r>
              <a:rPr kumimoji="0" lang="en-US" altLang="en-US" b="0" i="0" u="none" strike="noStrike" cap="none" normalizeH="0" baseline="0" dirty="0" err="1">
                <a:ln>
                  <a:noFill/>
                </a:ln>
                <a:solidFill>
                  <a:srgbClr val="6A8759"/>
                </a:solidFill>
                <a:effectLst/>
                <a:latin typeface="JetBrains Mono"/>
              </a:rPr>
              <a:t>sinh</a:t>
            </a:r>
            <a:r>
              <a:rPr kumimoji="0" lang="en-US" altLang="en-US" b="0" i="0" u="none" strike="noStrike" cap="none" normalizeH="0" baseline="0" dirty="0">
                <a:ln>
                  <a:noFill/>
                </a:ln>
                <a:solidFill>
                  <a:srgbClr val="6A8759"/>
                </a:solidFill>
                <a:effectLst/>
                <a:latin typeface="JetBrains Mono"/>
              </a:rPr>
              <a:t> </a:t>
            </a:r>
            <a:r>
              <a:rPr kumimoji="0" lang="en-US" altLang="en-US" b="0" i="0" u="none" strike="noStrike" cap="none" normalizeH="0" baseline="0" dirty="0" err="1">
                <a:ln>
                  <a:noFill/>
                </a:ln>
                <a:solidFill>
                  <a:srgbClr val="6A8759"/>
                </a:solidFill>
                <a:effectLst/>
                <a:latin typeface="JetBrains Mono"/>
              </a:rPr>
              <a:t>vien</a:t>
            </a:r>
            <a:r>
              <a:rPr kumimoji="0" lang="en-US" altLang="en-US" b="0" i="0" u="none" strike="noStrike" cap="none" normalizeH="0" baseline="0" dirty="0">
                <a:ln>
                  <a:noFill/>
                </a:ln>
                <a:solidFill>
                  <a:srgbClr val="6A8759"/>
                </a:solidFill>
                <a:effectLst/>
                <a:latin typeface="JetBrains Mono"/>
              </a:rPr>
              <a:t>:"</a:t>
            </a:r>
            <a:r>
              <a:rPr kumimoji="0" lang="en-US" altLang="en-US" b="0" i="0" u="none" strike="noStrike" cap="none" normalizeH="0" baseline="0" dirty="0">
                <a:ln>
                  <a:noFill/>
                </a:ln>
                <a:solidFill>
                  <a:srgbClr val="A9B7C6"/>
                </a:solidFill>
                <a:effectLst/>
                <a:latin typeface="JetBrains Mono"/>
              </a:rPr>
              <a:t>)</a:t>
            </a:r>
            <a:br>
              <a:rPr kumimoji="0" lang="en-US" altLang="en-US" b="0" i="0" u="none" strike="noStrike" cap="none" normalizeH="0" baseline="0" dirty="0">
                <a:ln>
                  <a:noFill/>
                </a:ln>
                <a:solidFill>
                  <a:srgbClr val="A9B7C6"/>
                </a:solidFill>
                <a:effectLst/>
                <a:latin typeface="JetBrains Mono"/>
              </a:rPr>
            </a:br>
            <a:r>
              <a:rPr kumimoji="0" lang="en-US" altLang="en-US" b="0" i="0" u="none" strike="noStrike" cap="none" normalizeH="0" baseline="0" dirty="0">
                <a:ln>
                  <a:noFill/>
                </a:ln>
                <a:solidFill>
                  <a:srgbClr val="A9B7C6"/>
                </a:solidFill>
                <a:effectLst/>
                <a:latin typeface="JetBrains Mono"/>
              </a:rPr>
              <a:t>        </a:t>
            </a:r>
            <a:r>
              <a:rPr kumimoji="0" lang="en-US" altLang="en-US" b="0" i="0" u="none" strike="noStrike" cap="none" normalizeH="0" baseline="0" dirty="0">
                <a:ln>
                  <a:noFill/>
                </a:ln>
                <a:solidFill>
                  <a:srgbClr val="94558D"/>
                </a:solidFill>
                <a:effectLst/>
                <a:latin typeface="JetBrains Mono"/>
              </a:rPr>
              <a:t>self</a:t>
            </a:r>
            <a:r>
              <a:rPr kumimoji="0" lang="en-US" altLang="en-US" b="0" i="0" u="none" strike="noStrike" cap="none" normalizeH="0" baseline="0" dirty="0">
                <a:ln>
                  <a:noFill/>
                </a:ln>
                <a:solidFill>
                  <a:srgbClr val="A9B7C6"/>
                </a:solidFill>
                <a:effectLst/>
                <a:latin typeface="JetBrains Mono"/>
              </a:rPr>
              <a:t>.ht=</a:t>
            </a:r>
            <a:r>
              <a:rPr kumimoji="0" lang="en-US" altLang="en-US" b="0" i="0" u="none" strike="noStrike" cap="none" normalizeH="0" baseline="0" dirty="0">
                <a:ln>
                  <a:noFill/>
                </a:ln>
                <a:solidFill>
                  <a:srgbClr val="8888C6"/>
                </a:solidFill>
                <a:effectLst/>
                <a:latin typeface="JetBrains Mono"/>
              </a:rPr>
              <a:t>input</a:t>
            </a:r>
            <a:r>
              <a:rPr kumimoji="0" lang="en-US" altLang="en-US" b="0" i="0" u="none" strike="noStrike" cap="none" normalizeH="0" baseline="0" dirty="0">
                <a:ln>
                  <a:noFill/>
                </a:ln>
                <a:solidFill>
                  <a:srgbClr val="A9B7C6"/>
                </a:solidFill>
                <a:effectLst/>
                <a:latin typeface="JetBrains Mono"/>
              </a:rPr>
              <a:t>(</a:t>
            </a:r>
            <a:r>
              <a:rPr kumimoji="0" lang="en-US" altLang="en-US" b="0" i="0" u="none" strike="noStrike" cap="none" normalizeH="0" baseline="0" dirty="0">
                <a:ln>
                  <a:noFill/>
                </a:ln>
                <a:solidFill>
                  <a:srgbClr val="6A8759"/>
                </a:solidFill>
                <a:effectLst/>
                <a:latin typeface="JetBrains Mono"/>
              </a:rPr>
              <a:t>"</a:t>
            </a:r>
            <a:r>
              <a:rPr kumimoji="0" lang="en-US" altLang="en-US" b="0" i="0" u="none" strike="noStrike" cap="none" normalizeH="0" baseline="0" dirty="0" err="1">
                <a:ln>
                  <a:noFill/>
                </a:ln>
                <a:solidFill>
                  <a:srgbClr val="6A8759"/>
                </a:solidFill>
                <a:effectLst/>
                <a:latin typeface="JetBrains Mono"/>
              </a:rPr>
              <a:t>Họ</a:t>
            </a:r>
            <a:r>
              <a:rPr kumimoji="0" lang="en-US" altLang="en-US" b="0" i="0" u="none" strike="noStrike" cap="none" normalizeH="0" baseline="0" dirty="0">
                <a:ln>
                  <a:noFill/>
                </a:ln>
                <a:solidFill>
                  <a:srgbClr val="6A8759"/>
                </a:solidFill>
                <a:effectLst/>
                <a:latin typeface="JetBrains Mono"/>
              </a:rPr>
              <a:t> </a:t>
            </a:r>
            <a:r>
              <a:rPr kumimoji="0" lang="en-US" altLang="en-US" b="0" i="0" u="none" strike="noStrike" cap="none" normalizeH="0" baseline="0" dirty="0" err="1">
                <a:ln>
                  <a:noFill/>
                </a:ln>
                <a:solidFill>
                  <a:srgbClr val="6A8759"/>
                </a:solidFill>
                <a:effectLst/>
                <a:latin typeface="JetBrains Mono"/>
              </a:rPr>
              <a:t>và</a:t>
            </a:r>
            <a:r>
              <a:rPr kumimoji="0" lang="en-US" altLang="en-US" b="0" i="0" u="none" strike="noStrike" cap="none" normalizeH="0" baseline="0" dirty="0">
                <a:ln>
                  <a:noFill/>
                </a:ln>
                <a:solidFill>
                  <a:srgbClr val="6A8759"/>
                </a:solidFill>
                <a:effectLst/>
                <a:latin typeface="JetBrains Mono"/>
              </a:rPr>
              <a:t> ten:"</a:t>
            </a:r>
            <a:r>
              <a:rPr kumimoji="0" lang="en-US" altLang="en-US" b="0" i="0" u="none" strike="noStrike" cap="none" normalizeH="0" baseline="0" dirty="0">
                <a:ln>
                  <a:noFill/>
                </a:ln>
                <a:solidFill>
                  <a:srgbClr val="A9B7C6"/>
                </a:solidFill>
                <a:effectLst/>
                <a:latin typeface="JetBrains Mono"/>
              </a:rPr>
              <a:t>)</a:t>
            </a:r>
            <a:br>
              <a:rPr kumimoji="0" lang="en-US" altLang="en-US" b="0" i="0" u="none" strike="noStrike" cap="none" normalizeH="0" baseline="0" dirty="0">
                <a:ln>
                  <a:noFill/>
                </a:ln>
                <a:solidFill>
                  <a:srgbClr val="A9B7C6"/>
                </a:solidFill>
                <a:effectLst/>
                <a:latin typeface="JetBrains Mono"/>
              </a:rPr>
            </a:br>
            <a:r>
              <a:rPr kumimoji="0" lang="en-US" altLang="en-US" b="0" i="0" u="none" strike="noStrike" cap="none" normalizeH="0" baseline="0" dirty="0">
                <a:ln>
                  <a:noFill/>
                </a:ln>
                <a:solidFill>
                  <a:srgbClr val="A9B7C6"/>
                </a:solidFill>
                <a:effectLst/>
                <a:latin typeface="JetBrains Mono"/>
              </a:rPr>
              <a:t>        </a:t>
            </a:r>
            <a:r>
              <a:rPr kumimoji="0" lang="en-US" altLang="en-US" b="0" i="0" u="none" strike="noStrike" cap="none" normalizeH="0" baseline="0" dirty="0" err="1">
                <a:ln>
                  <a:noFill/>
                </a:ln>
                <a:solidFill>
                  <a:srgbClr val="94558D"/>
                </a:solidFill>
                <a:effectLst/>
                <a:latin typeface="JetBrains Mono"/>
              </a:rPr>
              <a:t>self</a:t>
            </a:r>
            <a:r>
              <a:rPr kumimoji="0" lang="en-US" altLang="en-US" b="0" i="0" u="none" strike="noStrike" cap="none" normalizeH="0" baseline="0" dirty="0" err="1">
                <a:ln>
                  <a:noFill/>
                </a:ln>
                <a:solidFill>
                  <a:srgbClr val="A9B7C6"/>
                </a:solidFill>
                <a:effectLst/>
                <a:latin typeface="JetBrains Mono"/>
              </a:rPr>
              <a:t>.tuoi</a:t>
            </a:r>
            <a:r>
              <a:rPr kumimoji="0" lang="en-US" altLang="en-US" b="0" i="0" u="none" strike="noStrike" cap="none" normalizeH="0" baseline="0" dirty="0">
                <a:ln>
                  <a:noFill/>
                </a:ln>
                <a:solidFill>
                  <a:srgbClr val="A9B7C6"/>
                </a:solidFill>
                <a:effectLst/>
                <a:latin typeface="JetBrains Mono"/>
              </a:rPr>
              <a:t>=</a:t>
            </a:r>
            <a:r>
              <a:rPr kumimoji="0" lang="en-US" altLang="en-US" b="0" i="0" u="none" strike="noStrike" cap="none" normalizeH="0" baseline="0" dirty="0">
                <a:ln>
                  <a:noFill/>
                </a:ln>
                <a:solidFill>
                  <a:srgbClr val="8888C6"/>
                </a:solidFill>
                <a:effectLst/>
                <a:latin typeface="JetBrains Mono"/>
              </a:rPr>
              <a:t>int</a:t>
            </a:r>
            <a:r>
              <a:rPr kumimoji="0" lang="en-US" altLang="en-US" b="0" i="0" u="none" strike="noStrike" cap="none" normalizeH="0" baseline="0" dirty="0">
                <a:ln>
                  <a:noFill/>
                </a:ln>
                <a:solidFill>
                  <a:srgbClr val="A9B7C6"/>
                </a:solidFill>
                <a:effectLst/>
                <a:latin typeface="JetBrains Mono"/>
              </a:rPr>
              <a:t>(</a:t>
            </a:r>
            <a:r>
              <a:rPr kumimoji="0" lang="en-US" altLang="en-US" b="0" i="0" u="none" strike="noStrike" cap="none" normalizeH="0" baseline="0" dirty="0">
                <a:ln>
                  <a:noFill/>
                </a:ln>
                <a:solidFill>
                  <a:srgbClr val="8888C6"/>
                </a:solidFill>
                <a:effectLst/>
                <a:latin typeface="JetBrains Mono"/>
              </a:rPr>
              <a:t>input</a:t>
            </a:r>
            <a:r>
              <a:rPr kumimoji="0" lang="en-US" altLang="en-US" b="0" i="0" u="none" strike="noStrike" cap="none" normalizeH="0" baseline="0" dirty="0">
                <a:ln>
                  <a:noFill/>
                </a:ln>
                <a:solidFill>
                  <a:srgbClr val="A9B7C6"/>
                </a:solidFill>
                <a:effectLst/>
                <a:latin typeface="JetBrains Mono"/>
              </a:rPr>
              <a:t>(</a:t>
            </a:r>
            <a:r>
              <a:rPr kumimoji="0" lang="en-US" altLang="en-US" b="0" i="0" u="none" strike="noStrike" cap="none" normalizeH="0" baseline="0" dirty="0">
                <a:ln>
                  <a:noFill/>
                </a:ln>
                <a:solidFill>
                  <a:srgbClr val="6A8759"/>
                </a:solidFill>
                <a:effectLst/>
                <a:latin typeface="JetBrains Mono"/>
              </a:rPr>
              <a:t>"</a:t>
            </a:r>
            <a:r>
              <a:rPr kumimoji="0" lang="en-US" altLang="en-US" b="0" i="0" u="none" strike="noStrike" cap="none" normalizeH="0" baseline="0" dirty="0" err="1">
                <a:ln>
                  <a:noFill/>
                </a:ln>
                <a:solidFill>
                  <a:srgbClr val="6A8759"/>
                </a:solidFill>
                <a:effectLst/>
                <a:latin typeface="JetBrains Mono"/>
              </a:rPr>
              <a:t>Nhập</a:t>
            </a:r>
            <a:r>
              <a:rPr kumimoji="0" lang="en-US" altLang="en-US" b="0" i="0" u="none" strike="noStrike" cap="none" normalizeH="0" baseline="0" dirty="0">
                <a:ln>
                  <a:noFill/>
                </a:ln>
                <a:solidFill>
                  <a:srgbClr val="6A8759"/>
                </a:solidFill>
                <a:effectLst/>
                <a:latin typeface="JetBrains Mono"/>
              </a:rPr>
              <a:t> </a:t>
            </a:r>
            <a:r>
              <a:rPr kumimoji="0" lang="en-US" altLang="en-US" b="0" i="0" u="none" strike="noStrike" cap="none" normalizeH="0" baseline="0" dirty="0" err="1">
                <a:ln>
                  <a:noFill/>
                </a:ln>
                <a:solidFill>
                  <a:srgbClr val="6A8759"/>
                </a:solidFill>
                <a:effectLst/>
                <a:latin typeface="JetBrains Mono"/>
              </a:rPr>
              <a:t>tuổi</a:t>
            </a:r>
            <a:r>
              <a:rPr kumimoji="0" lang="en-US" altLang="en-US" b="0" i="0" u="none" strike="noStrike" cap="none" normalizeH="0" baseline="0" dirty="0">
                <a:ln>
                  <a:noFill/>
                </a:ln>
                <a:solidFill>
                  <a:srgbClr val="6A8759"/>
                </a:solidFill>
                <a:effectLst/>
                <a:latin typeface="JetBrains Mono"/>
              </a:rPr>
              <a:t>:"</a:t>
            </a:r>
            <a:r>
              <a:rPr kumimoji="0" lang="en-US" altLang="en-US" b="0" i="0" u="none" strike="noStrike" cap="none" normalizeH="0" baseline="0" dirty="0">
                <a:ln>
                  <a:noFill/>
                </a:ln>
                <a:solidFill>
                  <a:srgbClr val="A9B7C6"/>
                </a:solidFill>
                <a:effectLst/>
                <a:latin typeface="JetBrains Mono"/>
              </a:rPr>
              <a:t>))</a:t>
            </a:r>
            <a:br>
              <a:rPr kumimoji="0" lang="en-US" altLang="en-US" b="0" i="0" u="none" strike="noStrike" cap="none" normalizeH="0" baseline="0" dirty="0">
                <a:ln>
                  <a:noFill/>
                </a:ln>
                <a:solidFill>
                  <a:srgbClr val="A9B7C6"/>
                </a:solidFill>
                <a:effectLst/>
                <a:latin typeface="JetBrains Mono"/>
              </a:rPr>
            </a:br>
            <a:r>
              <a:rPr kumimoji="0" lang="en-US" altLang="en-US" b="0" i="0" u="none" strike="noStrike" cap="none" normalizeH="0" baseline="0" dirty="0">
                <a:ln>
                  <a:noFill/>
                </a:ln>
                <a:solidFill>
                  <a:srgbClr val="A9B7C6"/>
                </a:solidFill>
                <a:effectLst/>
                <a:latin typeface="JetBrains Mono"/>
              </a:rPr>
              <a:t>        </a:t>
            </a:r>
            <a:r>
              <a:rPr kumimoji="0" lang="en-US" altLang="en-US" b="0" i="0" u="none" strike="noStrike" cap="none" normalizeH="0" baseline="0" dirty="0" err="1">
                <a:ln>
                  <a:noFill/>
                </a:ln>
                <a:solidFill>
                  <a:srgbClr val="94558D"/>
                </a:solidFill>
                <a:effectLst/>
                <a:latin typeface="JetBrains Mono"/>
              </a:rPr>
              <a:t>self</a:t>
            </a:r>
            <a:r>
              <a:rPr kumimoji="0" lang="en-US" altLang="en-US" b="0" i="0" u="none" strike="noStrike" cap="none" normalizeH="0" baseline="0" dirty="0" err="1">
                <a:ln>
                  <a:noFill/>
                </a:ln>
                <a:solidFill>
                  <a:srgbClr val="A9B7C6"/>
                </a:solidFill>
                <a:effectLst/>
                <a:latin typeface="JetBrains Mono"/>
              </a:rPr>
              <a:t>.dc</a:t>
            </a:r>
            <a:r>
              <a:rPr kumimoji="0" lang="en-US" altLang="en-US" b="0" i="0" u="none" strike="noStrike" cap="none" normalizeH="0" baseline="0" dirty="0">
                <a:ln>
                  <a:noFill/>
                </a:ln>
                <a:solidFill>
                  <a:srgbClr val="A9B7C6"/>
                </a:solidFill>
                <a:effectLst/>
                <a:latin typeface="JetBrains Mono"/>
              </a:rPr>
              <a:t>=</a:t>
            </a:r>
            <a:r>
              <a:rPr kumimoji="0" lang="en-US" altLang="en-US" b="0" i="0" u="none" strike="noStrike" cap="none" normalizeH="0" baseline="0" dirty="0">
                <a:ln>
                  <a:noFill/>
                </a:ln>
                <a:solidFill>
                  <a:srgbClr val="8888C6"/>
                </a:solidFill>
                <a:effectLst/>
                <a:latin typeface="JetBrains Mono"/>
              </a:rPr>
              <a:t>input</a:t>
            </a:r>
            <a:r>
              <a:rPr kumimoji="0" lang="en-US" altLang="en-US" b="0" i="0" u="none" strike="noStrike" cap="none" normalizeH="0" baseline="0" dirty="0">
                <a:ln>
                  <a:noFill/>
                </a:ln>
                <a:solidFill>
                  <a:srgbClr val="A9B7C6"/>
                </a:solidFill>
                <a:effectLst/>
                <a:latin typeface="JetBrains Mono"/>
              </a:rPr>
              <a:t>(</a:t>
            </a:r>
            <a:r>
              <a:rPr kumimoji="0" lang="en-US" altLang="en-US" b="0" i="0" u="none" strike="noStrike" cap="none" normalizeH="0" baseline="0" dirty="0">
                <a:ln>
                  <a:noFill/>
                </a:ln>
                <a:solidFill>
                  <a:srgbClr val="6A8759"/>
                </a:solidFill>
                <a:effectLst/>
                <a:latin typeface="JetBrains Mono"/>
              </a:rPr>
              <a:t>"</a:t>
            </a:r>
            <a:r>
              <a:rPr kumimoji="0" lang="en-US" altLang="en-US" b="0" i="0" u="none" strike="noStrike" cap="none" normalizeH="0" baseline="0" dirty="0" err="1">
                <a:ln>
                  <a:noFill/>
                </a:ln>
                <a:solidFill>
                  <a:srgbClr val="6A8759"/>
                </a:solidFill>
                <a:effectLst/>
                <a:latin typeface="JetBrains Mono"/>
              </a:rPr>
              <a:t>Nhập</a:t>
            </a:r>
            <a:r>
              <a:rPr kumimoji="0" lang="en-US" altLang="en-US" b="0" i="0" u="none" strike="noStrike" cap="none" normalizeH="0" baseline="0" dirty="0">
                <a:ln>
                  <a:noFill/>
                </a:ln>
                <a:solidFill>
                  <a:srgbClr val="6A8759"/>
                </a:solidFill>
                <a:effectLst/>
                <a:latin typeface="JetBrains Mono"/>
              </a:rPr>
              <a:t> </a:t>
            </a:r>
            <a:r>
              <a:rPr kumimoji="0" lang="en-US" altLang="en-US" b="0" i="0" u="none" strike="noStrike" cap="none" normalizeH="0" baseline="0" dirty="0" err="1">
                <a:ln>
                  <a:noFill/>
                </a:ln>
                <a:solidFill>
                  <a:srgbClr val="6A8759"/>
                </a:solidFill>
                <a:effectLst/>
                <a:latin typeface="JetBrains Mono"/>
              </a:rPr>
              <a:t>địa</a:t>
            </a:r>
            <a:r>
              <a:rPr kumimoji="0" lang="en-US" altLang="en-US" b="0" i="0" u="none" strike="noStrike" cap="none" normalizeH="0" baseline="0" dirty="0">
                <a:ln>
                  <a:noFill/>
                </a:ln>
                <a:solidFill>
                  <a:srgbClr val="6A8759"/>
                </a:solidFill>
                <a:effectLst/>
                <a:latin typeface="JetBrains Mono"/>
              </a:rPr>
              <a:t> </a:t>
            </a:r>
            <a:r>
              <a:rPr kumimoji="0" lang="en-US" altLang="en-US" b="0" i="0" u="none" strike="noStrike" cap="none" normalizeH="0" baseline="0" dirty="0" err="1">
                <a:ln>
                  <a:noFill/>
                </a:ln>
                <a:solidFill>
                  <a:srgbClr val="6A8759"/>
                </a:solidFill>
                <a:effectLst/>
                <a:latin typeface="JetBrains Mono"/>
              </a:rPr>
              <a:t>chỉ</a:t>
            </a:r>
            <a:r>
              <a:rPr kumimoji="0" lang="en-US" altLang="en-US" b="0" i="0" u="none" strike="noStrike" cap="none" normalizeH="0" baseline="0" dirty="0">
                <a:ln>
                  <a:noFill/>
                </a:ln>
                <a:solidFill>
                  <a:srgbClr val="6A8759"/>
                </a:solidFill>
                <a:effectLst/>
                <a:latin typeface="JetBrains Mono"/>
              </a:rPr>
              <a:t>:"</a:t>
            </a:r>
            <a:r>
              <a:rPr kumimoji="0" lang="en-US" altLang="en-US" b="0" i="0" u="none" strike="noStrike" cap="none" normalizeH="0" baseline="0" dirty="0">
                <a:ln>
                  <a:noFill/>
                </a:ln>
                <a:solidFill>
                  <a:srgbClr val="A9B7C6"/>
                </a:solidFill>
                <a:effectLst/>
                <a:latin typeface="JetBrains Mono"/>
              </a:rPr>
              <a:t>)</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543EE1DE-88D3-41C4-93B4-BC52F8BD9A90}"/>
              </a:ext>
            </a:extLst>
          </p:cNvPr>
          <p:cNvSpPr>
            <a:spLocks noChangeArrowheads="1"/>
          </p:cNvSpPr>
          <p:nvPr/>
        </p:nvSpPr>
        <p:spPr bwMode="auto">
          <a:xfrm>
            <a:off x="6706983" y="1613118"/>
            <a:ext cx="5132351" cy="3631763"/>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dirty="0">
                <a:ln>
                  <a:noFill/>
                </a:ln>
                <a:solidFill>
                  <a:srgbClr val="808080"/>
                </a:solidFill>
                <a:effectLst/>
                <a:latin typeface="JetBrains Mono"/>
              </a:rPr>
              <a:t>#Khai </a:t>
            </a:r>
            <a:r>
              <a:rPr kumimoji="0" lang="en-US" altLang="en-US" sz="2300" b="0" i="0" u="none" strike="noStrike" cap="none" normalizeH="0" baseline="0" dirty="0" err="1">
                <a:ln>
                  <a:noFill/>
                </a:ln>
                <a:solidFill>
                  <a:srgbClr val="808080"/>
                </a:solidFill>
                <a:effectLst/>
                <a:latin typeface="JetBrains Mono"/>
              </a:rPr>
              <a:t>báo</a:t>
            </a:r>
            <a:r>
              <a:rPr kumimoji="0" lang="en-US" altLang="en-US" sz="2300" b="0" i="0" u="none" strike="noStrike" cap="none" normalizeH="0" baseline="0" dirty="0">
                <a:ln>
                  <a:noFill/>
                </a:ln>
                <a:solidFill>
                  <a:srgbClr val="808080"/>
                </a:solidFill>
                <a:effectLst/>
                <a:latin typeface="JetBrains Mono"/>
              </a:rPr>
              <a:t> 1 list</a:t>
            </a:r>
            <a:br>
              <a:rPr kumimoji="0" lang="en-US" altLang="en-US" sz="2300" b="0" i="0" u="none" strike="noStrike" cap="none" normalizeH="0" baseline="0" dirty="0">
                <a:ln>
                  <a:noFill/>
                </a:ln>
                <a:solidFill>
                  <a:srgbClr val="808080"/>
                </a:solidFill>
                <a:effectLst/>
                <a:latin typeface="JetBrains Mono"/>
              </a:rPr>
            </a:br>
            <a:r>
              <a:rPr kumimoji="0" lang="en-US" altLang="en-US" sz="2300" b="0" i="0" u="none" strike="noStrike" cap="none" normalizeH="0" baseline="0" dirty="0" err="1">
                <a:ln>
                  <a:noFill/>
                </a:ln>
                <a:solidFill>
                  <a:srgbClr val="A9B7C6"/>
                </a:solidFill>
                <a:effectLst/>
                <a:latin typeface="JetBrains Mono"/>
              </a:rPr>
              <a:t>listSV</a:t>
            </a:r>
            <a:r>
              <a:rPr kumimoji="0" lang="en-US" altLang="en-US" sz="2300" b="0" i="0" u="none" strike="noStrike" cap="none" normalizeH="0" baseline="0" dirty="0">
                <a:ln>
                  <a:noFill/>
                </a:ln>
                <a:solidFill>
                  <a:srgbClr val="A9B7C6"/>
                </a:solidFill>
                <a:effectLst/>
                <a:latin typeface="JetBrains Mono"/>
              </a:rPr>
              <a:t>=[]</a:t>
            </a:r>
            <a:br>
              <a:rPr kumimoji="0" lang="en-US" altLang="en-US" sz="2300" b="0" i="0" u="none" strike="noStrike" cap="none" normalizeH="0" baseline="0" dirty="0">
                <a:ln>
                  <a:noFill/>
                </a:ln>
                <a:solidFill>
                  <a:srgbClr val="A9B7C6"/>
                </a:solidFill>
                <a:effectLst/>
                <a:latin typeface="JetBrains Mono"/>
              </a:rPr>
            </a:br>
            <a:r>
              <a:rPr kumimoji="0" lang="en-US" altLang="en-US" sz="2300" b="0" i="0" u="none" strike="noStrike" cap="none" normalizeH="0" baseline="0" dirty="0">
                <a:ln>
                  <a:noFill/>
                </a:ln>
                <a:solidFill>
                  <a:srgbClr val="808080"/>
                </a:solidFill>
                <a:effectLst/>
                <a:latin typeface="JetBrains Mono"/>
              </a:rPr>
              <a:t>#Nhập </a:t>
            </a:r>
            <a:r>
              <a:rPr kumimoji="0" lang="en-US" altLang="en-US" sz="2300" b="0" i="0" u="none" strike="noStrike" cap="none" normalizeH="0" baseline="0" dirty="0" err="1">
                <a:ln>
                  <a:noFill/>
                </a:ln>
                <a:solidFill>
                  <a:srgbClr val="808080"/>
                </a:solidFill>
                <a:effectLst/>
                <a:latin typeface="JetBrains Mono"/>
              </a:rPr>
              <a:t>số</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sinh</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vien</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cần</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quản</a:t>
            </a:r>
            <a:r>
              <a:rPr kumimoji="0" lang="en-US" altLang="en-US" sz="2300" b="0" i="0" u="none" strike="noStrike" cap="none" normalizeH="0" baseline="0" dirty="0">
                <a:ln>
                  <a:noFill/>
                </a:ln>
                <a:solidFill>
                  <a:srgbClr val="808080"/>
                </a:solidFill>
                <a:effectLst/>
                <a:latin typeface="JetBrains Mono"/>
              </a:rPr>
              <a:t> </a:t>
            </a:r>
            <a:r>
              <a:rPr kumimoji="0" lang="en-US" altLang="en-US" sz="2300" b="0" i="0" u="none" strike="noStrike" cap="none" normalizeH="0" baseline="0" dirty="0" err="1">
                <a:ln>
                  <a:noFill/>
                </a:ln>
                <a:solidFill>
                  <a:srgbClr val="808080"/>
                </a:solidFill>
                <a:effectLst/>
                <a:latin typeface="JetBrains Mono"/>
              </a:rPr>
              <a:t>lý</a:t>
            </a:r>
            <a:br>
              <a:rPr kumimoji="0" lang="en-US" altLang="en-US" sz="2300" b="0" i="0" u="none" strike="noStrike" cap="none" normalizeH="0" baseline="0" dirty="0">
                <a:ln>
                  <a:noFill/>
                </a:ln>
                <a:solidFill>
                  <a:srgbClr val="808080"/>
                </a:solidFill>
                <a:effectLst/>
                <a:latin typeface="JetBrains Mono"/>
              </a:rPr>
            </a:br>
            <a:r>
              <a:rPr kumimoji="0" lang="en-US" altLang="en-US" sz="2300" b="0" i="0" u="none" strike="noStrike" cap="none" normalizeH="0" baseline="0" dirty="0">
                <a:ln>
                  <a:noFill/>
                </a:ln>
                <a:solidFill>
                  <a:srgbClr val="A9B7C6"/>
                </a:solidFill>
                <a:effectLst/>
                <a:latin typeface="JetBrains Mono"/>
              </a:rPr>
              <a:t>n=</a:t>
            </a:r>
            <a:r>
              <a:rPr kumimoji="0" lang="en-US" altLang="en-US" sz="2300" b="0" i="0" u="none" strike="noStrike" cap="none" normalizeH="0" baseline="0" dirty="0">
                <a:ln>
                  <a:noFill/>
                </a:ln>
                <a:solidFill>
                  <a:srgbClr val="8888C6"/>
                </a:solidFill>
                <a:effectLst/>
                <a:latin typeface="JetBrains Mono"/>
              </a:rPr>
              <a:t>int </a:t>
            </a:r>
            <a:r>
              <a:rPr kumimoji="0" lang="en-US" altLang="en-US" sz="2300" b="0" i="0" u="none" strike="noStrike" cap="none" normalizeH="0" baseline="0" dirty="0">
                <a:ln>
                  <a:noFill/>
                </a:ln>
                <a:solidFill>
                  <a:srgbClr val="A9B7C6"/>
                </a:solidFill>
                <a:effectLst/>
                <a:latin typeface="JetBrains Mono"/>
              </a:rPr>
              <a:t>(</a:t>
            </a:r>
            <a:r>
              <a:rPr kumimoji="0" lang="en-US" altLang="en-US" sz="2300" b="0" i="0" u="none" strike="noStrike" cap="none" normalizeH="0" baseline="0" dirty="0">
                <a:ln>
                  <a:noFill/>
                </a:ln>
                <a:solidFill>
                  <a:srgbClr val="8888C6"/>
                </a:solidFill>
                <a:effectLst/>
                <a:latin typeface="JetBrains Mono"/>
              </a:rPr>
              <a:t>input</a:t>
            </a:r>
            <a:r>
              <a:rPr kumimoji="0" lang="en-US" altLang="en-US" sz="2300" b="0" i="0" u="none" strike="noStrike" cap="none" normalizeH="0" baseline="0" dirty="0">
                <a:ln>
                  <a:noFill/>
                </a:ln>
                <a:solidFill>
                  <a:srgbClr val="A9B7C6"/>
                </a:solidFill>
                <a:effectLst/>
                <a:latin typeface="JetBrains Mono"/>
              </a:rPr>
              <a:t>(</a:t>
            </a:r>
            <a:r>
              <a:rPr kumimoji="0" lang="en-US" altLang="en-US" sz="2300" b="0" i="0" u="none" strike="noStrike" cap="none" normalizeH="0" baseline="0" dirty="0">
                <a:ln>
                  <a:noFill/>
                </a:ln>
                <a:solidFill>
                  <a:srgbClr val="6A8759"/>
                </a:solidFill>
                <a:effectLst/>
                <a:latin typeface="JetBrains Mono"/>
              </a:rPr>
              <a:t>"</a:t>
            </a:r>
            <a:r>
              <a:rPr kumimoji="0" lang="en-US" altLang="en-US" sz="2300" b="0" i="0" u="none" strike="noStrike" cap="none" normalizeH="0" baseline="0" dirty="0" err="1">
                <a:ln>
                  <a:noFill/>
                </a:ln>
                <a:solidFill>
                  <a:srgbClr val="6A8759"/>
                </a:solidFill>
                <a:effectLst/>
                <a:latin typeface="JetBrains Mono"/>
              </a:rPr>
              <a:t>Nhập</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số</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sinh</a:t>
            </a:r>
            <a:r>
              <a:rPr kumimoji="0" lang="en-US" altLang="en-US" sz="2300" b="0" i="0" u="none" strike="noStrike" cap="none" normalizeH="0" baseline="0" dirty="0">
                <a:ln>
                  <a:noFill/>
                </a:ln>
                <a:solidFill>
                  <a:srgbClr val="6A8759"/>
                </a:solidFill>
                <a:effectLst/>
                <a:latin typeface="JetBrains Mono"/>
              </a:rPr>
              <a:t> </a:t>
            </a:r>
            <a:r>
              <a:rPr kumimoji="0" lang="en-US" altLang="en-US" sz="2300" b="0" i="0" u="none" strike="noStrike" cap="none" normalizeH="0" baseline="0" dirty="0" err="1">
                <a:ln>
                  <a:noFill/>
                </a:ln>
                <a:solidFill>
                  <a:srgbClr val="6A8759"/>
                </a:solidFill>
                <a:effectLst/>
                <a:latin typeface="JetBrains Mono"/>
              </a:rPr>
              <a:t>viên</a:t>
            </a:r>
            <a:r>
              <a:rPr kumimoji="0" lang="en-US" altLang="en-US" sz="2300" b="0" i="0" u="none" strike="noStrike" cap="none" normalizeH="0" baseline="0" dirty="0">
                <a:ln>
                  <a:noFill/>
                </a:ln>
                <a:solidFill>
                  <a:srgbClr val="6A8759"/>
                </a:solidFill>
                <a:effectLst/>
                <a:latin typeface="JetBrains Mono"/>
              </a:rPr>
              <a:t>:"</a:t>
            </a:r>
            <a:r>
              <a:rPr kumimoji="0" lang="en-US" altLang="en-US" sz="2300" b="0" i="0" u="none" strike="noStrike" cap="none" normalizeH="0" baseline="0" dirty="0">
                <a:ln>
                  <a:noFill/>
                </a:ln>
                <a:solidFill>
                  <a:srgbClr val="A9B7C6"/>
                </a:solidFill>
                <a:effectLst/>
                <a:latin typeface="JetBrains Mono"/>
              </a:rPr>
              <a:t>))</a:t>
            </a:r>
            <a:br>
              <a:rPr kumimoji="0" lang="en-US" altLang="en-US" sz="2300" b="0" i="0" u="none" strike="noStrike" cap="none" normalizeH="0" baseline="0" dirty="0">
                <a:ln>
                  <a:noFill/>
                </a:ln>
                <a:solidFill>
                  <a:srgbClr val="A9B7C6"/>
                </a:solidFill>
                <a:effectLst/>
                <a:latin typeface="JetBrains Mono"/>
              </a:rPr>
            </a:br>
            <a:r>
              <a:rPr kumimoji="0" lang="en-US" altLang="en-US" sz="2300" b="0" i="0" u="none" strike="noStrike" cap="none" normalizeH="0" baseline="0" dirty="0">
                <a:ln>
                  <a:noFill/>
                </a:ln>
                <a:solidFill>
                  <a:srgbClr val="CC7832"/>
                </a:solidFill>
                <a:effectLst/>
                <a:latin typeface="JetBrains Mono"/>
              </a:rPr>
              <a:t>for </a:t>
            </a:r>
            <a:r>
              <a:rPr kumimoji="0" lang="en-US" altLang="en-US" sz="2300" b="0" i="0" u="none" strike="noStrike" cap="none" normalizeH="0" baseline="0" dirty="0" err="1">
                <a:ln>
                  <a:noFill/>
                </a:ln>
                <a:solidFill>
                  <a:srgbClr val="A9B7C6"/>
                </a:solidFill>
                <a:effectLst/>
                <a:latin typeface="JetBrains Mono"/>
              </a:rPr>
              <a:t>i</a:t>
            </a:r>
            <a:r>
              <a:rPr kumimoji="0" lang="en-US" altLang="en-US" sz="2300" b="0" i="0" u="none" strike="noStrike" cap="none" normalizeH="0" baseline="0" dirty="0">
                <a:ln>
                  <a:noFill/>
                </a:ln>
                <a:solidFill>
                  <a:srgbClr val="A9B7C6"/>
                </a:solidFill>
                <a:effectLst/>
                <a:latin typeface="JetBrains Mono"/>
              </a:rPr>
              <a:t> </a:t>
            </a:r>
            <a:r>
              <a:rPr kumimoji="0" lang="en-US" altLang="en-US" sz="2300" b="0" i="0" u="none" strike="noStrike" cap="none" normalizeH="0" baseline="0" dirty="0">
                <a:ln>
                  <a:noFill/>
                </a:ln>
                <a:solidFill>
                  <a:srgbClr val="CC7832"/>
                </a:solidFill>
                <a:effectLst/>
                <a:latin typeface="JetBrains Mono"/>
              </a:rPr>
              <a:t>in </a:t>
            </a:r>
            <a:r>
              <a:rPr kumimoji="0" lang="en-US" altLang="en-US" sz="2300" b="0" i="0" u="none" strike="noStrike" cap="none" normalizeH="0" baseline="0" dirty="0">
                <a:ln>
                  <a:noFill/>
                </a:ln>
                <a:solidFill>
                  <a:srgbClr val="8888C6"/>
                </a:solidFill>
                <a:effectLst/>
                <a:latin typeface="JetBrains Mono"/>
              </a:rPr>
              <a:t>range</a:t>
            </a:r>
            <a:r>
              <a:rPr kumimoji="0" lang="en-US" altLang="en-US" sz="2300" b="0" i="0" u="none" strike="noStrike" cap="none" normalizeH="0" baseline="0" dirty="0">
                <a:ln>
                  <a:noFill/>
                </a:ln>
                <a:solidFill>
                  <a:srgbClr val="A9B7C6"/>
                </a:solidFill>
                <a:effectLst/>
                <a:latin typeface="JetBrains Mono"/>
              </a:rPr>
              <a:t>(n):</a:t>
            </a:r>
            <a:br>
              <a:rPr kumimoji="0" lang="en-US" altLang="en-US" sz="2300" b="0" i="0" u="none" strike="noStrike" cap="none" normalizeH="0" baseline="0" dirty="0">
                <a:ln>
                  <a:noFill/>
                </a:ln>
                <a:solidFill>
                  <a:srgbClr val="A9B7C6"/>
                </a:solidFill>
                <a:effectLst/>
                <a:latin typeface="JetBrains Mono"/>
              </a:rPr>
            </a:br>
            <a:r>
              <a:rPr kumimoji="0" lang="en-US" altLang="en-US" sz="2300" b="0" i="0" u="none" strike="noStrike" cap="none" normalizeH="0" baseline="0" dirty="0">
                <a:ln>
                  <a:noFill/>
                </a:ln>
                <a:solidFill>
                  <a:srgbClr val="A9B7C6"/>
                </a:solidFill>
                <a:effectLst/>
                <a:latin typeface="JetBrains Mono"/>
              </a:rPr>
              <a:t>    </a:t>
            </a:r>
            <a:r>
              <a:rPr kumimoji="0" lang="en-US" altLang="en-US" sz="2300" b="0" i="0" u="none" strike="noStrike" cap="none" normalizeH="0" baseline="0" dirty="0" err="1">
                <a:ln>
                  <a:noFill/>
                </a:ln>
                <a:solidFill>
                  <a:srgbClr val="A9B7C6"/>
                </a:solidFill>
                <a:effectLst/>
                <a:latin typeface="JetBrains Mono"/>
              </a:rPr>
              <a:t>sv</a:t>
            </a:r>
            <a:r>
              <a:rPr kumimoji="0" lang="en-US" altLang="en-US" sz="2300" b="0" i="0" u="none" strike="noStrike" cap="none" normalizeH="0" baseline="0" dirty="0">
                <a:ln>
                  <a:noFill/>
                </a:ln>
                <a:solidFill>
                  <a:srgbClr val="A9B7C6"/>
                </a:solidFill>
                <a:effectLst/>
                <a:latin typeface="JetBrains Mono"/>
              </a:rPr>
              <a:t> = </a:t>
            </a:r>
            <a:r>
              <a:rPr kumimoji="0" lang="en-US" altLang="en-US" sz="2300" b="0" i="0" u="none" strike="noStrike" cap="none" normalizeH="0" baseline="0" dirty="0" err="1">
                <a:ln>
                  <a:noFill/>
                </a:ln>
                <a:solidFill>
                  <a:srgbClr val="A9B7C6"/>
                </a:solidFill>
                <a:effectLst/>
                <a:latin typeface="JetBrains Mono"/>
              </a:rPr>
              <a:t>sinhVien</a:t>
            </a:r>
            <a:r>
              <a:rPr kumimoji="0" lang="en-US" altLang="en-US" sz="2300" b="0" i="0" u="none" strike="noStrike" cap="none" normalizeH="0" baseline="0" dirty="0">
                <a:ln>
                  <a:noFill/>
                </a:ln>
                <a:solidFill>
                  <a:srgbClr val="A9B7C6"/>
                </a:solidFill>
                <a:effectLst/>
                <a:latin typeface="JetBrains Mono"/>
              </a:rPr>
              <a:t>()</a:t>
            </a:r>
            <a:br>
              <a:rPr kumimoji="0" lang="en-US" altLang="en-US" sz="2300" b="0" i="0" u="none" strike="noStrike" cap="none" normalizeH="0" baseline="0" dirty="0">
                <a:ln>
                  <a:noFill/>
                </a:ln>
                <a:solidFill>
                  <a:srgbClr val="A9B7C6"/>
                </a:solidFill>
                <a:effectLst/>
                <a:latin typeface="JetBrains Mono"/>
              </a:rPr>
            </a:br>
            <a:r>
              <a:rPr kumimoji="0" lang="en-US" altLang="en-US" sz="2300" b="0" i="0" u="none" strike="noStrike" cap="none" normalizeH="0" baseline="0" dirty="0">
                <a:ln>
                  <a:noFill/>
                </a:ln>
                <a:solidFill>
                  <a:srgbClr val="A9B7C6"/>
                </a:solidFill>
                <a:effectLst/>
                <a:latin typeface="JetBrains Mono"/>
              </a:rPr>
              <a:t>    </a:t>
            </a:r>
            <a:r>
              <a:rPr kumimoji="0" lang="en-US" altLang="en-US" sz="2300" b="0" i="0" u="none" strike="noStrike" cap="none" normalizeH="0" baseline="0" dirty="0" err="1">
                <a:ln>
                  <a:noFill/>
                </a:ln>
                <a:solidFill>
                  <a:srgbClr val="A9B7C6"/>
                </a:solidFill>
                <a:effectLst/>
                <a:latin typeface="JetBrains Mono"/>
              </a:rPr>
              <a:t>sv.add</a:t>
            </a:r>
            <a:r>
              <a:rPr kumimoji="0" lang="en-US" altLang="en-US" sz="2300" b="0" i="0" u="none" strike="noStrike" cap="none" normalizeH="0" baseline="0" dirty="0">
                <a:ln>
                  <a:noFill/>
                </a:ln>
                <a:solidFill>
                  <a:srgbClr val="A9B7C6"/>
                </a:solidFill>
                <a:effectLst/>
                <a:latin typeface="JetBrains Mono"/>
              </a:rPr>
              <a:t>()</a:t>
            </a:r>
            <a:br>
              <a:rPr kumimoji="0" lang="en-US" altLang="en-US" sz="2300" b="0" i="0" u="none" strike="noStrike" cap="none" normalizeH="0" baseline="0" dirty="0">
                <a:ln>
                  <a:noFill/>
                </a:ln>
                <a:solidFill>
                  <a:srgbClr val="A9B7C6"/>
                </a:solidFill>
                <a:effectLst/>
                <a:latin typeface="JetBrains Mono"/>
              </a:rPr>
            </a:br>
            <a:r>
              <a:rPr kumimoji="0" lang="en-US" altLang="en-US" sz="2300" b="0" i="0" u="none" strike="noStrike" cap="none" normalizeH="0" baseline="0" dirty="0">
                <a:ln>
                  <a:noFill/>
                </a:ln>
                <a:solidFill>
                  <a:srgbClr val="A9B7C6"/>
                </a:solidFill>
                <a:effectLst/>
                <a:latin typeface="JetBrains Mono"/>
              </a:rPr>
              <a:t>    </a:t>
            </a:r>
            <a:r>
              <a:rPr kumimoji="0" lang="en-US" altLang="en-US" sz="2300" b="0" i="0" u="none" strike="noStrike" cap="none" normalizeH="0" baseline="0" dirty="0" err="1">
                <a:ln>
                  <a:noFill/>
                </a:ln>
                <a:solidFill>
                  <a:srgbClr val="A9B7C6"/>
                </a:solidFill>
                <a:effectLst/>
                <a:latin typeface="JetBrains Mono"/>
              </a:rPr>
              <a:t>listSV.append</a:t>
            </a:r>
            <a:r>
              <a:rPr kumimoji="0" lang="en-US" altLang="en-US" sz="2300" b="0" i="0" u="none" strike="noStrike" cap="none" normalizeH="0" baseline="0" dirty="0">
                <a:ln>
                  <a:noFill/>
                </a:ln>
                <a:solidFill>
                  <a:srgbClr val="A9B7C6"/>
                </a:solidFill>
                <a:effectLst/>
                <a:latin typeface="JetBrains Mono"/>
              </a:rPr>
              <a:t>(</a:t>
            </a:r>
            <a:r>
              <a:rPr kumimoji="0" lang="en-US" altLang="en-US" sz="2300" b="0" i="0" u="none" strike="noStrike" cap="none" normalizeH="0" baseline="0" dirty="0" err="1">
                <a:ln>
                  <a:noFill/>
                </a:ln>
                <a:solidFill>
                  <a:srgbClr val="A9B7C6"/>
                </a:solidFill>
                <a:effectLst/>
                <a:latin typeface="JetBrains Mono"/>
              </a:rPr>
              <a:t>sv</a:t>
            </a:r>
            <a:r>
              <a:rPr kumimoji="0" lang="en-US" altLang="en-US" sz="2300" b="0" i="0" u="none" strike="noStrike" cap="none" normalizeH="0" baseline="0" dirty="0">
                <a:ln>
                  <a:noFill/>
                </a:ln>
                <a:solidFill>
                  <a:srgbClr val="A9B7C6"/>
                </a:solidFill>
                <a:effectLst/>
                <a:latin typeface="JetBrains Mono"/>
              </a:rPr>
              <a:t>)</a:t>
            </a:r>
            <a:br>
              <a:rPr kumimoji="0" lang="en-US" altLang="en-US" sz="2300" b="0" i="0" u="none" strike="noStrike" cap="none" normalizeH="0" baseline="0" dirty="0">
                <a:ln>
                  <a:noFill/>
                </a:ln>
                <a:solidFill>
                  <a:srgbClr val="A9B7C6"/>
                </a:solidFill>
                <a:effectLst/>
                <a:latin typeface="JetBrains Mono"/>
              </a:rPr>
            </a:br>
            <a:r>
              <a:rPr kumimoji="0" lang="en-US" altLang="en-US" sz="2300" b="0" i="0" u="none" strike="noStrike" cap="none" normalizeH="0" baseline="0" dirty="0">
                <a:ln>
                  <a:noFill/>
                </a:ln>
                <a:solidFill>
                  <a:srgbClr val="CC7832"/>
                </a:solidFill>
                <a:effectLst/>
                <a:latin typeface="JetBrains Mono"/>
              </a:rPr>
              <a:t>for </a:t>
            </a:r>
            <a:r>
              <a:rPr kumimoji="0" lang="en-US" altLang="en-US" sz="2300" b="0" i="0" u="none" strike="noStrike" cap="none" normalizeH="0" baseline="0" dirty="0" err="1">
                <a:ln>
                  <a:noFill/>
                </a:ln>
                <a:solidFill>
                  <a:srgbClr val="A9B7C6"/>
                </a:solidFill>
                <a:effectLst/>
                <a:latin typeface="JetBrains Mono"/>
              </a:rPr>
              <a:t>i</a:t>
            </a:r>
            <a:r>
              <a:rPr kumimoji="0" lang="en-US" altLang="en-US" sz="2300" b="0" i="0" u="none" strike="noStrike" cap="none" normalizeH="0" baseline="0" dirty="0">
                <a:ln>
                  <a:noFill/>
                </a:ln>
                <a:solidFill>
                  <a:srgbClr val="A9B7C6"/>
                </a:solidFill>
                <a:effectLst/>
                <a:latin typeface="JetBrains Mono"/>
              </a:rPr>
              <a:t> </a:t>
            </a:r>
            <a:r>
              <a:rPr kumimoji="0" lang="en-US" altLang="en-US" sz="2300" b="0" i="0" u="none" strike="noStrike" cap="none" normalizeH="0" baseline="0" dirty="0">
                <a:ln>
                  <a:noFill/>
                </a:ln>
                <a:solidFill>
                  <a:srgbClr val="CC7832"/>
                </a:solidFill>
                <a:effectLst/>
                <a:latin typeface="JetBrains Mono"/>
              </a:rPr>
              <a:t>in </a:t>
            </a:r>
            <a:r>
              <a:rPr kumimoji="0" lang="en-US" altLang="en-US" sz="2300" b="0" i="0" u="none" strike="noStrike" cap="none" normalizeH="0" baseline="0" dirty="0" err="1">
                <a:ln>
                  <a:noFill/>
                </a:ln>
                <a:solidFill>
                  <a:srgbClr val="A9B7C6"/>
                </a:solidFill>
                <a:effectLst/>
                <a:latin typeface="JetBrains Mono"/>
              </a:rPr>
              <a:t>listSV</a:t>
            </a:r>
            <a:r>
              <a:rPr kumimoji="0" lang="en-US" altLang="en-US" sz="2300" b="0" i="0" u="none" strike="noStrike" cap="none" normalizeH="0" baseline="0" dirty="0">
                <a:ln>
                  <a:noFill/>
                </a:ln>
                <a:solidFill>
                  <a:srgbClr val="A9B7C6"/>
                </a:solidFill>
                <a:effectLst/>
                <a:latin typeface="JetBrains Mono"/>
              </a:rPr>
              <a:t>:</a:t>
            </a:r>
            <a:br>
              <a:rPr kumimoji="0" lang="en-US" altLang="en-US" sz="2300" b="0" i="0" u="none" strike="noStrike" cap="none" normalizeH="0" baseline="0" dirty="0">
                <a:ln>
                  <a:noFill/>
                </a:ln>
                <a:solidFill>
                  <a:srgbClr val="A9B7C6"/>
                </a:solidFill>
                <a:effectLst/>
                <a:latin typeface="JetBrains Mono"/>
              </a:rPr>
            </a:br>
            <a:r>
              <a:rPr kumimoji="0" lang="en-US" altLang="en-US" sz="2300" b="0" i="0" u="none" strike="noStrike" cap="none" normalizeH="0" baseline="0" dirty="0">
                <a:ln>
                  <a:noFill/>
                </a:ln>
                <a:solidFill>
                  <a:srgbClr val="A9B7C6"/>
                </a:solidFill>
                <a:effectLst/>
                <a:latin typeface="JetBrains Mono"/>
              </a:rPr>
              <a:t>    </a:t>
            </a:r>
            <a:r>
              <a:rPr lang="en-US" altLang="en-US" sz="2300" dirty="0" err="1">
                <a:solidFill>
                  <a:srgbClr val="A9B7C6"/>
                </a:solidFill>
                <a:latin typeface="JetBrains Mono"/>
              </a:rPr>
              <a:t>i</a:t>
            </a:r>
            <a:r>
              <a:rPr kumimoji="0" lang="en-US" altLang="en-US" sz="2300" b="0" i="0" u="none" strike="noStrike" cap="none" normalizeH="0" baseline="0" dirty="0" err="1">
                <a:ln>
                  <a:noFill/>
                </a:ln>
                <a:solidFill>
                  <a:srgbClr val="A9B7C6"/>
                </a:solidFill>
                <a:effectLst/>
                <a:latin typeface="JetBrains Mono"/>
              </a:rPr>
              <a:t>.hienthi</a:t>
            </a:r>
            <a:r>
              <a:rPr kumimoji="0" lang="en-US" altLang="en-US" sz="2300" b="0" i="0" u="none" strike="noStrike" cap="none" normalizeH="0" baseline="0" dirty="0">
                <a:ln>
                  <a:noFill/>
                </a:ln>
                <a:solidFill>
                  <a:srgbClr val="A9B7C6"/>
                </a:solidFill>
                <a:effectLst/>
                <a:latin typeface="JetBrains Mono"/>
              </a:rPr>
              <a:t>()</a:t>
            </a:r>
            <a:endParaRPr kumimoji="0" lang="en-US" altLang="en-US" sz="23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675257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latin typeface="Cambria" panose="02040503050406030204" pitchFamily="18" charset="0"/>
                <a:ea typeface="Cambria" panose="02040503050406030204" pitchFamily="18" charset="0"/>
              </a:rPr>
              <a:t>Bài</a:t>
            </a:r>
            <a:r>
              <a:rPr lang="en-US">
                <a:latin typeface="Cambria" panose="02040503050406030204" pitchFamily="18" charset="0"/>
                <a:ea typeface="Cambria" panose="02040503050406030204" pitchFamily="18" charset="0"/>
              </a:rPr>
              <a:t> 4 – </a:t>
            </a:r>
            <a:r>
              <a:rPr lang="en-US" spc="-5" err="1">
                <a:latin typeface="Cambria" panose="02040503050406030204" pitchFamily="18" charset="0"/>
                <a:ea typeface="Cambria" panose="02040503050406030204" pitchFamily="18" charset="0"/>
                <a:cs typeface="Arial"/>
              </a:rPr>
              <a:t>Lập</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trình</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hướng</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tượng</a:t>
            </a:r>
            <a:endParaRPr lang="en-US">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a:solidFill>
                  <a:schemeClr val="bg1"/>
                </a:solidFill>
                <a:latin typeface="Cambria" panose="02040503050406030204" pitchFamily="18" charset="0"/>
              </a:rPr>
              <a:t>LỚP (CLASS) TRONG PYTHON</a:t>
            </a:r>
          </a:p>
        </p:txBody>
      </p:sp>
      <p:sp>
        <p:nvSpPr>
          <p:cNvPr id="10" name="Rectangle 9"/>
          <p:cNvSpPr/>
          <p:nvPr/>
        </p:nvSpPr>
        <p:spPr>
          <a:xfrm>
            <a:off x="79512" y="691585"/>
            <a:ext cx="12036287" cy="830997"/>
          </a:xfrm>
          <a:prstGeom prst="rect">
            <a:avLst/>
          </a:prstGeom>
        </p:spPr>
        <p:txBody>
          <a:bodyPr wrap="square">
            <a:spAutoFit/>
          </a:bodyPr>
          <a:lstStyle/>
          <a:p>
            <a:pPr algn="just"/>
            <a:r>
              <a:rPr lang="en-US" sz="2400" b="1" dirty="0" err="1">
                <a:latin typeface="Cambria" panose="02040503050406030204" pitchFamily="18" charset="0"/>
                <a:ea typeface="Cambria" panose="02040503050406030204" pitchFamily="18" charset="0"/>
              </a:rPr>
              <a:t>Ví</a:t>
            </a:r>
            <a:r>
              <a:rPr lang="en-US" sz="2400" b="1" dirty="0">
                <a:latin typeface="Cambria" panose="02040503050406030204" pitchFamily="18" charset="0"/>
                <a:ea typeface="Cambria" panose="02040503050406030204" pitchFamily="18" charset="0"/>
              </a:rPr>
              <a:t> </a:t>
            </a:r>
            <a:r>
              <a:rPr lang="en-US" sz="2400" b="1" dirty="0" err="1">
                <a:latin typeface="Cambria" panose="02040503050406030204" pitchFamily="18" charset="0"/>
                <a:ea typeface="Cambria" panose="02040503050406030204" pitchFamily="18" charset="0"/>
              </a:rPr>
              <a:t>dụ</a:t>
            </a:r>
            <a:r>
              <a:rPr lang="en-US" sz="2400" b="1" dirty="0">
                <a:latin typeface="Cambria" panose="02040503050406030204" pitchFamily="18" charset="0"/>
                <a:ea typeface="Cambria" panose="02040503050406030204" pitchFamily="18" charset="0"/>
              </a:rPr>
              <a:t> 4: </a:t>
            </a:r>
            <a:r>
              <a:rPr lang="vi-VN" sz="2400" dirty="0">
                <a:latin typeface="Cambria" panose="02040503050406030204" pitchFamily="18" charset="0"/>
                <a:ea typeface="Cambria" panose="02040503050406030204" pitchFamily="18" charset="0"/>
              </a:rPr>
              <a:t>Xây dựng 1 lớp sinh viên gồm 2 thuộc tính </a:t>
            </a:r>
            <a:r>
              <a:rPr lang="en-US" sz="2400" dirty="0" err="1">
                <a:latin typeface="Cambria" panose="02040503050406030204" pitchFamily="18" charset="0"/>
                <a:ea typeface="Cambria" panose="02040503050406030204" pitchFamily="18" charset="0"/>
              </a:rPr>
              <a:t>Họ</a:t>
            </a:r>
            <a:r>
              <a:rPr lang="en-US" sz="2400" dirty="0">
                <a:latin typeface="Cambria" panose="02040503050406030204" pitchFamily="18" charset="0"/>
                <a:ea typeface="Cambria" panose="02040503050406030204" pitchFamily="18" charset="0"/>
              </a:rPr>
              <a:t> </a:t>
            </a:r>
            <a:r>
              <a:rPr lang="vi-VN" sz="2400" dirty="0">
                <a:latin typeface="Cambria" panose="02040503050406030204" pitchFamily="18" charset="0"/>
                <a:ea typeface="Cambria" panose="02040503050406030204" pitchFamily="18" charset="0"/>
              </a:rPr>
              <a:t>tên, học phí và phương thức in thông tin sin</a:t>
            </a:r>
            <a:r>
              <a:rPr lang="en-US" sz="2400" dirty="0">
                <a:latin typeface="Cambria" panose="02040503050406030204" pitchFamily="18" charset="0"/>
                <a:ea typeface="Cambria" panose="02040503050406030204" pitchFamily="18" charset="0"/>
              </a:rPr>
              <a:t>h</a:t>
            </a:r>
            <a:r>
              <a:rPr lang="vi-VN" sz="2400" dirty="0">
                <a:latin typeface="Cambria" panose="02040503050406030204" pitchFamily="18" charset="0"/>
                <a:ea typeface="Cambria" panose="02040503050406030204" pitchFamily="18" charset="0"/>
              </a:rPr>
              <a:t> viên và số sinh viên đã nộp</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Có</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sử</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dụng</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phương</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thức</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khởi</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tạo</a:t>
            </a:r>
            <a:r>
              <a:rPr lang="en-US" sz="2400" dirty="0">
                <a:latin typeface="Cambria" panose="02040503050406030204" pitchFamily="18" charset="0"/>
                <a:ea typeface="Cambria" panose="02040503050406030204" pitchFamily="18" charset="0"/>
              </a:rPr>
              <a:t>)</a:t>
            </a:r>
            <a:endParaRPr lang="vi-VN" sz="2400" dirty="0">
              <a:latin typeface="Cambria" panose="02040503050406030204" pitchFamily="18" charset="0"/>
              <a:ea typeface="Cambria" panose="02040503050406030204" pitchFamily="18" charset="0"/>
            </a:endParaRPr>
          </a:p>
        </p:txBody>
      </p:sp>
      <p:pic>
        <p:nvPicPr>
          <p:cNvPr id="2" name="Picture 1"/>
          <p:cNvPicPr>
            <a:picLocks noChangeAspect="1"/>
          </p:cNvPicPr>
          <p:nvPr/>
        </p:nvPicPr>
        <p:blipFill>
          <a:blip r:embed="rId2"/>
          <a:stretch>
            <a:fillRect/>
          </a:stretch>
        </p:blipFill>
        <p:spPr>
          <a:xfrm>
            <a:off x="1786598" y="1522582"/>
            <a:ext cx="6758813" cy="4630347"/>
          </a:xfrm>
          <a:prstGeom prst="rect">
            <a:avLst/>
          </a:prstGeom>
        </p:spPr>
      </p:pic>
    </p:spTree>
    <p:extLst>
      <p:ext uri="{BB962C8B-B14F-4D97-AF65-F5344CB8AC3E}">
        <p14:creationId xmlns:p14="http://schemas.microsoft.com/office/powerpoint/2010/main" val="7030244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latin typeface="Cambria" panose="02040503050406030204" pitchFamily="18" charset="0"/>
                <a:ea typeface="Cambria" panose="02040503050406030204" pitchFamily="18" charset="0"/>
              </a:rPr>
              <a:t>Bài</a:t>
            </a:r>
            <a:r>
              <a:rPr lang="en-US">
                <a:latin typeface="Cambria" panose="02040503050406030204" pitchFamily="18" charset="0"/>
                <a:ea typeface="Cambria" panose="02040503050406030204" pitchFamily="18" charset="0"/>
              </a:rPr>
              <a:t> 4 – </a:t>
            </a:r>
            <a:r>
              <a:rPr lang="en-US" spc="-5" err="1">
                <a:latin typeface="Cambria" panose="02040503050406030204" pitchFamily="18" charset="0"/>
                <a:ea typeface="Cambria" panose="02040503050406030204" pitchFamily="18" charset="0"/>
                <a:cs typeface="Arial"/>
              </a:rPr>
              <a:t>Lập</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trình</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hướng</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tượng</a:t>
            </a:r>
            <a:endParaRPr lang="en-US">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a:solidFill>
                  <a:schemeClr val="bg1"/>
                </a:solidFill>
                <a:latin typeface="Cambria" panose="02040503050406030204" pitchFamily="18" charset="0"/>
              </a:rPr>
              <a:t>NẠP CHỒNG TOÁN TỬ (OVERLOAD METHOD)</a:t>
            </a:r>
          </a:p>
        </p:txBody>
      </p:sp>
      <p:sp>
        <p:nvSpPr>
          <p:cNvPr id="3" name="Rectangle 2"/>
          <p:cNvSpPr/>
          <p:nvPr/>
        </p:nvSpPr>
        <p:spPr>
          <a:xfrm>
            <a:off x="-1" y="691585"/>
            <a:ext cx="12115801" cy="861774"/>
          </a:xfrm>
          <a:prstGeom prst="rect">
            <a:avLst/>
          </a:prstGeom>
        </p:spPr>
        <p:txBody>
          <a:bodyPr wrap="square">
            <a:spAutoFit/>
          </a:bodyPr>
          <a:lstStyle/>
          <a:p>
            <a:r>
              <a:rPr lang="vi-VN" sz="2500">
                <a:solidFill>
                  <a:srgbClr val="000000"/>
                </a:solidFill>
                <a:latin typeface="Cambria" panose="02040503050406030204" pitchFamily="18" charset="0"/>
                <a:ea typeface="Cambria" panose="02040503050406030204" pitchFamily="18" charset="0"/>
              </a:rPr>
              <a:t>Python </a:t>
            </a:r>
            <a:r>
              <a:rPr lang="vi-VN" sz="2500" b="1">
                <a:solidFill>
                  <a:srgbClr val="000000"/>
                </a:solidFill>
                <a:latin typeface="Cambria" panose="02040503050406030204" pitchFamily="18" charset="0"/>
                <a:ea typeface="Cambria" panose="02040503050406030204" pitchFamily="18" charset="0"/>
              </a:rPr>
              <a:t>không hỗ trợ overload method</a:t>
            </a:r>
            <a:r>
              <a:rPr lang="vi-VN" sz="2500">
                <a:solidFill>
                  <a:srgbClr val="000000"/>
                </a:solidFill>
                <a:latin typeface="Cambria" panose="02040503050406030204" pitchFamily="18" charset="0"/>
                <a:ea typeface="Cambria" panose="02040503050406030204" pitchFamily="18" charset="0"/>
              </a:rPr>
              <a:t>, tuy nhiên vẫn có thể tạo nhiều </a:t>
            </a:r>
            <a:r>
              <a:rPr lang="en-US" sz="2500" err="1">
                <a:solidFill>
                  <a:srgbClr val="000000"/>
                </a:solidFill>
                <a:latin typeface="Cambria" panose="02040503050406030204" pitchFamily="18" charset="0"/>
                <a:ea typeface="Cambria" panose="02040503050406030204" pitchFamily="18" charset="0"/>
              </a:rPr>
              <a:t>phương</a:t>
            </a:r>
            <a:r>
              <a:rPr lang="en-US" sz="2500">
                <a:solidFill>
                  <a:srgbClr val="000000"/>
                </a:solidFill>
                <a:latin typeface="Cambria" panose="02040503050406030204" pitchFamily="18" charset="0"/>
                <a:ea typeface="Cambria" panose="02040503050406030204" pitchFamily="18" charset="0"/>
              </a:rPr>
              <a:t> </a:t>
            </a:r>
            <a:r>
              <a:rPr lang="vi-VN" sz="2500">
                <a:solidFill>
                  <a:srgbClr val="000000"/>
                </a:solidFill>
                <a:latin typeface="Cambria" panose="02040503050406030204" pitchFamily="18" charset="0"/>
                <a:ea typeface="Cambria" panose="02040503050406030204" pitchFamily="18" charset="0"/>
              </a:rPr>
              <a:t>thức giống tên nhau và python chỉ nhận phương thức sau cùng</a:t>
            </a:r>
            <a:r>
              <a:rPr lang="en-US" sz="2500">
                <a:latin typeface="Cambria" panose="02040503050406030204" pitchFamily="18" charset="0"/>
                <a:ea typeface="Cambria" panose="02040503050406030204" pitchFamily="18" charset="0"/>
              </a:rPr>
              <a:t>.</a:t>
            </a:r>
          </a:p>
        </p:txBody>
      </p:sp>
      <p:sp>
        <p:nvSpPr>
          <p:cNvPr id="2" name="Rectangle 1"/>
          <p:cNvSpPr/>
          <p:nvPr/>
        </p:nvSpPr>
        <p:spPr>
          <a:xfrm>
            <a:off x="2401956" y="1553359"/>
            <a:ext cx="6950766" cy="4832092"/>
          </a:xfrm>
          <a:prstGeom prst="rect">
            <a:avLst/>
          </a:prstGeom>
        </p:spPr>
        <p:txBody>
          <a:bodyPr wrap="square">
            <a:spAutoFit/>
          </a:bodyPr>
          <a:lstStyle/>
          <a:p>
            <a:r>
              <a:rPr lang="vi-VN" sz="2200">
                <a:solidFill>
                  <a:srgbClr val="008000"/>
                </a:solidFill>
                <a:latin typeface="Consolas" panose="020B0609020204030204" pitchFamily="49" charset="0"/>
              </a:rPr>
              <a:t># định nghĩa lớp Calculate</a:t>
            </a:r>
            <a:br>
              <a:rPr lang="vi-VN" sz="2200">
                <a:solidFill>
                  <a:srgbClr val="008000"/>
                </a:solidFill>
                <a:latin typeface="Consolas" panose="020B0609020204030204" pitchFamily="49" charset="0"/>
              </a:rPr>
            </a:br>
            <a:r>
              <a:rPr lang="vi-VN" sz="2200">
                <a:solidFill>
                  <a:srgbClr val="0000FF"/>
                </a:solidFill>
                <a:latin typeface="Consolas" panose="020B0609020204030204" pitchFamily="49" charset="0"/>
              </a:rPr>
              <a:t>class </a:t>
            </a:r>
            <a:r>
              <a:rPr lang="vi-VN" sz="2200">
                <a:solidFill>
                  <a:srgbClr val="000000"/>
                </a:solidFill>
                <a:latin typeface="Consolas" panose="020B0609020204030204" pitchFamily="49" charset="0"/>
              </a:rPr>
              <a:t>Calculate:</a:t>
            </a:r>
            <a:br>
              <a:rPr lang="vi-VN" sz="2200">
                <a:solidFill>
                  <a:srgbClr val="000000"/>
                </a:solidFill>
                <a:latin typeface="Consolas" panose="020B0609020204030204" pitchFamily="49" charset="0"/>
              </a:rPr>
            </a:br>
            <a:r>
              <a:rPr lang="vi-VN" sz="2200">
                <a:solidFill>
                  <a:srgbClr val="008000"/>
                </a:solidFill>
                <a:latin typeface="Consolas" panose="020B0609020204030204" pitchFamily="49" charset="0"/>
              </a:rPr>
              <a:t># định nghĩa phương thức cộng 2 số</a:t>
            </a:r>
            <a:br>
              <a:rPr lang="vi-VN" sz="2200">
                <a:solidFill>
                  <a:srgbClr val="008000"/>
                </a:solidFill>
                <a:latin typeface="Consolas" panose="020B0609020204030204" pitchFamily="49" charset="0"/>
              </a:rPr>
            </a:br>
            <a:r>
              <a:rPr lang="vi-VN" sz="2200">
                <a:solidFill>
                  <a:srgbClr val="0000FF"/>
                </a:solidFill>
                <a:latin typeface="Consolas" panose="020B0609020204030204" pitchFamily="49" charset="0"/>
              </a:rPr>
              <a:t>def </a:t>
            </a:r>
            <a:r>
              <a:rPr lang="vi-VN" sz="2200">
                <a:solidFill>
                  <a:srgbClr val="000000"/>
                </a:solidFill>
                <a:latin typeface="Consolas" panose="020B0609020204030204" pitchFamily="49" charset="0"/>
              </a:rPr>
              <a:t>add(self,a,b):</a:t>
            </a:r>
            <a:br>
              <a:rPr lang="vi-VN" sz="2200">
                <a:solidFill>
                  <a:srgbClr val="000000"/>
                </a:solidFill>
                <a:latin typeface="Consolas" panose="020B0609020204030204" pitchFamily="49" charset="0"/>
              </a:rPr>
            </a:br>
            <a:r>
              <a:rPr lang="vi-VN" sz="2200">
                <a:solidFill>
                  <a:srgbClr val="0000FF"/>
                </a:solidFill>
                <a:latin typeface="Consolas" panose="020B0609020204030204" pitchFamily="49" charset="0"/>
              </a:rPr>
              <a:t>return </a:t>
            </a:r>
            <a:r>
              <a:rPr lang="vi-VN" sz="2200">
                <a:solidFill>
                  <a:srgbClr val="000000"/>
                </a:solidFill>
                <a:latin typeface="Consolas" panose="020B0609020204030204" pitchFamily="49" charset="0"/>
              </a:rPr>
              <a:t>a+b</a:t>
            </a:r>
            <a:br>
              <a:rPr lang="vi-VN" sz="2200">
                <a:solidFill>
                  <a:srgbClr val="000000"/>
                </a:solidFill>
                <a:latin typeface="Consolas" panose="020B0609020204030204" pitchFamily="49" charset="0"/>
              </a:rPr>
            </a:br>
            <a:r>
              <a:rPr lang="vi-VN" sz="2200">
                <a:solidFill>
                  <a:srgbClr val="008000"/>
                </a:solidFill>
                <a:latin typeface="Consolas" panose="020B0609020204030204" pitchFamily="49" charset="0"/>
              </a:rPr>
              <a:t># định nghĩa phương thức cộng 3 số</a:t>
            </a:r>
            <a:br>
              <a:rPr lang="vi-VN" sz="2200">
                <a:solidFill>
                  <a:srgbClr val="008000"/>
                </a:solidFill>
                <a:latin typeface="Consolas" panose="020B0609020204030204" pitchFamily="49" charset="0"/>
              </a:rPr>
            </a:br>
            <a:r>
              <a:rPr lang="vi-VN" sz="2200">
                <a:solidFill>
                  <a:srgbClr val="0000FF"/>
                </a:solidFill>
                <a:latin typeface="Consolas" panose="020B0609020204030204" pitchFamily="49" charset="0"/>
              </a:rPr>
              <a:t>def </a:t>
            </a:r>
            <a:r>
              <a:rPr lang="vi-VN" sz="2200">
                <a:solidFill>
                  <a:srgbClr val="000000"/>
                </a:solidFill>
                <a:latin typeface="Consolas" panose="020B0609020204030204" pitchFamily="49" charset="0"/>
              </a:rPr>
              <a:t>add(self, a,b,c):</a:t>
            </a:r>
            <a:br>
              <a:rPr lang="vi-VN" sz="2200">
                <a:solidFill>
                  <a:srgbClr val="000000"/>
                </a:solidFill>
                <a:latin typeface="Consolas" panose="020B0609020204030204" pitchFamily="49" charset="0"/>
              </a:rPr>
            </a:br>
            <a:r>
              <a:rPr lang="vi-VN" sz="2200">
                <a:solidFill>
                  <a:srgbClr val="0000FF"/>
                </a:solidFill>
                <a:latin typeface="Consolas" panose="020B0609020204030204" pitchFamily="49" charset="0"/>
              </a:rPr>
              <a:t>return </a:t>
            </a:r>
            <a:r>
              <a:rPr lang="vi-VN" sz="2200">
                <a:solidFill>
                  <a:srgbClr val="000000"/>
                </a:solidFill>
                <a:latin typeface="Consolas" panose="020B0609020204030204" pitchFamily="49" charset="0"/>
              </a:rPr>
              <a:t>a+b+c</a:t>
            </a:r>
            <a:br>
              <a:rPr lang="vi-VN" sz="2200">
                <a:solidFill>
                  <a:srgbClr val="000000"/>
                </a:solidFill>
                <a:latin typeface="Consolas" panose="020B0609020204030204" pitchFamily="49" charset="0"/>
              </a:rPr>
            </a:br>
            <a:r>
              <a:rPr lang="vi-VN" sz="2200">
                <a:solidFill>
                  <a:srgbClr val="008000"/>
                </a:solidFill>
                <a:latin typeface="Consolas" panose="020B0609020204030204" pitchFamily="49" charset="0"/>
              </a:rPr>
              <a:t># tạo đối tượng</a:t>
            </a:r>
            <a:br>
              <a:rPr lang="vi-VN" sz="2200">
                <a:solidFill>
                  <a:srgbClr val="008000"/>
                </a:solidFill>
                <a:latin typeface="Consolas" panose="020B0609020204030204" pitchFamily="49" charset="0"/>
              </a:rPr>
            </a:br>
            <a:r>
              <a:rPr lang="vi-VN" sz="2200">
                <a:solidFill>
                  <a:srgbClr val="000000"/>
                </a:solidFill>
                <a:latin typeface="Consolas" panose="020B0609020204030204" pitchFamily="49" charset="0"/>
              </a:rPr>
              <a:t>cal=Calculate()</a:t>
            </a:r>
            <a:br>
              <a:rPr lang="vi-VN" sz="2200">
                <a:solidFill>
                  <a:srgbClr val="000000"/>
                </a:solidFill>
                <a:latin typeface="Consolas" panose="020B0609020204030204" pitchFamily="49" charset="0"/>
              </a:rPr>
            </a:br>
            <a:r>
              <a:rPr lang="vi-VN" sz="2200">
                <a:solidFill>
                  <a:srgbClr val="008000"/>
                </a:solidFill>
                <a:latin typeface="Consolas" panose="020B0609020204030204" pitchFamily="49" charset="0"/>
              </a:rPr>
              <a:t># dòng dưới này gọi lỗi</a:t>
            </a:r>
            <a:br>
              <a:rPr lang="vi-VN" sz="2200">
                <a:solidFill>
                  <a:srgbClr val="008000"/>
                </a:solidFill>
                <a:latin typeface="Consolas" panose="020B0609020204030204" pitchFamily="49" charset="0"/>
              </a:rPr>
            </a:br>
            <a:r>
              <a:rPr lang="vi-VN" sz="2200">
                <a:solidFill>
                  <a:srgbClr val="008000"/>
                </a:solidFill>
                <a:latin typeface="Consolas" panose="020B0609020204030204" pitchFamily="49" charset="0"/>
              </a:rPr>
              <a:t># print(cal.add(4,5))</a:t>
            </a:r>
            <a:br>
              <a:rPr lang="vi-VN" sz="2200">
                <a:solidFill>
                  <a:srgbClr val="008000"/>
                </a:solidFill>
                <a:latin typeface="Consolas" panose="020B0609020204030204" pitchFamily="49" charset="0"/>
              </a:rPr>
            </a:br>
            <a:r>
              <a:rPr lang="vi-VN" sz="2200">
                <a:solidFill>
                  <a:srgbClr val="008000"/>
                </a:solidFill>
                <a:latin typeface="Consolas" panose="020B0609020204030204" pitchFamily="49" charset="0"/>
              </a:rPr>
              <a:t># dòng này gọi ok</a:t>
            </a:r>
            <a:br>
              <a:rPr lang="vi-VN" sz="2200">
                <a:solidFill>
                  <a:srgbClr val="008000"/>
                </a:solidFill>
                <a:latin typeface="Consolas" panose="020B0609020204030204" pitchFamily="49" charset="0"/>
              </a:rPr>
            </a:br>
            <a:r>
              <a:rPr lang="vi-VN" sz="2200">
                <a:solidFill>
                  <a:srgbClr val="000000"/>
                </a:solidFill>
                <a:latin typeface="Consolas" panose="020B0609020204030204" pitchFamily="49" charset="0"/>
              </a:rPr>
              <a:t>print(cal.add(</a:t>
            </a:r>
            <a:r>
              <a:rPr lang="vi-VN" sz="2200">
                <a:solidFill>
                  <a:srgbClr val="098658"/>
                </a:solidFill>
                <a:latin typeface="Consolas" panose="020B0609020204030204" pitchFamily="49" charset="0"/>
              </a:rPr>
              <a:t>4</a:t>
            </a:r>
            <a:r>
              <a:rPr lang="vi-VN" sz="2200">
                <a:solidFill>
                  <a:srgbClr val="000000"/>
                </a:solidFill>
                <a:latin typeface="Consolas" panose="020B0609020204030204" pitchFamily="49" charset="0"/>
              </a:rPr>
              <a:t>,</a:t>
            </a:r>
            <a:r>
              <a:rPr lang="vi-VN" sz="2200">
                <a:solidFill>
                  <a:srgbClr val="098658"/>
                </a:solidFill>
                <a:latin typeface="Consolas" panose="020B0609020204030204" pitchFamily="49" charset="0"/>
              </a:rPr>
              <a:t>5</a:t>
            </a:r>
            <a:r>
              <a:rPr lang="vi-VN" sz="2200">
                <a:solidFill>
                  <a:srgbClr val="000000"/>
                </a:solidFill>
                <a:latin typeface="Consolas" panose="020B0609020204030204" pitchFamily="49" charset="0"/>
              </a:rPr>
              <a:t>,</a:t>
            </a:r>
            <a:r>
              <a:rPr lang="vi-VN" sz="2200">
                <a:solidFill>
                  <a:srgbClr val="098658"/>
                </a:solidFill>
                <a:latin typeface="Consolas" panose="020B0609020204030204" pitchFamily="49" charset="0"/>
              </a:rPr>
              <a:t>6</a:t>
            </a:r>
            <a:r>
              <a:rPr lang="vi-VN" sz="2200">
                <a:solidFill>
                  <a:srgbClr val="000000"/>
                </a:solidFill>
                <a:latin typeface="Consolas" panose="020B0609020204030204" pitchFamily="49" charset="0"/>
              </a:rPr>
              <a:t>))</a:t>
            </a:r>
            <a:r>
              <a:rPr lang="vi-VN" sz="2200"/>
              <a:t> </a:t>
            </a:r>
            <a:endParaRPr lang="en-US" sz="2200"/>
          </a:p>
        </p:txBody>
      </p:sp>
    </p:spTree>
    <p:extLst>
      <p:ext uri="{BB962C8B-B14F-4D97-AF65-F5344CB8AC3E}">
        <p14:creationId xmlns:p14="http://schemas.microsoft.com/office/powerpoint/2010/main" val="20660971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latin typeface="Cambria" panose="02040503050406030204" pitchFamily="18" charset="0"/>
                <a:ea typeface="Cambria" panose="02040503050406030204" pitchFamily="18" charset="0"/>
              </a:rPr>
              <a:t>Bài</a:t>
            </a:r>
            <a:r>
              <a:rPr lang="en-US">
                <a:latin typeface="Cambria" panose="02040503050406030204" pitchFamily="18" charset="0"/>
                <a:ea typeface="Cambria" panose="02040503050406030204" pitchFamily="18" charset="0"/>
              </a:rPr>
              <a:t> 4 – </a:t>
            </a:r>
            <a:r>
              <a:rPr lang="en-US" spc="-5" err="1">
                <a:latin typeface="Cambria" panose="02040503050406030204" pitchFamily="18" charset="0"/>
                <a:ea typeface="Cambria" panose="02040503050406030204" pitchFamily="18" charset="0"/>
                <a:cs typeface="Arial"/>
              </a:rPr>
              <a:t>Lập</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trình</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hướng</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tượng</a:t>
            </a:r>
            <a:endParaRPr lang="en-US">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a:solidFill>
                  <a:schemeClr val="bg1"/>
                </a:solidFill>
                <a:latin typeface="Cambria" panose="02040503050406030204" pitchFamily="18" charset="0"/>
              </a:rPr>
              <a:t>KẾ THỪA &amp; GHI ĐÈ</a:t>
            </a:r>
          </a:p>
        </p:txBody>
      </p:sp>
      <p:graphicFrame>
        <p:nvGraphicFramePr>
          <p:cNvPr id="10" name="Object 7"/>
          <p:cNvGraphicFramePr>
            <a:graphicFrameLocks noChangeAspect="1"/>
          </p:cNvGraphicFramePr>
          <p:nvPr>
            <p:extLst>
              <p:ext uri="{D42A27DB-BD31-4B8C-83A1-F6EECF244321}">
                <p14:modId xmlns:p14="http://schemas.microsoft.com/office/powerpoint/2010/main" val="3584008334"/>
              </p:ext>
            </p:extLst>
          </p:nvPr>
        </p:nvGraphicFramePr>
        <p:xfrm>
          <a:off x="7655563" y="2789894"/>
          <a:ext cx="4042794" cy="2313658"/>
        </p:xfrm>
        <a:graphic>
          <a:graphicData uri="http://schemas.openxmlformats.org/presentationml/2006/ole">
            <mc:AlternateContent xmlns:mc="http://schemas.openxmlformats.org/markup-compatibility/2006">
              <mc:Choice xmlns:v="urn:schemas-microsoft-com:vml" Requires="v">
                <p:oleObj name="Photo Editor Photo" r:id="rId2" imgW="5076190" imgH="2905531" progId="">
                  <p:embed/>
                </p:oleObj>
              </mc:Choice>
              <mc:Fallback>
                <p:oleObj name="Photo Editor Photo" r:id="rId2" imgW="5076190" imgH="2905531" progId="">
                  <p:embed/>
                  <p:pic>
                    <p:nvPicPr>
                      <p:cNvPr id="7"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5563" y="2789894"/>
                        <a:ext cx="4042794" cy="2313658"/>
                      </a:xfrm>
                      <a:prstGeom prst="rect">
                        <a:avLst/>
                      </a:prstGeom>
                      <a:noFill/>
                      <a:ln>
                        <a:noFill/>
                      </a:ln>
                      <a:effectLst/>
                    </p:spPr>
                  </p:pic>
                </p:oleObj>
              </mc:Fallback>
            </mc:AlternateContent>
          </a:graphicData>
        </a:graphic>
      </p:graphicFrame>
      <p:sp>
        <p:nvSpPr>
          <p:cNvPr id="11" name="Rectangle 10"/>
          <p:cNvSpPr/>
          <p:nvPr/>
        </p:nvSpPr>
        <p:spPr>
          <a:xfrm>
            <a:off x="248478" y="591403"/>
            <a:ext cx="11728174" cy="2492990"/>
          </a:xfrm>
          <a:prstGeom prst="rect">
            <a:avLst/>
          </a:prstGeom>
        </p:spPr>
        <p:txBody>
          <a:bodyPr wrap="square">
            <a:spAutoFit/>
          </a:bodyPr>
          <a:lstStyle/>
          <a:p>
            <a:pPr marL="168275" indent="-168275">
              <a:lnSpc>
                <a:spcPct val="130000"/>
              </a:lnSpc>
              <a:buFont typeface="Arial" panose="020B0604020202020204" pitchFamily="34" charset="0"/>
              <a:buChar char="•"/>
            </a:pPr>
            <a:r>
              <a:rPr lang="vi-VN" sz="2400" dirty="0">
                <a:latin typeface="Cambria" panose="02040503050406030204" pitchFamily="18" charset="0"/>
                <a:ea typeface="Cambria" panose="02040503050406030204" pitchFamily="18" charset="0"/>
              </a:rPr>
              <a:t>Python cho phép tạo một lớp mở rộng từ một hoặc nhiều lớp</a:t>
            </a:r>
            <a:r>
              <a:rPr lang="en-US" sz="2400" dirty="0">
                <a:latin typeface="Cambria" panose="02040503050406030204" pitchFamily="18" charset="0"/>
                <a:ea typeface="Cambria" panose="02040503050406030204" pitchFamily="18" charset="0"/>
              </a:rPr>
              <a:t> </a:t>
            </a:r>
            <a:r>
              <a:rPr lang="vi-VN" sz="2400" dirty="0">
                <a:latin typeface="Cambria" panose="02040503050406030204" pitchFamily="18" charset="0"/>
                <a:ea typeface="Cambria" panose="02040503050406030204" pitchFamily="18" charset="0"/>
              </a:rPr>
              <a:t>khác. Lớp này được gọi là </a:t>
            </a:r>
            <a:r>
              <a:rPr lang="vi-VN" sz="2400" b="1" dirty="0">
                <a:solidFill>
                  <a:srgbClr val="FF0000"/>
                </a:solidFill>
                <a:latin typeface="Cambria" panose="02040503050406030204" pitchFamily="18" charset="0"/>
                <a:ea typeface="Cambria" panose="02040503050406030204" pitchFamily="18" charset="0"/>
              </a:rPr>
              <a:t>lớp dẫn xuất (Derived class) hoặc đơn giản gọi là</a:t>
            </a:r>
            <a:r>
              <a:rPr lang="en-US" sz="2400" b="1" dirty="0">
                <a:solidFill>
                  <a:srgbClr val="FF0000"/>
                </a:solidFill>
                <a:latin typeface="Cambria" panose="02040503050406030204" pitchFamily="18" charset="0"/>
                <a:ea typeface="Cambria" panose="02040503050406030204" pitchFamily="18" charset="0"/>
              </a:rPr>
              <a:t> </a:t>
            </a:r>
            <a:r>
              <a:rPr lang="vi-VN" sz="2400" b="1" dirty="0">
                <a:solidFill>
                  <a:srgbClr val="FF0000"/>
                </a:solidFill>
                <a:latin typeface="Cambria" panose="02040503050406030204" pitchFamily="18" charset="0"/>
                <a:ea typeface="Cambria" panose="02040503050406030204" pitchFamily="18" charset="0"/>
              </a:rPr>
              <a:t>lớp con.</a:t>
            </a:r>
            <a:endParaRPr lang="en-US" sz="2400" b="1" dirty="0">
              <a:solidFill>
                <a:srgbClr val="FF0000"/>
              </a:solidFill>
              <a:latin typeface="Cambria" panose="02040503050406030204" pitchFamily="18" charset="0"/>
              <a:ea typeface="Cambria" panose="02040503050406030204" pitchFamily="18" charset="0"/>
            </a:endParaRPr>
          </a:p>
          <a:p>
            <a:pPr marL="168275" indent="-168275">
              <a:lnSpc>
                <a:spcPct val="130000"/>
              </a:lnSpc>
              <a:buFont typeface="Arial" panose="020B0604020202020204" pitchFamily="34" charset="0"/>
              <a:buChar char="•"/>
            </a:pPr>
            <a:r>
              <a:rPr lang="vi-VN" sz="2400" dirty="0">
                <a:latin typeface="Cambria" panose="02040503050406030204" pitchFamily="18" charset="0"/>
                <a:ea typeface="Cambria" panose="02040503050406030204" pitchFamily="18" charset="0"/>
              </a:rPr>
              <a:t>Lớp con sẽ thừa kế các thuộc tính (attribute), phương thức và các thành</a:t>
            </a:r>
            <a:r>
              <a:rPr lang="en-US" sz="2400" dirty="0">
                <a:latin typeface="Cambria" panose="02040503050406030204" pitchFamily="18" charset="0"/>
                <a:ea typeface="Cambria" panose="02040503050406030204" pitchFamily="18" charset="0"/>
              </a:rPr>
              <a:t> </a:t>
            </a:r>
            <a:r>
              <a:rPr lang="vi-VN" sz="2400" dirty="0">
                <a:latin typeface="Cambria" panose="02040503050406030204" pitchFamily="18" charset="0"/>
                <a:ea typeface="Cambria" panose="02040503050406030204" pitchFamily="18" charset="0"/>
              </a:rPr>
              <a:t>viên khác từ lớp cha.</a:t>
            </a:r>
            <a:r>
              <a:rPr lang="en-US" sz="2400" dirty="0">
                <a:latin typeface="Cambria" panose="02040503050406030204" pitchFamily="18" charset="0"/>
                <a:ea typeface="Cambria" panose="02040503050406030204" pitchFamily="18" charset="0"/>
              </a:rPr>
              <a:t> </a:t>
            </a:r>
            <a:r>
              <a:rPr lang="vi-VN" sz="2400" dirty="0">
                <a:latin typeface="Cambria" panose="02040503050406030204" pitchFamily="18" charset="0"/>
                <a:ea typeface="Cambria" panose="02040503050406030204" pitchFamily="18" charset="0"/>
              </a:rPr>
              <a:t>Nếu lớp con không tự định nghĩa 1 constructor của nó, mặc định nó sẽ</a:t>
            </a:r>
            <a:r>
              <a:rPr lang="en-US" sz="2400" dirty="0">
                <a:latin typeface="Cambria" panose="02040503050406030204" pitchFamily="18" charset="0"/>
                <a:ea typeface="Cambria" panose="02040503050406030204" pitchFamily="18" charset="0"/>
              </a:rPr>
              <a:t> </a:t>
            </a:r>
            <a:r>
              <a:rPr lang="vi-VN" sz="2400" dirty="0">
                <a:latin typeface="Cambria" panose="02040503050406030204" pitchFamily="18" charset="0"/>
                <a:ea typeface="Cambria" panose="02040503050406030204" pitchFamily="18" charset="0"/>
              </a:rPr>
              <a:t>thừa kế constructor của lớp cha. </a:t>
            </a:r>
            <a:endParaRPr lang="en-US" sz="2400" dirty="0">
              <a:latin typeface="Cambria" panose="02040503050406030204" pitchFamily="18" charset="0"/>
              <a:ea typeface="Cambria" panose="02040503050406030204" pitchFamily="18" charset="0"/>
            </a:endParaRPr>
          </a:p>
        </p:txBody>
      </p:sp>
      <p:sp>
        <p:nvSpPr>
          <p:cNvPr id="12" name="Content Placeholder 2"/>
          <p:cNvSpPr>
            <a:spLocks noGrp="1"/>
          </p:cNvSpPr>
          <p:nvPr>
            <p:ph idx="1"/>
          </p:nvPr>
        </p:nvSpPr>
        <p:spPr>
          <a:xfrm>
            <a:off x="248478" y="2955186"/>
            <a:ext cx="8406866" cy="3187198"/>
          </a:xfrm>
        </p:spPr>
        <p:txBody>
          <a:bodyPr>
            <a:noAutofit/>
          </a:bodyPr>
          <a:lstStyle/>
          <a:p>
            <a:pPr marL="0" indent="0">
              <a:lnSpc>
                <a:spcPct val="130000"/>
              </a:lnSpc>
              <a:spcBef>
                <a:spcPts val="0"/>
              </a:spcBef>
              <a:buNone/>
            </a:pPr>
            <a:r>
              <a:rPr lang="en-GB" sz="2200" b="1" err="1">
                <a:solidFill>
                  <a:srgbClr val="FF0000"/>
                </a:solidFill>
                <a:latin typeface="Cambria" panose="02040503050406030204" pitchFamily="18" charset="0"/>
                <a:ea typeface="Cambria" panose="02040503050406030204" pitchFamily="18" charset="0"/>
              </a:rPr>
              <a:t>Các</a:t>
            </a:r>
            <a:r>
              <a:rPr lang="en-GB" sz="2200" b="1">
                <a:solidFill>
                  <a:srgbClr val="FF0000"/>
                </a:solidFill>
                <a:latin typeface="Cambria" panose="02040503050406030204" pitchFamily="18" charset="0"/>
                <a:ea typeface="Cambria" panose="02040503050406030204" pitchFamily="18" charset="0"/>
              </a:rPr>
              <a:t> </a:t>
            </a:r>
            <a:r>
              <a:rPr lang="en-GB" sz="2200" b="1" err="1">
                <a:solidFill>
                  <a:srgbClr val="FF0000"/>
                </a:solidFill>
                <a:latin typeface="Cambria" panose="02040503050406030204" pitchFamily="18" charset="0"/>
                <a:ea typeface="Cambria" panose="02040503050406030204" pitchFamily="18" charset="0"/>
              </a:rPr>
              <a:t>Loại</a:t>
            </a:r>
            <a:r>
              <a:rPr lang="en-GB" sz="2200" b="1">
                <a:solidFill>
                  <a:srgbClr val="FF0000"/>
                </a:solidFill>
                <a:latin typeface="Cambria" panose="02040503050406030204" pitchFamily="18" charset="0"/>
                <a:ea typeface="Cambria" panose="02040503050406030204" pitchFamily="18" charset="0"/>
              </a:rPr>
              <a:t> </a:t>
            </a:r>
            <a:r>
              <a:rPr lang="en-GB" sz="2200" b="1" err="1">
                <a:solidFill>
                  <a:srgbClr val="FF0000"/>
                </a:solidFill>
                <a:latin typeface="Cambria" panose="02040503050406030204" pitchFamily="18" charset="0"/>
                <a:ea typeface="Cambria" panose="02040503050406030204" pitchFamily="18" charset="0"/>
              </a:rPr>
              <a:t>Kế</a:t>
            </a:r>
            <a:r>
              <a:rPr lang="en-GB" sz="2200" b="1">
                <a:solidFill>
                  <a:srgbClr val="FF0000"/>
                </a:solidFill>
                <a:latin typeface="Cambria" panose="02040503050406030204" pitchFamily="18" charset="0"/>
                <a:ea typeface="Cambria" panose="02040503050406030204" pitchFamily="18" charset="0"/>
              </a:rPr>
              <a:t> </a:t>
            </a:r>
            <a:r>
              <a:rPr lang="en-GB" sz="2200" b="1" err="1">
                <a:solidFill>
                  <a:srgbClr val="FF0000"/>
                </a:solidFill>
                <a:latin typeface="Cambria" panose="02040503050406030204" pitchFamily="18" charset="0"/>
                <a:ea typeface="Cambria" panose="02040503050406030204" pitchFamily="18" charset="0"/>
              </a:rPr>
              <a:t>Thừa</a:t>
            </a:r>
            <a:endParaRPr lang="en-GB" sz="2200" b="1">
              <a:solidFill>
                <a:srgbClr val="FF0000"/>
              </a:solidFill>
              <a:latin typeface="Cambria" panose="02040503050406030204" pitchFamily="18" charset="0"/>
              <a:ea typeface="Cambria" panose="02040503050406030204" pitchFamily="18" charset="0"/>
            </a:endParaRPr>
          </a:p>
          <a:p>
            <a:pPr>
              <a:lnSpc>
                <a:spcPct val="130000"/>
              </a:lnSpc>
              <a:spcBef>
                <a:spcPts val="0"/>
              </a:spcBef>
            </a:pPr>
            <a:r>
              <a:rPr lang="en-GB" sz="2200" err="1">
                <a:latin typeface="Cambria" panose="02040503050406030204" pitchFamily="18" charset="0"/>
                <a:ea typeface="Cambria" panose="02040503050406030204" pitchFamily="18" charset="0"/>
              </a:rPr>
              <a:t>Đơn</a:t>
            </a:r>
            <a:r>
              <a:rPr lang="en-GB" sz="2200">
                <a:latin typeface="Cambria" panose="02040503050406030204" pitchFamily="18" charset="0"/>
                <a:ea typeface="Cambria" panose="02040503050406030204" pitchFamily="18" charset="0"/>
              </a:rPr>
              <a:t> </a:t>
            </a:r>
            <a:r>
              <a:rPr lang="en-GB" sz="2200" err="1">
                <a:latin typeface="Cambria" panose="02040503050406030204" pitchFamily="18" charset="0"/>
                <a:ea typeface="Cambria" panose="02040503050406030204" pitchFamily="18" charset="0"/>
              </a:rPr>
              <a:t>kế</a:t>
            </a:r>
            <a:r>
              <a:rPr lang="en-GB" sz="2200">
                <a:latin typeface="Cambria" panose="02040503050406030204" pitchFamily="18" charset="0"/>
                <a:ea typeface="Cambria" panose="02040503050406030204" pitchFamily="18" charset="0"/>
              </a:rPr>
              <a:t> </a:t>
            </a:r>
            <a:r>
              <a:rPr lang="en-GB" sz="2200" err="1">
                <a:latin typeface="Cambria" panose="02040503050406030204" pitchFamily="18" charset="0"/>
                <a:ea typeface="Cambria" panose="02040503050406030204" pitchFamily="18" charset="0"/>
              </a:rPr>
              <a:t>thừa</a:t>
            </a:r>
            <a:endParaRPr lang="en-GB" sz="2200">
              <a:latin typeface="Cambria" panose="02040503050406030204" pitchFamily="18" charset="0"/>
              <a:ea typeface="Cambria" panose="02040503050406030204" pitchFamily="18" charset="0"/>
            </a:endParaRPr>
          </a:p>
          <a:p>
            <a:pPr lvl="1">
              <a:lnSpc>
                <a:spcPct val="130000"/>
              </a:lnSpc>
              <a:spcBef>
                <a:spcPts val="0"/>
              </a:spcBef>
            </a:pPr>
            <a:r>
              <a:rPr lang="en-GB" sz="2200" b="0" err="1">
                <a:latin typeface="Cambria" panose="02040503050406030204" pitchFamily="18" charset="0"/>
                <a:ea typeface="Cambria" panose="02040503050406030204" pitchFamily="18" charset="0"/>
              </a:rPr>
              <a:t>Đơn</a:t>
            </a:r>
            <a:r>
              <a:rPr lang="en-GB" sz="2200" b="0">
                <a:latin typeface="Cambria" panose="02040503050406030204" pitchFamily="18" charset="0"/>
                <a:ea typeface="Cambria" panose="02040503050406030204" pitchFamily="18" charset="0"/>
              </a:rPr>
              <a:t> </a:t>
            </a:r>
            <a:r>
              <a:rPr lang="en-GB" sz="2200" b="0" err="1">
                <a:latin typeface="Cambria" panose="02040503050406030204" pitchFamily="18" charset="0"/>
                <a:ea typeface="Cambria" panose="02040503050406030204" pitchFamily="18" charset="0"/>
              </a:rPr>
              <a:t>kế</a:t>
            </a:r>
            <a:r>
              <a:rPr lang="en-GB" sz="2200" b="0">
                <a:latin typeface="Cambria" panose="02040503050406030204" pitchFamily="18" charset="0"/>
                <a:ea typeface="Cambria" panose="02040503050406030204" pitchFamily="18" charset="0"/>
              </a:rPr>
              <a:t> </a:t>
            </a:r>
            <a:r>
              <a:rPr lang="en-GB" sz="2200" b="0" err="1">
                <a:latin typeface="Cambria" panose="02040503050406030204" pitchFamily="18" charset="0"/>
                <a:ea typeface="Cambria" panose="02040503050406030204" pitchFamily="18" charset="0"/>
              </a:rPr>
              <a:t>thừa</a:t>
            </a:r>
            <a:r>
              <a:rPr lang="en-GB" sz="2200" b="0">
                <a:latin typeface="Cambria" panose="02040503050406030204" pitchFamily="18" charset="0"/>
                <a:ea typeface="Cambria" panose="02040503050406030204" pitchFamily="18" charset="0"/>
              </a:rPr>
              <a:t> </a:t>
            </a:r>
            <a:r>
              <a:rPr lang="en-GB" sz="2200" b="0" err="1">
                <a:latin typeface="Cambria" panose="02040503050406030204" pitchFamily="18" charset="0"/>
                <a:ea typeface="Cambria" panose="02040503050406030204" pitchFamily="18" charset="0"/>
              </a:rPr>
              <a:t>một</a:t>
            </a:r>
            <a:r>
              <a:rPr lang="en-GB" sz="2200" b="0">
                <a:latin typeface="Cambria" panose="02040503050406030204" pitchFamily="18" charset="0"/>
                <a:ea typeface="Cambria" panose="02040503050406030204" pitchFamily="18" charset="0"/>
              </a:rPr>
              <a:t> </a:t>
            </a:r>
            <a:r>
              <a:rPr lang="en-GB" sz="2200" b="0" err="1">
                <a:latin typeface="Cambria" panose="02040503050406030204" pitchFamily="18" charset="0"/>
                <a:ea typeface="Cambria" panose="02040503050406030204" pitchFamily="18" charset="0"/>
              </a:rPr>
              <a:t>mức</a:t>
            </a:r>
            <a:endParaRPr lang="en-GB" sz="2200" b="0">
              <a:latin typeface="Cambria" panose="02040503050406030204" pitchFamily="18" charset="0"/>
              <a:ea typeface="Cambria" panose="02040503050406030204" pitchFamily="18" charset="0"/>
            </a:endParaRPr>
          </a:p>
          <a:p>
            <a:pPr lvl="1">
              <a:lnSpc>
                <a:spcPct val="130000"/>
              </a:lnSpc>
              <a:spcBef>
                <a:spcPts val="0"/>
              </a:spcBef>
            </a:pPr>
            <a:r>
              <a:rPr lang="en-GB" sz="2200" b="0" err="1">
                <a:latin typeface="Cambria" panose="02040503050406030204" pitchFamily="18" charset="0"/>
                <a:ea typeface="Cambria" panose="02040503050406030204" pitchFamily="18" charset="0"/>
              </a:rPr>
              <a:t>Đơn</a:t>
            </a:r>
            <a:r>
              <a:rPr lang="en-GB" sz="2200" b="0">
                <a:latin typeface="Cambria" panose="02040503050406030204" pitchFamily="18" charset="0"/>
                <a:ea typeface="Cambria" panose="02040503050406030204" pitchFamily="18" charset="0"/>
              </a:rPr>
              <a:t> </a:t>
            </a:r>
            <a:r>
              <a:rPr lang="en-GB" sz="2200" b="0" err="1">
                <a:latin typeface="Cambria" panose="02040503050406030204" pitchFamily="18" charset="0"/>
                <a:ea typeface="Cambria" panose="02040503050406030204" pitchFamily="18" charset="0"/>
              </a:rPr>
              <a:t>kế</a:t>
            </a:r>
            <a:r>
              <a:rPr lang="en-GB" sz="2200" b="0">
                <a:latin typeface="Cambria" panose="02040503050406030204" pitchFamily="18" charset="0"/>
                <a:ea typeface="Cambria" panose="02040503050406030204" pitchFamily="18" charset="0"/>
              </a:rPr>
              <a:t> </a:t>
            </a:r>
            <a:r>
              <a:rPr lang="en-GB" sz="2200" b="0" err="1">
                <a:latin typeface="Cambria" panose="02040503050406030204" pitchFamily="18" charset="0"/>
                <a:ea typeface="Cambria" panose="02040503050406030204" pitchFamily="18" charset="0"/>
              </a:rPr>
              <a:t>thừa</a:t>
            </a:r>
            <a:r>
              <a:rPr lang="en-GB" sz="2200" b="0">
                <a:latin typeface="Cambria" panose="02040503050406030204" pitchFamily="18" charset="0"/>
                <a:ea typeface="Cambria" panose="02040503050406030204" pitchFamily="18" charset="0"/>
              </a:rPr>
              <a:t> </a:t>
            </a:r>
            <a:r>
              <a:rPr lang="en-GB" sz="2200" b="0" err="1">
                <a:latin typeface="Cambria" panose="02040503050406030204" pitchFamily="18" charset="0"/>
                <a:ea typeface="Cambria" panose="02040503050406030204" pitchFamily="18" charset="0"/>
              </a:rPr>
              <a:t>nhiều</a:t>
            </a:r>
            <a:r>
              <a:rPr lang="en-GB" sz="2200" b="0">
                <a:latin typeface="Cambria" panose="02040503050406030204" pitchFamily="18" charset="0"/>
                <a:ea typeface="Cambria" panose="02040503050406030204" pitchFamily="18" charset="0"/>
              </a:rPr>
              <a:t> </a:t>
            </a:r>
            <a:r>
              <a:rPr lang="en-GB" sz="2200" b="0" err="1">
                <a:latin typeface="Cambria" panose="02040503050406030204" pitchFamily="18" charset="0"/>
                <a:ea typeface="Cambria" panose="02040503050406030204" pitchFamily="18" charset="0"/>
              </a:rPr>
              <a:t>mức</a:t>
            </a:r>
            <a:endParaRPr lang="en-GB" sz="2200" b="0">
              <a:latin typeface="Cambria" panose="02040503050406030204" pitchFamily="18" charset="0"/>
              <a:ea typeface="Cambria" panose="02040503050406030204" pitchFamily="18" charset="0"/>
            </a:endParaRPr>
          </a:p>
          <a:p>
            <a:pPr>
              <a:lnSpc>
                <a:spcPct val="130000"/>
              </a:lnSpc>
              <a:spcBef>
                <a:spcPts val="0"/>
              </a:spcBef>
            </a:pPr>
            <a:r>
              <a:rPr lang="en-GB" sz="2200" err="1">
                <a:latin typeface="Cambria" panose="02040503050406030204" pitchFamily="18" charset="0"/>
                <a:ea typeface="Cambria" panose="02040503050406030204" pitchFamily="18" charset="0"/>
              </a:rPr>
              <a:t>Đa</a:t>
            </a:r>
            <a:r>
              <a:rPr lang="en-GB" sz="2200">
                <a:latin typeface="Cambria" panose="02040503050406030204" pitchFamily="18" charset="0"/>
                <a:ea typeface="Cambria" panose="02040503050406030204" pitchFamily="18" charset="0"/>
              </a:rPr>
              <a:t> </a:t>
            </a:r>
            <a:r>
              <a:rPr lang="en-GB" sz="2200" err="1">
                <a:latin typeface="Cambria" panose="02040503050406030204" pitchFamily="18" charset="0"/>
                <a:ea typeface="Cambria" panose="02040503050406030204" pitchFamily="18" charset="0"/>
              </a:rPr>
              <a:t>kế</a:t>
            </a:r>
            <a:r>
              <a:rPr lang="en-GB" sz="2200">
                <a:latin typeface="Cambria" panose="02040503050406030204" pitchFamily="18" charset="0"/>
                <a:ea typeface="Cambria" panose="02040503050406030204" pitchFamily="18" charset="0"/>
              </a:rPr>
              <a:t> </a:t>
            </a:r>
            <a:r>
              <a:rPr lang="en-GB" sz="2200" err="1">
                <a:latin typeface="Cambria" panose="02040503050406030204" pitchFamily="18" charset="0"/>
                <a:ea typeface="Cambria" panose="02040503050406030204" pitchFamily="18" charset="0"/>
              </a:rPr>
              <a:t>thừa</a:t>
            </a:r>
            <a:endParaRPr lang="en-GB" sz="2200">
              <a:latin typeface="Cambria" panose="02040503050406030204" pitchFamily="18" charset="0"/>
              <a:ea typeface="Cambria" panose="02040503050406030204" pitchFamily="18" charset="0"/>
            </a:endParaRPr>
          </a:p>
          <a:p>
            <a:pPr lvl="1">
              <a:lnSpc>
                <a:spcPct val="130000"/>
              </a:lnSpc>
              <a:spcBef>
                <a:spcPts val="0"/>
              </a:spcBef>
            </a:pPr>
            <a:r>
              <a:rPr lang="en-GB" sz="2200" b="0" err="1">
                <a:latin typeface="Cambria" panose="02040503050406030204" pitchFamily="18" charset="0"/>
                <a:ea typeface="Cambria" panose="02040503050406030204" pitchFamily="18" charset="0"/>
              </a:rPr>
              <a:t>Đa</a:t>
            </a:r>
            <a:r>
              <a:rPr lang="en-GB" sz="2200" b="0">
                <a:latin typeface="Cambria" panose="02040503050406030204" pitchFamily="18" charset="0"/>
                <a:ea typeface="Cambria" panose="02040503050406030204" pitchFamily="18" charset="0"/>
              </a:rPr>
              <a:t> </a:t>
            </a:r>
            <a:r>
              <a:rPr lang="en-GB" sz="2200" b="0" err="1">
                <a:latin typeface="Cambria" panose="02040503050406030204" pitchFamily="18" charset="0"/>
                <a:ea typeface="Cambria" panose="02040503050406030204" pitchFamily="18" charset="0"/>
              </a:rPr>
              <a:t>kế</a:t>
            </a:r>
            <a:r>
              <a:rPr lang="en-GB" sz="2200" b="0">
                <a:latin typeface="Cambria" panose="02040503050406030204" pitchFamily="18" charset="0"/>
                <a:ea typeface="Cambria" panose="02040503050406030204" pitchFamily="18" charset="0"/>
              </a:rPr>
              <a:t> </a:t>
            </a:r>
            <a:r>
              <a:rPr lang="en-GB" sz="2200" b="0" err="1">
                <a:latin typeface="Cambria" panose="02040503050406030204" pitchFamily="18" charset="0"/>
                <a:ea typeface="Cambria" panose="02040503050406030204" pitchFamily="18" charset="0"/>
              </a:rPr>
              <a:t>thừa</a:t>
            </a:r>
            <a:r>
              <a:rPr lang="en-GB" sz="2200" b="0">
                <a:latin typeface="Cambria" panose="02040503050406030204" pitchFamily="18" charset="0"/>
                <a:ea typeface="Cambria" panose="02040503050406030204" pitchFamily="18" charset="0"/>
              </a:rPr>
              <a:t> </a:t>
            </a:r>
            <a:r>
              <a:rPr lang="en-GB" sz="2200" b="0" err="1">
                <a:latin typeface="Cambria" panose="02040503050406030204" pitchFamily="18" charset="0"/>
                <a:ea typeface="Cambria" panose="02040503050406030204" pitchFamily="18" charset="0"/>
              </a:rPr>
              <a:t>một</a:t>
            </a:r>
            <a:r>
              <a:rPr lang="en-GB" sz="2200" b="0">
                <a:latin typeface="Cambria" panose="02040503050406030204" pitchFamily="18" charset="0"/>
                <a:ea typeface="Cambria" panose="02040503050406030204" pitchFamily="18" charset="0"/>
              </a:rPr>
              <a:t> </a:t>
            </a:r>
            <a:r>
              <a:rPr lang="en-GB" sz="2200" b="0" err="1">
                <a:latin typeface="Cambria" panose="02040503050406030204" pitchFamily="18" charset="0"/>
                <a:ea typeface="Cambria" panose="02040503050406030204" pitchFamily="18" charset="0"/>
              </a:rPr>
              <a:t>mức</a:t>
            </a:r>
            <a:endParaRPr lang="en-GB" sz="2200" b="0">
              <a:latin typeface="Cambria" panose="02040503050406030204" pitchFamily="18" charset="0"/>
              <a:ea typeface="Cambria" panose="02040503050406030204" pitchFamily="18" charset="0"/>
            </a:endParaRPr>
          </a:p>
          <a:p>
            <a:pPr lvl="1">
              <a:lnSpc>
                <a:spcPct val="130000"/>
              </a:lnSpc>
              <a:spcBef>
                <a:spcPts val="0"/>
              </a:spcBef>
            </a:pPr>
            <a:r>
              <a:rPr lang="en-GB" sz="2200" b="0" err="1">
                <a:latin typeface="Cambria" panose="02040503050406030204" pitchFamily="18" charset="0"/>
                <a:ea typeface="Cambria" panose="02040503050406030204" pitchFamily="18" charset="0"/>
              </a:rPr>
              <a:t>Đa</a:t>
            </a:r>
            <a:r>
              <a:rPr lang="en-GB" sz="2200" b="0">
                <a:latin typeface="Cambria" panose="02040503050406030204" pitchFamily="18" charset="0"/>
                <a:ea typeface="Cambria" panose="02040503050406030204" pitchFamily="18" charset="0"/>
              </a:rPr>
              <a:t> </a:t>
            </a:r>
            <a:r>
              <a:rPr lang="en-GB" sz="2200" b="0" err="1">
                <a:latin typeface="Cambria" panose="02040503050406030204" pitchFamily="18" charset="0"/>
                <a:ea typeface="Cambria" panose="02040503050406030204" pitchFamily="18" charset="0"/>
              </a:rPr>
              <a:t>kế</a:t>
            </a:r>
            <a:r>
              <a:rPr lang="en-GB" sz="2200" b="0">
                <a:latin typeface="Cambria" panose="02040503050406030204" pitchFamily="18" charset="0"/>
                <a:ea typeface="Cambria" panose="02040503050406030204" pitchFamily="18" charset="0"/>
              </a:rPr>
              <a:t> </a:t>
            </a:r>
            <a:r>
              <a:rPr lang="en-GB" sz="2200" b="0" err="1">
                <a:latin typeface="Cambria" panose="02040503050406030204" pitchFamily="18" charset="0"/>
                <a:ea typeface="Cambria" panose="02040503050406030204" pitchFamily="18" charset="0"/>
              </a:rPr>
              <a:t>thừa</a:t>
            </a:r>
            <a:r>
              <a:rPr lang="en-GB" sz="2200" b="0">
                <a:latin typeface="Cambria" panose="02040503050406030204" pitchFamily="18" charset="0"/>
                <a:ea typeface="Cambria" panose="02040503050406030204" pitchFamily="18" charset="0"/>
              </a:rPr>
              <a:t> </a:t>
            </a:r>
            <a:r>
              <a:rPr lang="en-GB" sz="2200" b="0" err="1">
                <a:latin typeface="Cambria" panose="02040503050406030204" pitchFamily="18" charset="0"/>
                <a:ea typeface="Cambria" panose="02040503050406030204" pitchFamily="18" charset="0"/>
              </a:rPr>
              <a:t>nhiều</a:t>
            </a:r>
            <a:r>
              <a:rPr lang="en-GB" sz="2200" b="0">
                <a:latin typeface="Cambria" panose="02040503050406030204" pitchFamily="18" charset="0"/>
                <a:ea typeface="Cambria" panose="02040503050406030204" pitchFamily="18" charset="0"/>
              </a:rPr>
              <a:t> </a:t>
            </a:r>
            <a:r>
              <a:rPr lang="en-GB" sz="2200" b="0" err="1">
                <a:latin typeface="Cambria" panose="02040503050406030204" pitchFamily="18" charset="0"/>
                <a:ea typeface="Cambria" panose="02040503050406030204" pitchFamily="18" charset="0"/>
              </a:rPr>
              <a:t>mức</a:t>
            </a:r>
            <a:endParaRPr lang="en-GB" sz="2200" b="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2279623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latin typeface="Cambria" panose="02040503050406030204" pitchFamily="18" charset="0"/>
                <a:ea typeface="Cambria" panose="02040503050406030204" pitchFamily="18" charset="0"/>
              </a:rPr>
              <a:t>Bài</a:t>
            </a:r>
            <a:r>
              <a:rPr lang="en-US">
                <a:latin typeface="Cambria" panose="02040503050406030204" pitchFamily="18" charset="0"/>
                <a:ea typeface="Cambria" panose="02040503050406030204" pitchFamily="18" charset="0"/>
              </a:rPr>
              <a:t> 4 – </a:t>
            </a:r>
            <a:r>
              <a:rPr lang="en-US" spc="-5" err="1">
                <a:latin typeface="Cambria" panose="02040503050406030204" pitchFamily="18" charset="0"/>
                <a:ea typeface="Cambria" panose="02040503050406030204" pitchFamily="18" charset="0"/>
                <a:cs typeface="Arial"/>
              </a:rPr>
              <a:t>Lập</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trình</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hướng</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tượng</a:t>
            </a:r>
            <a:endParaRPr lang="en-US">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a:solidFill>
                  <a:schemeClr val="bg1"/>
                </a:solidFill>
                <a:latin typeface="Cambria" panose="02040503050406030204" pitchFamily="18" charset="0"/>
              </a:rPr>
              <a:t>KẾ THỪA &amp; GHI ĐÈ</a:t>
            </a:r>
          </a:p>
        </p:txBody>
      </p:sp>
      <p:sp>
        <p:nvSpPr>
          <p:cNvPr id="17" name="Rectangle 16"/>
          <p:cNvSpPr/>
          <p:nvPr/>
        </p:nvSpPr>
        <p:spPr>
          <a:xfrm>
            <a:off x="3864744" y="691585"/>
            <a:ext cx="7157752" cy="1111843"/>
          </a:xfrm>
          <a:prstGeom prst="rect">
            <a:avLst/>
          </a:prstGeom>
        </p:spPr>
        <p:txBody>
          <a:bodyPr wrap="square">
            <a:spAutoFit/>
          </a:bodyPr>
          <a:lstStyle/>
          <a:p>
            <a:pPr>
              <a:lnSpc>
                <a:spcPct val="115000"/>
              </a:lnSpc>
            </a:pPr>
            <a:r>
              <a:rPr lang="en-US" sz="2500" b="1" dirty="0" err="1">
                <a:solidFill>
                  <a:srgbClr val="0067B5"/>
                </a:solidFill>
                <a:latin typeface="Cambria" panose="02040503050406030204" pitchFamily="18" charset="0"/>
                <a:ea typeface="Cambria" panose="02040503050406030204" pitchFamily="18" charset="0"/>
              </a:rPr>
              <a:t>Cú</a:t>
            </a:r>
            <a:r>
              <a:rPr lang="en-US" sz="2500" b="1" dirty="0">
                <a:solidFill>
                  <a:srgbClr val="0067B5"/>
                </a:solidFill>
                <a:latin typeface="Cambria" panose="02040503050406030204" pitchFamily="18" charset="0"/>
                <a:ea typeface="Cambria" panose="02040503050406030204" pitchFamily="18" charset="0"/>
              </a:rPr>
              <a:t> </a:t>
            </a:r>
            <a:r>
              <a:rPr lang="en-US" sz="2500" b="1" dirty="0" err="1">
                <a:solidFill>
                  <a:srgbClr val="0067B5"/>
                </a:solidFill>
                <a:latin typeface="Cambria" panose="02040503050406030204" pitchFamily="18" charset="0"/>
                <a:ea typeface="Cambria" panose="02040503050406030204" pitchFamily="18" charset="0"/>
              </a:rPr>
              <a:t>pháp</a:t>
            </a:r>
            <a:r>
              <a:rPr lang="en-US" sz="2500" b="1" dirty="0">
                <a:solidFill>
                  <a:srgbClr val="0067B5"/>
                </a:solidFill>
                <a:latin typeface="Cambria" panose="02040503050406030204" pitchFamily="18" charset="0"/>
                <a:ea typeface="Cambria" panose="02040503050406030204" pitchFamily="18" charset="0"/>
              </a:rPr>
              <a:t>:   </a:t>
            </a:r>
            <a:r>
              <a:rPr lang="en-US" sz="2500" b="1" dirty="0">
                <a:solidFill>
                  <a:srgbClr val="7F0055"/>
                </a:solidFill>
                <a:latin typeface="Cambria" panose="02040503050406030204" pitchFamily="18" charset="0"/>
                <a:ea typeface="Cambria" panose="02040503050406030204" pitchFamily="18" charset="0"/>
              </a:rPr>
              <a:t>class </a:t>
            </a:r>
            <a:r>
              <a:rPr lang="en-US" sz="2500" b="1" dirty="0" err="1">
                <a:solidFill>
                  <a:srgbClr val="FF0000"/>
                </a:solidFill>
                <a:latin typeface="Cambria" panose="02040503050406030204" pitchFamily="18" charset="0"/>
                <a:ea typeface="Cambria" panose="02040503050406030204" pitchFamily="18" charset="0"/>
              </a:rPr>
              <a:t>ClassChildren</a:t>
            </a:r>
            <a:r>
              <a:rPr lang="en-US" sz="2500" b="1" dirty="0">
                <a:solidFill>
                  <a:srgbClr val="FF0000"/>
                </a:solidFill>
                <a:latin typeface="Cambria" panose="02040503050406030204" pitchFamily="18" charset="0"/>
                <a:ea typeface="Cambria" panose="02040503050406030204" pitchFamily="18" charset="0"/>
              </a:rPr>
              <a:t>(</a:t>
            </a:r>
            <a:r>
              <a:rPr lang="en-US" sz="2500" b="1" dirty="0" err="1">
                <a:solidFill>
                  <a:srgbClr val="FF0000"/>
                </a:solidFill>
                <a:latin typeface="Cambria" panose="02040503050406030204" pitchFamily="18" charset="0"/>
                <a:ea typeface="Cambria" panose="02040503050406030204" pitchFamily="18" charset="0"/>
              </a:rPr>
              <a:t>ClassParent</a:t>
            </a:r>
            <a:r>
              <a:rPr lang="en-US" sz="2500" b="1" dirty="0">
                <a:solidFill>
                  <a:srgbClr val="FF0000"/>
                </a:solidFill>
                <a:latin typeface="Cambria" panose="02040503050406030204" pitchFamily="18" charset="0"/>
                <a:ea typeface="Cambria" panose="02040503050406030204" pitchFamily="18" charset="0"/>
              </a:rPr>
              <a:t>): </a:t>
            </a:r>
          </a:p>
          <a:p>
            <a:pPr lvl="1">
              <a:lnSpc>
                <a:spcPct val="150000"/>
              </a:lnSpc>
            </a:pPr>
            <a:r>
              <a:rPr lang="en-US" sz="2500" b="1" dirty="0">
                <a:solidFill>
                  <a:srgbClr val="3F5FBF"/>
                </a:solidFill>
                <a:latin typeface="Cambria" panose="02040503050406030204" pitchFamily="18" charset="0"/>
                <a:ea typeface="Cambria" panose="02040503050406030204" pitchFamily="18" charset="0"/>
              </a:rPr>
              <a:t>			# Code ... </a:t>
            </a:r>
            <a:endParaRPr lang="en-US" sz="2500" b="1" dirty="0">
              <a:effectLst/>
              <a:latin typeface="Cambria" panose="02040503050406030204" pitchFamily="18" charset="0"/>
              <a:ea typeface="Cambria" panose="02040503050406030204" pitchFamily="18" charset="0"/>
            </a:endParaRPr>
          </a:p>
        </p:txBody>
      </p:sp>
      <p:pic>
        <p:nvPicPr>
          <p:cNvPr id="2" name="Picture 1"/>
          <p:cNvPicPr>
            <a:picLocks noChangeAspect="1"/>
          </p:cNvPicPr>
          <p:nvPr/>
        </p:nvPicPr>
        <p:blipFill>
          <a:blip r:embed="rId2"/>
          <a:stretch>
            <a:fillRect/>
          </a:stretch>
        </p:blipFill>
        <p:spPr>
          <a:xfrm>
            <a:off x="248203" y="1759226"/>
            <a:ext cx="11054077" cy="4558610"/>
          </a:xfrm>
          <a:prstGeom prst="rect">
            <a:avLst/>
          </a:prstGeom>
        </p:spPr>
      </p:pic>
      <p:sp>
        <p:nvSpPr>
          <p:cNvPr id="3" name="Rectangle 2"/>
          <p:cNvSpPr/>
          <p:nvPr/>
        </p:nvSpPr>
        <p:spPr>
          <a:xfrm>
            <a:off x="147299" y="691585"/>
            <a:ext cx="3877985" cy="477054"/>
          </a:xfrm>
          <a:prstGeom prst="rect">
            <a:avLst/>
          </a:prstGeom>
        </p:spPr>
        <p:txBody>
          <a:bodyPr wrap="none">
            <a:spAutoFit/>
          </a:bodyPr>
          <a:lstStyle/>
          <a:p>
            <a:r>
              <a:rPr lang="en-US" sz="2500" b="1" dirty="0" err="1">
                <a:solidFill>
                  <a:srgbClr val="0067B5"/>
                </a:solidFill>
                <a:latin typeface="Cambria" panose="02040503050406030204" pitchFamily="18" charset="0"/>
                <a:ea typeface="Cambria" panose="02040503050406030204" pitchFamily="18" charset="0"/>
              </a:rPr>
              <a:t>Đơn</a:t>
            </a:r>
            <a:r>
              <a:rPr lang="en-US" sz="2500" b="1" dirty="0">
                <a:solidFill>
                  <a:srgbClr val="0067B5"/>
                </a:solidFill>
                <a:latin typeface="Cambria" panose="02040503050406030204" pitchFamily="18" charset="0"/>
                <a:ea typeface="Cambria" panose="02040503050406030204" pitchFamily="18" charset="0"/>
              </a:rPr>
              <a:t> </a:t>
            </a:r>
            <a:r>
              <a:rPr lang="en-US" sz="2500" b="1" dirty="0" err="1">
                <a:solidFill>
                  <a:srgbClr val="0067B5"/>
                </a:solidFill>
                <a:latin typeface="Cambria" panose="02040503050406030204" pitchFamily="18" charset="0"/>
                <a:ea typeface="Cambria" panose="02040503050406030204" pitchFamily="18" charset="0"/>
              </a:rPr>
              <a:t>Kế</a:t>
            </a:r>
            <a:r>
              <a:rPr lang="en-US" sz="2500" b="1" dirty="0">
                <a:solidFill>
                  <a:srgbClr val="0067B5"/>
                </a:solidFill>
                <a:latin typeface="Cambria" panose="02040503050406030204" pitchFamily="18" charset="0"/>
                <a:ea typeface="Cambria" panose="02040503050406030204" pitchFamily="18" charset="0"/>
              </a:rPr>
              <a:t> </a:t>
            </a:r>
            <a:r>
              <a:rPr lang="en-US" sz="2500" b="1" dirty="0" err="1">
                <a:solidFill>
                  <a:srgbClr val="0067B5"/>
                </a:solidFill>
                <a:latin typeface="Cambria" panose="02040503050406030204" pitchFamily="18" charset="0"/>
                <a:ea typeface="Cambria" panose="02040503050406030204" pitchFamily="18" charset="0"/>
              </a:rPr>
              <a:t>thừa</a:t>
            </a:r>
            <a:r>
              <a:rPr lang="en-US" sz="2500" b="1" dirty="0">
                <a:solidFill>
                  <a:srgbClr val="0067B5"/>
                </a:solidFill>
                <a:latin typeface="Cambria" panose="02040503050406030204" pitchFamily="18" charset="0"/>
                <a:ea typeface="Cambria" panose="02040503050406030204" pitchFamily="18" charset="0"/>
              </a:rPr>
              <a:t> Python	</a:t>
            </a:r>
          </a:p>
        </p:txBody>
      </p:sp>
      <p:sp>
        <p:nvSpPr>
          <p:cNvPr id="4" name="Rectangle 3"/>
          <p:cNvSpPr/>
          <p:nvPr/>
        </p:nvSpPr>
        <p:spPr>
          <a:xfrm>
            <a:off x="7185991" y="3568148"/>
            <a:ext cx="3419061" cy="43732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7185991" y="5352746"/>
            <a:ext cx="2504661" cy="43732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081753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latin typeface="Cambria" panose="02040503050406030204" pitchFamily="18" charset="0"/>
                <a:ea typeface="Cambria" panose="02040503050406030204" pitchFamily="18" charset="0"/>
              </a:rPr>
              <a:t>Bài</a:t>
            </a:r>
            <a:r>
              <a:rPr lang="en-US">
                <a:latin typeface="Cambria" panose="02040503050406030204" pitchFamily="18" charset="0"/>
                <a:ea typeface="Cambria" panose="02040503050406030204" pitchFamily="18" charset="0"/>
              </a:rPr>
              <a:t> 4 – </a:t>
            </a:r>
            <a:r>
              <a:rPr lang="en-US" spc="-5" err="1">
                <a:latin typeface="Cambria" panose="02040503050406030204" pitchFamily="18" charset="0"/>
                <a:ea typeface="Cambria" panose="02040503050406030204" pitchFamily="18" charset="0"/>
                <a:cs typeface="Arial"/>
              </a:rPr>
              <a:t>Lập</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trình</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hướng</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tượng</a:t>
            </a:r>
            <a:endParaRPr lang="en-US">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a:solidFill>
                  <a:schemeClr val="bg1"/>
                </a:solidFill>
                <a:latin typeface="Cambria" panose="02040503050406030204" pitchFamily="18" charset="0"/>
              </a:rPr>
              <a:t>KẾ THỪA &amp; GHI ĐÈ</a:t>
            </a:r>
          </a:p>
        </p:txBody>
      </p:sp>
      <p:sp>
        <p:nvSpPr>
          <p:cNvPr id="10" name="Content Placeholder 2"/>
          <p:cNvSpPr>
            <a:spLocks noGrp="1"/>
          </p:cNvSpPr>
          <p:nvPr>
            <p:ph idx="1"/>
          </p:nvPr>
        </p:nvSpPr>
        <p:spPr>
          <a:xfrm>
            <a:off x="79512" y="767133"/>
            <a:ext cx="11946835" cy="5211763"/>
          </a:xfrm>
        </p:spPr>
        <p:txBody>
          <a:bodyPr>
            <a:normAutofit/>
          </a:bodyPr>
          <a:lstStyle/>
          <a:p>
            <a:pPr marL="0" indent="0" algn="just">
              <a:buNone/>
            </a:pPr>
            <a:r>
              <a:rPr lang="en-US" sz="2500"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Kế</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thừa</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sử</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dụng</a:t>
            </a:r>
            <a:r>
              <a:rPr lang="en-US" sz="2500" b="1" dirty="0">
                <a:latin typeface="Cambria" panose="02040503050406030204" pitchFamily="18" charset="0"/>
                <a:ea typeface="Cambria" panose="02040503050406030204" pitchFamily="18" charset="0"/>
              </a:rPr>
              <a:t> </a:t>
            </a:r>
            <a:r>
              <a:rPr lang="en-US" sz="2500" b="1" dirty="0">
                <a:solidFill>
                  <a:srgbClr val="FF0000"/>
                </a:solidFill>
                <a:latin typeface="Cambria" panose="02040503050406030204" pitchFamily="18" charset="0"/>
                <a:ea typeface="Cambria" panose="02040503050406030204" pitchFamily="18" charset="0"/>
              </a:rPr>
              <a:t>super()</a:t>
            </a:r>
          </a:p>
          <a:p>
            <a:pPr marL="0" indent="0" algn="just">
              <a:buNone/>
            </a:pPr>
            <a:r>
              <a:rPr lang="en-US" sz="2500" b="0" dirty="0">
                <a:latin typeface="Cambria" panose="02040503050406030204" pitchFamily="18" charset="0"/>
                <a:ea typeface="Cambria" panose="02040503050406030204" pitchFamily="18" charset="0"/>
              </a:rPr>
              <a:t>		</a:t>
            </a:r>
          </a:p>
        </p:txBody>
      </p:sp>
      <p:pic>
        <p:nvPicPr>
          <p:cNvPr id="4" name="Picture 3"/>
          <p:cNvPicPr>
            <a:picLocks noChangeAspect="1"/>
          </p:cNvPicPr>
          <p:nvPr/>
        </p:nvPicPr>
        <p:blipFill>
          <a:blip r:embed="rId2"/>
          <a:stretch>
            <a:fillRect/>
          </a:stretch>
        </p:blipFill>
        <p:spPr>
          <a:xfrm>
            <a:off x="244947" y="1263550"/>
            <a:ext cx="11781400" cy="4826497"/>
          </a:xfrm>
          <a:prstGeom prst="rect">
            <a:avLst/>
          </a:prstGeom>
        </p:spPr>
      </p:pic>
      <p:sp>
        <p:nvSpPr>
          <p:cNvPr id="11" name="Rectangle 10"/>
          <p:cNvSpPr/>
          <p:nvPr/>
        </p:nvSpPr>
        <p:spPr>
          <a:xfrm>
            <a:off x="1262269" y="3332502"/>
            <a:ext cx="3011557" cy="43732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1262268" y="5194433"/>
            <a:ext cx="3011557" cy="43732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887520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latin typeface="Cambria" panose="02040503050406030204" pitchFamily="18" charset="0"/>
                <a:ea typeface="Cambria" panose="02040503050406030204" pitchFamily="18" charset="0"/>
              </a:rPr>
              <a:t>Bài</a:t>
            </a:r>
            <a:r>
              <a:rPr lang="en-US">
                <a:latin typeface="Cambria" panose="02040503050406030204" pitchFamily="18" charset="0"/>
                <a:ea typeface="Cambria" panose="02040503050406030204" pitchFamily="18" charset="0"/>
              </a:rPr>
              <a:t> 4 – </a:t>
            </a:r>
            <a:r>
              <a:rPr lang="en-US" spc="-5" err="1">
                <a:latin typeface="Cambria" panose="02040503050406030204" pitchFamily="18" charset="0"/>
                <a:ea typeface="Cambria" panose="02040503050406030204" pitchFamily="18" charset="0"/>
                <a:cs typeface="Arial"/>
              </a:rPr>
              <a:t>Lập</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trình</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hướng</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tượng</a:t>
            </a:r>
            <a:endParaRPr lang="en-US">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a:solidFill>
                  <a:schemeClr val="bg1"/>
                </a:solidFill>
                <a:latin typeface="Cambria" panose="02040503050406030204" pitchFamily="18" charset="0"/>
              </a:rPr>
              <a:t>KẾ THỪA &amp; GHI ĐÈ</a:t>
            </a:r>
          </a:p>
        </p:txBody>
      </p:sp>
      <p:sp>
        <p:nvSpPr>
          <p:cNvPr id="11" name="Rectangle 10"/>
          <p:cNvSpPr/>
          <p:nvPr/>
        </p:nvSpPr>
        <p:spPr>
          <a:xfrm>
            <a:off x="79513" y="620377"/>
            <a:ext cx="11996530" cy="4708981"/>
          </a:xfrm>
          <a:prstGeom prst="rect">
            <a:avLst/>
          </a:prstGeom>
        </p:spPr>
        <p:txBody>
          <a:bodyPr wrap="square">
            <a:spAutoFit/>
          </a:bodyPr>
          <a:lstStyle/>
          <a:p>
            <a:pPr>
              <a:lnSpc>
                <a:spcPct val="150000"/>
              </a:lnSpc>
            </a:pPr>
            <a:r>
              <a:rPr lang="en-US" sz="2500" b="1" dirty="0" err="1">
                <a:latin typeface="Cambria" panose="02040503050406030204" pitchFamily="18" charset="0"/>
                <a:ea typeface="Cambria" panose="02040503050406030204" pitchFamily="18" charset="0"/>
              </a:rPr>
              <a:t>Ví</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dụ</a:t>
            </a:r>
            <a:r>
              <a:rPr lang="en-US" sz="2500" b="1" dirty="0">
                <a:latin typeface="Cambria" panose="02040503050406030204" pitchFamily="18" charset="0"/>
                <a:ea typeface="Cambria" panose="02040503050406030204" pitchFamily="18" charset="0"/>
              </a:rPr>
              <a:t> 1:</a:t>
            </a:r>
          </a:p>
          <a:p>
            <a:pPr>
              <a:lnSpc>
                <a:spcPct val="150000"/>
              </a:lnSpc>
            </a:pPr>
            <a:r>
              <a:rPr lang="vi-VN" sz="2500" dirty="0">
                <a:latin typeface="Cambria" panose="02040503050406030204" pitchFamily="18" charset="0"/>
                <a:ea typeface="Cambria" panose="02040503050406030204" pitchFamily="18" charset="0"/>
              </a:rPr>
              <a:t>a) Tạo </a:t>
            </a:r>
            <a:r>
              <a:rPr lang="vi-VN" sz="2500" b="1" dirty="0">
                <a:solidFill>
                  <a:srgbClr val="FF0000"/>
                </a:solidFill>
                <a:latin typeface="Cambria" panose="02040503050406030204" pitchFamily="18" charset="0"/>
                <a:ea typeface="Cambria" panose="02040503050406030204" pitchFamily="18" charset="0"/>
              </a:rPr>
              <a:t>lớp Animal </a:t>
            </a:r>
            <a:r>
              <a:rPr lang="vi-VN" sz="2500" dirty="0">
                <a:latin typeface="Cambria" panose="02040503050406030204" pitchFamily="18" charset="0"/>
                <a:ea typeface="Cambria" panose="02040503050406030204" pitchFamily="18" charset="0"/>
              </a:rPr>
              <a:t>có các thuộc tính </a:t>
            </a:r>
            <a:r>
              <a:rPr lang="vi-VN" sz="2500" b="1" dirty="0">
                <a:latin typeface="Cambria" panose="02040503050406030204" pitchFamily="18" charset="0"/>
                <a:ea typeface="Cambria" panose="02040503050406030204" pitchFamily="18" charset="0"/>
              </a:rPr>
              <a:t>name</a:t>
            </a:r>
            <a:r>
              <a:rPr lang="vi-VN" sz="2500" dirty="0">
                <a:latin typeface="Cambria" panose="02040503050406030204" pitchFamily="18" charset="0"/>
                <a:ea typeface="Cambria" panose="02040503050406030204" pitchFamily="18" charset="0"/>
              </a:rPr>
              <a:t> (tên), </a:t>
            </a:r>
            <a:r>
              <a:rPr lang="vi-VN" sz="2500" b="1" dirty="0">
                <a:latin typeface="Cambria" panose="02040503050406030204" pitchFamily="18" charset="0"/>
                <a:ea typeface="Cambria" panose="02040503050406030204" pitchFamily="18" charset="0"/>
              </a:rPr>
              <a:t>age</a:t>
            </a:r>
            <a:r>
              <a:rPr lang="vi-VN" sz="2500" dirty="0">
                <a:latin typeface="Cambria" panose="02040503050406030204" pitchFamily="18" charset="0"/>
                <a:ea typeface="Cambria" panose="02040503050406030204" pitchFamily="18" charset="0"/>
              </a:rPr>
              <a:t> (tuổi) và </a:t>
            </a:r>
            <a:r>
              <a:rPr lang="vi-VN" sz="2500" b="1" dirty="0">
                <a:latin typeface="Cambria" panose="02040503050406030204" pitchFamily="18" charset="0"/>
                <a:ea typeface="Cambria" panose="02040503050406030204" pitchFamily="18" charset="0"/>
              </a:rPr>
              <a:t>weight</a:t>
            </a:r>
            <a:r>
              <a:rPr lang="vi-VN" sz="2500" dirty="0">
                <a:latin typeface="Cambria" panose="02040503050406030204" pitchFamily="18" charset="0"/>
                <a:ea typeface="Cambria" panose="02040503050406030204" pitchFamily="18" charset="0"/>
              </a:rPr>
              <a:t> (cân</a:t>
            </a:r>
            <a:r>
              <a:rPr lang="en-US" sz="2500" dirty="0">
                <a:latin typeface="Cambria" panose="02040503050406030204" pitchFamily="18" charset="0"/>
                <a:ea typeface="Cambria" panose="02040503050406030204" pitchFamily="18" charset="0"/>
              </a:rPr>
              <a:t> </a:t>
            </a:r>
            <a:r>
              <a:rPr lang="vi-VN" sz="2500" dirty="0">
                <a:latin typeface="Cambria" panose="02040503050406030204" pitchFamily="18" charset="0"/>
                <a:ea typeface="Cambria" panose="02040503050406030204" pitchFamily="18" charset="0"/>
              </a:rPr>
              <a:t>nặng) và phương thức là </a:t>
            </a:r>
            <a:r>
              <a:rPr lang="vi-VN" sz="2500" b="1" dirty="0">
                <a:latin typeface="Cambria" panose="02040503050406030204" pitchFamily="18" charset="0"/>
                <a:ea typeface="Cambria" panose="02040503050406030204" pitchFamily="18" charset="0"/>
              </a:rPr>
              <a:t>showInfo(), </a:t>
            </a:r>
            <a:r>
              <a:rPr lang="vi-VN" sz="2500" dirty="0">
                <a:latin typeface="Cambria" panose="02040503050406030204" pitchFamily="18" charset="0"/>
                <a:ea typeface="Cambria" panose="02040503050406030204" pitchFamily="18" charset="0"/>
              </a:rPr>
              <a:t>phương thức này dùng để hiển 3 thông</a:t>
            </a:r>
            <a:r>
              <a:rPr lang="en-US" sz="2500" dirty="0">
                <a:latin typeface="Cambria" panose="02040503050406030204" pitchFamily="18" charset="0"/>
                <a:ea typeface="Cambria" panose="02040503050406030204" pitchFamily="18" charset="0"/>
              </a:rPr>
              <a:t> </a:t>
            </a:r>
            <a:r>
              <a:rPr lang="vi-VN" sz="2500" dirty="0">
                <a:latin typeface="Cambria" panose="02040503050406030204" pitchFamily="18" charset="0"/>
                <a:ea typeface="Cambria" panose="02040503050406030204" pitchFamily="18" charset="0"/>
              </a:rPr>
              <a:t>tin tên, tuổi, cân nặng.</a:t>
            </a:r>
            <a:br>
              <a:rPr lang="vi-VN" sz="2500" dirty="0">
                <a:latin typeface="Cambria" panose="02040503050406030204" pitchFamily="18" charset="0"/>
                <a:ea typeface="Cambria" panose="02040503050406030204" pitchFamily="18" charset="0"/>
              </a:rPr>
            </a:br>
            <a:r>
              <a:rPr lang="vi-VN" sz="2500" dirty="0">
                <a:latin typeface="Cambria" panose="02040503050406030204" pitchFamily="18" charset="0"/>
                <a:ea typeface="Cambria" panose="02040503050406030204" pitchFamily="18" charset="0"/>
              </a:rPr>
              <a:t>b) Tạo </a:t>
            </a:r>
            <a:r>
              <a:rPr lang="vi-VN" sz="2500" b="1" dirty="0">
                <a:latin typeface="Cambria" panose="02040503050406030204" pitchFamily="18" charset="0"/>
                <a:ea typeface="Cambria" panose="02040503050406030204" pitchFamily="18" charset="0"/>
              </a:rPr>
              <a:t>lớp Mouse</a:t>
            </a:r>
            <a:r>
              <a:rPr lang="vi-VN" sz="2500" dirty="0">
                <a:latin typeface="Cambria" panose="02040503050406030204" pitchFamily="18" charset="0"/>
                <a:ea typeface="Cambria" panose="02040503050406030204" pitchFamily="18" charset="0"/>
              </a:rPr>
              <a:t> kế thừa </a:t>
            </a:r>
            <a:r>
              <a:rPr lang="vi-VN" sz="2500" b="1" dirty="0">
                <a:latin typeface="Cambria" panose="02040503050406030204" pitchFamily="18" charset="0"/>
                <a:ea typeface="Cambria" panose="02040503050406030204" pitchFamily="18" charset="0"/>
              </a:rPr>
              <a:t>lớp Animal.</a:t>
            </a:r>
            <a:br>
              <a:rPr lang="vi-VN" sz="2500" b="1" dirty="0">
                <a:latin typeface="Cambria" panose="02040503050406030204" pitchFamily="18" charset="0"/>
                <a:ea typeface="Cambria" panose="02040503050406030204" pitchFamily="18" charset="0"/>
              </a:rPr>
            </a:br>
            <a:r>
              <a:rPr lang="vi-VN" sz="2500" dirty="0">
                <a:latin typeface="Cambria" panose="02040503050406030204" pitchFamily="18" charset="0"/>
                <a:ea typeface="Cambria" panose="02040503050406030204" pitchFamily="18" charset="0"/>
              </a:rPr>
              <a:t>c) </a:t>
            </a:r>
            <a:r>
              <a:rPr lang="en-US" sz="2500" dirty="0">
                <a:latin typeface="Cambria" panose="02040503050406030204" pitchFamily="18" charset="0"/>
                <a:ea typeface="Cambria" panose="02040503050406030204" pitchFamily="18" charset="0"/>
              </a:rPr>
              <a:t>T</a:t>
            </a:r>
            <a:r>
              <a:rPr lang="vi-VN" sz="2500" dirty="0">
                <a:latin typeface="Cambria" panose="02040503050406030204" pitchFamily="18" charset="0"/>
                <a:ea typeface="Cambria" panose="02040503050406030204" pitchFamily="18" charset="0"/>
              </a:rPr>
              <a:t>ạo đối tượng </a:t>
            </a:r>
            <a:r>
              <a:rPr lang="vi-VN" sz="2500" b="1" dirty="0">
                <a:latin typeface="Cambria" panose="02040503050406030204" pitchFamily="18" charset="0"/>
                <a:ea typeface="Cambria" panose="02040503050406030204" pitchFamily="18" charset="0"/>
              </a:rPr>
              <a:t>Mouse1</a:t>
            </a:r>
            <a:r>
              <a:rPr lang="vi-VN" sz="2500" dirty="0">
                <a:latin typeface="Cambria" panose="02040503050406030204" pitchFamily="18" charset="0"/>
                <a:ea typeface="Cambria" panose="02040503050406030204" pitchFamily="18" charset="0"/>
              </a:rPr>
              <a:t> với</a:t>
            </a:r>
            <a:r>
              <a:rPr lang="en-US" sz="2500" dirty="0">
                <a:latin typeface="Cambria" panose="02040503050406030204" pitchFamily="18" charset="0"/>
                <a:ea typeface="Cambria" panose="02040503050406030204" pitchFamily="18" charset="0"/>
              </a:rPr>
              <a:t> </a:t>
            </a:r>
            <a:r>
              <a:rPr lang="vi-VN" sz="2500" dirty="0">
                <a:latin typeface="Cambria" panose="02040503050406030204" pitchFamily="18" charset="0"/>
                <a:ea typeface="Cambria" panose="02040503050406030204" pitchFamily="18" charset="0"/>
              </a:rPr>
              <a:t>các tham số truyền vào là </a:t>
            </a:r>
            <a:r>
              <a:rPr lang="vi-VN" sz="2500" b="1" dirty="0">
                <a:latin typeface="Cambria" panose="02040503050406030204" pitchFamily="18" charset="0"/>
                <a:ea typeface="Cambria" panose="02040503050406030204" pitchFamily="18" charset="0"/>
              </a:rPr>
              <a:t>tên = “Jerry”, tuổi = 2, cân nặng = 1Kg. </a:t>
            </a:r>
            <a:endParaRPr lang="en-US" sz="2500" b="1" dirty="0">
              <a:latin typeface="Cambria" panose="02040503050406030204" pitchFamily="18" charset="0"/>
              <a:ea typeface="Cambria" panose="02040503050406030204" pitchFamily="18" charset="0"/>
            </a:endParaRPr>
          </a:p>
          <a:p>
            <a:pPr>
              <a:lnSpc>
                <a:spcPct val="150000"/>
              </a:lnSpc>
            </a:pPr>
            <a:r>
              <a:rPr lang="vi-VN" sz="2500" dirty="0">
                <a:latin typeface="Cambria" panose="02040503050406030204" pitchFamily="18" charset="0"/>
                <a:ea typeface="Cambria" panose="02040503050406030204" pitchFamily="18" charset="0"/>
              </a:rPr>
              <a:t>Sau đó</a:t>
            </a:r>
            <a:r>
              <a:rPr lang="en-US" sz="2500" dirty="0">
                <a:latin typeface="Cambria" panose="02040503050406030204" pitchFamily="18" charset="0"/>
                <a:ea typeface="Cambria" panose="02040503050406030204" pitchFamily="18" charset="0"/>
              </a:rPr>
              <a:t> </a:t>
            </a:r>
            <a:r>
              <a:rPr lang="vi-VN" sz="2500" dirty="0">
                <a:latin typeface="Cambria" panose="02040503050406030204" pitchFamily="18" charset="0"/>
                <a:ea typeface="Cambria" panose="02040503050406030204" pitchFamily="18" charset="0"/>
              </a:rPr>
              <a:t>gọi đến hàm </a:t>
            </a:r>
            <a:r>
              <a:rPr lang="vi-VN" sz="2500" b="1" dirty="0">
                <a:latin typeface="Cambria" panose="02040503050406030204" pitchFamily="18" charset="0"/>
                <a:ea typeface="Cambria" panose="02040503050406030204" pitchFamily="18" charset="0"/>
              </a:rPr>
              <a:t>showInfo() </a:t>
            </a:r>
            <a:r>
              <a:rPr lang="vi-VN" sz="2500" dirty="0">
                <a:latin typeface="Cambria" panose="02040503050406030204" pitchFamily="18" charset="0"/>
                <a:ea typeface="Cambria" panose="02040503050406030204" pitchFamily="18" charset="0"/>
              </a:rPr>
              <a:t>để hiển thị 3 thông tin trên </a:t>
            </a:r>
            <a:endParaRPr lang="en-US" sz="25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3300721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latin typeface="Cambria" panose="02040503050406030204" pitchFamily="18" charset="0"/>
                <a:ea typeface="Cambria" panose="02040503050406030204" pitchFamily="18" charset="0"/>
              </a:rPr>
              <a:t>Bài</a:t>
            </a:r>
            <a:r>
              <a:rPr lang="en-US">
                <a:latin typeface="Cambria" panose="02040503050406030204" pitchFamily="18" charset="0"/>
                <a:ea typeface="Cambria" panose="02040503050406030204" pitchFamily="18" charset="0"/>
              </a:rPr>
              <a:t> 4 – </a:t>
            </a:r>
            <a:r>
              <a:rPr lang="en-US" spc="-5" err="1">
                <a:latin typeface="Cambria" panose="02040503050406030204" pitchFamily="18" charset="0"/>
                <a:ea typeface="Cambria" panose="02040503050406030204" pitchFamily="18" charset="0"/>
                <a:cs typeface="Arial"/>
              </a:rPr>
              <a:t>Lập</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trình</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hướng</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tượng</a:t>
            </a:r>
            <a:endParaRPr lang="en-US">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a:solidFill>
                  <a:schemeClr val="bg1"/>
                </a:solidFill>
                <a:latin typeface="Cambria" panose="02040503050406030204" pitchFamily="18" charset="0"/>
              </a:rPr>
              <a:t>KẾ THỪA &amp; GHI ĐÈ</a:t>
            </a:r>
          </a:p>
        </p:txBody>
      </p:sp>
      <p:sp>
        <p:nvSpPr>
          <p:cNvPr id="11" name="Rectangle 10"/>
          <p:cNvSpPr/>
          <p:nvPr/>
        </p:nvSpPr>
        <p:spPr>
          <a:xfrm>
            <a:off x="79513" y="620377"/>
            <a:ext cx="11996530" cy="5193729"/>
          </a:xfrm>
          <a:prstGeom prst="rect">
            <a:avLst/>
          </a:prstGeom>
        </p:spPr>
        <p:txBody>
          <a:bodyPr wrap="square">
            <a:spAutoFit/>
          </a:bodyPr>
          <a:lstStyle/>
          <a:p>
            <a:pPr>
              <a:lnSpc>
                <a:spcPct val="150000"/>
              </a:lnSpc>
            </a:pPr>
            <a:r>
              <a:rPr lang="en-US" sz="2500" b="1" dirty="0" err="1">
                <a:latin typeface="Cambria" panose="02040503050406030204" pitchFamily="18" charset="0"/>
                <a:ea typeface="Cambria" panose="02040503050406030204" pitchFamily="18" charset="0"/>
              </a:rPr>
              <a:t>Ví</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dụ</a:t>
            </a:r>
            <a:r>
              <a:rPr lang="en-US" sz="2500" b="1" dirty="0">
                <a:latin typeface="Cambria" panose="02040503050406030204" pitchFamily="18" charset="0"/>
                <a:ea typeface="Cambria" panose="02040503050406030204" pitchFamily="18" charset="0"/>
              </a:rPr>
              <a:t> 1:</a:t>
            </a:r>
          </a:p>
          <a:p>
            <a:pPr>
              <a:lnSpc>
                <a:spcPct val="150000"/>
              </a:lnSpc>
            </a:pPr>
            <a:r>
              <a:rPr lang="vi-VN" sz="2800" dirty="0">
                <a:latin typeface="Cambria" panose="02040503050406030204" pitchFamily="18" charset="0"/>
                <a:ea typeface="Cambria" panose="02040503050406030204" pitchFamily="18" charset="0"/>
              </a:rPr>
              <a:t>d) Bổ sung vào </a:t>
            </a:r>
            <a:r>
              <a:rPr lang="vi-VN" sz="2800" b="1" dirty="0">
                <a:solidFill>
                  <a:srgbClr val="FF0000"/>
                </a:solidFill>
                <a:latin typeface="Cambria" panose="02040503050406030204" pitchFamily="18" charset="0"/>
                <a:ea typeface="Cambria" panose="02040503050406030204" pitchFamily="18" charset="0"/>
              </a:rPr>
              <a:t>lớp Mouse </a:t>
            </a:r>
            <a:r>
              <a:rPr lang="vi-VN" sz="2800" dirty="0">
                <a:latin typeface="Cambria" panose="02040503050406030204" pitchFamily="18" charset="0"/>
                <a:ea typeface="Cambria" panose="02040503050406030204" pitchFamily="18" charset="0"/>
              </a:rPr>
              <a:t>đã tạo 2 thuộc tính là </a:t>
            </a:r>
            <a:r>
              <a:rPr lang="vi-VN" sz="2800" b="1" dirty="0">
                <a:latin typeface="Cambria" panose="02040503050406030204" pitchFamily="18" charset="0"/>
                <a:ea typeface="Cambria" panose="02040503050406030204" pitchFamily="18" charset="0"/>
              </a:rPr>
              <a:t>country</a:t>
            </a:r>
            <a:r>
              <a:rPr lang="vi-VN" sz="2800" dirty="0">
                <a:latin typeface="Cambria" panose="02040503050406030204" pitchFamily="18" charset="0"/>
                <a:ea typeface="Cambria" panose="02040503050406030204" pitchFamily="18" charset="0"/>
              </a:rPr>
              <a:t> (quê hương), </a:t>
            </a:r>
            <a:r>
              <a:rPr lang="vi-VN" sz="2800" b="1" dirty="0">
                <a:latin typeface="Cambria" panose="02040503050406030204" pitchFamily="18" charset="0"/>
                <a:ea typeface="Cambria" panose="02040503050406030204" pitchFamily="18" charset="0"/>
              </a:rPr>
              <a:t>year</a:t>
            </a:r>
            <a:r>
              <a:rPr lang="vi-VN" sz="2800" dirty="0">
                <a:latin typeface="Cambria" panose="02040503050406030204" pitchFamily="18" charset="0"/>
                <a:ea typeface="Cambria" panose="02040503050406030204" pitchFamily="18" charset="0"/>
              </a:rPr>
              <a:t>(năm sản xuất).</a:t>
            </a:r>
            <a:br>
              <a:rPr lang="vi-VN" sz="2800" dirty="0">
                <a:latin typeface="Cambria" panose="02040503050406030204" pitchFamily="18" charset="0"/>
                <a:ea typeface="Cambria" panose="02040503050406030204" pitchFamily="18" charset="0"/>
              </a:rPr>
            </a:br>
            <a:r>
              <a:rPr lang="vi-VN" sz="2800" dirty="0">
                <a:latin typeface="Cambria" panose="02040503050406030204" pitchFamily="18" charset="0"/>
                <a:ea typeface="Cambria" panose="02040503050406030204" pitchFamily="18" charset="0"/>
              </a:rPr>
              <a:t>e) Tạo hàm </a:t>
            </a:r>
            <a:r>
              <a:rPr lang="vi-VN" sz="2800" b="1" dirty="0">
                <a:latin typeface="Cambria" panose="02040503050406030204" pitchFamily="18" charset="0"/>
                <a:ea typeface="Cambria" panose="02040503050406030204" pitchFamily="18" charset="0"/>
              </a:rPr>
              <a:t>showInfo() </a:t>
            </a:r>
            <a:r>
              <a:rPr lang="vi-VN" sz="2800" dirty="0">
                <a:latin typeface="Cambria" panose="02040503050406030204" pitchFamily="18" charset="0"/>
                <a:ea typeface="Cambria" panose="02040503050406030204" pitchFamily="18" charset="0"/>
              </a:rPr>
              <a:t>tại </a:t>
            </a:r>
            <a:r>
              <a:rPr lang="vi-VN" sz="2800" b="1" dirty="0">
                <a:latin typeface="Cambria" panose="02040503050406030204" pitchFamily="18" charset="0"/>
                <a:ea typeface="Cambria" panose="02040503050406030204" pitchFamily="18" charset="0"/>
              </a:rPr>
              <a:t>lớp Mouse</a:t>
            </a:r>
            <a:r>
              <a:rPr lang="vi-VN" sz="2800" dirty="0">
                <a:latin typeface="Cambria" panose="02040503050406030204" pitchFamily="18" charset="0"/>
                <a:ea typeface="Cambria" panose="02040503050406030204" pitchFamily="18" charset="0"/>
              </a:rPr>
              <a:t>. Hàm này để hiển thị thông tin bao</a:t>
            </a:r>
            <a:r>
              <a:rPr lang="en-US" sz="2800" dirty="0">
                <a:latin typeface="Cambria" panose="02040503050406030204" pitchFamily="18" charset="0"/>
                <a:ea typeface="Cambria" panose="02040503050406030204" pitchFamily="18" charset="0"/>
              </a:rPr>
              <a:t> </a:t>
            </a:r>
            <a:r>
              <a:rPr lang="vi-VN" sz="2800" dirty="0">
                <a:latin typeface="Cambria" panose="02040503050406030204" pitchFamily="18" charset="0"/>
                <a:ea typeface="Cambria" panose="02040503050406030204" pitchFamily="18" charset="0"/>
              </a:rPr>
              <a:t>gồm tên, quê hương và năm sản xuất.</a:t>
            </a:r>
            <a:br>
              <a:rPr lang="vi-VN" sz="2800" dirty="0">
                <a:latin typeface="Cambria" panose="02040503050406030204" pitchFamily="18" charset="0"/>
                <a:ea typeface="Cambria" panose="02040503050406030204" pitchFamily="18" charset="0"/>
              </a:rPr>
            </a:br>
            <a:r>
              <a:rPr lang="vi-VN" sz="2800" dirty="0">
                <a:latin typeface="Cambria" panose="02040503050406030204" pitchFamily="18" charset="0"/>
                <a:ea typeface="Cambria" panose="02040503050406030204" pitchFamily="18" charset="0"/>
              </a:rPr>
              <a:t>f) </a:t>
            </a:r>
            <a:r>
              <a:rPr lang="en-US" sz="2800" dirty="0">
                <a:latin typeface="Cambria" panose="02040503050406030204" pitchFamily="18" charset="0"/>
                <a:ea typeface="Cambria" panose="02040503050406030204" pitchFamily="18" charset="0"/>
              </a:rPr>
              <a:t>T</a:t>
            </a:r>
            <a:r>
              <a:rPr lang="vi-VN" sz="2800" dirty="0">
                <a:latin typeface="Cambria" panose="02040503050406030204" pitchFamily="18" charset="0"/>
                <a:ea typeface="Cambria" panose="02040503050406030204" pitchFamily="18" charset="0"/>
              </a:rPr>
              <a:t>ạo thêm đối tượng </a:t>
            </a:r>
            <a:r>
              <a:rPr lang="vi-VN" sz="2800" b="1" dirty="0">
                <a:latin typeface="Cambria" panose="02040503050406030204" pitchFamily="18" charset="0"/>
                <a:ea typeface="Cambria" panose="02040503050406030204" pitchFamily="18" charset="0"/>
              </a:rPr>
              <a:t>Mouse2</a:t>
            </a:r>
            <a:r>
              <a:rPr lang="en-US" sz="2800" b="1" dirty="0">
                <a:latin typeface="Cambria" panose="02040503050406030204" pitchFamily="18" charset="0"/>
                <a:ea typeface="Cambria" panose="02040503050406030204" pitchFamily="18" charset="0"/>
              </a:rPr>
              <a:t> </a:t>
            </a:r>
            <a:r>
              <a:rPr lang="vi-VN" sz="2800" dirty="0">
                <a:latin typeface="Cambria" panose="02040503050406030204" pitchFamily="18" charset="0"/>
                <a:ea typeface="Cambria" panose="02040503050406030204" pitchFamily="18" charset="0"/>
              </a:rPr>
              <a:t>với các tham số truyền vào là tên = “Micky”, tuổi = 10, cân</a:t>
            </a:r>
            <a:r>
              <a:rPr lang="en-US" sz="2800" dirty="0">
                <a:latin typeface="Cambria" panose="02040503050406030204" pitchFamily="18" charset="0"/>
                <a:ea typeface="Cambria" panose="02040503050406030204" pitchFamily="18" charset="0"/>
              </a:rPr>
              <a:t> </a:t>
            </a:r>
            <a:r>
              <a:rPr lang="vi-VN" sz="2800" dirty="0">
                <a:latin typeface="Cambria" panose="02040503050406030204" pitchFamily="18" charset="0"/>
                <a:ea typeface="Cambria" panose="02040503050406030204" pitchFamily="18" charset="0"/>
              </a:rPr>
              <a:t>nặng = 1Kg, quê hương=“USA”, năm sản xuất = “</a:t>
            </a:r>
            <a:r>
              <a:rPr lang="en-US" sz="2800" dirty="0">
                <a:latin typeface="Cambria" panose="02040503050406030204" pitchFamily="18" charset="0"/>
                <a:ea typeface="Cambria" panose="02040503050406030204" pitchFamily="18" charset="0"/>
              </a:rPr>
              <a:t>2023</a:t>
            </a:r>
            <a:r>
              <a:rPr lang="vi-VN" sz="2800" dirty="0">
                <a:latin typeface="Cambria" panose="02040503050406030204" pitchFamily="18" charset="0"/>
                <a:ea typeface="Cambria" panose="02040503050406030204" pitchFamily="18" charset="0"/>
              </a:rPr>
              <a:t>”. </a:t>
            </a:r>
            <a:r>
              <a:rPr lang="en-US" sz="2800" dirty="0">
                <a:latin typeface="Cambria" panose="02040503050406030204" pitchFamily="18" charset="0"/>
                <a:ea typeface="Cambria" panose="02040503050406030204" pitchFamily="18" charset="0"/>
              </a:rPr>
              <a:t> </a:t>
            </a:r>
          </a:p>
          <a:p>
            <a:pPr>
              <a:lnSpc>
                <a:spcPct val="150000"/>
              </a:lnSpc>
            </a:pPr>
            <a:r>
              <a:rPr lang="vi-VN" sz="2800" dirty="0">
                <a:latin typeface="Cambria" panose="02040503050406030204" pitchFamily="18" charset="0"/>
                <a:ea typeface="Cambria" panose="02040503050406030204" pitchFamily="18" charset="0"/>
              </a:rPr>
              <a:t>Sau đó gọi đến hàm</a:t>
            </a:r>
            <a:r>
              <a:rPr lang="en-US" sz="2800" dirty="0">
                <a:latin typeface="Cambria" panose="02040503050406030204" pitchFamily="18" charset="0"/>
                <a:ea typeface="Cambria" panose="02040503050406030204" pitchFamily="18" charset="0"/>
              </a:rPr>
              <a:t> </a:t>
            </a:r>
            <a:r>
              <a:rPr lang="vi-VN" sz="2800" dirty="0">
                <a:latin typeface="Cambria" panose="02040503050406030204" pitchFamily="18" charset="0"/>
                <a:ea typeface="Cambria" panose="02040503050406030204" pitchFamily="18" charset="0"/>
              </a:rPr>
              <a:t>showInfo() để hiển thị thông tin. </a:t>
            </a:r>
            <a:endParaRPr lang="en-US" sz="28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634401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latin typeface="Cambria" panose="02040503050406030204" pitchFamily="18" charset="0"/>
                <a:ea typeface="Cambria" panose="02040503050406030204" pitchFamily="18" charset="0"/>
              </a:rPr>
              <a:t>Bài</a:t>
            </a:r>
            <a:r>
              <a:rPr lang="en-US">
                <a:latin typeface="Cambria" panose="02040503050406030204" pitchFamily="18" charset="0"/>
                <a:ea typeface="Cambria" panose="02040503050406030204" pitchFamily="18" charset="0"/>
              </a:rPr>
              <a:t> 4 – </a:t>
            </a:r>
            <a:r>
              <a:rPr lang="en-US" spc="-5" err="1">
                <a:latin typeface="Cambria" panose="02040503050406030204" pitchFamily="18" charset="0"/>
                <a:ea typeface="Cambria" panose="02040503050406030204" pitchFamily="18" charset="0"/>
                <a:cs typeface="Arial"/>
              </a:rPr>
              <a:t>Lập</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trình</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hướng</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tượng</a:t>
            </a:r>
            <a:endParaRPr lang="en-US">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a:solidFill>
                  <a:schemeClr val="bg1"/>
                </a:solidFill>
                <a:latin typeface="Cambria" panose="02040503050406030204" pitchFamily="18" charset="0"/>
              </a:rPr>
              <a:t>KẾ THỪA &amp; GHI ĐÈ</a:t>
            </a:r>
          </a:p>
        </p:txBody>
      </p:sp>
      <p:sp>
        <p:nvSpPr>
          <p:cNvPr id="11" name="Rectangle 10"/>
          <p:cNvSpPr/>
          <p:nvPr/>
        </p:nvSpPr>
        <p:spPr>
          <a:xfrm>
            <a:off x="79513" y="620377"/>
            <a:ext cx="11996530" cy="598049"/>
          </a:xfrm>
          <a:prstGeom prst="rect">
            <a:avLst/>
          </a:prstGeom>
        </p:spPr>
        <p:txBody>
          <a:bodyPr wrap="square">
            <a:spAutoFit/>
          </a:bodyPr>
          <a:lstStyle/>
          <a:p>
            <a:pPr>
              <a:lnSpc>
                <a:spcPct val="150000"/>
              </a:lnSpc>
            </a:pPr>
            <a:r>
              <a:rPr lang="en-US" sz="2500" b="1" dirty="0" err="1">
                <a:latin typeface="Cambria" panose="02040503050406030204" pitchFamily="18" charset="0"/>
                <a:ea typeface="Cambria" panose="02040503050406030204" pitchFamily="18" charset="0"/>
              </a:rPr>
              <a:t>Hướng</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dẫn</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gán</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giá</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trị</a:t>
            </a:r>
            <a:endParaRPr lang="en-US" sz="2500" b="1" dirty="0">
              <a:latin typeface="Cambria" panose="02040503050406030204" pitchFamily="18" charset="0"/>
              <a:ea typeface="Cambria" panose="02040503050406030204" pitchFamily="18" charset="0"/>
            </a:endParaRPr>
          </a:p>
        </p:txBody>
      </p:sp>
      <p:pic>
        <p:nvPicPr>
          <p:cNvPr id="2" name="Picture 1"/>
          <p:cNvPicPr>
            <a:picLocks noChangeAspect="1"/>
          </p:cNvPicPr>
          <p:nvPr/>
        </p:nvPicPr>
        <p:blipFill>
          <a:blip r:embed="rId2"/>
          <a:stretch>
            <a:fillRect/>
          </a:stretch>
        </p:blipFill>
        <p:spPr>
          <a:xfrm>
            <a:off x="2136945" y="1361299"/>
            <a:ext cx="6186271" cy="5013835"/>
          </a:xfrm>
          <a:prstGeom prst="rect">
            <a:avLst/>
          </a:prstGeom>
        </p:spPr>
      </p:pic>
    </p:spTree>
    <p:extLst>
      <p:ext uri="{BB962C8B-B14F-4D97-AF65-F5344CB8AC3E}">
        <p14:creationId xmlns:p14="http://schemas.microsoft.com/office/powerpoint/2010/main" val="5184040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latin typeface="Cambria" panose="02040503050406030204" pitchFamily="18" charset="0"/>
                <a:ea typeface="Cambria" panose="02040503050406030204" pitchFamily="18" charset="0"/>
              </a:rPr>
              <a:t>Bài</a:t>
            </a:r>
            <a:r>
              <a:rPr lang="en-US">
                <a:latin typeface="Cambria" panose="02040503050406030204" pitchFamily="18" charset="0"/>
                <a:ea typeface="Cambria" panose="02040503050406030204" pitchFamily="18" charset="0"/>
              </a:rPr>
              <a:t> 4 – </a:t>
            </a:r>
            <a:r>
              <a:rPr lang="en-US" spc="-5" err="1">
                <a:latin typeface="Cambria" panose="02040503050406030204" pitchFamily="18" charset="0"/>
                <a:ea typeface="Cambria" panose="02040503050406030204" pitchFamily="18" charset="0"/>
                <a:cs typeface="Arial"/>
              </a:rPr>
              <a:t>Lập</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trình</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hướng</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tượng</a:t>
            </a:r>
            <a:endParaRPr lang="en-US">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a:solidFill>
                  <a:schemeClr val="bg1"/>
                </a:solidFill>
                <a:latin typeface="Cambria" panose="02040503050406030204" pitchFamily="18" charset="0"/>
              </a:rPr>
              <a:t>KẾ THỪA &amp; GHI ĐÈ</a:t>
            </a:r>
          </a:p>
        </p:txBody>
      </p:sp>
      <p:sp>
        <p:nvSpPr>
          <p:cNvPr id="11" name="Rectangle 10"/>
          <p:cNvSpPr/>
          <p:nvPr/>
        </p:nvSpPr>
        <p:spPr>
          <a:xfrm>
            <a:off x="79513" y="620377"/>
            <a:ext cx="11996530" cy="669414"/>
          </a:xfrm>
          <a:prstGeom prst="rect">
            <a:avLst/>
          </a:prstGeom>
        </p:spPr>
        <p:txBody>
          <a:bodyPr wrap="square">
            <a:spAutoFit/>
          </a:bodyPr>
          <a:lstStyle/>
          <a:p>
            <a:pPr>
              <a:lnSpc>
                <a:spcPct val="150000"/>
              </a:lnSpc>
            </a:pPr>
            <a:r>
              <a:rPr lang="en-US" sz="2500" b="1" dirty="0" err="1">
                <a:latin typeface="Cambria" panose="02040503050406030204" pitchFamily="18" charset="0"/>
                <a:ea typeface="Cambria" panose="02040503050406030204" pitchFamily="18" charset="0"/>
              </a:rPr>
              <a:t>Hướng</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dẫn</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nhập</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giá</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trị</a:t>
            </a:r>
            <a:endParaRPr lang="en-US" sz="2500" b="1" dirty="0">
              <a:latin typeface="Cambria" panose="02040503050406030204" pitchFamily="18" charset="0"/>
              <a:ea typeface="Cambria" panose="02040503050406030204" pitchFamily="18" charset="0"/>
            </a:endParaRPr>
          </a:p>
        </p:txBody>
      </p:sp>
      <p:pic>
        <p:nvPicPr>
          <p:cNvPr id="3" name="Picture 2"/>
          <p:cNvPicPr>
            <a:picLocks noChangeAspect="1"/>
          </p:cNvPicPr>
          <p:nvPr/>
        </p:nvPicPr>
        <p:blipFill>
          <a:blip r:embed="rId2"/>
          <a:stretch>
            <a:fillRect/>
          </a:stretch>
        </p:blipFill>
        <p:spPr>
          <a:xfrm>
            <a:off x="4055166" y="691585"/>
            <a:ext cx="4850295" cy="5563092"/>
          </a:xfrm>
          <a:prstGeom prst="rect">
            <a:avLst/>
          </a:prstGeom>
        </p:spPr>
      </p:pic>
    </p:spTree>
    <p:extLst>
      <p:ext uri="{BB962C8B-B14F-4D97-AF65-F5344CB8AC3E}">
        <p14:creationId xmlns:p14="http://schemas.microsoft.com/office/powerpoint/2010/main" val="5754272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latin typeface="Cambria" panose="02040503050406030204" pitchFamily="18" charset="0"/>
                <a:ea typeface="Cambria" panose="02040503050406030204" pitchFamily="18" charset="0"/>
              </a:rPr>
              <a:t>Bài</a:t>
            </a:r>
            <a:r>
              <a:rPr lang="en-US">
                <a:latin typeface="Cambria" panose="02040503050406030204" pitchFamily="18" charset="0"/>
                <a:ea typeface="Cambria" panose="02040503050406030204" pitchFamily="18" charset="0"/>
              </a:rPr>
              <a:t> 4 – </a:t>
            </a:r>
            <a:r>
              <a:rPr lang="en-US" spc="-5" err="1">
                <a:latin typeface="Cambria" panose="02040503050406030204" pitchFamily="18" charset="0"/>
                <a:ea typeface="Cambria" panose="02040503050406030204" pitchFamily="18" charset="0"/>
                <a:cs typeface="Arial"/>
              </a:rPr>
              <a:t>Lập</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trình</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hướng</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tượng</a:t>
            </a:r>
            <a:endParaRPr lang="en-US">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a:solidFill>
                  <a:schemeClr val="bg1"/>
                </a:solidFill>
                <a:latin typeface="Cambria" panose="02040503050406030204" pitchFamily="18" charset="0"/>
              </a:rPr>
              <a:t>KẾ THỪA &amp; GHI ĐÈ</a:t>
            </a:r>
          </a:p>
        </p:txBody>
      </p:sp>
      <p:sp>
        <p:nvSpPr>
          <p:cNvPr id="11" name="Content Placeholder 2"/>
          <p:cNvSpPr>
            <a:spLocks noGrp="1"/>
          </p:cNvSpPr>
          <p:nvPr>
            <p:ph idx="1"/>
          </p:nvPr>
        </p:nvSpPr>
        <p:spPr>
          <a:xfrm>
            <a:off x="79512" y="767133"/>
            <a:ext cx="11946835" cy="5211763"/>
          </a:xfrm>
        </p:spPr>
        <p:txBody>
          <a:bodyPr>
            <a:normAutofit/>
          </a:bodyPr>
          <a:lstStyle/>
          <a:p>
            <a:pPr marL="0" indent="0" algn="just">
              <a:buNone/>
            </a:pPr>
            <a:r>
              <a:rPr lang="en-US" sz="2500" b="1" err="1">
                <a:latin typeface="Cambria" panose="02040503050406030204" pitchFamily="18" charset="0"/>
                <a:ea typeface="Cambria" panose="02040503050406030204" pitchFamily="18" charset="0"/>
              </a:rPr>
              <a:t>Đa</a:t>
            </a:r>
            <a:r>
              <a:rPr lang="en-US" sz="2500" b="1">
                <a:latin typeface="Cambria" panose="02040503050406030204" pitchFamily="18" charset="0"/>
                <a:ea typeface="Cambria" panose="02040503050406030204" pitchFamily="18" charset="0"/>
              </a:rPr>
              <a:t> </a:t>
            </a:r>
            <a:r>
              <a:rPr lang="en-US" sz="2500" b="1" err="1">
                <a:latin typeface="Cambria" panose="02040503050406030204" pitchFamily="18" charset="0"/>
                <a:ea typeface="Cambria" panose="02040503050406030204" pitchFamily="18" charset="0"/>
              </a:rPr>
              <a:t>Kế</a:t>
            </a:r>
            <a:r>
              <a:rPr lang="en-US" sz="2500" b="1">
                <a:latin typeface="Cambria" panose="02040503050406030204" pitchFamily="18" charset="0"/>
                <a:ea typeface="Cambria" panose="02040503050406030204" pitchFamily="18" charset="0"/>
              </a:rPr>
              <a:t> </a:t>
            </a:r>
            <a:r>
              <a:rPr lang="en-US" sz="2500" b="1" err="1">
                <a:latin typeface="Cambria" panose="02040503050406030204" pitchFamily="18" charset="0"/>
                <a:ea typeface="Cambria" panose="02040503050406030204" pitchFamily="18" charset="0"/>
              </a:rPr>
              <a:t>thừa</a:t>
            </a:r>
            <a:r>
              <a:rPr lang="en-US" sz="2500" b="1">
                <a:latin typeface="Cambria" panose="02040503050406030204" pitchFamily="18" charset="0"/>
                <a:ea typeface="Cambria" panose="02040503050406030204" pitchFamily="18" charset="0"/>
              </a:rPr>
              <a:t> Python</a:t>
            </a:r>
            <a:r>
              <a:rPr lang="en-US" sz="2500" b="0">
                <a:latin typeface="Cambria" panose="02040503050406030204" pitchFamily="18" charset="0"/>
                <a:ea typeface="Cambria" panose="02040503050406030204" pitchFamily="18" charset="0"/>
              </a:rPr>
              <a:t>		</a:t>
            </a:r>
          </a:p>
        </p:txBody>
      </p:sp>
      <p:sp>
        <p:nvSpPr>
          <p:cNvPr id="12" name="Rectangle 11"/>
          <p:cNvSpPr/>
          <p:nvPr/>
        </p:nvSpPr>
        <p:spPr>
          <a:xfrm>
            <a:off x="247427" y="1087825"/>
            <a:ext cx="11778919" cy="2977738"/>
          </a:xfrm>
          <a:prstGeom prst="rect">
            <a:avLst/>
          </a:prstGeom>
        </p:spPr>
        <p:txBody>
          <a:bodyPr wrap="square">
            <a:spAutoFit/>
          </a:bodyPr>
          <a:lstStyle/>
          <a:p>
            <a:pPr marL="342900" indent="-342900">
              <a:lnSpc>
                <a:spcPct val="150000"/>
              </a:lnSpc>
              <a:buFont typeface="Wingdings" panose="05000000000000000000" pitchFamily="2" charset="2"/>
              <a:buChar char="§"/>
            </a:pPr>
            <a:r>
              <a:rPr lang="vi-VN" sz="2500">
                <a:latin typeface="Cambria" panose="02040503050406030204" pitchFamily="18" charset="0"/>
                <a:ea typeface="Cambria" panose="02040503050406030204" pitchFamily="18" charset="0"/>
              </a:rPr>
              <a:t>Python cho phép đa thừa kế, điều đó có nghĩa là có thể tạo ra một lớp</a:t>
            </a:r>
            <a:r>
              <a:rPr lang="en-US" sz="2500">
                <a:latin typeface="Cambria" panose="02040503050406030204" pitchFamily="18" charset="0"/>
                <a:ea typeface="Cambria" panose="02040503050406030204" pitchFamily="18" charset="0"/>
              </a:rPr>
              <a:t> </a:t>
            </a:r>
            <a:r>
              <a:rPr lang="vi-VN" sz="2500">
                <a:latin typeface="Cambria" panose="02040503050406030204" pitchFamily="18" charset="0"/>
                <a:ea typeface="Cambria" panose="02040503050406030204" pitchFamily="18" charset="0"/>
              </a:rPr>
              <a:t>mở rộng (extends) từ 2 hoặc nhiều lớp khác.</a:t>
            </a:r>
            <a:endParaRPr lang="en-US" sz="2500">
              <a:latin typeface="Cambria" panose="02040503050406030204" pitchFamily="18" charset="0"/>
              <a:ea typeface="Cambria" panose="02040503050406030204" pitchFamily="18" charset="0"/>
            </a:endParaRPr>
          </a:p>
          <a:p>
            <a:pPr marL="342900" indent="-342900">
              <a:lnSpc>
                <a:spcPct val="150000"/>
              </a:lnSpc>
              <a:buFont typeface="Wingdings" panose="05000000000000000000" pitchFamily="2" charset="2"/>
              <a:buChar char="§"/>
            </a:pPr>
            <a:r>
              <a:rPr lang="vi-VN" sz="2500">
                <a:latin typeface="Cambria" panose="02040503050406030204" pitchFamily="18" charset="0"/>
                <a:ea typeface="Cambria" panose="02040503050406030204" pitchFamily="18" charset="0"/>
              </a:rPr>
              <a:t>Các lớp cha có thể có các thuộc tính giống nhau, hoặc các phương thức</a:t>
            </a:r>
            <a:r>
              <a:rPr lang="en-US" sz="2500">
                <a:latin typeface="Cambria" panose="02040503050406030204" pitchFamily="18" charset="0"/>
                <a:ea typeface="Cambria" panose="02040503050406030204" pitchFamily="18" charset="0"/>
              </a:rPr>
              <a:t> </a:t>
            </a:r>
            <a:r>
              <a:rPr lang="vi-VN" sz="2500">
                <a:latin typeface="Cambria" panose="02040503050406030204" pitchFamily="18" charset="0"/>
                <a:ea typeface="Cambria" panose="02040503050406030204" pitchFamily="18" charset="0"/>
              </a:rPr>
              <a:t>giống nhau. Lớp con sẽ ưu tiên thừa kế thuộc tính, phương thức của lớp</a:t>
            </a:r>
            <a:r>
              <a:rPr lang="en-US" sz="2500">
                <a:latin typeface="Cambria" panose="02040503050406030204" pitchFamily="18" charset="0"/>
                <a:ea typeface="Cambria" panose="02040503050406030204" pitchFamily="18" charset="0"/>
              </a:rPr>
              <a:t> </a:t>
            </a:r>
            <a:r>
              <a:rPr lang="vi-VN" sz="2500">
                <a:latin typeface="Cambria" panose="02040503050406030204" pitchFamily="18" charset="0"/>
                <a:ea typeface="Cambria" panose="02040503050406030204" pitchFamily="18" charset="0"/>
              </a:rPr>
              <a:t>đứng đầu tiên trong danh sách thừa kế. </a:t>
            </a:r>
            <a:endParaRPr lang="en-US" sz="2500">
              <a:latin typeface="Cambria" panose="02040503050406030204" pitchFamily="18" charset="0"/>
              <a:ea typeface="Cambria" panose="02040503050406030204" pitchFamily="18" charset="0"/>
            </a:endParaRPr>
          </a:p>
        </p:txBody>
      </p:sp>
      <p:pic>
        <p:nvPicPr>
          <p:cNvPr id="13" name="Picture 2"/>
          <p:cNvPicPr>
            <a:picLocks noChangeAspect="1" noChangeArrowheads="1"/>
          </p:cNvPicPr>
          <p:nvPr/>
        </p:nvPicPr>
        <p:blipFill>
          <a:blip r:embed="rId2"/>
          <a:srcRect/>
          <a:stretch>
            <a:fillRect/>
          </a:stretch>
        </p:blipFill>
        <p:spPr bwMode="auto">
          <a:xfrm>
            <a:off x="3532400" y="3532389"/>
            <a:ext cx="3229502" cy="2557658"/>
          </a:xfrm>
          <a:prstGeom prst="rect">
            <a:avLst/>
          </a:prstGeom>
          <a:noFill/>
          <a:ln w="9525">
            <a:noFill/>
            <a:miter lim="800000"/>
            <a:headEnd/>
            <a:tailEnd/>
          </a:ln>
          <a:effectLst/>
        </p:spPr>
      </p:pic>
      <p:pic>
        <p:nvPicPr>
          <p:cNvPr id="14" name="Picture 3"/>
          <p:cNvPicPr>
            <a:picLocks noChangeAspect="1" noChangeArrowheads="1"/>
          </p:cNvPicPr>
          <p:nvPr/>
        </p:nvPicPr>
        <p:blipFill>
          <a:blip r:embed="rId3"/>
          <a:srcRect/>
          <a:stretch>
            <a:fillRect/>
          </a:stretch>
        </p:blipFill>
        <p:spPr bwMode="auto">
          <a:xfrm>
            <a:off x="7395770" y="3409349"/>
            <a:ext cx="1858617" cy="2680698"/>
          </a:xfrm>
          <a:prstGeom prst="rect">
            <a:avLst/>
          </a:prstGeom>
          <a:noFill/>
          <a:ln w="9525">
            <a:noFill/>
            <a:miter lim="800000"/>
            <a:headEnd/>
            <a:tailEnd/>
          </a:ln>
          <a:effectLst/>
        </p:spPr>
      </p:pic>
    </p:spTree>
    <p:extLst>
      <p:ext uri="{BB962C8B-B14F-4D97-AF65-F5344CB8AC3E}">
        <p14:creationId xmlns:p14="http://schemas.microsoft.com/office/powerpoint/2010/main" val="34442076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latin typeface="Cambria" panose="02040503050406030204" pitchFamily="18" charset="0"/>
                <a:ea typeface="Cambria" panose="02040503050406030204" pitchFamily="18" charset="0"/>
              </a:rPr>
              <a:t>Bài</a:t>
            </a:r>
            <a:r>
              <a:rPr lang="en-US">
                <a:latin typeface="Cambria" panose="02040503050406030204" pitchFamily="18" charset="0"/>
                <a:ea typeface="Cambria" panose="02040503050406030204" pitchFamily="18" charset="0"/>
              </a:rPr>
              <a:t> 4 – </a:t>
            </a:r>
            <a:r>
              <a:rPr lang="en-US" spc="-5" err="1">
                <a:latin typeface="Cambria" panose="02040503050406030204" pitchFamily="18" charset="0"/>
                <a:ea typeface="Cambria" panose="02040503050406030204" pitchFamily="18" charset="0"/>
                <a:cs typeface="Arial"/>
              </a:rPr>
              <a:t>Lập</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trình</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hướng</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tượng</a:t>
            </a:r>
            <a:endParaRPr lang="en-US">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a:solidFill>
                  <a:schemeClr val="bg1"/>
                </a:solidFill>
                <a:latin typeface="Cambria" panose="02040503050406030204" pitchFamily="18" charset="0"/>
              </a:rPr>
              <a:t>KẾ THỪA &amp; GHI ĐÈ</a:t>
            </a:r>
          </a:p>
        </p:txBody>
      </p:sp>
      <p:sp>
        <p:nvSpPr>
          <p:cNvPr id="11" name="Content Placeholder 2"/>
          <p:cNvSpPr>
            <a:spLocks noGrp="1"/>
          </p:cNvSpPr>
          <p:nvPr>
            <p:ph idx="1"/>
          </p:nvPr>
        </p:nvSpPr>
        <p:spPr>
          <a:xfrm>
            <a:off x="79512" y="767133"/>
            <a:ext cx="11946835" cy="5211763"/>
          </a:xfrm>
        </p:spPr>
        <p:txBody>
          <a:bodyPr>
            <a:normAutofit/>
          </a:bodyPr>
          <a:lstStyle/>
          <a:p>
            <a:pPr marL="0" indent="0" algn="just">
              <a:buNone/>
            </a:pPr>
            <a:r>
              <a:rPr lang="en-US" sz="2500" b="1" dirty="0" err="1">
                <a:latin typeface="Cambria" panose="02040503050406030204" pitchFamily="18" charset="0"/>
                <a:ea typeface="Cambria" panose="02040503050406030204" pitchFamily="18" charset="0"/>
              </a:rPr>
              <a:t>Đa</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Kế</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thừa</a:t>
            </a:r>
            <a:r>
              <a:rPr lang="en-US" sz="2500" b="1" dirty="0">
                <a:latin typeface="Cambria" panose="02040503050406030204" pitchFamily="18" charset="0"/>
                <a:ea typeface="Cambria" panose="02040503050406030204" pitchFamily="18" charset="0"/>
              </a:rPr>
              <a:t> Python</a:t>
            </a:r>
            <a:r>
              <a:rPr lang="en-US" sz="2500" b="0" dirty="0">
                <a:latin typeface="Cambria" panose="02040503050406030204" pitchFamily="18" charset="0"/>
                <a:ea typeface="Cambria" panose="02040503050406030204" pitchFamily="18" charset="0"/>
              </a:rPr>
              <a:t>		</a:t>
            </a:r>
          </a:p>
        </p:txBody>
      </p:sp>
      <p:pic>
        <p:nvPicPr>
          <p:cNvPr id="10" name="Picture 9"/>
          <p:cNvPicPr>
            <a:picLocks noChangeAspect="1"/>
          </p:cNvPicPr>
          <p:nvPr/>
        </p:nvPicPr>
        <p:blipFill>
          <a:blip r:embed="rId2"/>
          <a:stretch>
            <a:fillRect/>
          </a:stretch>
        </p:blipFill>
        <p:spPr>
          <a:xfrm>
            <a:off x="4230122" y="1052220"/>
            <a:ext cx="2564295" cy="4089608"/>
          </a:xfrm>
          <a:prstGeom prst="rect">
            <a:avLst/>
          </a:prstGeom>
        </p:spPr>
      </p:pic>
      <p:sp>
        <p:nvSpPr>
          <p:cNvPr id="15" name="Rectangle 2"/>
          <p:cNvSpPr>
            <a:spLocks noChangeArrowheads="1"/>
          </p:cNvSpPr>
          <p:nvPr/>
        </p:nvSpPr>
        <p:spPr bwMode="auto">
          <a:xfrm>
            <a:off x="810160" y="1001088"/>
            <a:ext cx="8185823" cy="5193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500" b="1" i="0" u="none" strike="noStrike" cap="none" normalizeH="0" baseline="0">
                <a:ln>
                  <a:noFill/>
                </a:ln>
                <a:solidFill>
                  <a:srgbClr val="006699"/>
                </a:solidFill>
                <a:effectLst/>
                <a:latin typeface="Cambria" panose="02040503050406030204" pitchFamily="18" charset="0"/>
                <a:ea typeface="Cambria" panose="02040503050406030204" pitchFamily="18" charset="0"/>
              </a:rPr>
              <a:t>class</a:t>
            </a:r>
            <a:r>
              <a:rPr kumimoji="0" lang="en-US" altLang="en-US" sz="2500" b="0" i="0" u="none" strike="noStrike" cap="none" normalizeH="0" baseline="0">
                <a:ln>
                  <a:noFill/>
                </a:ln>
                <a:solidFill>
                  <a:srgbClr val="333333"/>
                </a:solidFill>
                <a:effectLst/>
                <a:latin typeface="Cambria" panose="02040503050406030204" pitchFamily="18" charset="0"/>
                <a:ea typeface="Cambria" panose="02040503050406030204" pitchFamily="18" charset="0"/>
              </a:rPr>
              <a:t> </a:t>
            </a:r>
            <a:r>
              <a:rPr kumimoji="0" lang="en-US" altLang="en-US" sz="2500" b="0" i="0" u="none" strike="noStrike" cap="none" normalizeH="0" baseline="0">
                <a:ln>
                  <a:noFill/>
                </a:ln>
                <a:solidFill>
                  <a:srgbClr val="000000"/>
                </a:solidFill>
                <a:effectLst/>
                <a:latin typeface="Cambria" panose="02040503050406030204" pitchFamily="18" charset="0"/>
                <a:ea typeface="Cambria" panose="02040503050406030204" pitchFamily="18" charset="0"/>
              </a:rPr>
              <a:t>class1:  </a:t>
            </a:r>
            <a:endParaRPr kumimoji="0" lang="en-US" altLang="en-US" sz="25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500" b="0" i="0" u="none" strike="noStrike" cap="none" normalizeH="0" baseline="0">
                <a:ln>
                  <a:noFill/>
                </a:ln>
                <a:solidFill>
                  <a:srgbClr val="C7254E"/>
                </a:solidFill>
                <a:effectLst/>
                <a:latin typeface="Cambria" panose="02040503050406030204" pitchFamily="18" charset="0"/>
                <a:ea typeface="Cambria" panose="02040503050406030204" pitchFamily="18" charset="0"/>
              </a:rPr>
              <a:t>    </a:t>
            </a:r>
            <a:r>
              <a:rPr kumimoji="0" lang="en-US" altLang="en-US" sz="2500" b="0" i="0" u="none" strike="noStrike" cap="none" normalizeH="0" baseline="0">
                <a:ln>
                  <a:noFill/>
                </a:ln>
                <a:solidFill>
                  <a:srgbClr val="000000"/>
                </a:solidFill>
                <a:effectLst/>
                <a:latin typeface="Cambria" panose="02040503050406030204" pitchFamily="18" charset="0"/>
                <a:ea typeface="Cambria" panose="02040503050406030204" pitchFamily="18" charset="0"/>
              </a:rPr>
              <a:t>&lt;</a:t>
            </a:r>
            <a:r>
              <a:rPr kumimoji="0" lang="en-US" altLang="en-US" sz="2500" b="1" i="0" u="none" strike="noStrike" cap="none" normalizeH="0" baseline="0">
                <a:ln>
                  <a:noFill/>
                </a:ln>
                <a:solidFill>
                  <a:srgbClr val="006699"/>
                </a:solidFill>
                <a:effectLst/>
                <a:latin typeface="Cambria" panose="02040503050406030204" pitchFamily="18" charset="0"/>
                <a:ea typeface="Cambria" panose="02040503050406030204" pitchFamily="18" charset="0"/>
              </a:rPr>
              <a:t>class-</a:t>
            </a:r>
            <a:r>
              <a:rPr kumimoji="0" lang="en-US" altLang="en-US" sz="2500" b="0" i="0" u="none" strike="noStrike" cap="none" normalizeH="0" baseline="0">
                <a:ln>
                  <a:noFill/>
                </a:ln>
                <a:solidFill>
                  <a:srgbClr val="000000"/>
                </a:solidFill>
                <a:effectLst/>
                <a:latin typeface="Cambria" panose="02040503050406030204" pitchFamily="18" charset="0"/>
                <a:ea typeface="Cambria" panose="02040503050406030204" pitchFamily="18" charset="0"/>
              </a:rPr>
              <a:t>suite&gt;   </a:t>
            </a:r>
            <a:endParaRPr kumimoji="0" lang="en-US" altLang="en-US" sz="25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500" b="1" i="0" u="none" strike="noStrike" cap="none" normalizeH="0" baseline="0">
                <a:ln>
                  <a:noFill/>
                </a:ln>
                <a:solidFill>
                  <a:srgbClr val="006699"/>
                </a:solidFill>
                <a:effectLst/>
                <a:latin typeface="Cambria" panose="02040503050406030204" pitchFamily="18" charset="0"/>
                <a:ea typeface="Cambria" panose="02040503050406030204" pitchFamily="18" charset="0"/>
              </a:rPr>
              <a:t>class</a:t>
            </a:r>
            <a:r>
              <a:rPr kumimoji="0" lang="en-US" altLang="en-US" sz="2500" b="0" i="0" u="none" strike="noStrike" cap="none" normalizeH="0" baseline="0">
                <a:ln>
                  <a:noFill/>
                </a:ln>
                <a:solidFill>
                  <a:srgbClr val="333333"/>
                </a:solidFill>
                <a:effectLst/>
                <a:latin typeface="Cambria" panose="02040503050406030204" pitchFamily="18" charset="0"/>
                <a:ea typeface="Cambria" panose="02040503050406030204" pitchFamily="18" charset="0"/>
              </a:rPr>
              <a:t> </a:t>
            </a:r>
            <a:r>
              <a:rPr kumimoji="0" lang="en-US" altLang="en-US" sz="2500" b="0" i="0" u="none" strike="noStrike" cap="none" normalizeH="0" baseline="0">
                <a:ln>
                  <a:noFill/>
                </a:ln>
                <a:solidFill>
                  <a:srgbClr val="000000"/>
                </a:solidFill>
                <a:effectLst/>
                <a:latin typeface="Cambria" panose="02040503050406030204" pitchFamily="18" charset="0"/>
                <a:ea typeface="Cambria" panose="02040503050406030204" pitchFamily="18" charset="0"/>
              </a:rPr>
              <a:t>class2(class1):  </a:t>
            </a:r>
            <a:endParaRPr kumimoji="0" lang="en-US" altLang="en-US" sz="25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500" b="0" i="0" u="none" strike="noStrike" cap="none" normalizeH="0" baseline="0">
                <a:ln>
                  <a:noFill/>
                </a:ln>
                <a:solidFill>
                  <a:srgbClr val="C7254E"/>
                </a:solidFill>
                <a:effectLst/>
                <a:latin typeface="Cambria" panose="02040503050406030204" pitchFamily="18" charset="0"/>
                <a:ea typeface="Cambria" panose="02040503050406030204" pitchFamily="18" charset="0"/>
              </a:rPr>
              <a:t>    </a:t>
            </a:r>
            <a:r>
              <a:rPr kumimoji="0" lang="en-US" altLang="en-US" sz="2500" b="0" i="0" u="none" strike="noStrike" cap="none" normalizeH="0" baseline="0">
                <a:ln>
                  <a:noFill/>
                </a:ln>
                <a:solidFill>
                  <a:srgbClr val="000000"/>
                </a:solidFill>
                <a:effectLst/>
                <a:latin typeface="Cambria" panose="02040503050406030204" pitchFamily="18" charset="0"/>
                <a:ea typeface="Cambria" panose="02040503050406030204" pitchFamily="18" charset="0"/>
              </a:rPr>
              <a:t>&lt;</a:t>
            </a:r>
            <a:r>
              <a:rPr kumimoji="0" lang="en-US" altLang="en-US" sz="2500" b="1" i="0" u="none" strike="noStrike" cap="none" normalizeH="0" baseline="0">
                <a:ln>
                  <a:noFill/>
                </a:ln>
                <a:solidFill>
                  <a:srgbClr val="006699"/>
                </a:solidFill>
                <a:effectLst/>
                <a:latin typeface="Cambria" panose="02040503050406030204" pitchFamily="18" charset="0"/>
                <a:ea typeface="Cambria" panose="02040503050406030204" pitchFamily="18" charset="0"/>
              </a:rPr>
              <a:t>class</a:t>
            </a:r>
            <a:r>
              <a:rPr kumimoji="0" lang="en-US" altLang="en-US" sz="2500" b="0" i="0" u="none" strike="noStrike" cap="none" normalizeH="0" baseline="0">
                <a:ln>
                  <a:noFill/>
                </a:ln>
                <a:solidFill>
                  <a:srgbClr val="333333"/>
                </a:solidFill>
                <a:effectLst/>
                <a:latin typeface="Cambria" panose="02040503050406030204" pitchFamily="18" charset="0"/>
                <a:ea typeface="Cambria" panose="02040503050406030204" pitchFamily="18" charset="0"/>
              </a:rPr>
              <a:t> </a:t>
            </a:r>
            <a:r>
              <a:rPr kumimoji="0" lang="en-US" altLang="en-US" sz="2500" b="0" i="0" u="none" strike="noStrike" cap="none" normalizeH="0" baseline="0">
                <a:ln>
                  <a:noFill/>
                </a:ln>
                <a:solidFill>
                  <a:srgbClr val="000000"/>
                </a:solidFill>
                <a:effectLst/>
                <a:latin typeface="Cambria" panose="02040503050406030204" pitchFamily="18" charset="0"/>
                <a:ea typeface="Cambria" panose="02040503050406030204" pitchFamily="18" charset="0"/>
              </a:rPr>
              <a:t>suite&gt;  </a:t>
            </a:r>
            <a:endParaRPr kumimoji="0" lang="en-US" altLang="en-US" sz="25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500" b="1" i="0" u="none" strike="noStrike" cap="none" normalizeH="0" baseline="0">
                <a:ln>
                  <a:noFill/>
                </a:ln>
                <a:solidFill>
                  <a:srgbClr val="006699"/>
                </a:solidFill>
                <a:effectLst/>
                <a:latin typeface="Cambria" panose="02040503050406030204" pitchFamily="18" charset="0"/>
                <a:ea typeface="Cambria" panose="02040503050406030204" pitchFamily="18" charset="0"/>
              </a:rPr>
              <a:t>class</a:t>
            </a:r>
            <a:r>
              <a:rPr kumimoji="0" lang="en-US" altLang="en-US" sz="2500" b="0" i="0" u="none" strike="noStrike" cap="none" normalizeH="0" baseline="0">
                <a:ln>
                  <a:noFill/>
                </a:ln>
                <a:solidFill>
                  <a:srgbClr val="333333"/>
                </a:solidFill>
                <a:effectLst/>
                <a:latin typeface="Cambria" panose="02040503050406030204" pitchFamily="18" charset="0"/>
                <a:ea typeface="Cambria" panose="02040503050406030204" pitchFamily="18" charset="0"/>
              </a:rPr>
              <a:t> </a:t>
            </a:r>
            <a:r>
              <a:rPr kumimoji="0" lang="en-US" altLang="en-US" sz="2500" b="0" i="0" u="none" strike="noStrike" cap="none" normalizeH="0" baseline="0">
                <a:ln>
                  <a:noFill/>
                </a:ln>
                <a:solidFill>
                  <a:srgbClr val="000000"/>
                </a:solidFill>
                <a:effectLst/>
                <a:latin typeface="Cambria" panose="02040503050406030204" pitchFamily="18" charset="0"/>
                <a:ea typeface="Cambria" panose="02040503050406030204" pitchFamily="18" charset="0"/>
              </a:rPr>
              <a:t>class3(class2):  </a:t>
            </a:r>
            <a:endParaRPr kumimoji="0" lang="en-US" altLang="en-US" sz="25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500" b="0" i="0" u="none" strike="noStrike" cap="none" normalizeH="0" baseline="0">
                <a:ln>
                  <a:noFill/>
                </a:ln>
                <a:solidFill>
                  <a:srgbClr val="C7254E"/>
                </a:solidFill>
                <a:effectLst/>
                <a:latin typeface="Cambria" panose="02040503050406030204" pitchFamily="18" charset="0"/>
                <a:ea typeface="Cambria" panose="02040503050406030204" pitchFamily="18" charset="0"/>
              </a:rPr>
              <a:t>    </a:t>
            </a:r>
            <a:r>
              <a:rPr kumimoji="0" lang="en-US" altLang="en-US" sz="2500" b="0" i="0" u="none" strike="noStrike" cap="none" normalizeH="0" baseline="0">
                <a:ln>
                  <a:noFill/>
                </a:ln>
                <a:solidFill>
                  <a:srgbClr val="000000"/>
                </a:solidFill>
                <a:effectLst/>
                <a:latin typeface="Cambria" panose="02040503050406030204" pitchFamily="18" charset="0"/>
                <a:ea typeface="Cambria" panose="02040503050406030204" pitchFamily="18" charset="0"/>
              </a:rPr>
              <a:t>&lt;</a:t>
            </a:r>
            <a:r>
              <a:rPr kumimoji="0" lang="en-US" altLang="en-US" sz="2500" b="1" i="0" u="none" strike="noStrike" cap="none" normalizeH="0" baseline="0">
                <a:ln>
                  <a:noFill/>
                </a:ln>
                <a:solidFill>
                  <a:srgbClr val="006699"/>
                </a:solidFill>
                <a:effectLst/>
                <a:latin typeface="Cambria" panose="02040503050406030204" pitchFamily="18" charset="0"/>
                <a:ea typeface="Cambria" panose="02040503050406030204" pitchFamily="18" charset="0"/>
              </a:rPr>
              <a:t>class</a:t>
            </a:r>
            <a:r>
              <a:rPr kumimoji="0" lang="en-US" altLang="en-US" sz="2500" b="0" i="0" u="none" strike="noStrike" cap="none" normalizeH="0" baseline="0">
                <a:ln>
                  <a:noFill/>
                </a:ln>
                <a:solidFill>
                  <a:srgbClr val="333333"/>
                </a:solidFill>
                <a:effectLst/>
                <a:latin typeface="Cambria" panose="02040503050406030204" pitchFamily="18" charset="0"/>
                <a:ea typeface="Cambria" panose="02040503050406030204" pitchFamily="18" charset="0"/>
              </a:rPr>
              <a:t> </a:t>
            </a:r>
            <a:r>
              <a:rPr kumimoji="0" lang="en-US" altLang="en-US" sz="2500" b="0" i="0" u="none" strike="noStrike" cap="none" normalizeH="0" baseline="0">
                <a:ln>
                  <a:noFill/>
                </a:ln>
                <a:solidFill>
                  <a:srgbClr val="000000"/>
                </a:solidFill>
                <a:effectLst/>
                <a:latin typeface="Cambria" panose="02040503050406030204" pitchFamily="18" charset="0"/>
                <a:ea typeface="Cambria" panose="02040503050406030204" pitchFamily="18" charset="0"/>
              </a:rPr>
              <a:t>suite&gt;</a:t>
            </a:r>
            <a:endParaRPr kumimoji="0" lang="en-US" altLang="en-US" sz="25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500" b="0" i="0" u="none" strike="noStrike" cap="none" normalizeH="0" baseline="0">
                <a:ln>
                  <a:noFill/>
                </a:ln>
                <a:solidFill>
                  <a:srgbClr val="000000"/>
                </a:solidFill>
                <a:effectLst/>
                <a:latin typeface="Cambria" panose="02040503050406030204" pitchFamily="18" charset="0"/>
                <a:ea typeface="Cambria" panose="02040503050406030204" pitchFamily="18" charset="0"/>
              </a:rPr>
              <a:t>...</a:t>
            </a:r>
            <a:endParaRPr kumimoji="0" lang="en-US" altLang="en-US" sz="25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500" b="1" i="0" u="none" strike="noStrike" cap="none" normalizeH="0" baseline="0">
                <a:ln>
                  <a:noFill/>
                </a:ln>
                <a:solidFill>
                  <a:srgbClr val="006699"/>
                </a:solidFill>
                <a:effectLst/>
                <a:latin typeface="Cambria" panose="02040503050406030204" pitchFamily="18" charset="0"/>
                <a:ea typeface="Cambria" panose="02040503050406030204" pitchFamily="18" charset="0"/>
              </a:rPr>
              <a:t>class</a:t>
            </a:r>
            <a:r>
              <a:rPr kumimoji="0" lang="en-US" altLang="en-US" sz="2500" b="0" i="0" u="none" strike="noStrike" cap="none" normalizeH="0" baseline="0">
                <a:ln>
                  <a:noFill/>
                </a:ln>
                <a:solidFill>
                  <a:srgbClr val="333333"/>
                </a:solidFill>
                <a:effectLst/>
                <a:latin typeface="Cambria" panose="02040503050406030204" pitchFamily="18" charset="0"/>
                <a:ea typeface="Cambria" panose="02040503050406030204" pitchFamily="18" charset="0"/>
              </a:rPr>
              <a:t> </a:t>
            </a:r>
            <a:r>
              <a:rPr kumimoji="0" lang="en-US" altLang="en-US" sz="2500" b="0" i="0" u="none" strike="noStrike" cap="none" normalizeH="0" baseline="0" err="1">
                <a:ln>
                  <a:noFill/>
                </a:ln>
                <a:solidFill>
                  <a:srgbClr val="000000"/>
                </a:solidFill>
                <a:effectLst/>
                <a:latin typeface="Cambria" panose="02040503050406030204" pitchFamily="18" charset="0"/>
                <a:ea typeface="Cambria" panose="02040503050406030204" pitchFamily="18" charset="0"/>
              </a:rPr>
              <a:t>classN</a:t>
            </a:r>
            <a:r>
              <a:rPr kumimoji="0" lang="en-US" altLang="en-US" sz="2500" b="0" i="0" u="none" strike="noStrike" cap="none" normalizeH="0" baseline="0">
                <a:ln>
                  <a:noFill/>
                </a:ln>
                <a:solidFill>
                  <a:srgbClr val="000000"/>
                </a:solidFill>
                <a:effectLst/>
                <a:latin typeface="Cambria" panose="02040503050406030204" pitchFamily="18" charset="0"/>
                <a:ea typeface="Cambria" panose="02040503050406030204" pitchFamily="18" charset="0"/>
              </a:rPr>
              <a:t>(classN</a:t>
            </a:r>
            <a:r>
              <a:rPr kumimoji="0" lang="en-US" altLang="en-US" sz="2500" b="1" i="0" u="none" strike="noStrike" cap="none" normalizeH="0" baseline="0">
                <a:ln>
                  <a:noFill/>
                </a:ln>
                <a:solidFill>
                  <a:srgbClr val="006699"/>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a:ln>
                  <a:noFill/>
                </a:ln>
                <a:solidFill>
                  <a:srgbClr val="009900"/>
                </a:solidFill>
                <a:effectLst/>
                <a:latin typeface="Cambria" panose="02040503050406030204" pitchFamily="18" charset="0"/>
                <a:ea typeface="Cambria" panose="02040503050406030204" pitchFamily="18" charset="0"/>
              </a:rPr>
              <a:t>1</a:t>
            </a:r>
            <a:r>
              <a:rPr kumimoji="0" lang="en-US" altLang="en-US" sz="2500" b="0" i="0" u="none" strike="noStrike" cap="none" normalizeH="0" baseline="0">
                <a:ln>
                  <a:noFill/>
                </a:ln>
                <a:solidFill>
                  <a:srgbClr val="000000"/>
                </a:solidFill>
                <a:effectLst/>
                <a:latin typeface="Cambria" panose="02040503050406030204" pitchFamily="18" charset="0"/>
                <a:ea typeface="Cambria" panose="02040503050406030204" pitchFamily="18" charset="0"/>
              </a:rPr>
              <a:t>):  </a:t>
            </a:r>
            <a:endParaRPr kumimoji="0" lang="en-US" altLang="en-US" sz="25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500" b="0" i="0" u="none" strike="noStrike" cap="none" normalizeH="0" baseline="0">
                <a:ln>
                  <a:noFill/>
                </a:ln>
                <a:solidFill>
                  <a:srgbClr val="C7254E"/>
                </a:solidFill>
                <a:effectLst/>
                <a:latin typeface="Cambria" panose="02040503050406030204" pitchFamily="18" charset="0"/>
                <a:ea typeface="Cambria" panose="02040503050406030204" pitchFamily="18" charset="0"/>
              </a:rPr>
              <a:t>    </a:t>
            </a:r>
            <a:r>
              <a:rPr kumimoji="0" lang="en-US" altLang="en-US" sz="2500" b="0" i="0" u="none" strike="noStrike" cap="none" normalizeH="0" baseline="0">
                <a:ln>
                  <a:noFill/>
                </a:ln>
                <a:solidFill>
                  <a:srgbClr val="000000"/>
                </a:solidFill>
                <a:effectLst/>
                <a:latin typeface="Cambria" panose="02040503050406030204" pitchFamily="18" charset="0"/>
                <a:ea typeface="Cambria" panose="02040503050406030204" pitchFamily="18" charset="0"/>
              </a:rPr>
              <a:t>&lt;</a:t>
            </a:r>
            <a:r>
              <a:rPr kumimoji="0" lang="en-US" altLang="en-US" sz="2500" b="1" i="0" u="none" strike="noStrike" cap="none" normalizeH="0" baseline="0">
                <a:ln>
                  <a:noFill/>
                </a:ln>
                <a:solidFill>
                  <a:srgbClr val="006699"/>
                </a:solidFill>
                <a:effectLst/>
                <a:latin typeface="Cambria" panose="02040503050406030204" pitchFamily="18" charset="0"/>
                <a:ea typeface="Cambria" panose="02040503050406030204" pitchFamily="18" charset="0"/>
              </a:rPr>
              <a:t>class</a:t>
            </a:r>
            <a:r>
              <a:rPr kumimoji="0" lang="en-US" altLang="en-US" sz="2500" b="0" i="0" u="none" strike="noStrike" cap="none" normalizeH="0" baseline="0">
                <a:ln>
                  <a:noFill/>
                </a:ln>
                <a:solidFill>
                  <a:srgbClr val="333333"/>
                </a:solidFill>
                <a:effectLst/>
                <a:latin typeface="Cambria" panose="02040503050406030204" pitchFamily="18" charset="0"/>
                <a:ea typeface="Cambria" panose="02040503050406030204" pitchFamily="18" charset="0"/>
              </a:rPr>
              <a:t> </a:t>
            </a:r>
            <a:r>
              <a:rPr kumimoji="0" lang="en-US" altLang="en-US" sz="2500" b="0" i="0" u="none" strike="noStrike" cap="none" normalizeH="0" baseline="0">
                <a:ln>
                  <a:noFill/>
                </a:ln>
                <a:solidFill>
                  <a:srgbClr val="000000"/>
                </a:solidFill>
                <a:effectLst/>
                <a:latin typeface="Cambria" panose="02040503050406030204" pitchFamily="18" charset="0"/>
                <a:ea typeface="Cambria" panose="02040503050406030204" pitchFamily="18" charset="0"/>
              </a:rPr>
              <a:t>suite&gt;</a:t>
            </a:r>
            <a:endParaRPr kumimoji="0" lang="en-US" altLang="en-US" sz="25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p:txBody>
      </p:sp>
      <p:pic>
        <p:nvPicPr>
          <p:cNvPr id="16" name="Picture 15"/>
          <p:cNvPicPr>
            <a:picLocks noChangeAspect="1"/>
          </p:cNvPicPr>
          <p:nvPr/>
        </p:nvPicPr>
        <p:blipFill>
          <a:blip r:embed="rId3"/>
          <a:stretch>
            <a:fillRect/>
          </a:stretch>
        </p:blipFill>
        <p:spPr>
          <a:xfrm>
            <a:off x="7054243" y="717264"/>
            <a:ext cx="4972103" cy="4796721"/>
          </a:xfrm>
          <a:prstGeom prst="rect">
            <a:avLst/>
          </a:prstGeom>
        </p:spPr>
      </p:pic>
      <p:pic>
        <p:nvPicPr>
          <p:cNvPr id="17" name="Picture 16"/>
          <p:cNvPicPr>
            <a:picLocks noChangeAspect="1"/>
          </p:cNvPicPr>
          <p:nvPr/>
        </p:nvPicPr>
        <p:blipFill>
          <a:blip r:embed="rId4"/>
          <a:stretch>
            <a:fillRect/>
          </a:stretch>
        </p:blipFill>
        <p:spPr>
          <a:xfrm>
            <a:off x="9158653" y="4741816"/>
            <a:ext cx="2921917" cy="1544338"/>
          </a:xfrm>
          <a:prstGeom prst="rect">
            <a:avLst/>
          </a:prstGeom>
        </p:spPr>
      </p:pic>
    </p:spTree>
    <p:extLst>
      <p:ext uri="{BB962C8B-B14F-4D97-AF65-F5344CB8AC3E}">
        <p14:creationId xmlns:p14="http://schemas.microsoft.com/office/powerpoint/2010/main" val="27107919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latin typeface="Cambria" panose="02040503050406030204" pitchFamily="18" charset="0"/>
                <a:ea typeface="Cambria" panose="02040503050406030204" pitchFamily="18" charset="0"/>
              </a:rPr>
              <a:t>Bài</a:t>
            </a:r>
            <a:r>
              <a:rPr lang="en-US">
                <a:latin typeface="Cambria" panose="02040503050406030204" pitchFamily="18" charset="0"/>
                <a:ea typeface="Cambria" panose="02040503050406030204" pitchFamily="18" charset="0"/>
              </a:rPr>
              <a:t> 4 – </a:t>
            </a:r>
            <a:r>
              <a:rPr lang="en-US" spc="-5" err="1">
                <a:latin typeface="Cambria" panose="02040503050406030204" pitchFamily="18" charset="0"/>
                <a:ea typeface="Cambria" panose="02040503050406030204" pitchFamily="18" charset="0"/>
                <a:cs typeface="Arial"/>
              </a:rPr>
              <a:t>Lập</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trình</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hướng</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tượng</a:t>
            </a:r>
            <a:endParaRPr lang="en-US">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a:solidFill>
                  <a:schemeClr val="bg1"/>
                </a:solidFill>
                <a:latin typeface="Cambria" panose="02040503050406030204" pitchFamily="18" charset="0"/>
              </a:rPr>
              <a:t>KẾ THỪA &amp; GHI ĐÈ</a:t>
            </a:r>
          </a:p>
        </p:txBody>
      </p:sp>
      <p:sp>
        <p:nvSpPr>
          <p:cNvPr id="11" name="Content Placeholder 2"/>
          <p:cNvSpPr>
            <a:spLocks noGrp="1"/>
          </p:cNvSpPr>
          <p:nvPr>
            <p:ph idx="1"/>
          </p:nvPr>
        </p:nvSpPr>
        <p:spPr>
          <a:xfrm>
            <a:off x="79512" y="767133"/>
            <a:ext cx="11946835" cy="5211763"/>
          </a:xfrm>
        </p:spPr>
        <p:txBody>
          <a:bodyPr>
            <a:normAutofit/>
          </a:bodyPr>
          <a:lstStyle/>
          <a:p>
            <a:pPr marL="0" indent="0" algn="just">
              <a:buNone/>
            </a:pPr>
            <a:r>
              <a:rPr lang="en-US" sz="2500" b="1" err="1">
                <a:latin typeface="Cambria" panose="02040503050406030204" pitchFamily="18" charset="0"/>
                <a:ea typeface="Cambria" panose="02040503050406030204" pitchFamily="18" charset="0"/>
              </a:rPr>
              <a:t>Đa</a:t>
            </a:r>
            <a:r>
              <a:rPr lang="en-US" sz="2500" b="1">
                <a:latin typeface="Cambria" panose="02040503050406030204" pitchFamily="18" charset="0"/>
                <a:ea typeface="Cambria" panose="02040503050406030204" pitchFamily="18" charset="0"/>
              </a:rPr>
              <a:t> </a:t>
            </a:r>
            <a:r>
              <a:rPr lang="en-US" sz="2500" b="1" err="1">
                <a:latin typeface="Cambria" panose="02040503050406030204" pitchFamily="18" charset="0"/>
                <a:ea typeface="Cambria" panose="02040503050406030204" pitchFamily="18" charset="0"/>
              </a:rPr>
              <a:t>Kế</a:t>
            </a:r>
            <a:r>
              <a:rPr lang="en-US" sz="2500" b="1">
                <a:latin typeface="Cambria" panose="02040503050406030204" pitchFamily="18" charset="0"/>
                <a:ea typeface="Cambria" panose="02040503050406030204" pitchFamily="18" charset="0"/>
              </a:rPr>
              <a:t> </a:t>
            </a:r>
            <a:r>
              <a:rPr lang="en-US" sz="2500" b="1" err="1">
                <a:latin typeface="Cambria" panose="02040503050406030204" pitchFamily="18" charset="0"/>
                <a:ea typeface="Cambria" panose="02040503050406030204" pitchFamily="18" charset="0"/>
              </a:rPr>
              <a:t>thừa</a:t>
            </a:r>
            <a:r>
              <a:rPr lang="en-US" sz="2500" b="1">
                <a:latin typeface="Cambria" panose="02040503050406030204" pitchFamily="18" charset="0"/>
                <a:ea typeface="Cambria" panose="02040503050406030204" pitchFamily="18" charset="0"/>
              </a:rPr>
              <a:t> Python</a:t>
            </a:r>
            <a:r>
              <a:rPr lang="en-US" sz="2500" b="0">
                <a:latin typeface="Cambria" panose="02040503050406030204" pitchFamily="18" charset="0"/>
                <a:ea typeface="Cambria" panose="02040503050406030204" pitchFamily="18" charset="0"/>
              </a:rPr>
              <a:t>		</a:t>
            </a:r>
          </a:p>
        </p:txBody>
      </p:sp>
      <p:pic>
        <p:nvPicPr>
          <p:cNvPr id="13" name="Picture 12"/>
          <p:cNvPicPr>
            <a:picLocks noChangeAspect="1"/>
          </p:cNvPicPr>
          <p:nvPr/>
        </p:nvPicPr>
        <p:blipFill>
          <a:blip r:embed="rId2"/>
          <a:stretch>
            <a:fillRect/>
          </a:stretch>
        </p:blipFill>
        <p:spPr>
          <a:xfrm>
            <a:off x="150022" y="1201101"/>
            <a:ext cx="6300393" cy="3901273"/>
          </a:xfrm>
          <a:prstGeom prst="rect">
            <a:avLst/>
          </a:prstGeom>
        </p:spPr>
      </p:pic>
      <p:pic>
        <p:nvPicPr>
          <p:cNvPr id="14" name="Picture 13"/>
          <p:cNvPicPr>
            <a:picLocks noChangeAspect="1"/>
          </p:cNvPicPr>
          <p:nvPr/>
        </p:nvPicPr>
        <p:blipFill>
          <a:blip r:embed="rId3"/>
          <a:stretch>
            <a:fillRect/>
          </a:stretch>
        </p:blipFill>
        <p:spPr>
          <a:xfrm>
            <a:off x="3166621" y="767133"/>
            <a:ext cx="4923790" cy="1502677"/>
          </a:xfrm>
          <a:prstGeom prst="rect">
            <a:avLst/>
          </a:prstGeom>
        </p:spPr>
      </p:pic>
      <p:pic>
        <p:nvPicPr>
          <p:cNvPr id="18" name="Picture 17"/>
          <p:cNvPicPr>
            <a:picLocks noChangeAspect="1"/>
          </p:cNvPicPr>
          <p:nvPr/>
        </p:nvPicPr>
        <p:blipFill>
          <a:blip r:embed="rId4"/>
          <a:stretch>
            <a:fillRect/>
          </a:stretch>
        </p:blipFill>
        <p:spPr>
          <a:xfrm>
            <a:off x="6420637" y="2099480"/>
            <a:ext cx="5635488" cy="4032736"/>
          </a:xfrm>
          <a:prstGeom prst="rect">
            <a:avLst/>
          </a:prstGeom>
        </p:spPr>
      </p:pic>
      <p:sp>
        <p:nvSpPr>
          <p:cNvPr id="10" name="Rectangle 9"/>
          <p:cNvSpPr/>
          <p:nvPr/>
        </p:nvSpPr>
        <p:spPr>
          <a:xfrm>
            <a:off x="7826860" y="4020902"/>
            <a:ext cx="4110036" cy="37219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241007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latin typeface="Cambria" panose="02040503050406030204" pitchFamily="18" charset="0"/>
                <a:ea typeface="Cambria" panose="02040503050406030204" pitchFamily="18" charset="0"/>
              </a:rPr>
              <a:t>Bài</a:t>
            </a:r>
            <a:r>
              <a:rPr lang="en-US">
                <a:latin typeface="Cambria" panose="02040503050406030204" pitchFamily="18" charset="0"/>
                <a:ea typeface="Cambria" panose="02040503050406030204" pitchFamily="18" charset="0"/>
              </a:rPr>
              <a:t> 4 – </a:t>
            </a:r>
            <a:r>
              <a:rPr lang="en-US" spc="-5" err="1">
                <a:latin typeface="Cambria" panose="02040503050406030204" pitchFamily="18" charset="0"/>
                <a:ea typeface="Cambria" panose="02040503050406030204" pitchFamily="18" charset="0"/>
                <a:cs typeface="Arial"/>
              </a:rPr>
              <a:t>Lập</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trình</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hướng</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tượng</a:t>
            </a:r>
            <a:endParaRPr lang="en-US">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a:solidFill>
                  <a:schemeClr val="bg1"/>
                </a:solidFill>
                <a:latin typeface="Cambria" panose="02040503050406030204" pitchFamily="18" charset="0"/>
              </a:rPr>
              <a:t>KẾ THỪA &amp; GHI ĐÈ</a:t>
            </a:r>
          </a:p>
        </p:txBody>
      </p:sp>
      <p:sp>
        <p:nvSpPr>
          <p:cNvPr id="11" name="Content Placeholder 2"/>
          <p:cNvSpPr>
            <a:spLocks noGrp="1"/>
          </p:cNvSpPr>
          <p:nvPr>
            <p:ph idx="1"/>
          </p:nvPr>
        </p:nvSpPr>
        <p:spPr>
          <a:xfrm>
            <a:off x="79512" y="767133"/>
            <a:ext cx="11946835" cy="5211763"/>
          </a:xfrm>
        </p:spPr>
        <p:txBody>
          <a:bodyPr>
            <a:normAutofit/>
          </a:bodyPr>
          <a:lstStyle/>
          <a:p>
            <a:pPr marL="0" indent="0" algn="just">
              <a:buNone/>
            </a:pPr>
            <a:r>
              <a:rPr lang="en-US" sz="2500" b="1" err="1">
                <a:latin typeface="Cambria" panose="02040503050406030204" pitchFamily="18" charset="0"/>
                <a:ea typeface="Cambria" panose="02040503050406030204" pitchFamily="18" charset="0"/>
              </a:rPr>
              <a:t>Đa</a:t>
            </a:r>
            <a:r>
              <a:rPr lang="en-US" sz="2500" b="1">
                <a:latin typeface="Cambria" panose="02040503050406030204" pitchFamily="18" charset="0"/>
                <a:ea typeface="Cambria" panose="02040503050406030204" pitchFamily="18" charset="0"/>
              </a:rPr>
              <a:t> </a:t>
            </a:r>
            <a:r>
              <a:rPr lang="en-US" sz="2500" b="1" err="1">
                <a:latin typeface="Cambria" panose="02040503050406030204" pitchFamily="18" charset="0"/>
                <a:ea typeface="Cambria" panose="02040503050406030204" pitchFamily="18" charset="0"/>
              </a:rPr>
              <a:t>Kế</a:t>
            </a:r>
            <a:r>
              <a:rPr lang="en-US" sz="2500" b="1">
                <a:latin typeface="Cambria" panose="02040503050406030204" pitchFamily="18" charset="0"/>
                <a:ea typeface="Cambria" panose="02040503050406030204" pitchFamily="18" charset="0"/>
              </a:rPr>
              <a:t> </a:t>
            </a:r>
            <a:r>
              <a:rPr lang="en-US" sz="2500" b="1" err="1">
                <a:latin typeface="Cambria" panose="02040503050406030204" pitchFamily="18" charset="0"/>
                <a:ea typeface="Cambria" panose="02040503050406030204" pitchFamily="18" charset="0"/>
              </a:rPr>
              <a:t>thừa</a:t>
            </a:r>
            <a:r>
              <a:rPr lang="en-US" sz="2500" b="1">
                <a:latin typeface="Cambria" panose="02040503050406030204" pitchFamily="18" charset="0"/>
                <a:ea typeface="Cambria" panose="02040503050406030204" pitchFamily="18" charset="0"/>
              </a:rPr>
              <a:t> Python</a:t>
            </a:r>
            <a:r>
              <a:rPr lang="en-US" sz="2500" b="0">
                <a:latin typeface="Cambria" panose="02040503050406030204" pitchFamily="18" charset="0"/>
                <a:ea typeface="Cambria" panose="02040503050406030204" pitchFamily="18" charset="0"/>
              </a:rPr>
              <a:t>		</a:t>
            </a:r>
          </a:p>
        </p:txBody>
      </p:sp>
      <p:sp>
        <p:nvSpPr>
          <p:cNvPr id="10" name="Rectangle 9"/>
          <p:cNvSpPr/>
          <p:nvPr/>
        </p:nvSpPr>
        <p:spPr>
          <a:xfrm>
            <a:off x="166319" y="1101116"/>
            <a:ext cx="11860028" cy="4843570"/>
          </a:xfrm>
          <a:prstGeom prst="rect">
            <a:avLst/>
          </a:prstGeom>
        </p:spPr>
        <p:txBody>
          <a:bodyPr wrap="square">
            <a:spAutoFit/>
          </a:bodyPr>
          <a:lstStyle/>
          <a:p>
            <a:pPr>
              <a:lnSpc>
                <a:spcPct val="130000"/>
              </a:lnSpc>
            </a:pPr>
            <a:r>
              <a:rPr lang="en-US" sz="2400" b="1" dirty="0" err="1">
                <a:solidFill>
                  <a:srgbClr val="C00000"/>
                </a:solidFill>
                <a:latin typeface="Cambria" panose="02040503050406030204" pitchFamily="18" charset="0"/>
                <a:ea typeface="Cambria" panose="02040503050406030204" pitchFamily="18" charset="0"/>
              </a:rPr>
              <a:t>Ví</a:t>
            </a:r>
            <a:r>
              <a:rPr lang="en-US" sz="2400" b="1" dirty="0">
                <a:solidFill>
                  <a:srgbClr val="C00000"/>
                </a:solidFill>
                <a:latin typeface="Cambria" panose="02040503050406030204" pitchFamily="18" charset="0"/>
                <a:ea typeface="Cambria" panose="02040503050406030204" pitchFamily="18" charset="0"/>
              </a:rPr>
              <a:t> </a:t>
            </a:r>
            <a:r>
              <a:rPr lang="en-US" sz="2400" b="1" dirty="0" err="1">
                <a:solidFill>
                  <a:srgbClr val="C00000"/>
                </a:solidFill>
                <a:latin typeface="Cambria" panose="02040503050406030204" pitchFamily="18" charset="0"/>
                <a:ea typeface="Cambria" panose="02040503050406030204" pitchFamily="18" charset="0"/>
              </a:rPr>
              <a:t>dụ</a:t>
            </a:r>
            <a:r>
              <a:rPr lang="en-US" sz="2400" b="1" dirty="0">
                <a:solidFill>
                  <a:srgbClr val="C00000"/>
                </a:solidFill>
                <a:latin typeface="Cambria" panose="02040503050406030204" pitchFamily="18" charset="0"/>
                <a:ea typeface="Cambria" panose="02040503050406030204" pitchFamily="18" charset="0"/>
              </a:rPr>
              <a:t> 2:</a:t>
            </a:r>
            <a:br>
              <a:rPr lang="vi-VN" sz="2400" dirty="0">
                <a:solidFill>
                  <a:srgbClr val="0067B5"/>
                </a:solidFill>
                <a:latin typeface="Cambria" panose="02040503050406030204" pitchFamily="18" charset="0"/>
                <a:ea typeface="Cambria" panose="02040503050406030204" pitchFamily="18" charset="0"/>
              </a:rPr>
            </a:br>
            <a:r>
              <a:rPr lang="en-US" sz="2400" dirty="0">
                <a:solidFill>
                  <a:srgbClr val="0067B5"/>
                </a:solidFill>
                <a:latin typeface="Cambria" panose="02040503050406030204" pitchFamily="18" charset="0"/>
                <a:ea typeface="Cambria" panose="02040503050406030204" pitchFamily="18" charset="0"/>
              </a:rPr>
              <a:t>a)</a:t>
            </a:r>
            <a:r>
              <a:rPr lang="vi-VN" sz="2400" dirty="0">
                <a:latin typeface="Cambria" panose="02040503050406030204" pitchFamily="18" charset="0"/>
                <a:ea typeface="Cambria" panose="02040503050406030204" pitchFamily="18" charset="0"/>
              </a:rPr>
              <a:t> Tạo </a:t>
            </a:r>
            <a:r>
              <a:rPr lang="vi-VN" sz="2400" b="1" dirty="0">
                <a:latin typeface="Cambria" panose="02040503050406030204" pitchFamily="18" charset="0"/>
                <a:ea typeface="Cambria" panose="02040503050406030204" pitchFamily="18" charset="0"/>
              </a:rPr>
              <a:t>lớp Animal </a:t>
            </a:r>
            <a:r>
              <a:rPr lang="vi-VN" sz="2400" dirty="0">
                <a:latin typeface="Cambria" panose="02040503050406030204" pitchFamily="18" charset="0"/>
                <a:ea typeface="Cambria" panose="02040503050406030204" pitchFamily="18" charset="0"/>
              </a:rPr>
              <a:t>có các thuộc tính </a:t>
            </a:r>
            <a:r>
              <a:rPr lang="vi-VN" sz="2400" b="1" dirty="0">
                <a:latin typeface="Cambria" panose="02040503050406030204" pitchFamily="18" charset="0"/>
                <a:ea typeface="Cambria" panose="02040503050406030204" pitchFamily="18" charset="0"/>
              </a:rPr>
              <a:t>name</a:t>
            </a:r>
            <a:r>
              <a:rPr lang="vi-VN" sz="2400" dirty="0">
                <a:latin typeface="Cambria" panose="02040503050406030204" pitchFamily="18" charset="0"/>
                <a:ea typeface="Cambria" panose="02040503050406030204" pitchFamily="18" charset="0"/>
              </a:rPr>
              <a:t> (tên), </a:t>
            </a:r>
            <a:r>
              <a:rPr lang="vi-VN" sz="2400" b="1" dirty="0">
                <a:latin typeface="Cambria" panose="02040503050406030204" pitchFamily="18" charset="0"/>
                <a:ea typeface="Cambria" panose="02040503050406030204" pitchFamily="18" charset="0"/>
              </a:rPr>
              <a:t>age</a:t>
            </a:r>
            <a:r>
              <a:rPr lang="vi-VN" sz="2400" dirty="0">
                <a:latin typeface="Cambria" panose="02040503050406030204" pitchFamily="18" charset="0"/>
                <a:ea typeface="Cambria" panose="02040503050406030204" pitchFamily="18" charset="0"/>
              </a:rPr>
              <a:t> (tuổi) và </a:t>
            </a:r>
            <a:r>
              <a:rPr lang="vi-VN" sz="2400" b="1" dirty="0">
                <a:latin typeface="Cambria" panose="02040503050406030204" pitchFamily="18" charset="0"/>
                <a:ea typeface="Cambria" panose="02040503050406030204" pitchFamily="18" charset="0"/>
              </a:rPr>
              <a:t>weight</a:t>
            </a:r>
            <a:r>
              <a:rPr lang="vi-VN" sz="2400" dirty="0">
                <a:latin typeface="Cambria" panose="02040503050406030204" pitchFamily="18" charset="0"/>
                <a:ea typeface="Cambria" panose="02040503050406030204" pitchFamily="18" charset="0"/>
              </a:rPr>
              <a:t> (cân</a:t>
            </a:r>
            <a:r>
              <a:rPr lang="en-US" sz="2400" dirty="0">
                <a:latin typeface="Cambria" panose="02040503050406030204" pitchFamily="18" charset="0"/>
                <a:ea typeface="Cambria" panose="02040503050406030204" pitchFamily="18" charset="0"/>
              </a:rPr>
              <a:t> </a:t>
            </a:r>
            <a:r>
              <a:rPr lang="vi-VN" sz="2400" dirty="0">
                <a:latin typeface="Cambria" panose="02040503050406030204" pitchFamily="18" charset="0"/>
                <a:ea typeface="Cambria" panose="02040503050406030204" pitchFamily="18" charset="0"/>
              </a:rPr>
              <a:t>nặng) và phương thức là </a:t>
            </a:r>
            <a:r>
              <a:rPr lang="vi-VN" sz="2400" b="1" dirty="0">
                <a:latin typeface="Cambria" panose="02040503050406030204" pitchFamily="18" charset="0"/>
                <a:ea typeface="Cambria" panose="02040503050406030204" pitchFamily="18" charset="0"/>
              </a:rPr>
              <a:t>showInfo(), </a:t>
            </a:r>
            <a:r>
              <a:rPr lang="vi-VN" sz="2400" dirty="0">
                <a:latin typeface="Cambria" panose="02040503050406030204" pitchFamily="18" charset="0"/>
                <a:ea typeface="Cambria" panose="02040503050406030204" pitchFamily="18" charset="0"/>
              </a:rPr>
              <a:t>phương thức này dùng để hiển 3 thông</a:t>
            </a:r>
            <a:r>
              <a:rPr lang="en-US" sz="2400" dirty="0">
                <a:latin typeface="Cambria" panose="02040503050406030204" pitchFamily="18" charset="0"/>
                <a:ea typeface="Cambria" panose="02040503050406030204" pitchFamily="18" charset="0"/>
              </a:rPr>
              <a:t> </a:t>
            </a:r>
            <a:r>
              <a:rPr lang="vi-VN" sz="2400" dirty="0">
                <a:latin typeface="Cambria" panose="02040503050406030204" pitchFamily="18" charset="0"/>
                <a:ea typeface="Cambria" panose="02040503050406030204" pitchFamily="18" charset="0"/>
              </a:rPr>
              <a:t>tin tên, tuổi, cân nặng.</a:t>
            </a:r>
            <a:endParaRPr lang="en-US" sz="2400" dirty="0">
              <a:solidFill>
                <a:srgbClr val="0067B5"/>
              </a:solidFill>
              <a:latin typeface="Cambria" panose="02040503050406030204" pitchFamily="18" charset="0"/>
              <a:ea typeface="Cambria" panose="02040503050406030204" pitchFamily="18" charset="0"/>
            </a:endParaRPr>
          </a:p>
          <a:p>
            <a:pPr>
              <a:lnSpc>
                <a:spcPct val="130000"/>
              </a:lnSpc>
            </a:pPr>
            <a:r>
              <a:rPr lang="en-US" sz="2400" dirty="0">
                <a:latin typeface="Cambria" panose="02040503050406030204" pitchFamily="18" charset="0"/>
                <a:ea typeface="Cambria" panose="02040503050406030204" pitchFamily="18" charset="0"/>
              </a:rPr>
              <a:t>b</a:t>
            </a:r>
            <a:r>
              <a:rPr lang="vi-VN" sz="2400" dirty="0">
                <a:latin typeface="Cambria" panose="02040503050406030204" pitchFamily="18" charset="0"/>
                <a:ea typeface="Cambria" panose="02040503050406030204" pitchFamily="18" charset="0"/>
              </a:rPr>
              <a:t>) Tạo </a:t>
            </a:r>
            <a:r>
              <a:rPr lang="vi-VN" sz="2400" b="1" dirty="0">
                <a:latin typeface="Cambria" panose="02040503050406030204" pitchFamily="18" charset="0"/>
                <a:ea typeface="Cambria" panose="02040503050406030204" pitchFamily="18" charset="0"/>
              </a:rPr>
              <a:t>lớp Film (phim) </a:t>
            </a:r>
            <a:r>
              <a:rPr lang="vi-VN" sz="2400" dirty="0">
                <a:latin typeface="Cambria" panose="02040503050406030204" pitchFamily="18" charset="0"/>
                <a:ea typeface="Cambria" panose="02040503050406030204" pitchFamily="18" charset="0"/>
              </a:rPr>
              <a:t>bao gồm 2 thông tin </a:t>
            </a:r>
            <a:r>
              <a:rPr lang="vi-VN" sz="2400" b="1" dirty="0">
                <a:latin typeface="Cambria" panose="02040503050406030204" pitchFamily="18" charset="0"/>
                <a:ea typeface="Cambria" panose="02040503050406030204" pitchFamily="18" charset="0"/>
              </a:rPr>
              <a:t>tác giả (author) </a:t>
            </a:r>
            <a:r>
              <a:rPr lang="vi-VN" sz="2400" dirty="0">
                <a:latin typeface="Cambria" panose="02040503050406030204" pitchFamily="18" charset="0"/>
                <a:ea typeface="Cambria" panose="02040503050406030204" pitchFamily="18" charset="0"/>
              </a:rPr>
              <a:t>và </a:t>
            </a:r>
            <a:r>
              <a:rPr lang="vi-VN" sz="2400" b="1" dirty="0">
                <a:latin typeface="Cambria" panose="02040503050406030204" pitchFamily="18" charset="0"/>
                <a:ea typeface="Cambria" panose="02040503050406030204" pitchFamily="18" charset="0"/>
              </a:rPr>
              <a:t>loại phim</a:t>
            </a:r>
            <a:r>
              <a:rPr lang="en-US" sz="2400" b="1" dirty="0">
                <a:latin typeface="Cambria" panose="02040503050406030204" pitchFamily="18" charset="0"/>
                <a:ea typeface="Cambria" panose="02040503050406030204" pitchFamily="18" charset="0"/>
              </a:rPr>
              <a:t> </a:t>
            </a:r>
            <a:r>
              <a:rPr lang="vi-VN" sz="2400" b="1" dirty="0">
                <a:latin typeface="Cambria" panose="02040503050406030204" pitchFamily="18" charset="0"/>
                <a:ea typeface="Cambria" panose="02040503050406030204" pitchFamily="18" charset="0"/>
              </a:rPr>
              <a:t>(type)</a:t>
            </a:r>
            <a:r>
              <a:rPr lang="en-US" sz="2400" b="1" dirty="0">
                <a:latin typeface="Cambria" panose="02040503050406030204" pitchFamily="18" charset="0"/>
                <a:ea typeface="Cambria" panose="02040503050406030204" pitchFamily="18" charset="0"/>
              </a:rPr>
              <a:t>. </a:t>
            </a:r>
            <a:r>
              <a:rPr lang="vi-VN" sz="2400" dirty="0">
                <a:latin typeface="Cambria" panose="02040503050406030204" pitchFamily="18" charset="0"/>
                <a:ea typeface="Cambria" panose="02040503050406030204" pitchFamily="18" charset="0"/>
              </a:rPr>
              <a:t>phương thức là </a:t>
            </a:r>
            <a:r>
              <a:rPr lang="vi-VN" sz="2400" b="1" dirty="0">
                <a:latin typeface="Cambria" panose="02040503050406030204" pitchFamily="18" charset="0"/>
                <a:ea typeface="Cambria" panose="02040503050406030204" pitchFamily="18" charset="0"/>
              </a:rPr>
              <a:t>showInfo()</a:t>
            </a:r>
            <a:r>
              <a:rPr lang="en-US" sz="2400" dirty="0">
                <a:latin typeface="Cambria" panose="02040503050406030204" pitchFamily="18" charset="0"/>
                <a:ea typeface="Cambria" panose="02040503050406030204" pitchFamily="18" charset="0"/>
              </a:rPr>
              <a:t>,</a:t>
            </a:r>
            <a:r>
              <a:rPr lang="vi-VN" sz="2400" dirty="0">
                <a:latin typeface="Cambria" panose="02040503050406030204" pitchFamily="18" charset="0"/>
                <a:ea typeface="Cambria" panose="02040503050406030204" pitchFamily="18" charset="0"/>
              </a:rPr>
              <a:t> phương thức này dùng </a:t>
            </a:r>
            <a:r>
              <a:rPr lang="en-US" sz="2400" dirty="0" err="1">
                <a:latin typeface="Cambria" panose="02040503050406030204" pitchFamily="18" charset="0"/>
                <a:ea typeface="Cambria" panose="02040503050406030204" pitchFamily="18" charset="0"/>
              </a:rPr>
              <a:t>để</a:t>
            </a:r>
            <a:r>
              <a:rPr lang="en-US" sz="2400" dirty="0">
                <a:latin typeface="Cambria" panose="02040503050406030204" pitchFamily="18" charset="0"/>
                <a:ea typeface="Cambria" panose="02040503050406030204" pitchFamily="18" charset="0"/>
              </a:rPr>
              <a:t> </a:t>
            </a:r>
            <a:r>
              <a:rPr lang="vi-VN" sz="2400" dirty="0">
                <a:latin typeface="Cambria" panose="02040503050406030204" pitchFamily="18" charset="0"/>
                <a:ea typeface="Cambria" panose="02040503050406030204" pitchFamily="18" charset="0"/>
              </a:rPr>
              <a:t>hiển thị</a:t>
            </a:r>
            <a:r>
              <a:rPr lang="en-US" sz="2400" dirty="0">
                <a:latin typeface="Cambria" panose="02040503050406030204" pitchFamily="18" charset="0"/>
                <a:ea typeface="Cambria" panose="02040503050406030204" pitchFamily="18" charset="0"/>
              </a:rPr>
              <a:t> </a:t>
            </a:r>
            <a:r>
              <a:rPr lang="vi-VN" sz="2400" dirty="0">
                <a:latin typeface="Cambria" panose="02040503050406030204" pitchFamily="18" charset="0"/>
                <a:ea typeface="Cambria" panose="02040503050406030204" pitchFamily="18" charset="0"/>
              </a:rPr>
              <a:t>thông tin bao gồm</a:t>
            </a:r>
            <a:r>
              <a:rPr lang="en-US" sz="2400" dirty="0">
                <a:latin typeface="Cambria" panose="02040503050406030204" pitchFamily="18" charset="0"/>
                <a:ea typeface="Cambria" panose="02040503050406030204" pitchFamily="18" charset="0"/>
              </a:rPr>
              <a:t> </a:t>
            </a:r>
            <a:r>
              <a:rPr lang="vi-VN" sz="2400" dirty="0">
                <a:latin typeface="Cambria" panose="02040503050406030204" pitchFamily="18" charset="0"/>
                <a:ea typeface="Cambria" panose="02040503050406030204" pitchFamily="18" charset="0"/>
              </a:rPr>
              <a:t>tên tác giả và loại phim.</a:t>
            </a:r>
            <a:br>
              <a:rPr lang="vi-VN" sz="2400" dirty="0">
                <a:latin typeface="Cambria" panose="02040503050406030204" pitchFamily="18" charset="0"/>
                <a:ea typeface="Cambria" panose="02040503050406030204" pitchFamily="18" charset="0"/>
              </a:rPr>
            </a:br>
            <a:r>
              <a:rPr lang="vi-VN" sz="2400" dirty="0">
                <a:latin typeface="Cambria" panose="02040503050406030204" pitchFamily="18" charset="0"/>
                <a:ea typeface="Cambria" panose="02040503050406030204" pitchFamily="18" charset="0"/>
              </a:rPr>
              <a:t>c) Tại </a:t>
            </a:r>
            <a:r>
              <a:rPr lang="vi-VN" sz="2400" b="1" dirty="0">
                <a:latin typeface="Cambria" panose="02040503050406030204" pitchFamily="18" charset="0"/>
                <a:ea typeface="Cambria" panose="02040503050406030204" pitchFamily="18" charset="0"/>
              </a:rPr>
              <a:t>lớp Mouse</a:t>
            </a:r>
            <a:r>
              <a:rPr lang="vi-VN" sz="2400" dirty="0">
                <a:latin typeface="Cambria" panose="02040503050406030204" pitchFamily="18" charset="0"/>
                <a:ea typeface="Cambria" panose="02040503050406030204" pitchFamily="18" charset="0"/>
              </a:rPr>
              <a:t> kế thừa lại 2 lớp là </a:t>
            </a:r>
            <a:r>
              <a:rPr lang="vi-VN" sz="2400" b="1" dirty="0">
                <a:latin typeface="Cambria" panose="02040503050406030204" pitchFamily="18" charset="0"/>
                <a:ea typeface="Cambria" panose="02040503050406030204" pitchFamily="18" charset="0"/>
              </a:rPr>
              <a:t>Animal và Film.</a:t>
            </a:r>
            <a:endParaRPr lang="en-US" sz="2400" b="1" dirty="0">
              <a:latin typeface="Cambria" panose="02040503050406030204" pitchFamily="18" charset="0"/>
              <a:ea typeface="Cambria" panose="02040503050406030204" pitchFamily="18" charset="0"/>
            </a:endParaRPr>
          </a:p>
          <a:p>
            <a:pPr>
              <a:lnSpc>
                <a:spcPct val="130000"/>
              </a:lnSpc>
            </a:pPr>
            <a:r>
              <a:rPr lang="vi-VN" sz="2400" dirty="0">
                <a:latin typeface="Cambria" panose="02040503050406030204" pitchFamily="18" charset="0"/>
                <a:ea typeface="Cambria" panose="02040503050406030204" pitchFamily="18" charset="0"/>
              </a:rPr>
              <a:t>d) </a:t>
            </a:r>
            <a:r>
              <a:rPr lang="en-US" sz="2400" dirty="0">
                <a:latin typeface="Cambria" panose="02040503050406030204" pitchFamily="18" charset="0"/>
                <a:ea typeface="Cambria" panose="02040503050406030204" pitchFamily="18" charset="0"/>
              </a:rPr>
              <a:t>K</a:t>
            </a:r>
            <a:r>
              <a:rPr lang="vi-VN" sz="2400" dirty="0">
                <a:latin typeface="Cambria" panose="02040503050406030204" pitchFamily="18" charset="0"/>
                <a:ea typeface="Cambria" panose="02040503050406030204" pitchFamily="18" charset="0"/>
              </a:rPr>
              <a:t>hởi tạo đối tượng </a:t>
            </a:r>
            <a:r>
              <a:rPr lang="vi-VN" sz="2400" b="1" dirty="0">
                <a:latin typeface="Cambria" panose="02040503050406030204" pitchFamily="18" charset="0"/>
                <a:ea typeface="Cambria" panose="02040503050406030204" pitchFamily="18" charset="0"/>
              </a:rPr>
              <a:t>Mouse2</a:t>
            </a:r>
            <a:r>
              <a:rPr lang="vi-VN" sz="2400" dirty="0">
                <a:latin typeface="Cambria" panose="02040503050406030204" pitchFamily="18" charset="0"/>
                <a:ea typeface="Cambria" panose="02040503050406030204" pitchFamily="18" charset="0"/>
              </a:rPr>
              <a:t> với các thông tin như sau: tên</a:t>
            </a:r>
            <a:r>
              <a:rPr lang="en-US" sz="2400" dirty="0">
                <a:latin typeface="Cambria" panose="02040503050406030204" pitchFamily="18" charset="0"/>
                <a:ea typeface="Cambria" panose="02040503050406030204" pitchFamily="18" charset="0"/>
              </a:rPr>
              <a:t> </a:t>
            </a:r>
            <a:r>
              <a:rPr lang="vi-VN" sz="2400" dirty="0">
                <a:latin typeface="Cambria" panose="02040503050406030204" pitchFamily="18" charset="0"/>
                <a:ea typeface="Cambria" panose="02040503050406030204" pitchFamily="18" charset="0"/>
              </a:rPr>
              <a:t>= “Micky”, tuổi = 10, cân nặng = 1Kg, tác giả = “Walt Disney”, loại phim</a:t>
            </a:r>
            <a:r>
              <a:rPr lang="en-US" sz="2400" dirty="0">
                <a:latin typeface="Cambria" panose="02040503050406030204" pitchFamily="18" charset="0"/>
                <a:ea typeface="Cambria" panose="02040503050406030204" pitchFamily="18" charset="0"/>
              </a:rPr>
              <a:t> </a:t>
            </a:r>
            <a:r>
              <a:rPr lang="vi-VN" sz="2400" dirty="0">
                <a:latin typeface="Cambria" panose="02040503050406030204" pitchFamily="18" charset="0"/>
                <a:ea typeface="Cambria" panose="02040503050406030204" pitchFamily="18" charset="0"/>
              </a:rPr>
              <a:t>=“cartoon”. </a:t>
            </a:r>
            <a:endParaRPr lang="en-US" sz="2400" dirty="0">
              <a:latin typeface="Cambria" panose="02040503050406030204" pitchFamily="18" charset="0"/>
              <a:ea typeface="Cambria" panose="02040503050406030204" pitchFamily="18" charset="0"/>
            </a:endParaRPr>
          </a:p>
          <a:p>
            <a:pPr>
              <a:lnSpc>
                <a:spcPct val="130000"/>
              </a:lnSpc>
            </a:pPr>
            <a:r>
              <a:rPr lang="vi-VN" sz="2400" dirty="0">
                <a:latin typeface="Cambria" panose="02040503050406030204" pitchFamily="18" charset="0"/>
                <a:ea typeface="Cambria" panose="02040503050406030204" pitchFamily="18" charset="0"/>
              </a:rPr>
              <a:t>Gọi đến hàm showInfo để xem kết quả </a:t>
            </a:r>
            <a:endParaRPr lang="en-US"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0354713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latin typeface="Cambria" panose="02040503050406030204" pitchFamily="18" charset="0"/>
                <a:ea typeface="Cambria" panose="02040503050406030204" pitchFamily="18" charset="0"/>
              </a:rPr>
              <a:t>Bài</a:t>
            </a:r>
            <a:r>
              <a:rPr lang="en-US">
                <a:latin typeface="Cambria" panose="02040503050406030204" pitchFamily="18" charset="0"/>
                <a:ea typeface="Cambria" panose="02040503050406030204" pitchFamily="18" charset="0"/>
              </a:rPr>
              <a:t> 4 – </a:t>
            </a:r>
            <a:r>
              <a:rPr lang="en-US" spc="-5" err="1">
                <a:latin typeface="Cambria" panose="02040503050406030204" pitchFamily="18" charset="0"/>
                <a:ea typeface="Cambria" panose="02040503050406030204" pitchFamily="18" charset="0"/>
                <a:cs typeface="Arial"/>
              </a:rPr>
              <a:t>Lập</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trình</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hướng</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tượng</a:t>
            </a:r>
            <a:endParaRPr lang="en-US">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a:solidFill>
                  <a:schemeClr val="bg1"/>
                </a:solidFill>
                <a:latin typeface="Cambria" panose="02040503050406030204" pitchFamily="18" charset="0"/>
              </a:rPr>
              <a:t>KẾ THỪA &amp; GHI ĐÈ</a:t>
            </a:r>
          </a:p>
        </p:txBody>
      </p:sp>
      <p:sp>
        <p:nvSpPr>
          <p:cNvPr id="11" name="Content Placeholder 2"/>
          <p:cNvSpPr>
            <a:spLocks noGrp="1"/>
          </p:cNvSpPr>
          <p:nvPr>
            <p:ph idx="1"/>
          </p:nvPr>
        </p:nvSpPr>
        <p:spPr>
          <a:xfrm>
            <a:off x="79512" y="767133"/>
            <a:ext cx="11946835" cy="5211763"/>
          </a:xfrm>
        </p:spPr>
        <p:txBody>
          <a:bodyPr>
            <a:normAutofit/>
          </a:bodyPr>
          <a:lstStyle/>
          <a:p>
            <a:pPr marL="0" indent="0" algn="just">
              <a:buNone/>
            </a:pPr>
            <a:r>
              <a:rPr lang="en-US" sz="2500" b="1" err="1">
                <a:latin typeface="Cambria" panose="02040503050406030204" pitchFamily="18" charset="0"/>
                <a:ea typeface="Cambria" panose="02040503050406030204" pitchFamily="18" charset="0"/>
              </a:rPr>
              <a:t>Đa</a:t>
            </a:r>
            <a:r>
              <a:rPr lang="en-US" sz="2500" b="1">
                <a:latin typeface="Cambria" panose="02040503050406030204" pitchFamily="18" charset="0"/>
                <a:ea typeface="Cambria" panose="02040503050406030204" pitchFamily="18" charset="0"/>
              </a:rPr>
              <a:t> </a:t>
            </a:r>
            <a:r>
              <a:rPr lang="en-US" sz="2500" b="1" err="1">
                <a:latin typeface="Cambria" panose="02040503050406030204" pitchFamily="18" charset="0"/>
                <a:ea typeface="Cambria" panose="02040503050406030204" pitchFamily="18" charset="0"/>
              </a:rPr>
              <a:t>Kế</a:t>
            </a:r>
            <a:r>
              <a:rPr lang="en-US" sz="2500" b="1">
                <a:latin typeface="Cambria" panose="02040503050406030204" pitchFamily="18" charset="0"/>
                <a:ea typeface="Cambria" panose="02040503050406030204" pitchFamily="18" charset="0"/>
              </a:rPr>
              <a:t> </a:t>
            </a:r>
            <a:r>
              <a:rPr lang="en-US" sz="2500" b="1" err="1">
                <a:latin typeface="Cambria" panose="02040503050406030204" pitchFamily="18" charset="0"/>
                <a:ea typeface="Cambria" panose="02040503050406030204" pitchFamily="18" charset="0"/>
              </a:rPr>
              <a:t>thừa</a:t>
            </a:r>
            <a:r>
              <a:rPr lang="en-US" sz="2500" b="1">
                <a:latin typeface="Cambria" panose="02040503050406030204" pitchFamily="18" charset="0"/>
                <a:ea typeface="Cambria" panose="02040503050406030204" pitchFamily="18" charset="0"/>
              </a:rPr>
              <a:t> Python</a:t>
            </a:r>
            <a:r>
              <a:rPr lang="en-US" sz="2500" b="0">
                <a:latin typeface="Cambria" panose="02040503050406030204" pitchFamily="18" charset="0"/>
                <a:ea typeface="Cambria" panose="02040503050406030204" pitchFamily="18" charset="0"/>
              </a:rPr>
              <a:t>		</a:t>
            </a:r>
          </a:p>
        </p:txBody>
      </p:sp>
      <p:pic>
        <p:nvPicPr>
          <p:cNvPr id="2" name="Picture 1"/>
          <p:cNvPicPr>
            <a:picLocks noChangeAspect="1"/>
          </p:cNvPicPr>
          <p:nvPr/>
        </p:nvPicPr>
        <p:blipFill>
          <a:blip r:embed="rId2"/>
          <a:stretch>
            <a:fillRect/>
          </a:stretch>
        </p:blipFill>
        <p:spPr>
          <a:xfrm>
            <a:off x="3648917" y="811192"/>
            <a:ext cx="5803196" cy="5479941"/>
          </a:xfrm>
          <a:prstGeom prst="rect">
            <a:avLst/>
          </a:prstGeom>
        </p:spPr>
      </p:pic>
    </p:spTree>
    <p:extLst>
      <p:ext uri="{BB962C8B-B14F-4D97-AF65-F5344CB8AC3E}">
        <p14:creationId xmlns:p14="http://schemas.microsoft.com/office/powerpoint/2010/main" val="5877132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latin typeface="Cambria" panose="02040503050406030204" pitchFamily="18" charset="0"/>
                <a:ea typeface="Cambria" panose="02040503050406030204" pitchFamily="18" charset="0"/>
              </a:rPr>
              <a:t>Bài</a:t>
            </a:r>
            <a:r>
              <a:rPr lang="en-US">
                <a:latin typeface="Cambria" panose="02040503050406030204" pitchFamily="18" charset="0"/>
                <a:ea typeface="Cambria" panose="02040503050406030204" pitchFamily="18" charset="0"/>
              </a:rPr>
              <a:t> 4 – </a:t>
            </a:r>
            <a:r>
              <a:rPr lang="en-US" spc="-5" err="1">
                <a:latin typeface="Cambria" panose="02040503050406030204" pitchFamily="18" charset="0"/>
                <a:ea typeface="Cambria" panose="02040503050406030204" pitchFamily="18" charset="0"/>
                <a:cs typeface="Arial"/>
              </a:rPr>
              <a:t>Lập</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trình</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hướng</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tượng</a:t>
            </a:r>
            <a:endParaRPr lang="en-US">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a:solidFill>
                  <a:schemeClr val="bg1"/>
                </a:solidFill>
                <a:latin typeface="Cambria" panose="02040503050406030204" pitchFamily="18" charset="0"/>
              </a:rPr>
              <a:t>ĐA HÌNH</a:t>
            </a:r>
          </a:p>
        </p:txBody>
      </p:sp>
      <p:sp>
        <p:nvSpPr>
          <p:cNvPr id="10" name="Rectangle 9"/>
          <p:cNvSpPr/>
          <p:nvPr/>
        </p:nvSpPr>
        <p:spPr>
          <a:xfrm>
            <a:off x="79513" y="691585"/>
            <a:ext cx="11956774" cy="5370701"/>
          </a:xfrm>
          <a:prstGeom prst="rect">
            <a:avLst/>
          </a:prstGeom>
        </p:spPr>
        <p:txBody>
          <a:bodyPr wrap="square">
            <a:spAutoFit/>
          </a:bodyPr>
          <a:lstStyle/>
          <a:p>
            <a:pPr marL="342900" indent="-342900">
              <a:lnSpc>
                <a:spcPct val="130000"/>
              </a:lnSpc>
              <a:buFont typeface="Wingdings" panose="05000000000000000000" pitchFamily="2" charset="2"/>
              <a:buChar char="§"/>
            </a:pPr>
            <a:r>
              <a:rPr lang="vi-VN" sz="2450" b="1" dirty="0">
                <a:latin typeface="Cambria" panose="02040503050406030204" pitchFamily="18" charset="0"/>
                <a:ea typeface="Cambria" panose="02040503050406030204" pitchFamily="18" charset="0"/>
              </a:rPr>
              <a:t>Polymorphism </a:t>
            </a:r>
            <a:r>
              <a:rPr lang="vi-VN" sz="2450" dirty="0">
                <a:latin typeface="Cambria" panose="02040503050406030204" pitchFamily="18" charset="0"/>
                <a:ea typeface="Cambria" panose="02040503050406030204" pitchFamily="18" charset="0"/>
              </a:rPr>
              <a:t>- Tính đa hình: Thể hiện thông qua việc gửi các thông điệp</a:t>
            </a:r>
            <a:r>
              <a:rPr lang="en-US" sz="2450" dirty="0">
                <a:latin typeface="Cambria" panose="02040503050406030204" pitchFamily="18" charset="0"/>
                <a:ea typeface="Cambria" panose="02040503050406030204" pitchFamily="18" charset="0"/>
              </a:rPr>
              <a:t> </a:t>
            </a:r>
            <a:r>
              <a:rPr lang="vi-VN" sz="2450" dirty="0">
                <a:latin typeface="Cambria" panose="02040503050406030204" pitchFamily="18" charset="0"/>
                <a:ea typeface="Cambria" panose="02040503050406030204" pitchFamily="18" charset="0"/>
              </a:rPr>
              <a:t>(message). </a:t>
            </a:r>
            <a:endParaRPr lang="en-US" sz="2450" dirty="0">
              <a:latin typeface="Cambria" panose="02040503050406030204" pitchFamily="18" charset="0"/>
              <a:ea typeface="Cambria" panose="02040503050406030204" pitchFamily="18" charset="0"/>
            </a:endParaRPr>
          </a:p>
          <a:p>
            <a:pPr marL="342900" indent="-342900">
              <a:lnSpc>
                <a:spcPct val="130000"/>
              </a:lnSpc>
              <a:buFont typeface="Wingdings" panose="05000000000000000000" pitchFamily="2" charset="2"/>
              <a:buChar char="§"/>
            </a:pPr>
            <a:r>
              <a:rPr lang="vi-VN" sz="2450" dirty="0">
                <a:latin typeface="Cambria" panose="02040503050406030204" pitchFamily="18" charset="0"/>
                <a:ea typeface="Cambria" panose="02040503050406030204" pitchFamily="18" charset="0"/>
              </a:rPr>
              <a:t>Việc gửi các thông điệp này có thể so sánh như việc gọi các hàm</a:t>
            </a:r>
            <a:r>
              <a:rPr lang="en-US" sz="2450" dirty="0">
                <a:latin typeface="Cambria" panose="02040503050406030204" pitchFamily="18" charset="0"/>
                <a:ea typeface="Cambria" panose="02040503050406030204" pitchFamily="18" charset="0"/>
              </a:rPr>
              <a:t> </a:t>
            </a:r>
            <a:r>
              <a:rPr lang="vi-VN" sz="2450" dirty="0">
                <a:latin typeface="Cambria" panose="02040503050406030204" pitchFamily="18" charset="0"/>
                <a:ea typeface="Cambria" panose="02040503050406030204" pitchFamily="18" charset="0"/>
              </a:rPr>
              <a:t>bên trong của một đối tượng. </a:t>
            </a:r>
            <a:endParaRPr lang="en-US" sz="2450" dirty="0">
              <a:latin typeface="Cambria" panose="02040503050406030204" pitchFamily="18" charset="0"/>
              <a:ea typeface="Cambria" panose="02040503050406030204" pitchFamily="18" charset="0"/>
            </a:endParaRPr>
          </a:p>
          <a:p>
            <a:pPr marL="342900" indent="-342900">
              <a:lnSpc>
                <a:spcPct val="130000"/>
              </a:lnSpc>
              <a:buFont typeface="Wingdings" panose="05000000000000000000" pitchFamily="2" charset="2"/>
              <a:buChar char="§"/>
            </a:pPr>
            <a:r>
              <a:rPr lang="vi-VN" sz="2450" dirty="0">
                <a:latin typeface="Cambria" panose="02040503050406030204" pitchFamily="18" charset="0"/>
                <a:ea typeface="Cambria" panose="02040503050406030204" pitchFamily="18" charset="0"/>
              </a:rPr>
              <a:t>Các phương thức dùng trả lời cho một thông</a:t>
            </a:r>
            <a:r>
              <a:rPr lang="en-US" sz="2450" dirty="0">
                <a:latin typeface="Cambria" panose="02040503050406030204" pitchFamily="18" charset="0"/>
                <a:ea typeface="Cambria" panose="02040503050406030204" pitchFamily="18" charset="0"/>
              </a:rPr>
              <a:t> </a:t>
            </a:r>
            <a:r>
              <a:rPr lang="vi-VN" sz="2450" dirty="0">
                <a:latin typeface="Cambria" panose="02040503050406030204" pitchFamily="18" charset="0"/>
                <a:ea typeface="Cambria" panose="02040503050406030204" pitchFamily="18" charset="0"/>
              </a:rPr>
              <a:t>điệp sẽ tùy theo đối tượng mà thông điệp đó được gửi tới sẽ có phản ứng</a:t>
            </a:r>
            <a:r>
              <a:rPr lang="en-US" sz="2450" dirty="0">
                <a:latin typeface="Cambria" panose="02040503050406030204" pitchFamily="18" charset="0"/>
                <a:ea typeface="Cambria" panose="02040503050406030204" pitchFamily="18" charset="0"/>
              </a:rPr>
              <a:t> </a:t>
            </a:r>
            <a:r>
              <a:rPr lang="vi-VN" sz="2450" dirty="0">
                <a:latin typeface="Cambria" panose="02040503050406030204" pitchFamily="18" charset="0"/>
                <a:ea typeface="Cambria" panose="02040503050406030204" pitchFamily="18" charset="0"/>
              </a:rPr>
              <a:t>khác nhau. </a:t>
            </a:r>
            <a:endParaRPr lang="en-US" sz="2450" dirty="0">
              <a:latin typeface="Cambria" panose="02040503050406030204" pitchFamily="18" charset="0"/>
              <a:ea typeface="Cambria" panose="02040503050406030204" pitchFamily="18" charset="0"/>
            </a:endParaRPr>
          </a:p>
          <a:p>
            <a:pPr>
              <a:lnSpc>
                <a:spcPct val="150000"/>
              </a:lnSpc>
            </a:pPr>
            <a:r>
              <a:rPr lang="vi-VN" sz="2450" b="1" dirty="0">
                <a:solidFill>
                  <a:srgbClr val="333333"/>
                </a:solidFill>
                <a:latin typeface="Cambria" panose="02040503050406030204" pitchFamily="18" charset="0"/>
                <a:ea typeface="Cambria" panose="02040503050406030204" pitchFamily="18" charset="0"/>
              </a:rPr>
              <a:t>Ví dụ</a:t>
            </a:r>
            <a:r>
              <a:rPr lang="en-US" sz="2450" b="1" dirty="0">
                <a:solidFill>
                  <a:srgbClr val="333333"/>
                </a:solidFill>
                <a:latin typeface="Cambria" panose="02040503050406030204" pitchFamily="18" charset="0"/>
                <a:ea typeface="Cambria" panose="02040503050406030204" pitchFamily="18" charset="0"/>
              </a:rPr>
              <a:t> 1</a:t>
            </a:r>
            <a:r>
              <a:rPr lang="en-US" sz="2450" dirty="0">
                <a:solidFill>
                  <a:srgbClr val="333333"/>
                </a:solidFill>
                <a:latin typeface="Cambria" panose="02040503050406030204" pitchFamily="18" charset="0"/>
                <a:ea typeface="Cambria" panose="02040503050406030204" pitchFamily="18" charset="0"/>
              </a:rPr>
              <a:t>: K</a:t>
            </a:r>
            <a:r>
              <a:rPr lang="vi-VN" sz="2450" dirty="0">
                <a:solidFill>
                  <a:srgbClr val="333333"/>
                </a:solidFill>
                <a:latin typeface="Cambria" panose="02040503050406030204" pitchFamily="18" charset="0"/>
                <a:ea typeface="Cambria" panose="02040503050406030204" pitchFamily="18" charset="0"/>
              </a:rPr>
              <a:t>hai báo hai lớp có tên là: </a:t>
            </a:r>
            <a:r>
              <a:rPr lang="vi-VN" sz="2450" b="1" dirty="0">
                <a:solidFill>
                  <a:srgbClr val="333333"/>
                </a:solidFill>
                <a:latin typeface="Cambria" panose="02040503050406030204" pitchFamily="18" charset="0"/>
                <a:ea typeface="Cambria" panose="02040503050406030204" pitchFamily="18" charset="0"/>
              </a:rPr>
              <a:t>VietNam, TrungQuoc</a:t>
            </a:r>
            <a:r>
              <a:rPr lang="vi-VN" sz="2450" dirty="0">
                <a:solidFill>
                  <a:srgbClr val="333333"/>
                </a:solidFill>
                <a:latin typeface="Cambria" panose="02040503050406030204" pitchFamily="18" charset="0"/>
                <a:ea typeface="Cambria" panose="02040503050406030204" pitchFamily="18" charset="0"/>
              </a:rPr>
              <a:t>. </a:t>
            </a:r>
            <a:endParaRPr lang="en-US" sz="2450" dirty="0">
              <a:solidFill>
                <a:srgbClr val="333333"/>
              </a:solidFill>
              <a:latin typeface="Cambria" panose="02040503050406030204" pitchFamily="18" charset="0"/>
              <a:ea typeface="Cambria" panose="02040503050406030204" pitchFamily="18" charset="0"/>
            </a:endParaRPr>
          </a:p>
          <a:p>
            <a:pPr>
              <a:lnSpc>
                <a:spcPct val="150000"/>
              </a:lnSpc>
            </a:pPr>
            <a:r>
              <a:rPr lang="vi-VN" sz="2450" dirty="0">
                <a:solidFill>
                  <a:srgbClr val="333333"/>
                </a:solidFill>
                <a:latin typeface="Cambria" panose="02040503050406030204" pitchFamily="18" charset="0"/>
                <a:ea typeface="Cambria" panose="02040503050406030204" pitchFamily="18" charset="0"/>
              </a:rPr>
              <a:t>Trong đó, lớp </a:t>
            </a:r>
            <a:r>
              <a:rPr lang="vi-VN" sz="2450" b="1" dirty="0">
                <a:solidFill>
                  <a:srgbClr val="333333"/>
                </a:solidFill>
                <a:latin typeface="Cambria" panose="02040503050406030204" pitchFamily="18" charset="0"/>
                <a:ea typeface="Cambria" panose="02040503050406030204" pitchFamily="18" charset="0"/>
              </a:rPr>
              <a:t>VietNam và TrungQuoc</a:t>
            </a:r>
            <a:r>
              <a:rPr lang="vi-VN" sz="2450" dirty="0">
                <a:solidFill>
                  <a:srgbClr val="333333"/>
                </a:solidFill>
                <a:latin typeface="Cambria" panose="02040503050406030204" pitchFamily="18" charset="0"/>
                <a:ea typeface="Cambria" panose="02040503050406030204" pitchFamily="18" charset="0"/>
              </a:rPr>
              <a:t> sẽ đều có chung các phương thức là: </a:t>
            </a:r>
            <a:r>
              <a:rPr lang="vi-VN" sz="2450" b="1" dirty="0">
                <a:solidFill>
                  <a:srgbClr val="333333"/>
                </a:solidFill>
                <a:latin typeface="Cambria" panose="02040503050406030204" pitchFamily="18" charset="0"/>
                <a:ea typeface="Cambria" panose="02040503050406030204" pitchFamily="18" charset="0"/>
              </a:rPr>
              <a:t>ThuDo(), NgonNgu(), KhuVuc() </a:t>
            </a:r>
            <a:r>
              <a:rPr lang="vi-VN" sz="2450" dirty="0">
                <a:solidFill>
                  <a:srgbClr val="333333"/>
                </a:solidFill>
                <a:latin typeface="Cambria" panose="02040503050406030204" pitchFamily="18" charset="0"/>
                <a:ea typeface="Cambria" panose="02040503050406030204" pitchFamily="18" charset="0"/>
              </a:rPr>
              <a:t>nhưng trong mỗi phương thức của từng lớp trên lại thực hiện theo mỗi cách khác nhau mặc dù tên của các phương thức có trong hai lớp là đều trùng nhau.</a:t>
            </a:r>
            <a:endParaRPr lang="en-US" sz="245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1957906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latin typeface="Cambria" panose="02040503050406030204" pitchFamily="18" charset="0"/>
                <a:ea typeface="Cambria" panose="02040503050406030204" pitchFamily="18" charset="0"/>
              </a:rPr>
              <a:t>Bài</a:t>
            </a:r>
            <a:r>
              <a:rPr lang="en-US">
                <a:latin typeface="Cambria" panose="02040503050406030204" pitchFamily="18" charset="0"/>
                <a:ea typeface="Cambria" panose="02040503050406030204" pitchFamily="18" charset="0"/>
              </a:rPr>
              <a:t> 4 – </a:t>
            </a:r>
            <a:r>
              <a:rPr lang="en-US" spc="-5" err="1">
                <a:latin typeface="Cambria" panose="02040503050406030204" pitchFamily="18" charset="0"/>
                <a:ea typeface="Cambria" panose="02040503050406030204" pitchFamily="18" charset="0"/>
                <a:cs typeface="Arial"/>
              </a:rPr>
              <a:t>Lập</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trình</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hướng</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tượng</a:t>
            </a:r>
            <a:endParaRPr lang="en-US">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a:solidFill>
                  <a:schemeClr val="bg1"/>
                </a:solidFill>
                <a:latin typeface="Cambria" panose="02040503050406030204" pitchFamily="18" charset="0"/>
              </a:rPr>
              <a:t>ĐA HÌNH</a:t>
            </a:r>
          </a:p>
        </p:txBody>
      </p:sp>
      <p:pic>
        <p:nvPicPr>
          <p:cNvPr id="6" name="Picture 5"/>
          <p:cNvPicPr>
            <a:picLocks noChangeAspect="1"/>
          </p:cNvPicPr>
          <p:nvPr/>
        </p:nvPicPr>
        <p:blipFill>
          <a:blip r:embed="rId2"/>
          <a:stretch>
            <a:fillRect/>
          </a:stretch>
        </p:blipFill>
        <p:spPr>
          <a:xfrm>
            <a:off x="79514" y="839877"/>
            <a:ext cx="6843894" cy="4557071"/>
          </a:xfrm>
          <a:prstGeom prst="rect">
            <a:avLst/>
          </a:prstGeom>
        </p:spPr>
      </p:pic>
      <p:pic>
        <p:nvPicPr>
          <p:cNvPr id="11" name="Picture 10"/>
          <p:cNvPicPr>
            <a:picLocks noChangeAspect="1"/>
          </p:cNvPicPr>
          <p:nvPr/>
        </p:nvPicPr>
        <p:blipFill>
          <a:blip r:embed="rId3"/>
          <a:stretch>
            <a:fillRect/>
          </a:stretch>
        </p:blipFill>
        <p:spPr>
          <a:xfrm>
            <a:off x="7076659" y="871055"/>
            <a:ext cx="4979505" cy="2990650"/>
          </a:xfrm>
          <a:prstGeom prst="rect">
            <a:avLst/>
          </a:prstGeom>
        </p:spPr>
      </p:pic>
    </p:spTree>
    <p:extLst>
      <p:ext uri="{BB962C8B-B14F-4D97-AF65-F5344CB8AC3E}">
        <p14:creationId xmlns:p14="http://schemas.microsoft.com/office/powerpoint/2010/main" val="1804213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latin typeface="Cambria" panose="02040503050406030204" pitchFamily="18" charset="0"/>
                <a:ea typeface="Cambria" panose="02040503050406030204" pitchFamily="18" charset="0"/>
              </a:rPr>
              <a:t>Bài</a:t>
            </a:r>
            <a:r>
              <a:rPr lang="en-US">
                <a:latin typeface="Cambria" panose="02040503050406030204" pitchFamily="18" charset="0"/>
                <a:ea typeface="Cambria" panose="02040503050406030204" pitchFamily="18" charset="0"/>
              </a:rPr>
              <a:t> 4 – </a:t>
            </a:r>
            <a:r>
              <a:rPr lang="en-US" spc="-5" err="1">
                <a:latin typeface="Cambria" panose="02040503050406030204" pitchFamily="18" charset="0"/>
                <a:ea typeface="Cambria" panose="02040503050406030204" pitchFamily="18" charset="0"/>
                <a:cs typeface="Arial"/>
              </a:rPr>
              <a:t>Lập</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trình</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hướng</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tượng</a:t>
            </a:r>
            <a:endParaRPr lang="en-US">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a:solidFill>
                  <a:schemeClr val="bg1"/>
                </a:solidFill>
                <a:latin typeface="Cambria" panose="02040503050406030204" pitchFamily="18" charset="0"/>
              </a:rPr>
              <a:t>ĐA HÌNH</a:t>
            </a:r>
          </a:p>
        </p:txBody>
      </p:sp>
      <p:sp>
        <p:nvSpPr>
          <p:cNvPr id="2" name="Rectangle 1"/>
          <p:cNvSpPr/>
          <p:nvPr/>
        </p:nvSpPr>
        <p:spPr>
          <a:xfrm>
            <a:off x="79513" y="819186"/>
            <a:ext cx="4532010" cy="477054"/>
          </a:xfrm>
          <a:prstGeom prst="rect">
            <a:avLst/>
          </a:prstGeom>
        </p:spPr>
        <p:txBody>
          <a:bodyPr wrap="none">
            <a:spAutoFit/>
          </a:bodyPr>
          <a:lstStyle/>
          <a:p>
            <a:pPr eaLnBrk="0" fontAlgn="base" hangingPunct="0">
              <a:spcBef>
                <a:spcPct val="0"/>
              </a:spcBef>
              <a:spcAft>
                <a:spcPct val="0"/>
              </a:spcAft>
            </a:pPr>
            <a:r>
              <a:rPr lang="en-US" sz="2500" b="1" err="1">
                <a:latin typeface="Cambria" panose="02040503050406030204" pitchFamily="18" charset="0"/>
              </a:rPr>
              <a:t>Đa</a:t>
            </a:r>
            <a:r>
              <a:rPr lang="en-US" sz="2500" b="1">
                <a:latin typeface="Cambria" panose="02040503050406030204" pitchFamily="18" charset="0"/>
              </a:rPr>
              <a:t> </a:t>
            </a:r>
            <a:r>
              <a:rPr lang="en-US" sz="2500" b="1" err="1">
                <a:latin typeface="Cambria" panose="02040503050406030204" pitchFamily="18" charset="0"/>
              </a:rPr>
              <a:t>hình</a:t>
            </a:r>
            <a:r>
              <a:rPr lang="en-US" sz="2500" b="1">
                <a:latin typeface="Cambria" panose="02040503050406030204" pitchFamily="18" charset="0"/>
              </a:rPr>
              <a:t> </a:t>
            </a:r>
            <a:r>
              <a:rPr lang="en-US" sz="2500" b="1" err="1">
                <a:latin typeface="Cambria" panose="02040503050406030204" pitchFamily="18" charset="0"/>
              </a:rPr>
              <a:t>với</a:t>
            </a:r>
            <a:r>
              <a:rPr lang="en-US" sz="2500" b="1">
                <a:latin typeface="Cambria" panose="02040503050406030204" pitchFamily="18" charset="0"/>
              </a:rPr>
              <a:t> </a:t>
            </a:r>
            <a:r>
              <a:rPr lang="en-US" sz="2500" b="1" err="1">
                <a:latin typeface="Cambria" panose="02040503050406030204" pitchFamily="18" charset="0"/>
              </a:rPr>
              <a:t>lớp</a:t>
            </a:r>
            <a:r>
              <a:rPr lang="en-US" sz="2500" b="1">
                <a:latin typeface="Cambria" panose="02040503050406030204" pitchFamily="18" charset="0"/>
              </a:rPr>
              <a:t> </a:t>
            </a:r>
            <a:r>
              <a:rPr lang="en-US" sz="2500" b="1" err="1">
                <a:latin typeface="Cambria" panose="02040503050406030204" pitchFamily="18" charset="0"/>
              </a:rPr>
              <a:t>trong</a:t>
            </a:r>
            <a:r>
              <a:rPr lang="en-US" sz="2500" b="1">
                <a:latin typeface="Cambria" panose="02040503050406030204" pitchFamily="18" charset="0"/>
              </a:rPr>
              <a:t> </a:t>
            </a:r>
            <a:r>
              <a:rPr lang="en-US" sz="2500" b="1" err="1">
                <a:latin typeface="Cambria" panose="02040503050406030204" pitchFamily="18" charset="0"/>
              </a:rPr>
              <a:t>kế</a:t>
            </a:r>
            <a:r>
              <a:rPr lang="en-US" sz="2500" b="1">
                <a:latin typeface="Cambria" panose="02040503050406030204" pitchFamily="18" charset="0"/>
              </a:rPr>
              <a:t> </a:t>
            </a:r>
            <a:r>
              <a:rPr lang="en-US" sz="2500" b="1" err="1">
                <a:latin typeface="Cambria" panose="02040503050406030204" pitchFamily="18" charset="0"/>
              </a:rPr>
              <a:t>thừa</a:t>
            </a:r>
            <a:endParaRPr lang="en-US" sz="2500" b="1" kern="0">
              <a:solidFill>
                <a:srgbClr val="000000"/>
              </a:solidFill>
              <a:latin typeface="Cambria" panose="02040503050406030204" pitchFamily="18" charset="0"/>
            </a:endParaRPr>
          </a:p>
        </p:txBody>
      </p:sp>
      <p:sp>
        <p:nvSpPr>
          <p:cNvPr id="10" name="Rectangle 9"/>
          <p:cNvSpPr/>
          <p:nvPr/>
        </p:nvSpPr>
        <p:spPr>
          <a:xfrm>
            <a:off x="212866" y="1204801"/>
            <a:ext cx="11813482" cy="2977738"/>
          </a:xfrm>
          <a:prstGeom prst="rect">
            <a:avLst/>
          </a:prstGeom>
        </p:spPr>
        <p:txBody>
          <a:bodyPr wrap="square">
            <a:spAutoFit/>
          </a:bodyPr>
          <a:lstStyle/>
          <a:p>
            <a:pPr>
              <a:lnSpc>
                <a:spcPct val="150000"/>
              </a:lnSpc>
            </a:pPr>
            <a:r>
              <a:rPr lang="vi-VN" sz="2500" b="1" dirty="0">
                <a:solidFill>
                  <a:srgbClr val="333333"/>
                </a:solidFill>
                <a:latin typeface="Cambria" panose="02040503050406030204" pitchFamily="18" charset="0"/>
                <a:ea typeface="Cambria" panose="02040503050406030204" pitchFamily="18" charset="0"/>
              </a:rPr>
              <a:t>Ví dụ</a:t>
            </a:r>
            <a:r>
              <a:rPr lang="en-US" sz="2500" b="1" dirty="0">
                <a:solidFill>
                  <a:srgbClr val="333333"/>
                </a:solidFill>
                <a:latin typeface="Cambria" panose="02040503050406030204" pitchFamily="18" charset="0"/>
                <a:ea typeface="Cambria" panose="02040503050406030204" pitchFamily="18" charset="0"/>
              </a:rPr>
              <a:t> 2: </a:t>
            </a:r>
          </a:p>
          <a:p>
            <a:pPr marL="342900" indent="-342900">
              <a:lnSpc>
                <a:spcPct val="150000"/>
              </a:lnSpc>
              <a:buFont typeface="Arial" panose="020B0604020202020204" pitchFamily="34" charset="0"/>
              <a:buChar char="•"/>
            </a:pPr>
            <a:r>
              <a:rPr lang="en-US" sz="2500" dirty="0">
                <a:solidFill>
                  <a:srgbClr val="333333"/>
                </a:solidFill>
                <a:latin typeface="Cambria" panose="02040503050406030204" pitchFamily="18" charset="0"/>
                <a:ea typeface="Cambria" panose="02040503050406030204" pitchFamily="18" charset="0"/>
              </a:rPr>
              <a:t>K</a:t>
            </a:r>
            <a:r>
              <a:rPr lang="vi-VN" sz="2500" dirty="0">
                <a:solidFill>
                  <a:srgbClr val="333333"/>
                </a:solidFill>
                <a:latin typeface="Cambria" panose="02040503050406030204" pitchFamily="18" charset="0"/>
                <a:ea typeface="Cambria" panose="02040503050406030204" pitchFamily="18" charset="0"/>
              </a:rPr>
              <a:t>hai báo lớp </a:t>
            </a:r>
            <a:r>
              <a:rPr lang="vi-VN" sz="2500" b="1" dirty="0">
                <a:solidFill>
                  <a:srgbClr val="333333"/>
                </a:solidFill>
                <a:latin typeface="Cambria" panose="02040503050406030204" pitchFamily="18" charset="0"/>
                <a:ea typeface="Cambria" panose="02040503050406030204" pitchFamily="18" charset="0"/>
              </a:rPr>
              <a:t>HinhVe</a:t>
            </a:r>
            <a:r>
              <a:rPr lang="vi-VN" sz="2500" dirty="0">
                <a:solidFill>
                  <a:srgbClr val="333333"/>
                </a:solidFill>
                <a:latin typeface="Cambria" panose="02040503050406030204" pitchFamily="18" charset="0"/>
                <a:ea typeface="Cambria" panose="02040503050406030204" pitchFamily="18" charset="0"/>
              </a:rPr>
              <a:t> bao gồm các thuộc tính: </a:t>
            </a:r>
            <a:r>
              <a:rPr lang="vi-VN" sz="2500" b="1" dirty="0">
                <a:solidFill>
                  <a:srgbClr val="333333"/>
                </a:solidFill>
                <a:latin typeface="Cambria" panose="02040503050406030204" pitchFamily="18" charset="0"/>
                <a:ea typeface="Cambria" panose="02040503050406030204" pitchFamily="18" charset="0"/>
              </a:rPr>
              <a:t>ChieuDai, ChieuRong</a:t>
            </a:r>
            <a:r>
              <a:rPr lang="vi-VN" sz="2500" dirty="0">
                <a:solidFill>
                  <a:srgbClr val="333333"/>
                </a:solidFill>
                <a:latin typeface="Cambria" panose="02040503050406030204" pitchFamily="18" charset="0"/>
                <a:ea typeface="Cambria" panose="02040503050406030204" pitchFamily="18" charset="0"/>
              </a:rPr>
              <a:t> </a:t>
            </a:r>
            <a:endParaRPr lang="en-US" sz="2500" dirty="0">
              <a:solidFill>
                <a:srgbClr val="333333"/>
              </a:solidFill>
              <a:latin typeface="Cambria" panose="02040503050406030204" pitchFamily="18" charset="0"/>
              <a:ea typeface="Cambria" panose="02040503050406030204" pitchFamily="18" charset="0"/>
            </a:endParaRPr>
          </a:p>
          <a:p>
            <a:pPr marL="342900" indent="-342900">
              <a:lnSpc>
                <a:spcPct val="150000"/>
              </a:lnSpc>
              <a:buFont typeface="Arial" panose="020B0604020202020204" pitchFamily="34" charset="0"/>
              <a:buChar char="•"/>
            </a:pPr>
            <a:r>
              <a:rPr lang="en-US" sz="2500" dirty="0">
                <a:solidFill>
                  <a:srgbClr val="333333"/>
                </a:solidFill>
                <a:latin typeface="Cambria" panose="02040503050406030204" pitchFamily="18" charset="0"/>
                <a:ea typeface="Cambria" panose="02040503050406030204" pitchFamily="18" charset="0"/>
              </a:rPr>
              <a:t>C</a:t>
            </a:r>
            <a:r>
              <a:rPr lang="vi-VN" sz="2500" dirty="0">
                <a:solidFill>
                  <a:srgbClr val="333333"/>
                </a:solidFill>
                <a:latin typeface="Cambria" panose="02040503050406030204" pitchFamily="18" charset="0"/>
                <a:ea typeface="Cambria" panose="02040503050406030204" pitchFamily="18" charset="0"/>
              </a:rPr>
              <a:t>ác phương thức: </a:t>
            </a:r>
            <a:r>
              <a:rPr lang="vi-VN" sz="2500" b="1" dirty="0">
                <a:solidFill>
                  <a:srgbClr val="333333"/>
                </a:solidFill>
                <a:latin typeface="Cambria" panose="02040503050406030204" pitchFamily="18" charset="0"/>
                <a:ea typeface="Cambria" panose="02040503050406030204" pitchFamily="18" charset="0"/>
              </a:rPr>
              <a:t>TinhChuVi(), TinhDienTich()</a:t>
            </a:r>
            <a:r>
              <a:rPr lang="vi-VN" sz="2500" dirty="0">
                <a:solidFill>
                  <a:srgbClr val="333333"/>
                </a:solidFill>
                <a:latin typeface="Cambria" panose="02040503050406030204" pitchFamily="18" charset="0"/>
                <a:ea typeface="Cambria" panose="02040503050406030204" pitchFamily="18" charset="0"/>
              </a:rPr>
              <a:t>. </a:t>
            </a:r>
            <a:endParaRPr lang="en-US" sz="2500" dirty="0">
              <a:solidFill>
                <a:srgbClr val="333333"/>
              </a:solidFill>
              <a:latin typeface="Cambria" panose="02040503050406030204" pitchFamily="18" charset="0"/>
              <a:ea typeface="Cambria" panose="02040503050406030204" pitchFamily="18" charset="0"/>
            </a:endParaRPr>
          </a:p>
          <a:p>
            <a:pPr marL="342900" indent="-342900">
              <a:lnSpc>
                <a:spcPct val="150000"/>
              </a:lnSpc>
              <a:buFont typeface="Arial" panose="020B0604020202020204" pitchFamily="34" charset="0"/>
              <a:buChar char="•"/>
            </a:pPr>
            <a:r>
              <a:rPr lang="en-US" sz="2500" dirty="0">
                <a:solidFill>
                  <a:srgbClr val="333333"/>
                </a:solidFill>
                <a:latin typeface="Cambria" panose="02040503050406030204" pitchFamily="18" charset="0"/>
                <a:ea typeface="Cambria" panose="02040503050406030204" pitchFamily="18" charset="0"/>
              </a:rPr>
              <a:t>K</a:t>
            </a:r>
            <a:r>
              <a:rPr lang="vi-VN" sz="2500" dirty="0">
                <a:solidFill>
                  <a:srgbClr val="333333"/>
                </a:solidFill>
                <a:latin typeface="Cambria" panose="02040503050406030204" pitchFamily="18" charset="0"/>
                <a:ea typeface="Cambria" panose="02040503050406030204" pitchFamily="18" charset="0"/>
              </a:rPr>
              <a:t>hai báo lớp </a:t>
            </a:r>
            <a:r>
              <a:rPr lang="vi-VN" sz="2500" b="1" dirty="0">
                <a:solidFill>
                  <a:srgbClr val="333333"/>
                </a:solidFill>
                <a:latin typeface="Cambria" panose="02040503050406030204" pitchFamily="18" charset="0"/>
                <a:ea typeface="Cambria" panose="02040503050406030204" pitchFamily="18" charset="0"/>
              </a:rPr>
              <a:t>HinhChuNhat</a:t>
            </a:r>
            <a:r>
              <a:rPr lang="vi-VN" sz="2500" dirty="0">
                <a:solidFill>
                  <a:srgbClr val="333333"/>
                </a:solidFill>
                <a:latin typeface="Cambria" panose="02040503050406030204" pitchFamily="18" charset="0"/>
                <a:ea typeface="Cambria" panose="02040503050406030204" pitchFamily="18" charset="0"/>
              </a:rPr>
              <a:t> với các phương thức </a:t>
            </a:r>
            <a:r>
              <a:rPr lang="vi-VN" sz="2500" b="1" dirty="0">
                <a:solidFill>
                  <a:srgbClr val="333333"/>
                </a:solidFill>
                <a:latin typeface="Cambria" panose="02040503050406030204" pitchFamily="18" charset="0"/>
                <a:ea typeface="Cambria" panose="02040503050406030204" pitchFamily="18" charset="0"/>
              </a:rPr>
              <a:t>TinhChuVi()</a:t>
            </a:r>
            <a:r>
              <a:rPr lang="vi-VN" sz="2500" dirty="0">
                <a:solidFill>
                  <a:srgbClr val="333333"/>
                </a:solidFill>
                <a:latin typeface="Cambria" panose="02040503050406030204" pitchFamily="18" charset="0"/>
                <a:ea typeface="Cambria" panose="02040503050406030204" pitchFamily="18" charset="0"/>
              </a:rPr>
              <a:t> và </a:t>
            </a:r>
            <a:r>
              <a:rPr lang="vi-VN" sz="2500" b="1" dirty="0">
                <a:solidFill>
                  <a:srgbClr val="333333"/>
                </a:solidFill>
                <a:latin typeface="Cambria" panose="02040503050406030204" pitchFamily="18" charset="0"/>
                <a:ea typeface="Cambria" panose="02040503050406030204" pitchFamily="18" charset="0"/>
              </a:rPr>
              <a:t>TinhDienTich()</a:t>
            </a:r>
            <a:endParaRPr lang="en-US" sz="2500" b="1" dirty="0">
              <a:solidFill>
                <a:srgbClr val="333333"/>
              </a:solidFill>
              <a:latin typeface="Cambria" panose="02040503050406030204" pitchFamily="18" charset="0"/>
              <a:ea typeface="Cambria" panose="02040503050406030204" pitchFamily="18" charset="0"/>
            </a:endParaRPr>
          </a:p>
          <a:p>
            <a:pPr marL="342900" indent="-342900">
              <a:lnSpc>
                <a:spcPct val="150000"/>
              </a:lnSpc>
              <a:buFont typeface="Arial" panose="020B0604020202020204" pitchFamily="34" charset="0"/>
              <a:buChar char="•"/>
            </a:pPr>
            <a:r>
              <a:rPr lang="vi-VN" sz="2500" dirty="0">
                <a:solidFill>
                  <a:srgbClr val="333333"/>
                </a:solidFill>
                <a:latin typeface="Cambria" panose="02040503050406030204" pitchFamily="18" charset="0"/>
                <a:ea typeface="Cambria" panose="02040503050406030204" pitchFamily="18" charset="0"/>
              </a:rPr>
              <a:t> 2 phương thức này được </a:t>
            </a:r>
            <a:r>
              <a:rPr lang="vi-VN" sz="2500" b="1" dirty="0">
                <a:solidFill>
                  <a:srgbClr val="FF0000"/>
                </a:solidFill>
                <a:latin typeface="Cambria" panose="02040503050406030204" pitchFamily="18" charset="0"/>
                <a:ea typeface="Cambria" panose="02040503050406030204" pitchFamily="18" charset="0"/>
              </a:rPr>
              <a:t>ghi đè </a:t>
            </a:r>
            <a:r>
              <a:rPr lang="vi-VN" sz="2500" dirty="0">
                <a:solidFill>
                  <a:srgbClr val="333333"/>
                </a:solidFill>
                <a:latin typeface="Cambria" panose="02040503050406030204" pitchFamily="18" charset="0"/>
                <a:ea typeface="Cambria" panose="02040503050406030204" pitchFamily="18" charset="0"/>
              </a:rPr>
              <a:t>lại theo 2 phương thức của lớp </a:t>
            </a:r>
            <a:r>
              <a:rPr lang="vi-VN" sz="2500" b="1" dirty="0">
                <a:solidFill>
                  <a:srgbClr val="333333"/>
                </a:solidFill>
                <a:latin typeface="Cambria" panose="02040503050406030204" pitchFamily="18" charset="0"/>
                <a:ea typeface="Cambria" panose="02040503050406030204" pitchFamily="18" charset="0"/>
              </a:rPr>
              <a:t>HinhVe</a:t>
            </a:r>
            <a:endParaRPr lang="en-US" sz="25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5800338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latin typeface="Cambria" panose="02040503050406030204" pitchFamily="18" charset="0"/>
                <a:ea typeface="Cambria" panose="02040503050406030204" pitchFamily="18" charset="0"/>
              </a:rPr>
              <a:t>Bài</a:t>
            </a:r>
            <a:r>
              <a:rPr lang="en-US">
                <a:latin typeface="Cambria" panose="02040503050406030204" pitchFamily="18" charset="0"/>
                <a:ea typeface="Cambria" panose="02040503050406030204" pitchFamily="18" charset="0"/>
              </a:rPr>
              <a:t> 4 – </a:t>
            </a:r>
            <a:r>
              <a:rPr lang="en-US" spc="-5" err="1">
                <a:latin typeface="Cambria" panose="02040503050406030204" pitchFamily="18" charset="0"/>
                <a:ea typeface="Cambria" panose="02040503050406030204" pitchFamily="18" charset="0"/>
                <a:cs typeface="Arial"/>
              </a:rPr>
              <a:t>Lập</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trình</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hướng</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tượng</a:t>
            </a:r>
            <a:endParaRPr lang="en-US">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a:solidFill>
                  <a:schemeClr val="bg1"/>
                </a:solidFill>
                <a:latin typeface="Cambria" panose="02040503050406030204" pitchFamily="18" charset="0"/>
              </a:rPr>
              <a:t>ĐA HÌNH</a:t>
            </a:r>
          </a:p>
        </p:txBody>
      </p:sp>
      <p:sp>
        <p:nvSpPr>
          <p:cNvPr id="2" name="Rectangle 1"/>
          <p:cNvSpPr/>
          <p:nvPr/>
        </p:nvSpPr>
        <p:spPr>
          <a:xfrm>
            <a:off x="79513" y="819186"/>
            <a:ext cx="4532010" cy="477054"/>
          </a:xfrm>
          <a:prstGeom prst="rect">
            <a:avLst/>
          </a:prstGeom>
        </p:spPr>
        <p:txBody>
          <a:bodyPr wrap="none">
            <a:spAutoFit/>
          </a:bodyPr>
          <a:lstStyle/>
          <a:p>
            <a:pPr eaLnBrk="0" fontAlgn="base" hangingPunct="0">
              <a:spcBef>
                <a:spcPct val="0"/>
              </a:spcBef>
              <a:spcAft>
                <a:spcPct val="0"/>
              </a:spcAft>
            </a:pPr>
            <a:r>
              <a:rPr lang="en-US" sz="2500" b="1" err="1">
                <a:latin typeface="Cambria" panose="02040503050406030204" pitchFamily="18" charset="0"/>
              </a:rPr>
              <a:t>Đa</a:t>
            </a:r>
            <a:r>
              <a:rPr lang="en-US" sz="2500" b="1">
                <a:latin typeface="Cambria" panose="02040503050406030204" pitchFamily="18" charset="0"/>
              </a:rPr>
              <a:t> </a:t>
            </a:r>
            <a:r>
              <a:rPr lang="en-US" sz="2500" b="1" err="1">
                <a:latin typeface="Cambria" panose="02040503050406030204" pitchFamily="18" charset="0"/>
              </a:rPr>
              <a:t>hình</a:t>
            </a:r>
            <a:r>
              <a:rPr lang="en-US" sz="2500" b="1">
                <a:latin typeface="Cambria" panose="02040503050406030204" pitchFamily="18" charset="0"/>
              </a:rPr>
              <a:t> </a:t>
            </a:r>
            <a:r>
              <a:rPr lang="en-US" sz="2500" b="1" err="1">
                <a:latin typeface="Cambria" panose="02040503050406030204" pitchFamily="18" charset="0"/>
              </a:rPr>
              <a:t>với</a:t>
            </a:r>
            <a:r>
              <a:rPr lang="en-US" sz="2500" b="1">
                <a:latin typeface="Cambria" panose="02040503050406030204" pitchFamily="18" charset="0"/>
              </a:rPr>
              <a:t> </a:t>
            </a:r>
            <a:r>
              <a:rPr lang="en-US" sz="2500" b="1" err="1">
                <a:latin typeface="Cambria" panose="02040503050406030204" pitchFamily="18" charset="0"/>
              </a:rPr>
              <a:t>lớp</a:t>
            </a:r>
            <a:r>
              <a:rPr lang="en-US" sz="2500" b="1">
                <a:latin typeface="Cambria" panose="02040503050406030204" pitchFamily="18" charset="0"/>
              </a:rPr>
              <a:t> </a:t>
            </a:r>
            <a:r>
              <a:rPr lang="en-US" sz="2500" b="1" err="1">
                <a:latin typeface="Cambria" panose="02040503050406030204" pitchFamily="18" charset="0"/>
              </a:rPr>
              <a:t>trong</a:t>
            </a:r>
            <a:r>
              <a:rPr lang="en-US" sz="2500" b="1">
                <a:latin typeface="Cambria" panose="02040503050406030204" pitchFamily="18" charset="0"/>
              </a:rPr>
              <a:t> </a:t>
            </a:r>
            <a:r>
              <a:rPr lang="en-US" sz="2500" b="1" err="1">
                <a:latin typeface="Cambria" panose="02040503050406030204" pitchFamily="18" charset="0"/>
              </a:rPr>
              <a:t>kế</a:t>
            </a:r>
            <a:r>
              <a:rPr lang="en-US" sz="2500" b="1">
                <a:latin typeface="Cambria" panose="02040503050406030204" pitchFamily="18" charset="0"/>
              </a:rPr>
              <a:t> </a:t>
            </a:r>
            <a:r>
              <a:rPr lang="en-US" sz="2500" b="1" err="1">
                <a:latin typeface="Cambria" panose="02040503050406030204" pitchFamily="18" charset="0"/>
              </a:rPr>
              <a:t>thừa</a:t>
            </a:r>
            <a:endParaRPr lang="en-US" sz="2500" b="1" kern="0">
              <a:solidFill>
                <a:srgbClr val="000000"/>
              </a:solidFill>
              <a:latin typeface="Cambria" panose="02040503050406030204" pitchFamily="18" charset="0"/>
            </a:endParaRPr>
          </a:p>
        </p:txBody>
      </p:sp>
      <p:pic>
        <p:nvPicPr>
          <p:cNvPr id="11" name="Picture 10"/>
          <p:cNvPicPr>
            <a:picLocks noChangeAspect="1"/>
          </p:cNvPicPr>
          <p:nvPr/>
        </p:nvPicPr>
        <p:blipFill>
          <a:blip r:embed="rId2"/>
          <a:stretch>
            <a:fillRect/>
          </a:stretch>
        </p:blipFill>
        <p:spPr>
          <a:xfrm>
            <a:off x="208721" y="1296240"/>
            <a:ext cx="6663419" cy="4888548"/>
          </a:xfrm>
          <a:prstGeom prst="rect">
            <a:avLst/>
          </a:prstGeom>
        </p:spPr>
      </p:pic>
      <p:pic>
        <p:nvPicPr>
          <p:cNvPr id="12" name="Picture 11"/>
          <p:cNvPicPr>
            <a:picLocks noChangeAspect="1"/>
          </p:cNvPicPr>
          <p:nvPr/>
        </p:nvPicPr>
        <p:blipFill>
          <a:blip r:embed="rId3"/>
          <a:stretch>
            <a:fillRect/>
          </a:stretch>
        </p:blipFill>
        <p:spPr>
          <a:xfrm>
            <a:off x="7001348" y="1416537"/>
            <a:ext cx="4965551" cy="2887767"/>
          </a:xfrm>
          <a:prstGeom prst="rect">
            <a:avLst/>
          </a:prstGeom>
        </p:spPr>
      </p:pic>
    </p:spTree>
    <p:extLst>
      <p:ext uri="{BB962C8B-B14F-4D97-AF65-F5344CB8AC3E}">
        <p14:creationId xmlns:p14="http://schemas.microsoft.com/office/powerpoint/2010/main" val="831527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latin typeface="Cambria" panose="02040503050406030204" pitchFamily="18" charset="0"/>
                <a:ea typeface="Cambria" panose="02040503050406030204" pitchFamily="18" charset="0"/>
              </a:rPr>
              <a:t>Bài</a:t>
            </a:r>
            <a:r>
              <a:rPr lang="en-US">
                <a:latin typeface="Cambria" panose="02040503050406030204" pitchFamily="18" charset="0"/>
                <a:ea typeface="Cambria" panose="02040503050406030204" pitchFamily="18" charset="0"/>
              </a:rPr>
              <a:t> 4 – </a:t>
            </a:r>
            <a:r>
              <a:rPr lang="en-US" spc="-5" err="1">
                <a:latin typeface="Cambria" panose="02040503050406030204" pitchFamily="18" charset="0"/>
                <a:ea typeface="Cambria" panose="02040503050406030204" pitchFamily="18" charset="0"/>
                <a:cs typeface="Arial"/>
              </a:rPr>
              <a:t>Lập</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trình</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hướng</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tượng</a:t>
            </a:r>
            <a:endParaRPr lang="en-US">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ỨNG DỤNG QUẢN LÝ SINH VIÊN</a:t>
            </a:r>
          </a:p>
        </p:txBody>
      </p:sp>
      <p:sp>
        <p:nvSpPr>
          <p:cNvPr id="11" name="Content Placeholder 2"/>
          <p:cNvSpPr>
            <a:spLocks noGrp="1"/>
          </p:cNvSpPr>
          <p:nvPr>
            <p:ph idx="1"/>
          </p:nvPr>
        </p:nvSpPr>
        <p:spPr>
          <a:xfrm>
            <a:off x="261730" y="779403"/>
            <a:ext cx="11668540" cy="5502127"/>
          </a:xfrm>
        </p:spPr>
        <p:txBody>
          <a:bodyPr>
            <a:noAutofit/>
          </a:bodyPr>
          <a:lstStyle/>
          <a:p>
            <a:pPr marL="0" indent="0">
              <a:lnSpc>
                <a:spcPct val="140000"/>
              </a:lnSpc>
              <a:spcBef>
                <a:spcPts val="0"/>
              </a:spcBef>
              <a:buNone/>
            </a:pPr>
            <a:r>
              <a:rPr lang="vi-VN" sz="2300" b="1" i="1" dirty="0">
                <a:latin typeface="Cambria" panose="02040503050406030204" pitchFamily="18" charset="0"/>
                <a:ea typeface="Cambria" panose="02040503050406030204" pitchFamily="18" charset="0"/>
              </a:rPr>
              <a:t>Viết chương trình Python với yêu cầu sau:</a:t>
            </a:r>
            <a:endParaRPr lang="en-US" sz="2300" b="1" i="1" dirty="0">
              <a:latin typeface="Cambria" panose="02040503050406030204" pitchFamily="18" charset="0"/>
              <a:ea typeface="Cambria" panose="02040503050406030204" pitchFamily="18" charset="0"/>
            </a:endParaRPr>
          </a:p>
          <a:p>
            <a:pPr marL="457200" indent="-457200">
              <a:lnSpc>
                <a:spcPct val="140000"/>
              </a:lnSpc>
              <a:spcBef>
                <a:spcPts val="0"/>
              </a:spcBef>
              <a:buAutoNum type="arabicPeriod"/>
            </a:pPr>
            <a:r>
              <a:rPr lang="vi-VN" sz="2300" dirty="0">
                <a:latin typeface="Cambria" panose="02040503050406030204" pitchFamily="18" charset="0"/>
                <a:ea typeface="Cambria" panose="02040503050406030204" pitchFamily="18" charset="0"/>
              </a:rPr>
              <a:t>Tạo một lớp Student với các trường thông tin (</a:t>
            </a:r>
            <a:r>
              <a:rPr lang="en-US" sz="2300" dirty="0" err="1">
                <a:latin typeface="Cambria" panose="02040503050406030204" pitchFamily="18" charset="0"/>
                <a:ea typeface="Cambria" panose="02040503050406030204" pitchFamily="18" charset="0"/>
              </a:rPr>
              <a:t>masv</a:t>
            </a:r>
            <a:r>
              <a:rPr lang="vi-VN" sz="2300" dirty="0">
                <a:latin typeface="Cambria" panose="02040503050406030204" pitchFamily="18" charset="0"/>
                <a:ea typeface="Cambria" panose="02040503050406030204" pitchFamily="18" charset="0"/>
              </a:rPr>
              <a:t>, </a:t>
            </a:r>
            <a:r>
              <a:rPr lang="en-US" sz="2300" dirty="0" err="1">
                <a:latin typeface="Cambria" panose="02040503050406030204" pitchFamily="18" charset="0"/>
                <a:ea typeface="Cambria" panose="02040503050406030204" pitchFamily="18" charset="0"/>
              </a:rPr>
              <a:t>hovaten</a:t>
            </a:r>
            <a:r>
              <a:rPr lang="vi-VN" sz="2300" dirty="0">
                <a:latin typeface="Cambria" panose="02040503050406030204" pitchFamily="18" charset="0"/>
                <a:ea typeface="Cambria" panose="02040503050406030204" pitchFamily="18" charset="0"/>
              </a:rPr>
              <a:t>, </a:t>
            </a:r>
            <a:r>
              <a:rPr lang="en-US" sz="2300" dirty="0" err="1">
                <a:latin typeface="Cambria" panose="02040503050406030204" pitchFamily="18" charset="0"/>
                <a:ea typeface="Cambria" panose="02040503050406030204" pitchFamily="18" charset="0"/>
              </a:rPr>
              <a:t>dtb</a:t>
            </a:r>
            <a:r>
              <a:rPr lang="vi-VN" sz="2300" dirty="0">
                <a:latin typeface="Cambria" panose="02040503050406030204" pitchFamily="18" charset="0"/>
                <a:ea typeface="Cambria" panose="02040503050406030204" pitchFamily="18" charset="0"/>
              </a:rPr>
              <a:t>)</a:t>
            </a:r>
            <a:r>
              <a:rPr lang="en-US" sz="2300" dirty="0">
                <a:latin typeface="Cambria" panose="02040503050406030204" pitchFamily="18" charset="0"/>
                <a:ea typeface="Cambria" panose="02040503050406030204" pitchFamily="18" charset="0"/>
              </a:rPr>
              <a:t> </a:t>
            </a:r>
            <a:r>
              <a:rPr lang="en-US" sz="2300" dirty="0" err="1">
                <a:latin typeface="Cambria" panose="02040503050406030204" pitchFamily="18" charset="0"/>
                <a:ea typeface="Cambria" panose="02040503050406030204" pitchFamily="18" charset="0"/>
              </a:rPr>
              <a:t>và</a:t>
            </a:r>
            <a:br>
              <a:rPr lang="vi-VN" sz="2300" dirty="0">
                <a:latin typeface="Cambria" panose="02040503050406030204" pitchFamily="18" charset="0"/>
                <a:ea typeface="Cambria" panose="02040503050406030204" pitchFamily="18" charset="0"/>
              </a:rPr>
            </a:br>
            <a:r>
              <a:rPr lang="vi-VN" sz="2300" dirty="0">
                <a:latin typeface="Cambria" panose="02040503050406030204" pitchFamily="18" charset="0"/>
                <a:ea typeface="Cambria" panose="02040503050406030204" pitchFamily="18" charset="0"/>
              </a:rPr>
              <a:t>- Tạo phương thức constructor với đầy đủ các tham số ứng với các trường</a:t>
            </a:r>
            <a:br>
              <a:rPr lang="vi-VN" sz="2300" dirty="0">
                <a:latin typeface="Cambria" panose="02040503050406030204" pitchFamily="18" charset="0"/>
                <a:ea typeface="Cambria" panose="02040503050406030204" pitchFamily="18" charset="0"/>
              </a:rPr>
            </a:br>
            <a:r>
              <a:rPr lang="vi-VN" sz="2300" dirty="0">
                <a:latin typeface="Cambria" panose="02040503050406030204" pitchFamily="18" charset="0"/>
                <a:ea typeface="Cambria" panose="02040503050406030204" pitchFamily="18" charset="0"/>
              </a:rPr>
              <a:t>- Tạo phương thức để nhập dữ liệu từ bàn phím cho các trường</a:t>
            </a:r>
            <a:br>
              <a:rPr lang="vi-VN" sz="2300" dirty="0">
                <a:latin typeface="Cambria" panose="02040503050406030204" pitchFamily="18" charset="0"/>
                <a:ea typeface="Cambria" panose="02040503050406030204" pitchFamily="18" charset="0"/>
              </a:rPr>
            </a:br>
            <a:r>
              <a:rPr lang="vi-VN" sz="2300" dirty="0">
                <a:latin typeface="Cambria" panose="02040503050406030204" pitchFamily="18" charset="0"/>
                <a:ea typeface="Cambria" panose="02040503050406030204" pitchFamily="18" charset="0"/>
              </a:rPr>
              <a:t>- Tạo phương thức để hiển thị thông tin: </a:t>
            </a:r>
            <a:r>
              <a:rPr lang="en-US" sz="2300" dirty="0" err="1">
                <a:latin typeface="Cambria" panose="02040503050406030204" pitchFamily="18" charset="0"/>
                <a:ea typeface="Cambria" panose="02040503050406030204" pitchFamily="18" charset="0"/>
              </a:rPr>
              <a:t>masv</a:t>
            </a:r>
            <a:r>
              <a:rPr lang="vi-VN" sz="2300" dirty="0">
                <a:latin typeface="Cambria" panose="02040503050406030204" pitchFamily="18" charset="0"/>
                <a:ea typeface="Cambria" panose="02040503050406030204" pitchFamily="18" charset="0"/>
              </a:rPr>
              <a:t>, </a:t>
            </a:r>
            <a:r>
              <a:rPr lang="en-US" sz="2300" dirty="0" err="1">
                <a:latin typeface="Cambria" panose="02040503050406030204" pitchFamily="18" charset="0"/>
                <a:ea typeface="Cambria" panose="02040503050406030204" pitchFamily="18" charset="0"/>
              </a:rPr>
              <a:t>hovaten</a:t>
            </a:r>
            <a:r>
              <a:rPr lang="vi-VN" sz="2300" dirty="0">
                <a:latin typeface="Cambria" panose="02040503050406030204" pitchFamily="18" charset="0"/>
                <a:ea typeface="Cambria" panose="02040503050406030204" pitchFamily="18" charset="0"/>
              </a:rPr>
              <a:t>, </a:t>
            </a:r>
            <a:r>
              <a:rPr lang="en-US" sz="2300" dirty="0" err="1">
                <a:latin typeface="Cambria" panose="02040503050406030204" pitchFamily="18" charset="0"/>
                <a:ea typeface="Cambria" panose="02040503050406030204" pitchFamily="18" charset="0"/>
              </a:rPr>
              <a:t>dtb</a:t>
            </a:r>
            <a:endParaRPr lang="en-US" sz="2300" dirty="0">
              <a:latin typeface="Cambria" panose="02040503050406030204" pitchFamily="18" charset="0"/>
              <a:ea typeface="Cambria" panose="02040503050406030204" pitchFamily="18" charset="0"/>
            </a:endParaRPr>
          </a:p>
          <a:p>
            <a:pPr marL="457200" indent="-457200">
              <a:lnSpc>
                <a:spcPct val="140000"/>
              </a:lnSpc>
              <a:spcBef>
                <a:spcPts val="0"/>
              </a:spcBef>
              <a:buAutoNum type="arabicPeriod"/>
            </a:pPr>
            <a:r>
              <a:rPr lang="vi-VN" sz="2300" dirty="0">
                <a:latin typeface="Cambria" panose="02040503050406030204" pitchFamily="18" charset="0"/>
                <a:ea typeface="Cambria" panose="02040503050406030204" pitchFamily="18" charset="0"/>
              </a:rPr>
              <a:t>Tạo một lớp </a:t>
            </a:r>
            <a:r>
              <a:rPr lang="vi-VN" sz="2300" b="1" dirty="0">
                <a:latin typeface="Cambria" panose="02040503050406030204" pitchFamily="18" charset="0"/>
                <a:ea typeface="Cambria" panose="02040503050406030204" pitchFamily="18" charset="0"/>
              </a:rPr>
              <a:t>StudentMana</a:t>
            </a:r>
            <a:r>
              <a:rPr lang="vi-VN" sz="2300" dirty="0">
                <a:latin typeface="Cambria" panose="02040503050406030204" pitchFamily="18" charset="0"/>
                <a:ea typeface="Cambria" panose="02040503050406030204" pitchFamily="18" charset="0"/>
              </a:rPr>
              <a:t> với trường </a:t>
            </a:r>
            <a:r>
              <a:rPr lang="vi-VN" sz="2300" b="1" dirty="0">
                <a:latin typeface="Cambria" panose="02040503050406030204" pitchFamily="18" charset="0"/>
                <a:ea typeface="Cambria" panose="02040503050406030204" pitchFamily="18" charset="0"/>
              </a:rPr>
              <a:t>liststudent</a:t>
            </a:r>
            <a:r>
              <a:rPr lang="en-US" sz="2300" b="1" dirty="0">
                <a:latin typeface="Cambria" panose="02040503050406030204" pitchFamily="18" charset="0"/>
                <a:ea typeface="Cambria" panose="02040503050406030204" pitchFamily="18" charset="0"/>
              </a:rPr>
              <a:t> </a:t>
            </a:r>
            <a:r>
              <a:rPr lang="vi-VN" sz="2300" dirty="0">
                <a:latin typeface="Cambria" panose="02040503050406030204" pitchFamily="18" charset="0"/>
                <a:ea typeface="Cambria" panose="02040503050406030204" pitchFamily="18" charset="0"/>
              </a:rPr>
              <a:t>để lưu trữ danh sách sinh viên. Trong lớp StudentMana tạo các ph</a:t>
            </a:r>
            <a:r>
              <a:rPr lang="en-US" sz="2300" dirty="0" err="1">
                <a:latin typeface="Cambria" panose="02040503050406030204" pitchFamily="18" charset="0"/>
                <a:ea typeface="Cambria" panose="02040503050406030204" pitchFamily="18" charset="0"/>
              </a:rPr>
              <a:t>ương</a:t>
            </a:r>
            <a:r>
              <a:rPr lang="en-US" sz="2300" dirty="0">
                <a:latin typeface="Cambria" panose="02040503050406030204" pitchFamily="18" charset="0"/>
                <a:ea typeface="Cambria" panose="02040503050406030204" pitchFamily="18" charset="0"/>
              </a:rPr>
              <a:t> </a:t>
            </a:r>
            <a:r>
              <a:rPr lang="vi-VN" sz="2300" dirty="0">
                <a:latin typeface="Cambria" panose="02040503050406030204" pitchFamily="18" charset="0"/>
                <a:ea typeface="Cambria" panose="02040503050406030204" pitchFamily="18" charset="0"/>
              </a:rPr>
              <a:t>thức như sau:</a:t>
            </a:r>
            <a:br>
              <a:rPr lang="vi-VN" sz="2300" dirty="0">
                <a:latin typeface="Cambria" panose="02040503050406030204" pitchFamily="18" charset="0"/>
                <a:ea typeface="Cambria" panose="02040503050406030204" pitchFamily="18" charset="0"/>
              </a:rPr>
            </a:br>
            <a:r>
              <a:rPr lang="vi-VN" sz="2300" dirty="0">
                <a:latin typeface="Cambria" panose="02040503050406030204" pitchFamily="18" charset="0"/>
                <a:ea typeface="Cambria" panose="02040503050406030204" pitchFamily="18" charset="0"/>
              </a:rPr>
              <a:t>- Tạo phương thức </a:t>
            </a:r>
            <a:r>
              <a:rPr lang="vi-VN" sz="2300" b="1" dirty="0">
                <a:latin typeface="Cambria" panose="02040503050406030204" pitchFamily="18" charset="0"/>
                <a:ea typeface="Cambria" panose="02040503050406030204" pitchFamily="18" charset="0"/>
              </a:rPr>
              <a:t>inputStudent</a:t>
            </a:r>
            <a:r>
              <a:rPr lang="vi-VN" sz="2300" dirty="0">
                <a:latin typeface="Cambria" panose="02040503050406030204" pitchFamily="18" charset="0"/>
                <a:ea typeface="Cambria" panose="02040503050406030204" pitchFamily="18" charset="0"/>
              </a:rPr>
              <a:t> để nhập sinh viên, nhập xong thì hỏi có nhập</a:t>
            </a:r>
            <a:r>
              <a:rPr lang="en-US" sz="2300" dirty="0">
                <a:latin typeface="Cambria" panose="02040503050406030204" pitchFamily="18" charset="0"/>
                <a:ea typeface="Cambria" panose="02040503050406030204" pitchFamily="18" charset="0"/>
              </a:rPr>
              <a:t> </a:t>
            </a:r>
            <a:r>
              <a:rPr lang="vi-VN" sz="2300" dirty="0">
                <a:latin typeface="Cambria" panose="02040503050406030204" pitchFamily="18" charset="0"/>
                <a:ea typeface="Cambria" panose="02040503050406030204" pitchFamily="18" charset="0"/>
              </a:rPr>
              <a:t>tiếp không?</a:t>
            </a:r>
            <a:br>
              <a:rPr lang="vi-VN" sz="2300" dirty="0">
                <a:latin typeface="Cambria" panose="02040503050406030204" pitchFamily="18" charset="0"/>
                <a:ea typeface="Cambria" panose="02040503050406030204" pitchFamily="18" charset="0"/>
              </a:rPr>
            </a:br>
            <a:r>
              <a:rPr lang="vi-VN" sz="2300" dirty="0">
                <a:latin typeface="Cambria" panose="02040503050406030204" pitchFamily="18" charset="0"/>
                <a:ea typeface="Cambria" panose="02040503050406030204" pitchFamily="18" charset="0"/>
              </a:rPr>
              <a:t>- Tạo phương thức </a:t>
            </a:r>
            <a:r>
              <a:rPr lang="en-US" sz="2300" dirty="0" err="1">
                <a:latin typeface="Cambria" panose="02040503050406030204" pitchFamily="18" charset="0"/>
                <a:ea typeface="Cambria" panose="02040503050406030204" pitchFamily="18" charset="0"/>
              </a:rPr>
              <a:t>Showall</a:t>
            </a:r>
            <a:r>
              <a:rPr lang="en-US" sz="2300" dirty="0">
                <a:latin typeface="Cambria" panose="02040503050406030204" pitchFamily="18" charset="0"/>
                <a:ea typeface="Cambria" panose="02040503050406030204" pitchFamily="18" charset="0"/>
              </a:rPr>
              <a:t> </a:t>
            </a:r>
            <a:r>
              <a:rPr lang="vi-VN" sz="2300" dirty="0">
                <a:latin typeface="Cambria" panose="02040503050406030204" pitchFamily="18" charset="0"/>
                <a:ea typeface="Cambria" panose="02040503050406030204" pitchFamily="18" charset="0"/>
              </a:rPr>
              <a:t>hiển thị tất cả sinh viên</a:t>
            </a:r>
            <a:br>
              <a:rPr lang="vi-VN" sz="2300" dirty="0">
                <a:latin typeface="Cambria" panose="02040503050406030204" pitchFamily="18" charset="0"/>
                <a:ea typeface="Cambria" panose="02040503050406030204" pitchFamily="18" charset="0"/>
              </a:rPr>
            </a:br>
            <a:r>
              <a:rPr lang="vi-VN" sz="2300" dirty="0">
                <a:latin typeface="Cambria" panose="02040503050406030204" pitchFamily="18" charset="0"/>
                <a:ea typeface="Cambria" panose="02040503050406030204" pitchFamily="18" charset="0"/>
              </a:rPr>
              <a:t>- Tạo phương thức sắp xếp sinh viên </a:t>
            </a:r>
            <a:r>
              <a:rPr lang="en-US" sz="2300" dirty="0" err="1">
                <a:latin typeface="Cambria" panose="02040503050406030204" pitchFamily="18" charset="0"/>
                <a:ea typeface="Cambria" panose="02040503050406030204" pitchFamily="18" charset="0"/>
              </a:rPr>
              <a:t>theo</a:t>
            </a:r>
            <a:r>
              <a:rPr lang="en-US" sz="2300" dirty="0">
                <a:latin typeface="Cambria" panose="02040503050406030204" pitchFamily="18" charset="0"/>
                <a:ea typeface="Cambria" panose="02040503050406030204" pitchFamily="18" charset="0"/>
              </a:rPr>
              <a:t> </a:t>
            </a:r>
            <a:r>
              <a:rPr lang="en-US" sz="2300" dirty="0" err="1">
                <a:latin typeface="Cambria" panose="02040503050406030204" pitchFamily="18" charset="0"/>
                <a:ea typeface="Cambria" panose="02040503050406030204" pitchFamily="18" charset="0"/>
              </a:rPr>
              <a:t>điểm</a:t>
            </a:r>
            <a:r>
              <a:rPr lang="en-US" sz="2300" dirty="0">
                <a:latin typeface="Cambria" panose="02040503050406030204" pitchFamily="18" charset="0"/>
                <a:ea typeface="Cambria" panose="02040503050406030204" pitchFamily="18" charset="0"/>
              </a:rPr>
              <a:t> </a:t>
            </a:r>
            <a:r>
              <a:rPr lang="en-US" sz="2300" dirty="0" err="1">
                <a:latin typeface="Cambria" panose="02040503050406030204" pitchFamily="18" charset="0"/>
                <a:ea typeface="Cambria" panose="02040503050406030204" pitchFamily="18" charset="0"/>
              </a:rPr>
              <a:t>trung</a:t>
            </a:r>
            <a:r>
              <a:rPr lang="en-US" sz="2300" dirty="0">
                <a:latin typeface="Cambria" panose="02040503050406030204" pitchFamily="18" charset="0"/>
                <a:ea typeface="Cambria" panose="02040503050406030204" pitchFamily="18" charset="0"/>
              </a:rPr>
              <a:t> </a:t>
            </a:r>
            <a:r>
              <a:rPr lang="en-US" sz="2300" dirty="0" err="1">
                <a:latin typeface="Cambria" panose="02040503050406030204" pitchFamily="18" charset="0"/>
                <a:ea typeface="Cambria" panose="02040503050406030204" pitchFamily="18" charset="0"/>
              </a:rPr>
              <a:t>bình</a:t>
            </a:r>
            <a:r>
              <a:rPr lang="en-US" sz="2300" dirty="0">
                <a:latin typeface="Cambria" panose="02040503050406030204" pitchFamily="18" charset="0"/>
                <a:ea typeface="Cambria" panose="02040503050406030204" pitchFamily="18" charset="0"/>
              </a:rPr>
              <a:t>.</a:t>
            </a:r>
            <a:endParaRPr lang="vi-VN" sz="23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071054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latin typeface="Cambria" panose="02040503050406030204" pitchFamily="18" charset="0"/>
                <a:ea typeface="Cambria" panose="02040503050406030204" pitchFamily="18" charset="0"/>
              </a:rPr>
              <a:t>Bài</a:t>
            </a:r>
            <a:r>
              <a:rPr lang="en-US">
                <a:latin typeface="Cambria" panose="02040503050406030204" pitchFamily="18" charset="0"/>
                <a:ea typeface="Cambria" panose="02040503050406030204" pitchFamily="18" charset="0"/>
              </a:rPr>
              <a:t> 4 – </a:t>
            </a:r>
            <a:r>
              <a:rPr lang="en-US" spc="-5" err="1">
                <a:latin typeface="Cambria" panose="02040503050406030204" pitchFamily="18" charset="0"/>
                <a:ea typeface="Cambria" panose="02040503050406030204" pitchFamily="18" charset="0"/>
                <a:cs typeface="Arial"/>
              </a:rPr>
              <a:t>Lập</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trình</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hướng</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tượng</a:t>
            </a:r>
            <a:endParaRPr lang="en-US">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ỨNG DỤNG QUẢN LÝ SINH VIÊN</a:t>
            </a:r>
          </a:p>
        </p:txBody>
      </p:sp>
      <p:sp>
        <p:nvSpPr>
          <p:cNvPr id="11" name="Content Placeholder 2"/>
          <p:cNvSpPr>
            <a:spLocks noGrp="1"/>
          </p:cNvSpPr>
          <p:nvPr>
            <p:ph idx="1"/>
          </p:nvPr>
        </p:nvSpPr>
        <p:spPr>
          <a:xfrm>
            <a:off x="261730" y="779403"/>
            <a:ext cx="11668540" cy="5452432"/>
          </a:xfrm>
        </p:spPr>
        <p:txBody>
          <a:bodyPr>
            <a:noAutofit/>
          </a:bodyPr>
          <a:lstStyle/>
          <a:p>
            <a:pPr marL="0" indent="0">
              <a:lnSpc>
                <a:spcPct val="140000"/>
              </a:lnSpc>
              <a:spcBef>
                <a:spcPts val="0"/>
              </a:spcBef>
              <a:buNone/>
            </a:pPr>
            <a:r>
              <a:rPr lang="en-US" sz="2300" dirty="0">
                <a:latin typeface="Cambria" panose="02040503050406030204" pitchFamily="18" charset="0"/>
                <a:ea typeface="Cambria" panose="02040503050406030204" pitchFamily="18" charset="0"/>
              </a:rPr>
              <a:t>-  In </a:t>
            </a:r>
            <a:r>
              <a:rPr lang="en-US" sz="2300" dirty="0" err="1">
                <a:latin typeface="Cambria" panose="02040503050406030204" pitchFamily="18" charset="0"/>
                <a:ea typeface="Cambria" panose="02040503050406030204" pitchFamily="18" charset="0"/>
              </a:rPr>
              <a:t>thông</a:t>
            </a:r>
            <a:r>
              <a:rPr lang="en-US" sz="2300" dirty="0">
                <a:latin typeface="Cambria" panose="02040503050406030204" pitchFamily="18" charset="0"/>
                <a:ea typeface="Cambria" panose="02040503050406030204" pitchFamily="18" charset="0"/>
              </a:rPr>
              <a:t> tin </a:t>
            </a:r>
            <a:r>
              <a:rPr lang="en-US" sz="2300" dirty="0" err="1">
                <a:latin typeface="Cambria" panose="02040503050406030204" pitchFamily="18" charset="0"/>
                <a:ea typeface="Cambria" panose="02040503050406030204" pitchFamily="18" charset="0"/>
              </a:rPr>
              <a:t>những</a:t>
            </a:r>
            <a:r>
              <a:rPr lang="en-US" sz="2300" dirty="0">
                <a:latin typeface="Cambria" panose="02040503050406030204" pitchFamily="18" charset="0"/>
                <a:ea typeface="Cambria" panose="02040503050406030204" pitchFamily="18" charset="0"/>
              </a:rPr>
              <a:t> </a:t>
            </a:r>
            <a:r>
              <a:rPr lang="en-US" sz="2300" dirty="0" err="1">
                <a:latin typeface="Cambria" panose="02040503050406030204" pitchFamily="18" charset="0"/>
                <a:ea typeface="Cambria" panose="02040503050406030204" pitchFamily="18" charset="0"/>
              </a:rPr>
              <a:t>sinh</a:t>
            </a:r>
            <a:r>
              <a:rPr lang="en-US" sz="2300" dirty="0">
                <a:latin typeface="Cambria" panose="02040503050406030204" pitchFamily="18" charset="0"/>
                <a:ea typeface="Cambria" panose="02040503050406030204" pitchFamily="18" charset="0"/>
              </a:rPr>
              <a:t> </a:t>
            </a:r>
            <a:r>
              <a:rPr lang="en-US" sz="2300" dirty="0" err="1">
                <a:latin typeface="Cambria" panose="02040503050406030204" pitchFamily="18" charset="0"/>
                <a:ea typeface="Cambria" panose="02040503050406030204" pitchFamily="18" charset="0"/>
              </a:rPr>
              <a:t>viên</a:t>
            </a:r>
            <a:r>
              <a:rPr lang="en-US" sz="2300" dirty="0">
                <a:latin typeface="Cambria" panose="02040503050406030204" pitchFamily="18" charset="0"/>
                <a:ea typeface="Cambria" panose="02040503050406030204" pitchFamily="18" charset="0"/>
              </a:rPr>
              <a:t> </a:t>
            </a:r>
            <a:r>
              <a:rPr lang="en-US" sz="2300" dirty="0" err="1">
                <a:latin typeface="Cambria" panose="02040503050406030204" pitchFamily="18" charset="0"/>
                <a:ea typeface="Cambria" panose="02040503050406030204" pitchFamily="18" charset="0"/>
              </a:rPr>
              <a:t>có</a:t>
            </a:r>
            <a:r>
              <a:rPr lang="en-US" sz="2300" dirty="0">
                <a:latin typeface="Cambria" panose="02040503050406030204" pitchFamily="18" charset="0"/>
                <a:ea typeface="Cambria" panose="02040503050406030204" pitchFamily="18" charset="0"/>
              </a:rPr>
              <a:t> </a:t>
            </a:r>
            <a:r>
              <a:rPr lang="en-US" sz="2300" dirty="0" err="1">
                <a:latin typeface="Cambria" panose="02040503050406030204" pitchFamily="18" charset="0"/>
                <a:ea typeface="Cambria" panose="02040503050406030204" pitchFamily="18" charset="0"/>
              </a:rPr>
              <a:t>điểm</a:t>
            </a:r>
            <a:r>
              <a:rPr lang="en-US" sz="2300" dirty="0">
                <a:latin typeface="Cambria" panose="02040503050406030204" pitchFamily="18" charset="0"/>
                <a:ea typeface="Cambria" panose="02040503050406030204" pitchFamily="18" charset="0"/>
              </a:rPr>
              <a:t> </a:t>
            </a:r>
            <a:r>
              <a:rPr lang="en-US" sz="2300" dirty="0" err="1">
                <a:latin typeface="Cambria" panose="02040503050406030204" pitchFamily="18" charset="0"/>
                <a:ea typeface="Cambria" panose="02040503050406030204" pitchFamily="18" charset="0"/>
              </a:rPr>
              <a:t>trung</a:t>
            </a:r>
            <a:r>
              <a:rPr lang="en-US" sz="2300" dirty="0">
                <a:latin typeface="Cambria" panose="02040503050406030204" pitchFamily="18" charset="0"/>
                <a:ea typeface="Cambria" panose="02040503050406030204" pitchFamily="18" charset="0"/>
              </a:rPr>
              <a:t> </a:t>
            </a:r>
            <a:r>
              <a:rPr lang="en-US" sz="2300" dirty="0" err="1">
                <a:latin typeface="Cambria" panose="02040503050406030204" pitchFamily="18" charset="0"/>
                <a:ea typeface="Cambria" panose="02040503050406030204" pitchFamily="18" charset="0"/>
              </a:rPr>
              <a:t>bình</a:t>
            </a:r>
            <a:r>
              <a:rPr lang="en-US" sz="2300" dirty="0">
                <a:latin typeface="Cambria" panose="02040503050406030204" pitchFamily="18" charset="0"/>
                <a:ea typeface="Cambria" panose="02040503050406030204" pitchFamily="18" charset="0"/>
              </a:rPr>
              <a:t> </a:t>
            </a:r>
            <a:r>
              <a:rPr lang="en-US" sz="2300" dirty="0" err="1">
                <a:latin typeface="Cambria" panose="02040503050406030204" pitchFamily="18" charset="0"/>
                <a:ea typeface="Cambria" panose="02040503050406030204" pitchFamily="18" charset="0"/>
              </a:rPr>
              <a:t>cao</a:t>
            </a:r>
            <a:r>
              <a:rPr lang="en-US" sz="2300" dirty="0">
                <a:latin typeface="Cambria" panose="02040503050406030204" pitchFamily="18" charset="0"/>
                <a:ea typeface="Cambria" panose="02040503050406030204" pitchFamily="18" charset="0"/>
              </a:rPr>
              <a:t> </a:t>
            </a:r>
            <a:r>
              <a:rPr lang="en-US" sz="2300" dirty="0" err="1">
                <a:latin typeface="Cambria" panose="02040503050406030204" pitchFamily="18" charset="0"/>
                <a:ea typeface="Cambria" panose="02040503050406030204" pitchFamily="18" charset="0"/>
              </a:rPr>
              <a:t>nhất</a:t>
            </a:r>
            <a:endParaRPr lang="en-US" sz="2300" dirty="0">
              <a:latin typeface="Cambria" panose="02040503050406030204" pitchFamily="18" charset="0"/>
              <a:ea typeface="Cambria" panose="02040503050406030204" pitchFamily="18" charset="0"/>
            </a:endParaRPr>
          </a:p>
          <a:p>
            <a:pPr>
              <a:lnSpc>
                <a:spcPct val="140000"/>
              </a:lnSpc>
              <a:spcBef>
                <a:spcPts val="0"/>
              </a:spcBef>
              <a:buFontTx/>
              <a:buChar char="-"/>
            </a:pPr>
            <a:r>
              <a:rPr lang="en-US" sz="2300" dirty="0" err="1">
                <a:latin typeface="Cambria" panose="02040503050406030204" pitchFamily="18" charset="0"/>
                <a:ea typeface="Cambria" panose="02040503050406030204" pitchFamily="18" charset="0"/>
              </a:rPr>
              <a:t>Liệt</a:t>
            </a:r>
            <a:r>
              <a:rPr lang="en-US" sz="2300" dirty="0">
                <a:latin typeface="Cambria" panose="02040503050406030204" pitchFamily="18" charset="0"/>
                <a:ea typeface="Cambria" panose="02040503050406030204" pitchFamily="18" charset="0"/>
              </a:rPr>
              <a:t> </a:t>
            </a:r>
            <a:r>
              <a:rPr lang="en-US" sz="2300" dirty="0" err="1">
                <a:latin typeface="Cambria" panose="02040503050406030204" pitchFamily="18" charset="0"/>
                <a:ea typeface="Cambria" panose="02040503050406030204" pitchFamily="18" charset="0"/>
              </a:rPr>
              <a:t>kê</a:t>
            </a:r>
            <a:r>
              <a:rPr lang="en-US" sz="2300" dirty="0">
                <a:latin typeface="Cambria" panose="02040503050406030204" pitchFamily="18" charset="0"/>
                <a:ea typeface="Cambria" panose="02040503050406030204" pitchFamily="18" charset="0"/>
              </a:rPr>
              <a:t> </a:t>
            </a:r>
            <a:r>
              <a:rPr lang="en-US" sz="2300" dirty="0" err="1">
                <a:latin typeface="Cambria" panose="02040503050406030204" pitchFamily="18" charset="0"/>
                <a:ea typeface="Cambria" panose="02040503050406030204" pitchFamily="18" charset="0"/>
              </a:rPr>
              <a:t>sinh</a:t>
            </a:r>
            <a:r>
              <a:rPr lang="en-US" sz="2300" dirty="0">
                <a:latin typeface="Cambria" panose="02040503050406030204" pitchFamily="18" charset="0"/>
                <a:ea typeface="Cambria" panose="02040503050406030204" pitchFamily="18" charset="0"/>
              </a:rPr>
              <a:t> </a:t>
            </a:r>
            <a:r>
              <a:rPr lang="en-US" sz="2300" dirty="0" err="1">
                <a:latin typeface="Cambria" panose="02040503050406030204" pitchFamily="18" charset="0"/>
                <a:ea typeface="Cambria" panose="02040503050406030204" pitchFamily="18" charset="0"/>
              </a:rPr>
              <a:t>viên</a:t>
            </a:r>
            <a:r>
              <a:rPr lang="en-US" sz="2300" dirty="0">
                <a:latin typeface="Cambria" panose="02040503050406030204" pitchFamily="18" charset="0"/>
                <a:ea typeface="Cambria" panose="02040503050406030204" pitchFamily="18" charset="0"/>
              </a:rPr>
              <a:t> </a:t>
            </a:r>
            <a:r>
              <a:rPr lang="en-US" sz="2300" dirty="0" err="1">
                <a:latin typeface="Cambria" panose="02040503050406030204" pitchFamily="18" charset="0"/>
                <a:ea typeface="Cambria" panose="02040503050406030204" pitchFamily="18" charset="0"/>
              </a:rPr>
              <a:t>có</a:t>
            </a:r>
            <a:r>
              <a:rPr lang="en-US" sz="2300" dirty="0">
                <a:latin typeface="Cambria" panose="02040503050406030204" pitchFamily="18" charset="0"/>
                <a:ea typeface="Cambria" panose="02040503050406030204" pitchFamily="18" charset="0"/>
              </a:rPr>
              <a:t> </a:t>
            </a:r>
            <a:r>
              <a:rPr lang="en-US" sz="2300" dirty="0" err="1">
                <a:latin typeface="Cambria" panose="02040503050406030204" pitchFamily="18" charset="0"/>
                <a:ea typeface="Cambria" panose="02040503050406030204" pitchFamily="18" charset="0"/>
              </a:rPr>
              <a:t>điểm</a:t>
            </a:r>
            <a:r>
              <a:rPr lang="en-US" sz="2300" dirty="0">
                <a:latin typeface="Cambria" panose="02040503050406030204" pitchFamily="18" charset="0"/>
                <a:ea typeface="Cambria" panose="02040503050406030204" pitchFamily="18" charset="0"/>
              </a:rPr>
              <a:t> </a:t>
            </a:r>
            <a:r>
              <a:rPr lang="en-US" sz="2300" dirty="0" err="1">
                <a:latin typeface="Cambria" panose="02040503050406030204" pitchFamily="18" charset="0"/>
                <a:ea typeface="Cambria" panose="02040503050406030204" pitchFamily="18" charset="0"/>
              </a:rPr>
              <a:t>trung</a:t>
            </a:r>
            <a:r>
              <a:rPr lang="en-US" sz="2300" dirty="0">
                <a:latin typeface="Cambria" panose="02040503050406030204" pitchFamily="18" charset="0"/>
                <a:ea typeface="Cambria" panose="02040503050406030204" pitchFamily="18" charset="0"/>
              </a:rPr>
              <a:t> </a:t>
            </a:r>
            <a:r>
              <a:rPr lang="en-US" sz="2300" dirty="0" err="1">
                <a:latin typeface="Cambria" panose="02040503050406030204" pitchFamily="18" charset="0"/>
                <a:ea typeface="Cambria" panose="02040503050406030204" pitchFamily="18" charset="0"/>
              </a:rPr>
              <a:t>bình</a:t>
            </a:r>
            <a:r>
              <a:rPr lang="en-US" sz="2300" dirty="0">
                <a:latin typeface="Cambria" panose="02040503050406030204" pitchFamily="18" charset="0"/>
                <a:ea typeface="Cambria" panose="02040503050406030204" pitchFamily="18" charset="0"/>
              </a:rPr>
              <a:t> </a:t>
            </a:r>
            <a:r>
              <a:rPr lang="en-US" sz="2300" dirty="0" err="1">
                <a:latin typeface="Cambria" panose="02040503050406030204" pitchFamily="18" charset="0"/>
                <a:ea typeface="Cambria" panose="02040503050406030204" pitchFamily="18" charset="0"/>
              </a:rPr>
              <a:t>từ</a:t>
            </a:r>
            <a:r>
              <a:rPr lang="en-US" sz="2300" dirty="0">
                <a:latin typeface="Cambria" panose="02040503050406030204" pitchFamily="18" charset="0"/>
                <a:ea typeface="Cambria" panose="02040503050406030204" pitchFamily="18" charset="0"/>
              </a:rPr>
              <a:t> 9 </a:t>
            </a:r>
            <a:r>
              <a:rPr lang="en-US" sz="2300" dirty="0" err="1">
                <a:latin typeface="Cambria" panose="02040503050406030204" pitchFamily="18" charset="0"/>
                <a:ea typeface="Cambria" panose="02040503050406030204" pitchFamily="18" charset="0"/>
              </a:rPr>
              <a:t>trở</a:t>
            </a:r>
            <a:r>
              <a:rPr lang="en-US" sz="2300" dirty="0">
                <a:latin typeface="Cambria" panose="02040503050406030204" pitchFamily="18" charset="0"/>
                <a:ea typeface="Cambria" panose="02040503050406030204" pitchFamily="18" charset="0"/>
              </a:rPr>
              <a:t> </a:t>
            </a:r>
            <a:r>
              <a:rPr lang="en-US" sz="2300" dirty="0" err="1">
                <a:latin typeface="Cambria" panose="02040503050406030204" pitchFamily="18" charset="0"/>
                <a:ea typeface="Cambria" panose="02040503050406030204" pitchFamily="18" charset="0"/>
              </a:rPr>
              <a:t>lên</a:t>
            </a:r>
            <a:endParaRPr lang="en-US" sz="2300" dirty="0">
              <a:latin typeface="Cambria" panose="02040503050406030204" pitchFamily="18" charset="0"/>
              <a:ea typeface="Cambria" panose="02040503050406030204" pitchFamily="18" charset="0"/>
            </a:endParaRPr>
          </a:p>
          <a:p>
            <a:pPr>
              <a:lnSpc>
                <a:spcPct val="140000"/>
              </a:lnSpc>
              <a:spcBef>
                <a:spcPts val="0"/>
              </a:spcBef>
              <a:buFontTx/>
              <a:buChar char="-"/>
            </a:pPr>
            <a:r>
              <a:rPr lang="vi-VN" sz="2300" b="1" i="1" dirty="0">
                <a:latin typeface="Cambria" panose="02040503050406030204" pitchFamily="18" charset="0"/>
                <a:ea typeface="Cambria" panose="02040503050406030204" pitchFamily="18" charset="0"/>
              </a:rPr>
              <a:t>Tạo menu lựa chọn</a:t>
            </a:r>
            <a:br>
              <a:rPr lang="vi-VN" sz="2300" b="1" i="1" dirty="0">
                <a:latin typeface="Cambria" panose="02040503050406030204" pitchFamily="18" charset="0"/>
                <a:ea typeface="Cambria" panose="02040503050406030204" pitchFamily="18" charset="0"/>
              </a:rPr>
            </a:br>
            <a:r>
              <a:rPr lang="vi-VN" sz="2300" dirty="0">
                <a:latin typeface="Cambria" panose="02040503050406030204" pitchFamily="18" charset="0"/>
                <a:ea typeface="Cambria" panose="02040503050406030204" pitchFamily="18" charset="0"/>
              </a:rPr>
              <a:t>1. Nhập danh sách sinh viên</a:t>
            </a:r>
            <a:br>
              <a:rPr lang="vi-VN" sz="2300" dirty="0">
                <a:latin typeface="Cambria" panose="02040503050406030204" pitchFamily="18" charset="0"/>
                <a:ea typeface="Cambria" panose="02040503050406030204" pitchFamily="18" charset="0"/>
              </a:rPr>
            </a:br>
            <a:r>
              <a:rPr lang="vi-VN" sz="2300" dirty="0">
                <a:latin typeface="Cambria" panose="02040503050406030204" pitchFamily="18" charset="0"/>
                <a:ea typeface="Cambria" panose="02040503050406030204" pitchFamily="18" charset="0"/>
              </a:rPr>
              <a:t>2. Hiển thị danh sách sinh viên</a:t>
            </a:r>
            <a:br>
              <a:rPr lang="vi-VN" sz="2300" dirty="0">
                <a:latin typeface="Cambria" panose="02040503050406030204" pitchFamily="18" charset="0"/>
                <a:ea typeface="Cambria" panose="02040503050406030204" pitchFamily="18" charset="0"/>
              </a:rPr>
            </a:br>
            <a:r>
              <a:rPr lang="vi-VN" sz="2300" dirty="0">
                <a:latin typeface="Cambria" panose="02040503050406030204" pitchFamily="18" charset="0"/>
                <a:ea typeface="Cambria" panose="02040503050406030204" pitchFamily="18" charset="0"/>
              </a:rPr>
              <a:t>3. Sắp xếp theo điểm</a:t>
            </a:r>
            <a:r>
              <a:rPr lang="en-US" sz="2300" dirty="0">
                <a:latin typeface="Cambria" panose="02040503050406030204" pitchFamily="18" charset="0"/>
                <a:ea typeface="Cambria" panose="02040503050406030204" pitchFamily="18" charset="0"/>
              </a:rPr>
              <a:t> </a:t>
            </a:r>
            <a:r>
              <a:rPr lang="en-US" sz="2300" dirty="0" err="1">
                <a:latin typeface="Cambria" panose="02040503050406030204" pitchFamily="18" charset="0"/>
                <a:ea typeface="Cambria" panose="02040503050406030204" pitchFamily="18" charset="0"/>
              </a:rPr>
              <a:t>trung</a:t>
            </a:r>
            <a:r>
              <a:rPr lang="en-US" sz="2300" dirty="0">
                <a:latin typeface="Cambria" panose="02040503050406030204" pitchFamily="18" charset="0"/>
                <a:ea typeface="Cambria" panose="02040503050406030204" pitchFamily="18" charset="0"/>
              </a:rPr>
              <a:t> </a:t>
            </a:r>
            <a:r>
              <a:rPr lang="en-US" sz="2300" dirty="0" err="1">
                <a:latin typeface="Cambria" panose="02040503050406030204" pitchFamily="18" charset="0"/>
                <a:ea typeface="Cambria" panose="02040503050406030204" pitchFamily="18" charset="0"/>
              </a:rPr>
              <a:t>bình</a:t>
            </a:r>
            <a:r>
              <a:rPr lang="vi-VN" sz="2300" dirty="0">
                <a:latin typeface="Cambria" panose="02040503050406030204" pitchFamily="18" charset="0"/>
                <a:ea typeface="Cambria" panose="02040503050406030204" pitchFamily="18" charset="0"/>
              </a:rPr>
              <a:t> tăng dần</a:t>
            </a:r>
            <a:endParaRPr lang="en-US" sz="2300" dirty="0">
              <a:latin typeface="Cambria" panose="02040503050406030204" pitchFamily="18" charset="0"/>
              <a:ea typeface="Cambria" panose="02040503050406030204" pitchFamily="18" charset="0"/>
            </a:endParaRPr>
          </a:p>
          <a:p>
            <a:pPr marL="0" indent="0">
              <a:lnSpc>
                <a:spcPct val="140000"/>
              </a:lnSpc>
              <a:spcBef>
                <a:spcPts val="0"/>
              </a:spcBef>
              <a:buNone/>
            </a:pPr>
            <a:r>
              <a:rPr lang="en-US" sz="2300" dirty="0">
                <a:latin typeface="Cambria" panose="02040503050406030204" pitchFamily="18" charset="0"/>
                <a:ea typeface="Cambria" panose="02040503050406030204" pitchFamily="18" charset="0"/>
              </a:rPr>
              <a:t>    4. In </a:t>
            </a:r>
            <a:r>
              <a:rPr lang="en-US" sz="2300" dirty="0" err="1">
                <a:latin typeface="Cambria" panose="02040503050406030204" pitchFamily="18" charset="0"/>
                <a:ea typeface="Cambria" panose="02040503050406030204" pitchFamily="18" charset="0"/>
              </a:rPr>
              <a:t>thông</a:t>
            </a:r>
            <a:r>
              <a:rPr lang="en-US" sz="2300" dirty="0">
                <a:latin typeface="Cambria" panose="02040503050406030204" pitchFamily="18" charset="0"/>
                <a:ea typeface="Cambria" panose="02040503050406030204" pitchFamily="18" charset="0"/>
              </a:rPr>
              <a:t> tin </a:t>
            </a:r>
            <a:r>
              <a:rPr lang="en-US" sz="2300" dirty="0" err="1">
                <a:latin typeface="Cambria" panose="02040503050406030204" pitchFamily="18" charset="0"/>
                <a:ea typeface="Cambria" panose="02040503050406030204" pitchFamily="18" charset="0"/>
              </a:rPr>
              <a:t>những</a:t>
            </a:r>
            <a:r>
              <a:rPr lang="en-US" sz="2300" dirty="0">
                <a:latin typeface="Cambria" panose="02040503050406030204" pitchFamily="18" charset="0"/>
                <a:ea typeface="Cambria" panose="02040503050406030204" pitchFamily="18" charset="0"/>
              </a:rPr>
              <a:t> </a:t>
            </a:r>
            <a:r>
              <a:rPr lang="en-US" sz="2300" dirty="0" err="1">
                <a:latin typeface="Cambria" panose="02040503050406030204" pitchFamily="18" charset="0"/>
                <a:ea typeface="Cambria" panose="02040503050406030204" pitchFamily="18" charset="0"/>
              </a:rPr>
              <a:t>sinh</a:t>
            </a:r>
            <a:r>
              <a:rPr lang="en-US" sz="2300" dirty="0">
                <a:latin typeface="Cambria" panose="02040503050406030204" pitchFamily="18" charset="0"/>
                <a:ea typeface="Cambria" panose="02040503050406030204" pitchFamily="18" charset="0"/>
              </a:rPr>
              <a:t> </a:t>
            </a:r>
            <a:r>
              <a:rPr lang="en-US" sz="2300" dirty="0" err="1">
                <a:latin typeface="Cambria" panose="02040503050406030204" pitchFamily="18" charset="0"/>
                <a:ea typeface="Cambria" panose="02040503050406030204" pitchFamily="18" charset="0"/>
              </a:rPr>
              <a:t>viên</a:t>
            </a:r>
            <a:r>
              <a:rPr lang="en-US" sz="2300" dirty="0">
                <a:latin typeface="Cambria" panose="02040503050406030204" pitchFamily="18" charset="0"/>
                <a:ea typeface="Cambria" panose="02040503050406030204" pitchFamily="18" charset="0"/>
              </a:rPr>
              <a:t> </a:t>
            </a:r>
            <a:r>
              <a:rPr lang="en-US" sz="2300" dirty="0" err="1">
                <a:latin typeface="Cambria" panose="02040503050406030204" pitchFamily="18" charset="0"/>
                <a:ea typeface="Cambria" panose="02040503050406030204" pitchFamily="18" charset="0"/>
              </a:rPr>
              <a:t>có</a:t>
            </a:r>
            <a:r>
              <a:rPr lang="en-US" sz="2300" dirty="0">
                <a:latin typeface="Cambria" panose="02040503050406030204" pitchFamily="18" charset="0"/>
                <a:ea typeface="Cambria" panose="02040503050406030204" pitchFamily="18" charset="0"/>
              </a:rPr>
              <a:t> </a:t>
            </a:r>
            <a:r>
              <a:rPr lang="en-US" sz="2300" dirty="0" err="1">
                <a:latin typeface="Cambria" panose="02040503050406030204" pitchFamily="18" charset="0"/>
                <a:ea typeface="Cambria" panose="02040503050406030204" pitchFamily="18" charset="0"/>
              </a:rPr>
              <a:t>điểm</a:t>
            </a:r>
            <a:r>
              <a:rPr lang="en-US" sz="2300" dirty="0">
                <a:latin typeface="Cambria" panose="02040503050406030204" pitchFamily="18" charset="0"/>
                <a:ea typeface="Cambria" panose="02040503050406030204" pitchFamily="18" charset="0"/>
              </a:rPr>
              <a:t> </a:t>
            </a:r>
            <a:r>
              <a:rPr lang="en-US" sz="2300" dirty="0" err="1">
                <a:latin typeface="Cambria" panose="02040503050406030204" pitchFamily="18" charset="0"/>
                <a:ea typeface="Cambria" panose="02040503050406030204" pitchFamily="18" charset="0"/>
              </a:rPr>
              <a:t>trung</a:t>
            </a:r>
            <a:r>
              <a:rPr lang="en-US" sz="2300" dirty="0">
                <a:latin typeface="Cambria" panose="02040503050406030204" pitchFamily="18" charset="0"/>
                <a:ea typeface="Cambria" panose="02040503050406030204" pitchFamily="18" charset="0"/>
              </a:rPr>
              <a:t> </a:t>
            </a:r>
            <a:r>
              <a:rPr lang="en-US" sz="2300" dirty="0" err="1">
                <a:latin typeface="Cambria" panose="02040503050406030204" pitchFamily="18" charset="0"/>
                <a:ea typeface="Cambria" panose="02040503050406030204" pitchFamily="18" charset="0"/>
              </a:rPr>
              <a:t>bình</a:t>
            </a:r>
            <a:r>
              <a:rPr lang="en-US" sz="2300" dirty="0">
                <a:latin typeface="Cambria" panose="02040503050406030204" pitchFamily="18" charset="0"/>
                <a:ea typeface="Cambria" panose="02040503050406030204" pitchFamily="18" charset="0"/>
              </a:rPr>
              <a:t> </a:t>
            </a:r>
            <a:r>
              <a:rPr lang="en-US" sz="2300" dirty="0" err="1">
                <a:latin typeface="Cambria" panose="02040503050406030204" pitchFamily="18" charset="0"/>
                <a:ea typeface="Cambria" panose="02040503050406030204" pitchFamily="18" charset="0"/>
              </a:rPr>
              <a:t>cao</a:t>
            </a:r>
            <a:r>
              <a:rPr lang="en-US" sz="2300" dirty="0">
                <a:latin typeface="Cambria" panose="02040503050406030204" pitchFamily="18" charset="0"/>
                <a:ea typeface="Cambria" panose="02040503050406030204" pitchFamily="18" charset="0"/>
              </a:rPr>
              <a:t> </a:t>
            </a:r>
            <a:r>
              <a:rPr lang="en-US" sz="2300" dirty="0" err="1">
                <a:latin typeface="Cambria" panose="02040503050406030204" pitchFamily="18" charset="0"/>
                <a:ea typeface="Cambria" panose="02040503050406030204" pitchFamily="18" charset="0"/>
              </a:rPr>
              <a:t>nhất</a:t>
            </a:r>
            <a:endParaRPr lang="en-US" sz="2300" dirty="0">
              <a:latin typeface="Cambria" panose="02040503050406030204" pitchFamily="18" charset="0"/>
              <a:ea typeface="Cambria" panose="02040503050406030204" pitchFamily="18" charset="0"/>
            </a:endParaRPr>
          </a:p>
          <a:p>
            <a:pPr marL="0" indent="0">
              <a:lnSpc>
                <a:spcPct val="140000"/>
              </a:lnSpc>
              <a:spcBef>
                <a:spcPts val="0"/>
              </a:spcBef>
              <a:buNone/>
            </a:pPr>
            <a:r>
              <a:rPr lang="en-US" sz="2300" dirty="0">
                <a:latin typeface="Cambria" panose="02040503050406030204" pitchFamily="18" charset="0"/>
                <a:ea typeface="Cambria" panose="02040503050406030204" pitchFamily="18" charset="0"/>
              </a:rPr>
              <a:t>    5. </a:t>
            </a:r>
            <a:r>
              <a:rPr lang="en-US" sz="2300" dirty="0" err="1">
                <a:latin typeface="Cambria" panose="02040503050406030204" pitchFamily="18" charset="0"/>
                <a:ea typeface="Cambria" panose="02040503050406030204" pitchFamily="18" charset="0"/>
              </a:rPr>
              <a:t>Liệt</a:t>
            </a:r>
            <a:r>
              <a:rPr lang="en-US" sz="2300" dirty="0">
                <a:latin typeface="Cambria" panose="02040503050406030204" pitchFamily="18" charset="0"/>
                <a:ea typeface="Cambria" panose="02040503050406030204" pitchFamily="18" charset="0"/>
              </a:rPr>
              <a:t> </a:t>
            </a:r>
            <a:r>
              <a:rPr lang="en-US" sz="2300" dirty="0" err="1">
                <a:latin typeface="Cambria" panose="02040503050406030204" pitchFamily="18" charset="0"/>
                <a:ea typeface="Cambria" panose="02040503050406030204" pitchFamily="18" charset="0"/>
              </a:rPr>
              <a:t>kê</a:t>
            </a:r>
            <a:r>
              <a:rPr lang="en-US" sz="2300" dirty="0">
                <a:latin typeface="Cambria" panose="02040503050406030204" pitchFamily="18" charset="0"/>
                <a:ea typeface="Cambria" panose="02040503050406030204" pitchFamily="18" charset="0"/>
              </a:rPr>
              <a:t> </a:t>
            </a:r>
            <a:r>
              <a:rPr lang="en-US" sz="2300" dirty="0" err="1">
                <a:latin typeface="Cambria" panose="02040503050406030204" pitchFamily="18" charset="0"/>
                <a:ea typeface="Cambria" panose="02040503050406030204" pitchFamily="18" charset="0"/>
              </a:rPr>
              <a:t>sinh</a:t>
            </a:r>
            <a:r>
              <a:rPr lang="en-US" sz="2300" dirty="0">
                <a:latin typeface="Cambria" panose="02040503050406030204" pitchFamily="18" charset="0"/>
                <a:ea typeface="Cambria" panose="02040503050406030204" pitchFamily="18" charset="0"/>
              </a:rPr>
              <a:t> </a:t>
            </a:r>
            <a:r>
              <a:rPr lang="en-US" sz="2300" dirty="0" err="1">
                <a:latin typeface="Cambria" panose="02040503050406030204" pitchFamily="18" charset="0"/>
                <a:ea typeface="Cambria" panose="02040503050406030204" pitchFamily="18" charset="0"/>
              </a:rPr>
              <a:t>viên</a:t>
            </a:r>
            <a:r>
              <a:rPr lang="en-US" sz="2300" dirty="0">
                <a:latin typeface="Cambria" panose="02040503050406030204" pitchFamily="18" charset="0"/>
                <a:ea typeface="Cambria" panose="02040503050406030204" pitchFamily="18" charset="0"/>
              </a:rPr>
              <a:t> </a:t>
            </a:r>
            <a:r>
              <a:rPr lang="en-US" sz="2300" dirty="0" err="1">
                <a:latin typeface="Cambria" panose="02040503050406030204" pitchFamily="18" charset="0"/>
                <a:ea typeface="Cambria" panose="02040503050406030204" pitchFamily="18" charset="0"/>
              </a:rPr>
              <a:t>có</a:t>
            </a:r>
            <a:r>
              <a:rPr lang="en-US" sz="2300" dirty="0">
                <a:latin typeface="Cambria" panose="02040503050406030204" pitchFamily="18" charset="0"/>
                <a:ea typeface="Cambria" panose="02040503050406030204" pitchFamily="18" charset="0"/>
              </a:rPr>
              <a:t> </a:t>
            </a:r>
            <a:r>
              <a:rPr lang="en-US" sz="2300" dirty="0" err="1">
                <a:latin typeface="Cambria" panose="02040503050406030204" pitchFamily="18" charset="0"/>
                <a:ea typeface="Cambria" panose="02040503050406030204" pitchFamily="18" charset="0"/>
              </a:rPr>
              <a:t>điểm</a:t>
            </a:r>
            <a:r>
              <a:rPr lang="en-US" sz="2300" dirty="0">
                <a:latin typeface="Cambria" panose="02040503050406030204" pitchFamily="18" charset="0"/>
                <a:ea typeface="Cambria" panose="02040503050406030204" pitchFamily="18" charset="0"/>
              </a:rPr>
              <a:t> </a:t>
            </a:r>
            <a:r>
              <a:rPr lang="en-US" sz="2300" dirty="0" err="1">
                <a:latin typeface="Cambria" panose="02040503050406030204" pitchFamily="18" charset="0"/>
                <a:ea typeface="Cambria" panose="02040503050406030204" pitchFamily="18" charset="0"/>
              </a:rPr>
              <a:t>trung</a:t>
            </a:r>
            <a:r>
              <a:rPr lang="en-US" sz="2300" dirty="0">
                <a:latin typeface="Cambria" panose="02040503050406030204" pitchFamily="18" charset="0"/>
                <a:ea typeface="Cambria" panose="02040503050406030204" pitchFamily="18" charset="0"/>
              </a:rPr>
              <a:t> </a:t>
            </a:r>
            <a:r>
              <a:rPr lang="en-US" sz="2300" dirty="0" err="1">
                <a:latin typeface="Cambria" panose="02040503050406030204" pitchFamily="18" charset="0"/>
                <a:ea typeface="Cambria" panose="02040503050406030204" pitchFamily="18" charset="0"/>
              </a:rPr>
              <a:t>bình</a:t>
            </a:r>
            <a:r>
              <a:rPr lang="en-US" sz="2300" dirty="0">
                <a:latin typeface="Cambria" panose="02040503050406030204" pitchFamily="18" charset="0"/>
                <a:ea typeface="Cambria" panose="02040503050406030204" pitchFamily="18" charset="0"/>
              </a:rPr>
              <a:t> </a:t>
            </a:r>
            <a:r>
              <a:rPr lang="en-US" sz="2300" dirty="0" err="1">
                <a:latin typeface="Cambria" panose="02040503050406030204" pitchFamily="18" charset="0"/>
                <a:ea typeface="Cambria" panose="02040503050406030204" pitchFamily="18" charset="0"/>
              </a:rPr>
              <a:t>từ</a:t>
            </a:r>
            <a:r>
              <a:rPr lang="en-US" sz="2300" dirty="0">
                <a:latin typeface="Cambria" panose="02040503050406030204" pitchFamily="18" charset="0"/>
                <a:ea typeface="Cambria" panose="02040503050406030204" pitchFamily="18" charset="0"/>
              </a:rPr>
              <a:t> 9 </a:t>
            </a:r>
            <a:r>
              <a:rPr lang="en-US" sz="2300" dirty="0" err="1">
                <a:latin typeface="Cambria" panose="02040503050406030204" pitchFamily="18" charset="0"/>
                <a:ea typeface="Cambria" panose="02040503050406030204" pitchFamily="18" charset="0"/>
              </a:rPr>
              <a:t>trở</a:t>
            </a:r>
            <a:r>
              <a:rPr lang="en-US" sz="2300" dirty="0">
                <a:latin typeface="Cambria" panose="02040503050406030204" pitchFamily="18" charset="0"/>
                <a:ea typeface="Cambria" panose="02040503050406030204" pitchFamily="18" charset="0"/>
              </a:rPr>
              <a:t> </a:t>
            </a:r>
            <a:r>
              <a:rPr lang="en-US" sz="2300" dirty="0" err="1">
                <a:latin typeface="Cambria" panose="02040503050406030204" pitchFamily="18" charset="0"/>
                <a:ea typeface="Cambria" panose="02040503050406030204" pitchFamily="18" charset="0"/>
              </a:rPr>
              <a:t>lên</a:t>
            </a:r>
            <a:endParaRPr lang="en-US" sz="2300" dirty="0">
              <a:latin typeface="Cambria" panose="02040503050406030204" pitchFamily="18" charset="0"/>
              <a:ea typeface="Cambria" panose="02040503050406030204" pitchFamily="18" charset="0"/>
            </a:endParaRPr>
          </a:p>
          <a:p>
            <a:pPr marL="0" indent="0">
              <a:lnSpc>
                <a:spcPct val="140000"/>
              </a:lnSpc>
              <a:spcBef>
                <a:spcPts val="0"/>
              </a:spcBef>
              <a:buNone/>
            </a:pPr>
            <a:r>
              <a:rPr lang="en-US" sz="2300" dirty="0">
                <a:latin typeface="Cambria" panose="02040503050406030204" pitchFamily="18" charset="0"/>
                <a:ea typeface="Cambria" panose="02040503050406030204" pitchFamily="18" charset="0"/>
              </a:rPr>
              <a:t>    6. </a:t>
            </a:r>
            <a:r>
              <a:rPr lang="vi-VN" sz="2300" dirty="0">
                <a:latin typeface="Cambria" panose="02040503050406030204" pitchFamily="18" charset="0"/>
                <a:ea typeface="Cambria" panose="02040503050406030204" pitchFamily="18" charset="0"/>
              </a:rPr>
              <a:t>Thoát </a:t>
            </a:r>
            <a:br>
              <a:rPr lang="vi-VN" sz="2300" dirty="0">
                <a:latin typeface="Cambria" panose="02040503050406030204" pitchFamily="18" charset="0"/>
                <a:ea typeface="Cambria" panose="02040503050406030204" pitchFamily="18" charset="0"/>
              </a:rPr>
            </a:br>
            <a:endParaRPr lang="vi-VN" sz="23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7110641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latin typeface="Cambria" panose="02040503050406030204" pitchFamily="18" charset="0"/>
                <a:ea typeface="Cambria" panose="02040503050406030204" pitchFamily="18" charset="0"/>
              </a:rPr>
              <a:t>Bài</a:t>
            </a:r>
            <a:r>
              <a:rPr lang="en-US">
                <a:latin typeface="Cambria" panose="02040503050406030204" pitchFamily="18" charset="0"/>
                <a:ea typeface="Cambria" panose="02040503050406030204" pitchFamily="18" charset="0"/>
              </a:rPr>
              <a:t> 4 – </a:t>
            </a:r>
            <a:r>
              <a:rPr lang="en-US" spc="-5" err="1">
                <a:latin typeface="Cambria" panose="02040503050406030204" pitchFamily="18" charset="0"/>
                <a:ea typeface="Cambria" panose="02040503050406030204" pitchFamily="18" charset="0"/>
                <a:cs typeface="Arial"/>
              </a:rPr>
              <a:t>Lập</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trình</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hướng</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tượng</a:t>
            </a:r>
            <a:endParaRPr lang="en-US">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ỨNG DỤNG QUẢN LÝ SINH VIÊN</a:t>
            </a:r>
          </a:p>
        </p:txBody>
      </p:sp>
      <p:pic>
        <p:nvPicPr>
          <p:cNvPr id="2" name="Picture 1"/>
          <p:cNvPicPr>
            <a:picLocks noChangeAspect="1"/>
          </p:cNvPicPr>
          <p:nvPr/>
        </p:nvPicPr>
        <p:blipFill>
          <a:blip r:embed="rId2"/>
          <a:stretch>
            <a:fillRect/>
          </a:stretch>
        </p:blipFill>
        <p:spPr>
          <a:xfrm>
            <a:off x="244763" y="911859"/>
            <a:ext cx="11314443" cy="5051619"/>
          </a:xfrm>
          <a:prstGeom prst="rect">
            <a:avLst/>
          </a:prstGeom>
        </p:spPr>
      </p:pic>
    </p:spTree>
    <p:extLst>
      <p:ext uri="{BB962C8B-B14F-4D97-AF65-F5344CB8AC3E}">
        <p14:creationId xmlns:p14="http://schemas.microsoft.com/office/powerpoint/2010/main" val="7571160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latin typeface="Cambria" panose="02040503050406030204" pitchFamily="18" charset="0"/>
                <a:ea typeface="Cambria" panose="02040503050406030204" pitchFamily="18" charset="0"/>
              </a:rPr>
              <a:t>Bài</a:t>
            </a:r>
            <a:r>
              <a:rPr lang="en-US">
                <a:latin typeface="Cambria" panose="02040503050406030204" pitchFamily="18" charset="0"/>
                <a:ea typeface="Cambria" panose="02040503050406030204" pitchFamily="18" charset="0"/>
              </a:rPr>
              <a:t> 4 – </a:t>
            </a:r>
            <a:r>
              <a:rPr lang="en-US" spc="-5" err="1">
                <a:latin typeface="Cambria" panose="02040503050406030204" pitchFamily="18" charset="0"/>
                <a:ea typeface="Cambria" panose="02040503050406030204" pitchFamily="18" charset="0"/>
                <a:cs typeface="Arial"/>
              </a:rPr>
              <a:t>Lập</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trình</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hướng</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tượng</a:t>
            </a:r>
            <a:endParaRPr lang="en-US">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ỨNG DỤNG QUẢN LÝ SINH VIÊN</a:t>
            </a:r>
          </a:p>
        </p:txBody>
      </p:sp>
      <p:pic>
        <p:nvPicPr>
          <p:cNvPr id="3" name="Picture 2"/>
          <p:cNvPicPr>
            <a:picLocks noChangeAspect="1"/>
          </p:cNvPicPr>
          <p:nvPr/>
        </p:nvPicPr>
        <p:blipFill>
          <a:blip r:embed="rId2"/>
          <a:stretch>
            <a:fillRect/>
          </a:stretch>
        </p:blipFill>
        <p:spPr>
          <a:xfrm>
            <a:off x="79513" y="845571"/>
            <a:ext cx="7991880" cy="5178981"/>
          </a:xfrm>
          <a:prstGeom prst="rect">
            <a:avLst/>
          </a:prstGeom>
        </p:spPr>
      </p:pic>
    </p:spTree>
    <p:extLst>
      <p:ext uri="{BB962C8B-B14F-4D97-AF65-F5344CB8AC3E}">
        <p14:creationId xmlns:p14="http://schemas.microsoft.com/office/powerpoint/2010/main" val="758193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latin typeface="Cambria" panose="02040503050406030204" pitchFamily="18" charset="0"/>
                <a:ea typeface="Cambria" panose="02040503050406030204" pitchFamily="18" charset="0"/>
              </a:rPr>
              <a:t>Bài</a:t>
            </a:r>
            <a:r>
              <a:rPr lang="en-US">
                <a:latin typeface="Cambria" panose="02040503050406030204" pitchFamily="18" charset="0"/>
                <a:ea typeface="Cambria" panose="02040503050406030204" pitchFamily="18" charset="0"/>
              </a:rPr>
              <a:t> 4 – </a:t>
            </a:r>
            <a:r>
              <a:rPr lang="en-US" spc="-5" err="1">
                <a:latin typeface="Cambria" panose="02040503050406030204" pitchFamily="18" charset="0"/>
                <a:ea typeface="Cambria" panose="02040503050406030204" pitchFamily="18" charset="0"/>
                <a:cs typeface="Arial"/>
              </a:rPr>
              <a:t>Lập</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trình</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hướng</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tượng</a:t>
            </a:r>
            <a:endParaRPr lang="en-US">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ỨNG DỤNG QUẢN LÝ SINH VIÊN</a:t>
            </a:r>
          </a:p>
        </p:txBody>
      </p:sp>
      <p:pic>
        <p:nvPicPr>
          <p:cNvPr id="3" name="Picture 2"/>
          <p:cNvPicPr>
            <a:picLocks noChangeAspect="1"/>
          </p:cNvPicPr>
          <p:nvPr/>
        </p:nvPicPr>
        <p:blipFill>
          <a:blip r:embed="rId2"/>
          <a:stretch>
            <a:fillRect/>
          </a:stretch>
        </p:blipFill>
        <p:spPr>
          <a:xfrm>
            <a:off x="321369" y="3309731"/>
            <a:ext cx="6188478" cy="2920634"/>
          </a:xfrm>
          <a:prstGeom prst="rect">
            <a:avLst/>
          </a:prstGeom>
        </p:spPr>
      </p:pic>
      <p:pic>
        <p:nvPicPr>
          <p:cNvPr id="4" name="Picture 3"/>
          <p:cNvPicPr>
            <a:picLocks noChangeAspect="1"/>
          </p:cNvPicPr>
          <p:nvPr/>
        </p:nvPicPr>
        <p:blipFill>
          <a:blip r:embed="rId3"/>
          <a:stretch>
            <a:fillRect/>
          </a:stretch>
        </p:blipFill>
        <p:spPr>
          <a:xfrm>
            <a:off x="321369" y="800751"/>
            <a:ext cx="8372766" cy="2437770"/>
          </a:xfrm>
          <a:prstGeom prst="rect">
            <a:avLst/>
          </a:prstGeom>
        </p:spPr>
      </p:pic>
    </p:spTree>
    <p:extLst>
      <p:ext uri="{BB962C8B-B14F-4D97-AF65-F5344CB8AC3E}">
        <p14:creationId xmlns:p14="http://schemas.microsoft.com/office/powerpoint/2010/main" val="26749458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latin typeface="Cambria" panose="02040503050406030204" pitchFamily="18" charset="0"/>
                <a:ea typeface="Cambria" panose="02040503050406030204" pitchFamily="18" charset="0"/>
              </a:rPr>
              <a:t>Bài</a:t>
            </a:r>
            <a:r>
              <a:rPr lang="en-US">
                <a:latin typeface="Cambria" panose="02040503050406030204" pitchFamily="18" charset="0"/>
                <a:ea typeface="Cambria" panose="02040503050406030204" pitchFamily="18" charset="0"/>
              </a:rPr>
              <a:t> 4 – </a:t>
            </a:r>
            <a:r>
              <a:rPr lang="en-US" spc="-5" err="1">
                <a:latin typeface="Cambria" panose="02040503050406030204" pitchFamily="18" charset="0"/>
                <a:ea typeface="Cambria" panose="02040503050406030204" pitchFamily="18" charset="0"/>
                <a:cs typeface="Arial"/>
              </a:rPr>
              <a:t>Lập</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trình</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hướng</a:t>
            </a:r>
            <a:r>
              <a:rPr lang="en-US" spc="-5">
                <a:latin typeface="Cambria" panose="02040503050406030204" pitchFamily="18" charset="0"/>
                <a:ea typeface="Cambria" panose="02040503050406030204" pitchFamily="18" charset="0"/>
                <a:cs typeface="Arial"/>
              </a:rPr>
              <a:t> </a:t>
            </a:r>
            <a:r>
              <a:rPr lang="en-US" spc="-5" err="1">
                <a:latin typeface="Cambria" panose="02040503050406030204" pitchFamily="18" charset="0"/>
                <a:ea typeface="Cambria" panose="02040503050406030204" pitchFamily="18" charset="0"/>
                <a:cs typeface="Arial"/>
              </a:rPr>
              <a:t>tượng</a:t>
            </a:r>
            <a:endParaRPr lang="en-US">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ỨNG DỤNG QUẢN LÝ SINH VIÊN</a:t>
            </a:r>
          </a:p>
        </p:txBody>
      </p:sp>
      <p:pic>
        <p:nvPicPr>
          <p:cNvPr id="3" name="Picture 2"/>
          <p:cNvPicPr>
            <a:picLocks noChangeAspect="1"/>
          </p:cNvPicPr>
          <p:nvPr/>
        </p:nvPicPr>
        <p:blipFill>
          <a:blip r:embed="rId2"/>
          <a:stretch>
            <a:fillRect/>
          </a:stretch>
        </p:blipFill>
        <p:spPr>
          <a:xfrm>
            <a:off x="1517411" y="940972"/>
            <a:ext cx="7177846" cy="4972811"/>
          </a:xfrm>
          <a:prstGeom prst="rect">
            <a:avLst/>
          </a:prstGeom>
        </p:spPr>
      </p:pic>
    </p:spTree>
    <p:extLst>
      <p:ext uri="{BB962C8B-B14F-4D97-AF65-F5344CB8AC3E}">
        <p14:creationId xmlns:p14="http://schemas.microsoft.com/office/powerpoint/2010/main" val="657821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latin typeface="Cambria" panose="02040503050406030204" pitchFamily="18" charset="0"/>
                <a:ea typeface="Cambria" panose="02040503050406030204" pitchFamily="18" charset="0"/>
              </a:rPr>
              <a:t>Bài</a:t>
            </a:r>
            <a:r>
              <a:rPr lang="en-US">
                <a:latin typeface="Cambria" panose="02040503050406030204" pitchFamily="18" charset="0"/>
                <a:ea typeface="Cambria" panose="02040503050406030204" pitchFamily="18" charset="0"/>
              </a:rPr>
              <a:t> 2: </a:t>
            </a:r>
            <a:r>
              <a:rPr lang="en-US" err="1">
                <a:latin typeface="Cambria" panose="02040503050406030204" pitchFamily="18" charset="0"/>
                <a:ea typeface="Cambria" panose="02040503050406030204" pitchFamily="18" charset="0"/>
              </a:rPr>
              <a:t>Cấu</a:t>
            </a:r>
            <a:r>
              <a:rPr lang="en-US">
                <a:latin typeface="Cambria" panose="02040503050406030204" pitchFamily="18" charset="0"/>
                <a:ea typeface="Cambria" panose="02040503050406030204" pitchFamily="18" charset="0"/>
              </a:rPr>
              <a:t> </a:t>
            </a:r>
            <a:r>
              <a:rPr lang="en-US" err="1">
                <a:latin typeface="Cambria" panose="02040503050406030204" pitchFamily="18" charset="0"/>
                <a:ea typeface="Cambria" panose="02040503050406030204" pitchFamily="18" charset="0"/>
              </a:rPr>
              <a:t>trúc</a:t>
            </a:r>
            <a:r>
              <a:rPr lang="en-US">
                <a:latin typeface="Cambria" panose="02040503050406030204" pitchFamily="18" charset="0"/>
                <a:ea typeface="Cambria" panose="02040503050406030204" pitchFamily="18" charset="0"/>
              </a:rPr>
              <a:t> </a:t>
            </a:r>
            <a:r>
              <a:rPr lang="en-US" err="1">
                <a:latin typeface="Cambria" panose="02040503050406030204" pitchFamily="18" charset="0"/>
                <a:ea typeface="Cambria" panose="02040503050406030204" pitchFamily="18" charset="0"/>
              </a:rPr>
              <a:t>điều</a:t>
            </a:r>
            <a:r>
              <a:rPr lang="en-US">
                <a:latin typeface="Cambria" panose="02040503050406030204" pitchFamily="18" charset="0"/>
                <a:ea typeface="Cambria" panose="02040503050406030204" pitchFamily="18" charset="0"/>
              </a:rPr>
              <a:t> </a:t>
            </a:r>
            <a:r>
              <a:rPr lang="en-US" err="1">
                <a:latin typeface="Cambria" panose="02040503050406030204" pitchFamily="18" charset="0"/>
                <a:ea typeface="Cambria" panose="02040503050406030204" pitchFamily="18" charset="0"/>
              </a:rPr>
              <a:t>khiển</a:t>
            </a:r>
            <a:endParaRPr lang="en-US">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a:solidFill>
                  <a:schemeClr val="bg1"/>
                </a:solidFill>
                <a:latin typeface="Cambria" panose="02040503050406030204" pitchFamily="18" charset="0"/>
              </a:rPr>
              <a:t>BÀI TẬP THỰC HÀNH</a:t>
            </a:r>
          </a:p>
        </p:txBody>
      </p:sp>
      <p:sp>
        <p:nvSpPr>
          <p:cNvPr id="11" name="object 9"/>
          <p:cNvSpPr>
            <a:spLocks noChangeArrowheads="1"/>
          </p:cNvSpPr>
          <p:nvPr/>
        </p:nvSpPr>
        <p:spPr bwMode="auto">
          <a:xfrm>
            <a:off x="1129748" y="930965"/>
            <a:ext cx="2368550" cy="4972050"/>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en-US"/>
          </a:p>
        </p:txBody>
      </p:sp>
      <p:sp>
        <p:nvSpPr>
          <p:cNvPr id="12" name="TextBox 2"/>
          <p:cNvSpPr txBox="1">
            <a:spLocks noChangeArrowheads="1"/>
          </p:cNvSpPr>
          <p:nvPr/>
        </p:nvSpPr>
        <p:spPr bwMode="auto">
          <a:xfrm>
            <a:off x="4658139" y="2997125"/>
            <a:ext cx="544001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Times New Roman" panose="02020603050405020304" pitchFamily="18" charset="0"/>
              </a:defRPr>
            </a:lvl1pPr>
            <a:lvl2pPr marL="639763" indent="-246063">
              <a:spcBef>
                <a:spcPct val="20000"/>
              </a:spcBef>
              <a:buClr>
                <a:schemeClr val="accent1"/>
              </a:buClr>
              <a:buSzPct val="85000"/>
              <a:buFont typeface="Wingdings 2" panose="05020102010507070707" pitchFamily="18" charset="2"/>
              <a:buChar char=""/>
              <a:defRPr sz="2400">
                <a:solidFill>
                  <a:schemeClr val="tx1"/>
                </a:solidFill>
                <a:latin typeface="Times New Roman" panose="02020603050405020304" pitchFamily="18" charset="0"/>
              </a:defRPr>
            </a:lvl2pPr>
            <a:lvl3pPr indent="-246063">
              <a:spcBef>
                <a:spcPct val="20000"/>
              </a:spcBef>
              <a:buClr>
                <a:schemeClr val="accent2"/>
              </a:buClr>
              <a:buSzPct val="70000"/>
              <a:buFont typeface="Wingdings 2" panose="05020102010507070707" pitchFamily="18" charset="2"/>
              <a:buChar char=""/>
              <a:defRPr sz="2100">
                <a:solidFill>
                  <a:schemeClr val="tx1"/>
                </a:solidFill>
                <a:latin typeface="Times New Roman" panose="02020603050405020304" pitchFamily="18" charset="0"/>
              </a:defRPr>
            </a:lvl3pPr>
            <a:lvl4pPr marL="1187450" indent="-209550">
              <a:spcBef>
                <a:spcPct val="20000"/>
              </a:spcBef>
              <a:buClr>
                <a:srgbClr val="0BD0D9"/>
              </a:buClr>
              <a:buSzPct val="65000"/>
              <a:buFont typeface="Wingdings 2" panose="05020102010507070707" pitchFamily="18" charset="2"/>
              <a:buChar char=""/>
              <a:defRPr sz="2000">
                <a:solidFill>
                  <a:schemeClr val="tx1"/>
                </a:solidFill>
                <a:latin typeface="Times New Roman" panose="02020603050405020304" pitchFamily="18" charset="0"/>
              </a:defRPr>
            </a:lvl4pPr>
            <a:lvl5pPr marL="1462088" indent="-209550">
              <a:spcBef>
                <a:spcPct val="20000"/>
              </a:spcBef>
              <a:buClr>
                <a:srgbClr val="10CF9B"/>
              </a:buClr>
              <a:buSzPct val="65000"/>
              <a:buFont typeface="Wingdings 2" panose="05020102010507070707" pitchFamily="18" charset="2"/>
              <a:buChar char=""/>
              <a:defRPr sz="2000">
                <a:solidFill>
                  <a:schemeClr val="tx1"/>
                </a:solidFill>
                <a:latin typeface="Times New Roman" panose="02020603050405020304" pitchFamily="18" charset="0"/>
              </a:defRPr>
            </a:lvl5pPr>
            <a:lvl6pPr marL="1919288" indent="-20955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Times New Roman" panose="02020603050405020304" pitchFamily="18" charset="0"/>
              </a:defRPr>
            </a:lvl6pPr>
            <a:lvl7pPr marL="2376488" indent="-20955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Times New Roman" panose="02020603050405020304" pitchFamily="18" charset="0"/>
              </a:defRPr>
            </a:lvl7pPr>
            <a:lvl8pPr marL="2833688" indent="-20955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Times New Roman" panose="02020603050405020304" pitchFamily="18" charset="0"/>
              </a:defRPr>
            </a:lvl8pPr>
            <a:lvl9pPr marL="3290888" indent="-20955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en-US" altLang="en-US" sz="3000" b="1" dirty="0" err="1">
                <a:solidFill>
                  <a:srgbClr val="FF0000"/>
                </a:solidFill>
                <a:latin typeface="Cambria" panose="02040503050406030204" pitchFamily="18" charset="0"/>
                <a:ea typeface="Cambria" panose="02040503050406030204" pitchFamily="18" charset="0"/>
                <a:cs typeface="Tahoma" panose="020B0604030504040204" pitchFamily="34" charset="0"/>
              </a:rPr>
              <a:t>Xem</a:t>
            </a:r>
            <a:r>
              <a:rPr lang="en-US" altLang="en-US" sz="3000" b="1" dirty="0">
                <a:solidFill>
                  <a:srgbClr val="FF0000"/>
                </a:solidFill>
                <a:latin typeface="Cambria" panose="02040503050406030204" pitchFamily="18" charset="0"/>
                <a:ea typeface="Cambria" panose="02040503050406030204" pitchFamily="18" charset="0"/>
                <a:cs typeface="Tahoma" panose="020B0604030504040204" pitchFamily="34" charset="0"/>
              </a:rPr>
              <a:t> ở file word </a:t>
            </a:r>
            <a:r>
              <a:rPr lang="en-US" altLang="en-US" sz="3000" b="1" dirty="0" err="1">
                <a:solidFill>
                  <a:srgbClr val="FF0000"/>
                </a:solidFill>
                <a:latin typeface="Cambria" panose="02040503050406030204" pitchFamily="18" charset="0"/>
                <a:ea typeface="Cambria" panose="02040503050406030204" pitchFamily="18" charset="0"/>
                <a:cs typeface="Tahoma" panose="020B0604030504040204" pitchFamily="34" charset="0"/>
              </a:rPr>
              <a:t>bài</a:t>
            </a:r>
            <a:r>
              <a:rPr lang="en-US" altLang="en-US" sz="3000" b="1" dirty="0">
                <a:solidFill>
                  <a:srgbClr val="FF0000"/>
                </a:solidFill>
                <a:latin typeface="Cambria" panose="02040503050406030204" pitchFamily="18" charset="0"/>
                <a:ea typeface="Cambria" panose="02040503050406030204" pitchFamily="18" charset="0"/>
                <a:cs typeface="Tahoma" panose="020B0604030504040204" pitchFamily="34" charset="0"/>
              </a:rPr>
              <a:t> </a:t>
            </a:r>
            <a:r>
              <a:rPr lang="en-US" altLang="en-US" sz="3000" b="1" dirty="0" err="1">
                <a:solidFill>
                  <a:srgbClr val="FF0000"/>
                </a:solidFill>
                <a:latin typeface="Cambria" panose="02040503050406030204" pitchFamily="18" charset="0"/>
                <a:ea typeface="Cambria" panose="02040503050406030204" pitchFamily="18" charset="0"/>
                <a:cs typeface="Tahoma" panose="020B0604030504040204" pitchFamily="34" charset="0"/>
              </a:rPr>
              <a:t>tập</a:t>
            </a:r>
            <a:r>
              <a:rPr lang="en-US" altLang="en-US" sz="3000" b="1" dirty="0">
                <a:solidFill>
                  <a:srgbClr val="FF0000"/>
                </a:solidFill>
                <a:latin typeface="Cambria" panose="02040503050406030204" pitchFamily="18" charset="0"/>
                <a:ea typeface="Cambria" panose="02040503050406030204" pitchFamily="18" charset="0"/>
                <a:cs typeface="Tahoma" panose="020B0604030504040204" pitchFamily="34" charset="0"/>
              </a:rPr>
              <a:t> 5</a:t>
            </a:r>
          </a:p>
        </p:txBody>
      </p:sp>
      <p:pic>
        <p:nvPicPr>
          <p:cNvPr id="10" name="Picture 9">
            <a:extLst>
              <a:ext uri="{FF2B5EF4-FFF2-40B4-BE49-F238E27FC236}">
                <a16:creationId xmlns:a16="http://schemas.microsoft.com/office/drawing/2014/main" id="{87A475F0-D933-4B37-A9D6-DFD6D783A8A7}"/>
              </a:ext>
            </a:extLst>
          </p:cNvPr>
          <p:cNvPicPr>
            <a:picLocks noChangeAspect="1"/>
          </p:cNvPicPr>
          <p:nvPr/>
        </p:nvPicPr>
        <p:blipFill>
          <a:blip r:embed="rId3"/>
          <a:stretch>
            <a:fillRect/>
          </a:stretch>
        </p:blipFill>
        <p:spPr>
          <a:xfrm>
            <a:off x="10098157" y="691585"/>
            <a:ext cx="1974036" cy="1974036"/>
          </a:xfrm>
          <a:prstGeom prst="rect">
            <a:avLst/>
          </a:prstGeom>
        </p:spPr>
      </p:pic>
    </p:spTree>
    <p:extLst>
      <p:ext uri="{BB962C8B-B14F-4D97-AF65-F5344CB8AC3E}">
        <p14:creationId xmlns:p14="http://schemas.microsoft.com/office/powerpoint/2010/main" val="11058585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2918</TotalTime>
  <Words>3677</Words>
  <Application>Microsoft Office PowerPoint</Application>
  <PresentationFormat>Widescreen</PresentationFormat>
  <Paragraphs>233</Paragraphs>
  <Slides>43</Slides>
  <Notes>3</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43</vt:i4>
      </vt:variant>
    </vt:vector>
  </HeadingPairs>
  <TitlesOfParts>
    <vt:vector size="52" baseType="lpstr">
      <vt:lpstr>Arial</vt:lpstr>
      <vt:lpstr>Calibri</vt:lpstr>
      <vt:lpstr>Calibri Light</vt:lpstr>
      <vt:lpstr>Cambria</vt:lpstr>
      <vt:lpstr>Consolas</vt:lpstr>
      <vt:lpstr>JetBrains Mono</vt:lpstr>
      <vt:lpstr>Wingdings</vt:lpstr>
      <vt:lpstr>Office Theme</vt:lpstr>
      <vt:lpstr>Photo Editor Photo</vt:lpstr>
      <vt:lpstr>PowerPoint Presentation</vt:lpstr>
      <vt:lpstr>PowerPoint Presentation</vt:lpstr>
      <vt:lpstr>PowerPoint Presentation</vt:lpstr>
      <vt:lpstr>NỘI DUNG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dung phuong</dc:creator>
  <cp:lastModifiedBy>Hue Tran Thi</cp:lastModifiedBy>
  <cp:revision>106</cp:revision>
  <dcterms:created xsi:type="dcterms:W3CDTF">2023-02-10T07:23:51Z</dcterms:created>
  <dcterms:modified xsi:type="dcterms:W3CDTF">2024-08-08T01:03:21Z</dcterms:modified>
</cp:coreProperties>
</file>