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9"/>
  </p:notesMasterIdLst>
  <p:sldIdLst>
    <p:sldId id="257" r:id="rId2"/>
    <p:sldId id="264" r:id="rId3"/>
    <p:sldId id="394" r:id="rId4"/>
    <p:sldId id="395" r:id="rId5"/>
    <p:sldId id="445" r:id="rId6"/>
    <p:sldId id="446" r:id="rId7"/>
    <p:sldId id="447" r:id="rId8"/>
    <p:sldId id="448" r:id="rId9"/>
    <p:sldId id="449" r:id="rId10"/>
    <p:sldId id="450" r:id="rId11"/>
    <p:sldId id="451" r:id="rId12"/>
    <p:sldId id="452" r:id="rId13"/>
    <p:sldId id="453" r:id="rId14"/>
    <p:sldId id="454" r:id="rId15"/>
    <p:sldId id="455" r:id="rId16"/>
    <p:sldId id="456" r:id="rId17"/>
    <p:sldId id="554" r:id="rId18"/>
    <p:sldId id="461" r:id="rId19"/>
    <p:sldId id="555" r:id="rId20"/>
    <p:sldId id="556" r:id="rId21"/>
    <p:sldId id="471" r:id="rId22"/>
    <p:sldId id="472" r:id="rId23"/>
    <p:sldId id="476" r:id="rId24"/>
    <p:sldId id="477" r:id="rId25"/>
    <p:sldId id="478" r:id="rId26"/>
    <p:sldId id="479" r:id="rId27"/>
    <p:sldId id="480" r:id="rId28"/>
    <p:sldId id="483" r:id="rId29"/>
    <p:sldId id="481" r:id="rId30"/>
    <p:sldId id="486" r:id="rId31"/>
    <p:sldId id="485" r:id="rId32"/>
    <p:sldId id="487" r:id="rId33"/>
    <p:sldId id="532" r:id="rId34"/>
    <p:sldId id="498" r:id="rId35"/>
    <p:sldId id="489" r:id="rId36"/>
    <p:sldId id="490" r:id="rId37"/>
    <p:sldId id="502" r:id="rId38"/>
    <p:sldId id="503" r:id="rId39"/>
    <p:sldId id="491" r:id="rId40"/>
    <p:sldId id="509" r:id="rId41"/>
    <p:sldId id="501" r:id="rId42"/>
    <p:sldId id="505" r:id="rId43"/>
    <p:sldId id="500" r:id="rId44"/>
    <p:sldId id="507" r:id="rId45"/>
    <p:sldId id="506" r:id="rId46"/>
    <p:sldId id="508" r:id="rId47"/>
    <p:sldId id="510" r:id="rId48"/>
    <p:sldId id="511" r:id="rId49"/>
    <p:sldId id="493" r:id="rId50"/>
    <p:sldId id="492" r:id="rId51"/>
    <p:sldId id="512" r:id="rId52"/>
    <p:sldId id="494" r:id="rId53"/>
    <p:sldId id="513" r:id="rId54"/>
    <p:sldId id="528" r:id="rId55"/>
    <p:sldId id="496" r:id="rId56"/>
    <p:sldId id="516" r:id="rId57"/>
    <p:sldId id="517" r:id="rId58"/>
    <p:sldId id="518" r:id="rId59"/>
    <p:sldId id="519" r:id="rId60"/>
    <p:sldId id="520" r:id="rId61"/>
    <p:sldId id="522" r:id="rId62"/>
    <p:sldId id="521" r:id="rId63"/>
    <p:sldId id="523" r:id="rId64"/>
    <p:sldId id="524" r:id="rId65"/>
    <p:sldId id="527" r:id="rId66"/>
    <p:sldId id="526" r:id="rId67"/>
    <p:sldId id="529" r:id="rId68"/>
    <p:sldId id="542" r:id="rId69"/>
    <p:sldId id="543" r:id="rId70"/>
    <p:sldId id="552" r:id="rId71"/>
    <p:sldId id="534" r:id="rId72"/>
    <p:sldId id="535" r:id="rId73"/>
    <p:sldId id="551" r:id="rId74"/>
    <p:sldId id="536" r:id="rId75"/>
    <p:sldId id="537" r:id="rId76"/>
    <p:sldId id="539" r:id="rId77"/>
    <p:sldId id="540" r:id="rId78"/>
    <p:sldId id="541" r:id="rId79"/>
    <p:sldId id="544" r:id="rId80"/>
    <p:sldId id="545" r:id="rId81"/>
    <p:sldId id="546" r:id="rId82"/>
    <p:sldId id="553" r:id="rId83"/>
    <p:sldId id="547" r:id="rId84"/>
    <p:sldId id="548" r:id="rId85"/>
    <p:sldId id="549" r:id="rId86"/>
    <p:sldId id="550" r:id="rId87"/>
    <p:sldId id="397"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54DC"/>
    <a:srgbClr val="5241F1"/>
    <a:srgbClr val="E67F4C"/>
    <a:srgbClr val="8E69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659" autoAdjust="0"/>
    <p:restoredTop sz="90957" autoAdjust="0"/>
  </p:normalViewPr>
  <p:slideViewPr>
    <p:cSldViewPr snapToGrid="0">
      <p:cViewPr varScale="1">
        <p:scale>
          <a:sx n="68" d="100"/>
          <a:sy n="68" d="100"/>
        </p:scale>
        <p:origin x="445" y="2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CE26B9-A8D4-4904-ABD7-D6526D5DA4EF}" type="datetimeFigureOut">
              <a:rPr lang="en-US" smtClean="0"/>
              <a:t>29/07/2026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97D3EE-C3E8-45C0-931F-56F9DA477572}" type="slidenum">
              <a:rPr lang="en-US" smtClean="0"/>
              <a:t>‹#›</a:t>
            </a:fld>
            <a:endParaRPr lang="en-US"/>
          </a:p>
        </p:txBody>
      </p:sp>
    </p:spTree>
    <p:extLst>
      <p:ext uri="{BB962C8B-B14F-4D97-AF65-F5344CB8AC3E}">
        <p14:creationId xmlns:p14="http://schemas.microsoft.com/office/powerpoint/2010/main" val="2899688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197D3EE-C3E8-45C0-931F-56F9DA477572}" type="slidenum">
              <a:rPr lang="en-US" smtClean="0"/>
              <a:t>37</a:t>
            </a:fld>
            <a:endParaRPr lang="en-US"/>
          </a:p>
        </p:txBody>
      </p:sp>
    </p:spTree>
    <p:extLst>
      <p:ext uri="{BB962C8B-B14F-4D97-AF65-F5344CB8AC3E}">
        <p14:creationId xmlns:p14="http://schemas.microsoft.com/office/powerpoint/2010/main" val="1377094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10"/>
          </p:nvPr>
        </p:nvSpPr>
        <p:spPr/>
        <p:txBody>
          <a:bodyPr/>
          <a:lstStyle/>
          <a:p>
            <a:fld id="{2197D3EE-C3E8-45C0-931F-56F9DA477572}" type="slidenum">
              <a:rPr lang="en-US" smtClean="0"/>
              <a:t>38</a:t>
            </a:fld>
            <a:endParaRPr lang="en-US"/>
          </a:p>
        </p:txBody>
      </p:sp>
    </p:spTree>
    <p:extLst>
      <p:ext uri="{BB962C8B-B14F-4D97-AF65-F5344CB8AC3E}">
        <p14:creationId xmlns:p14="http://schemas.microsoft.com/office/powerpoint/2010/main" val="41474956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A06C466-7F14-41BA-9DF4-83118A4FB4CA}" type="datetimeFigureOut">
              <a:rPr lang="en-US" smtClean="0"/>
              <a:t>29/07/2026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28F1007-5EDD-44B1-AA2F-448725C9F2E2}" type="slidenum">
              <a:rPr lang="en-US" smtClean="0"/>
              <a:t>‹#›</a:t>
            </a:fld>
            <a:endParaRPr lang="en-US"/>
          </a:p>
        </p:txBody>
      </p:sp>
    </p:spTree>
    <p:extLst>
      <p:ext uri="{BB962C8B-B14F-4D97-AF65-F5344CB8AC3E}">
        <p14:creationId xmlns:p14="http://schemas.microsoft.com/office/powerpoint/2010/main" val="1527042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A06C466-7F14-41BA-9DF4-83118A4FB4CA}" type="datetimeFigureOut">
              <a:rPr lang="en-US" smtClean="0"/>
              <a:t>29/07/2026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28F1007-5EDD-44B1-AA2F-448725C9F2E2}" type="slidenum">
              <a:rPr lang="en-US" smtClean="0"/>
              <a:t>‹#›</a:t>
            </a:fld>
            <a:endParaRPr lang="en-US"/>
          </a:p>
        </p:txBody>
      </p:sp>
    </p:spTree>
    <p:extLst>
      <p:ext uri="{BB962C8B-B14F-4D97-AF65-F5344CB8AC3E}">
        <p14:creationId xmlns:p14="http://schemas.microsoft.com/office/powerpoint/2010/main" val="2935680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A06C466-7F14-41BA-9DF4-83118A4FB4CA}" type="datetimeFigureOut">
              <a:rPr lang="en-US" smtClean="0"/>
              <a:t>29/07/2026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28F1007-5EDD-44B1-AA2F-448725C9F2E2}" type="slidenum">
              <a:rPr lang="en-US" smtClean="0"/>
              <a:t>‹#›</a:t>
            </a:fld>
            <a:endParaRPr lang="en-US"/>
          </a:p>
        </p:txBody>
      </p:sp>
    </p:spTree>
    <p:extLst>
      <p:ext uri="{BB962C8B-B14F-4D97-AF65-F5344CB8AC3E}">
        <p14:creationId xmlns:p14="http://schemas.microsoft.com/office/powerpoint/2010/main" val="3956352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A06C466-7F14-41BA-9DF4-83118A4FB4CA}" type="datetimeFigureOut">
              <a:rPr lang="en-US" smtClean="0"/>
              <a:t>29/07/2026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228F1007-5EDD-44B1-AA2F-448725C9F2E2}" type="slidenum">
              <a:rPr lang="en-US" smtClean="0"/>
              <a:t>‹#›</a:t>
            </a:fld>
            <a:endParaRPr lang="en-US"/>
          </a:p>
        </p:txBody>
      </p:sp>
    </p:spTree>
    <p:extLst>
      <p:ext uri="{BB962C8B-B14F-4D97-AF65-F5344CB8AC3E}">
        <p14:creationId xmlns:p14="http://schemas.microsoft.com/office/powerpoint/2010/main" val="2047633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AA06C466-7F14-41BA-9DF4-83118A4FB4CA}" type="datetimeFigureOut">
              <a:rPr lang="en-US" smtClean="0"/>
              <a:t>29/07/2026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228F1007-5EDD-44B1-AA2F-448725C9F2E2}" type="slidenum">
              <a:rPr lang="en-US" smtClean="0"/>
              <a:t>‹#›</a:t>
            </a:fld>
            <a:endParaRPr lang="en-US"/>
          </a:p>
        </p:txBody>
      </p:sp>
    </p:spTree>
    <p:extLst>
      <p:ext uri="{BB962C8B-B14F-4D97-AF65-F5344CB8AC3E}">
        <p14:creationId xmlns:p14="http://schemas.microsoft.com/office/powerpoint/2010/main" val="2568783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AA06C466-7F14-41BA-9DF4-83118A4FB4CA}" type="datetimeFigureOut">
              <a:rPr lang="en-US" smtClean="0"/>
              <a:t>29/07/2026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228F1007-5EDD-44B1-AA2F-448725C9F2E2}" type="slidenum">
              <a:rPr lang="en-US" smtClean="0"/>
              <a:t>‹#›</a:t>
            </a:fld>
            <a:endParaRPr lang="en-US"/>
          </a:p>
        </p:txBody>
      </p:sp>
    </p:spTree>
    <p:extLst>
      <p:ext uri="{BB962C8B-B14F-4D97-AF65-F5344CB8AC3E}">
        <p14:creationId xmlns:p14="http://schemas.microsoft.com/office/powerpoint/2010/main" val="3501930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AA06C466-7F14-41BA-9DF4-83118A4FB4CA}" type="datetimeFigureOut">
              <a:rPr lang="en-US" smtClean="0"/>
              <a:t>29/07/2026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228F1007-5EDD-44B1-AA2F-448725C9F2E2}" type="slidenum">
              <a:rPr lang="en-US" smtClean="0"/>
              <a:t>‹#›</a:t>
            </a:fld>
            <a:endParaRPr lang="en-US"/>
          </a:p>
        </p:txBody>
      </p:sp>
    </p:spTree>
    <p:extLst>
      <p:ext uri="{BB962C8B-B14F-4D97-AF65-F5344CB8AC3E}">
        <p14:creationId xmlns:p14="http://schemas.microsoft.com/office/powerpoint/2010/main" val="683223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A06C466-7F14-41BA-9DF4-83118A4FB4CA}" type="datetimeFigureOut">
              <a:rPr lang="en-US" smtClean="0"/>
              <a:t>29/07/2026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228F1007-5EDD-44B1-AA2F-448725C9F2E2}" type="slidenum">
              <a:rPr lang="en-US" smtClean="0"/>
              <a:t>‹#›</a:t>
            </a:fld>
            <a:endParaRPr lang="en-US"/>
          </a:p>
        </p:txBody>
      </p:sp>
    </p:spTree>
    <p:extLst>
      <p:ext uri="{BB962C8B-B14F-4D97-AF65-F5344CB8AC3E}">
        <p14:creationId xmlns:p14="http://schemas.microsoft.com/office/powerpoint/2010/main" val="1788120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AA06C466-7F14-41BA-9DF4-83118A4FB4CA}" type="datetimeFigureOut">
              <a:rPr lang="en-US" smtClean="0"/>
              <a:t>29/07/2026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228F1007-5EDD-44B1-AA2F-448725C9F2E2}" type="slidenum">
              <a:rPr lang="en-US" smtClean="0"/>
              <a:t>‹#›</a:t>
            </a:fld>
            <a:endParaRPr lang="en-US"/>
          </a:p>
        </p:txBody>
      </p:sp>
    </p:spTree>
    <p:extLst>
      <p:ext uri="{BB962C8B-B14F-4D97-AF65-F5344CB8AC3E}">
        <p14:creationId xmlns:p14="http://schemas.microsoft.com/office/powerpoint/2010/main" val="1244973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A06C466-7F14-41BA-9DF4-83118A4FB4CA}" type="datetimeFigureOut">
              <a:rPr lang="en-US" smtClean="0"/>
              <a:t>29/07/2026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28F1007-5EDD-44B1-AA2F-448725C9F2E2}" type="slidenum">
              <a:rPr lang="en-US" smtClean="0"/>
              <a:t>‹#›</a:t>
            </a:fld>
            <a:endParaRPr lang="en-US"/>
          </a:p>
        </p:txBody>
      </p:sp>
    </p:spTree>
    <p:extLst>
      <p:ext uri="{BB962C8B-B14F-4D97-AF65-F5344CB8AC3E}">
        <p14:creationId xmlns:p14="http://schemas.microsoft.com/office/powerpoint/2010/main" val="11589914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AA06C466-7F14-41BA-9DF4-83118A4FB4CA}" type="datetimeFigureOut">
              <a:rPr lang="en-US" smtClean="0"/>
              <a:t>29/07/2026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228F1007-5EDD-44B1-AA2F-448725C9F2E2}" type="slidenum">
              <a:rPr lang="en-US" smtClean="0"/>
              <a:t>‹#›</a:t>
            </a:fld>
            <a:endParaRPr lang="en-US"/>
          </a:p>
        </p:txBody>
      </p:sp>
    </p:spTree>
    <p:extLst>
      <p:ext uri="{BB962C8B-B14F-4D97-AF65-F5344CB8AC3E}">
        <p14:creationId xmlns:p14="http://schemas.microsoft.com/office/powerpoint/2010/main" val="2952110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
            <a:ext cx="12192000" cy="462116"/>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0" y="462116"/>
            <a:ext cx="12192000" cy="639588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CFC885-1840-43F6-AE5B-EADCF259E2C1}" type="slidenum">
              <a:rPr lang="en-US" smtClean="0"/>
              <a:t>‹#›</a:t>
            </a:fld>
            <a:endParaRPr lang="en-US"/>
          </a:p>
        </p:txBody>
      </p:sp>
    </p:spTree>
    <p:extLst>
      <p:ext uri="{BB962C8B-B14F-4D97-AF65-F5344CB8AC3E}">
        <p14:creationId xmlns:p14="http://schemas.microsoft.com/office/powerpoint/2010/main" val="5475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edureka.co/blog/python-pandas-tutorial/" TargetMode="External"/><Relationship Id="rId2" Type="http://schemas.openxmlformats.org/officeDocument/2006/relationships/hyperlink" Target="https://www.edureka.co/blog/python-numpy-tutorial/" TargetMode="External"/><Relationship Id="rId1" Type="http://schemas.openxmlformats.org/officeDocument/2006/relationships/slideLayout" Target="../slideLayouts/slideLayout2.xml"/><Relationship Id="rId5" Type="http://schemas.openxmlformats.org/officeDocument/2006/relationships/hyperlink" Target="https://www.edureka.co/blog/python-matplotlib-tutorial/" TargetMode="External"/><Relationship Id="rId4" Type="http://schemas.openxmlformats.org/officeDocument/2006/relationships/hyperlink" Target="https://youtu.be/e8Yw4alG16Q"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www.edureka.co/blog/scikit-learn-machine-learning/" TargetMode="External"/><Relationship Id="rId2" Type="http://schemas.openxmlformats.org/officeDocument/2006/relationships/hyperlink" Target="https://www.edureka.co/blog/python-seaborn-tutorial/" TargetMode="External"/><Relationship Id="rId1" Type="http://schemas.openxmlformats.org/officeDocument/2006/relationships/slideLayout" Target="../slideLayouts/slideLayout2.xml"/><Relationship Id="rId5" Type="http://schemas.openxmlformats.org/officeDocument/2006/relationships/hyperlink" Target="https://youtu.be/e8Yw4alG16Q" TargetMode="External"/><Relationship Id="rId4" Type="http://schemas.openxmlformats.org/officeDocument/2006/relationships/hyperlink" Target="https://youtu.be/VCJdg7YBbAQ"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hyperlink" Target="https://quanlyca.vn/"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ea typeface="Cambria" panose="02040503050406030204" pitchFamily="18" charset="0"/>
              </a:rPr>
              <a:t>HỌC PHẦN LẬP TRÌNH PYTHON</a:t>
            </a:r>
          </a:p>
        </p:txBody>
      </p:sp>
      <p:pic>
        <p:nvPicPr>
          <p:cNvPr id="10" name="Picture 9">
            <a:extLst>
              <a:ext uri="{FF2B5EF4-FFF2-40B4-BE49-F238E27FC236}">
                <a16:creationId xmlns:a16="http://schemas.microsoft.com/office/drawing/2014/main" id="{87A475F0-D933-4B37-A9D6-DFD6D783A8A7}"/>
              </a:ext>
            </a:extLst>
          </p:cNvPr>
          <p:cNvPicPr>
            <a:picLocks noChangeAspect="1"/>
          </p:cNvPicPr>
          <p:nvPr/>
        </p:nvPicPr>
        <p:blipFill>
          <a:blip r:embed="rId2"/>
          <a:stretch>
            <a:fillRect/>
          </a:stretch>
        </p:blipFill>
        <p:spPr>
          <a:xfrm>
            <a:off x="10128243" y="755084"/>
            <a:ext cx="1974036" cy="1974036"/>
          </a:xfrm>
          <a:prstGeom prst="rect">
            <a:avLst/>
          </a:prstGeom>
        </p:spPr>
      </p:pic>
      <p:sp>
        <p:nvSpPr>
          <p:cNvPr id="11" name="TextBox 10">
            <a:extLst>
              <a:ext uri="{FF2B5EF4-FFF2-40B4-BE49-F238E27FC236}">
                <a16:creationId xmlns:a16="http://schemas.microsoft.com/office/drawing/2014/main" id="{5ADF5B30-AA8A-4C50-AD8E-9E9561A31B47}"/>
              </a:ext>
            </a:extLst>
          </p:cNvPr>
          <p:cNvSpPr txBox="1"/>
          <p:nvPr/>
        </p:nvSpPr>
        <p:spPr>
          <a:xfrm>
            <a:off x="2286001" y="832345"/>
            <a:ext cx="7937782" cy="630942"/>
          </a:xfrm>
          <a:prstGeom prst="rect">
            <a:avLst/>
          </a:prstGeom>
          <a:noFill/>
        </p:spPr>
        <p:txBody>
          <a:bodyPr wrap="square">
            <a:spAutoFit/>
          </a:bodyPr>
          <a:lstStyle/>
          <a:p>
            <a:pPr algn="ctr"/>
            <a:r>
              <a:rPr lang="en-US" sz="3500" b="1">
                <a:solidFill>
                  <a:srgbClr val="C00000"/>
                </a:solidFill>
                <a:latin typeface="Cambria" panose="02040503050406030204" pitchFamily="18" charset="0"/>
                <a:ea typeface="Cambria" panose="02040503050406030204" pitchFamily="18" charset="0"/>
              </a:rPr>
              <a:t>NỘI DUNG</a:t>
            </a:r>
            <a:endParaRPr lang="vi-VN" sz="3500" b="1">
              <a:solidFill>
                <a:srgbClr val="C00000"/>
              </a:solidFill>
              <a:latin typeface="Cambria" panose="02040503050406030204" pitchFamily="18" charset="0"/>
              <a:ea typeface="Cambria" panose="02040503050406030204" pitchFamily="18" charset="0"/>
            </a:endParaRPr>
          </a:p>
        </p:txBody>
      </p:sp>
      <p:sp>
        <p:nvSpPr>
          <p:cNvPr id="12" name="TextBox 11">
            <a:extLst>
              <a:ext uri="{FF2B5EF4-FFF2-40B4-BE49-F238E27FC236}">
                <a16:creationId xmlns:a16="http://schemas.microsoft.com/office/drawing/2014/main" id="{A3027B0F-90DE-48F9-94C6-2C2FECA2A908}"/>
              </a:ext>
            </a:extLst>
          </p:cNvPr>
          <p:cNvSpPr txBox="1"/>
          <p:nvPr/>
        </p:nvSpPr>
        <p:spPr>
          <a:xfrm>
            <a:off x="2395330" y="1619182"/>
            <a:ext cx="8806070" cy="2631490"/>
          </a:xfrm>
          <a:prstGeom prst="rect">
            <a:avLst/>
          </a:prstGeom>
          <a:noFill/>
        </p:spPr>
        <p:txBody>
          <a:bodyPr wrap="square">
            <a:spAutoFit/>
          </a:bodyPr>
          <a:lstStyle/>
          <a:p>
            <a:pPr>
              <a:spcBef>
                <a:spcPts val="600"/>
              </a:spcBef>
              <a:spcAft>
                <a:spcPts val="1200"/>
              </a:spcAft>
            </a:pPr>
            <a:r>
              <a:rPr lang="vi-VN" sz="3000" b="1" dirty="0">
                <a:solidFill>
                  <a:srgbClr val="C00000"/>
                </a:solidFill>
                <a:latin typeface="Cambria" panose="02040503050406030204" pitchFamily="18" charset="0"/>
                <a:ea typeface="Cambria" panose="02040503050406030204" pitchFamily="18" charset="0"/>
                <a:cs typeface="Aharoni" panose="02010803020104030203" pitchFamily="2" charset="-79"/>
              </a:rPr>
              <a:t>Chương </a:t>
            </a:r>
            <a:r>
              <a:rPr lang="en-US" sz="3000" b="1" dirty="0">
                <a:solidFill>
                  <a:srgbClr val="C00000"/>
                </a:solidFill>
                <a:latin typeface="Cambria" panose="02040503050406030204" pitchFamily="18" charset="0"/>
                <a:ea typeface="Cambria" panose="02040503050406030204" pitchFamily="18" charset="0"/>
                <a:cs typeface="Aharoni" panose="02010803020104030203" pitchFamily="2" charset="-79"/>
              </a:rPr>
              <a:t>1. </a:t>
            </a:r>
            <a:r>
              <a:rPr lang="en-US" sz="3000" b="1" dirty="0" err="1">
                <a:solidFill>
                  <a:srgbClr val="C00000"/>
                </a:solidFill>
                <a:latin typeface="Cambria" panose="02040503050406030204" pitchFamily="18" charset="0"/>
                <a:ea typeface="Cambria" panose="02040503050406030204" pitchFamily="18" charset="0"/>
                <a:cs typeface="Aharoni" panose="02010803020104030203" pitchFamily="2" charset="-79"/>
              </a:rPr>
              <a:t>Lập</a:t>
            </a:r>
            <a:r>
              <a:rPr lang="en-US" sz="3000" b="1" dirty="0">
                <a:solidFill>
                  <a:srgbClr val="C00000"/>
                </a:solidFill>
                <a:latin typeface="Cambria" panose="02040503050406030204" pitchFamily="18" charset="0"/>
                <a:ea typeface="Cambria" panose="02040503050406030204" pitchFamily="18" charset="0"/>
                <a:cs typeface="Aharoni" panose="02010803020104030203" pitchFamily="2" charset="-79"/>
              </a:rPr>
              <a:t> </a:t>
            </a:r>
            <a:r>
              <a:rPr lang="en-US" sz="3000" b="1" dirty="0" err="1">
                <a:solidFill>
                  <a:srgbClr val="C00000"/>
                </a:solidFill>
                <a:latin typeface="Cambria" panose="02040503050406030204" pitchFamily="18" charset="0"/>
                <a:ea typeface="Cambria" panose="02040503050406030204" pitchFamily="18" charset="0"/>
                <a:cs typeface="Aharoni" panose="02010803020104030203" pitchFamily="2" charset="-79"/>
              </a:rPr>
              <a:t>trình</a:t>
            </a:r>
            <a:r>
              <a:rPr lang="en-US" sz="3000" b="1" dirty="0">
                <a:solidFill>
                  <a:srgbClr val="C00000"/>
                </a:solidFill>
                <a:latin typeface="Cambria" panose="02040503050406030204" pitchFamily="18" charset="0"/>
                <a:ea typeface="Cambria" panose="02040503050406030204" pitchFamily="18" charset="0"/>
                <a:cs typeface="Aharoni" panose="02010803020104030203" pitchFamily="2" charset="-79"/>
              </a:rPr>
              <a:t> </a:t>
            </a:r>
            <a:r>
              <a:rPr lang="en-US" sz="3000" b="1" dirty="0" err="1">
                <a:solidFill>
                  <a:srgbClr val="C00000"/>
                </a:solidFill>
                <a:latin typeface="Cambria" panose="02040503050406030204" pitchFamily="18" charset="0"/>
                <a:ea typeface="Cambria" panose="02040503050406030204" pitchFamily="18" charset="0"/>
                <a:cs typeface="Aharoni" panose="02010803020104030203" pitchFamily="2" charset="-79"/>
              </a:rPr>
              <a:t>cơ</a:t>
            </a:r>
            <a:r>
              <a:rPr lang="en-US" sz="3000" b="1" dirty="0">
                <a:solidFill>
                  <a:srgbClr val="C00000"/>
                </a:solidFill>
                <a:latin typeface="Cambria" panose="02040503050406030204" pitchFamily="18" charset="0"/>
                <a:ea typeface="Cambria" panose="02040503050406030204" pitchFamily="18" charset="0"/>
                <a:cs typeface="Aharoni" panose="02010803020104030203" pitchFamily="2" charset="-79"/>
              </a:rPr>
              <a:t> </a:t>
            </a:r>
            <a:r>
              <a:rPr lang="en-US" sz="3000" b="1" dirty="0" err="1">
                <a:solidFill>
                  <a:srgbClr val="C00000"/>
                </a:solidFill>
                <a:latin typeface="Cambria" panose="02040503050406030204" pitchFamily="18" charset="0"/>
                <a:ea typeface="Cambria" panose="02040503050406030204" pitchFamily="18" charset="0"/>
                <a:cs typeface="Aharoni" panose="02010803020104030203" pitchFamily="2" charset="-79"/>
              </a:rPr>
              <a:t>bản</a:t>
            </a:r>
            <a:r>
              <a:rPr lang="en-US" sz="3000" b="1" dirty="0">
                <a:solidFill>
                  <a:srgbClr val="C00000"/>
                </a:solidFill>
                <a:latin typeface="Cambria" panose="02040503050406030204" pitchFamily="18" charset="0"/>
                <a:ea typeface="Cambria" panose="02040503050406030204" pitchFamily="18" charset="0"/>
                <a:cs typeface="Aharoni" panose="02010803020104030203" pitchFamily="2" charset="-79"/>
              </a:rPr>
              <a:t> </a:t>
            </a:r>
            <a:r>
              <a:rPr lang="en-US" sz="3000" b="1" dirty="0" err="1">
                <a:solidFill>
                  <a:srgbClr val="C00000"/>
                </a:solidFill>
                <a:latin typeface="Cambria" panose="02040503050406030204" pitchFamily="18" charset="0"/>
                <a:ea typeface="Cambria" panose="02040503050406030204" pitchFamily="18" charset="0"/>
                <a:cs typeface="Aharoni" panose="02010803020104030203" pitchFamily="2" charset="-79"/>
              </a:rPr>
              <a:t>với</a:t>
            </a:r>
            <a:r>
              <a:rPr lang="en-US" sz="3000" b="1" dirty="0">
                <a:solidFill>
                  <a:srgbClr val="C00000"/>
                </a:solidFill>
                <a:latin typeface="Cambria" panose="02040503050406030204" pitchFamily="18" charset="0"/>
                <a:ea typeface="Cambria" panose="02040503050406030204" pitchFamily="18" charset="0"/>
                <a:cs typeface="Aharoni" panose="02010803020104030203" pitchFamily="2" charset="-79"/>
              </a:rPr>
              <a:t> python</a:t>
            </a:r>
          </a:p>
          <a:p>
            <a:pPr>
              <a:spcBef>
                <a:spcPts val="600"/>
              </a:spcBef>
              <a:spcAft>
                <a:spcPts val="1200"/>
              </a:spcAft>
            </a:pPr>
            <a:r>
              <a:rPr lang="vi-VN" sz="3000" b="1" dirty="0">
                <a:solidFill>
                  <a:srgbClr val="C00000"/>
                </a:solidFill>
                <a:latin typeface="Cambria" panose="02040503050406030204" pitchFamily="18" charset="0"/>
                <a:ea typeface="Cambria" panose="02040503050406030204" pitchFamily="18" charset="0"/>
                <a:cs typeface="Aharoni" panose="02010803020104030203" pitchFamily="2" charset="-79"/>
              </a:rPr>
              <a:t>Chương 2. Lập trình OOP với Python</a:t>
            </a:r>
            <a:endParaRPr lang="en-US" sz="3000" b="1" dirty="0">
              <a:solidFill>
                <a:srgbClr val="C00000"/>
              </a:solidFill>
              <a:latin typeface="Cambria" panose="02040503050406030204" pitchFamily="18" charset="0"/>
              <a:ea typeface="Cambria" panose="02040503050406030204" pitchFamily="18" charset="0"/>
              <a:cs typeface="Aharoni" panose="02010803020104030203" pitchFamily="2" charset="-79"/>
            </a:endParaRPr>
          </a:p>
          <a:p>
            <a:pPr>
              <a:spcBef>
                <a:spcPts val="600"/>
              </a:spcBef>
              <a:spcAft>
                <a:spcPts val="1200"/>
              </a:spcAft>
            </a:pPr>
            <a:r>
              <a:rPr lang="vi-VN" sz="3000" b="1" dirty="0">
                <a:solidFill>
                  <a:srgbClr val="C00000"/>
                </a:solidFill>
                <a:latin typeface="Cambria" panose="02040503050406030204" pitchFamily="18" charset="0"/>
                <a:ea typeface="Cambria" panose="02040503050406030204" pitchFamily="18" charset="0"/>
                <a:cs typeface="Aharoni" panose="02010803020104030203" pitchFamily="2" charset="-79"/>
              </a:rPr>
              <a:t>Chương 3. Một số lĩnh vực ứng dụng của Python</a:t>
            </a:r>
            <a:endParaRPr lang="en-US" sz="3000" b="1" dirty="0">
              <a:solidFill>
                <a:srgbClr val="C00000"/>
              </a:solidFill>
              <a:latin typeface="Cambria" panose="02040503050406030204" pitchFamily="18" charset="0"/>
              <a:ea typeface="Cambria" panose="02040503050406030204" pitchFamily="18" charset="0"/>
              <a:cs typeface="Aharoni" panose="02010803020104030203" pitchFamily="2" charset="-79"/>
            </a:endParaRPr>
          </a:p>
          <a:p>
            <a:pPr>
              <a:spcBef>
                <a:spcPts val="600"/>
              </a:spcBef>
              <a:spcAft>
                <a:spcPts val="1200"/>
              </a:spcAft>
            </a:pPr>
            <a:r>
              <a:rPr lang="vi-VN" sz="3000" b="1" dirty="0">
                <a:solidFill>
                  <a:srgbClr val="C00000"/>
                </a:solidFill>
                <a:latin typeface="Cambria" panose="02040503050406030204" pitchFamily="18" charset="0"/>
                <a:ea typeface="Cambria" panose="02040503050406030204" pitchFamily="18" charset="0"/>
                <a:cs typeface="Aharoni" panose="02010803020104030203" pitchFamily="2" charset="-79"/>
              </a:rPr>
              <a:t>Chương 4. Xây dựng ứng dụng </a:t>
            </a:r>
          </a:p>
        </p:txBody>
      </p:sp>
      <p:cxnSp>
        <p:nvCxnSpPr>
          <p:cNvPr id="13" name="Straight Connector 12">
            <a:extLst>
              <a:ext uri="{FF2B5EF4-FFF2-40B4-BE49-F238E27FC236}">
                <a16:creationId xmlns:a16="http://schemas.microsoft.com/office/drawing/2014/main" id="{5CD76142-C743-4DDD-90B9-B7FB62FE3EC2}"/>
              </a:ext>
            </a:extLst>
          </p:cNvPr>
          <p:cNvCxnSpPr/>
          <p:nvPr/>
        </p:nvCxnSpPr>
        <p:spPr>
          <a:xfrm flipV="1">
            <a:off x="2206621" y="1486998"/>
            <a:ext cx="7937783" cy="8386"/>
          </a:xfrm>
          <a:prstGeom prst="line">
            <a:avLst/>
          </a:prstGeom>
        </p:spPr>
        <p:style>
          <a:lnRef idx="2">
            <a:schemeClr val="accent2"/>
          </a:lnRef>
          <a:fillRef idx="0">
            <a:schemeClr val="accent2"/>
          </a:fillRef>
          <a:effectRef idx="1">
            <a:schemeClr val="accent2"/>
          </a:effectRef>
          <a:fontRef idx="minor">
            <a:schemeClr val="tx1"/>
          </a:fontRef>
        </p:style>
      </p:cxnSp>
    </p:spTree>
    <p:extLst>
      <p:ext uri="{BB962C8B-B14F-4D97-AF65-F5344CB8AC3E}">
        <p14:creationId xmlns:p14="http://schemas.microsoft.com/office/powerpoint/2010/main" val="16604113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ea typeface="Cambria" panose="02040503050406030204" pitchFamily="18" charset="0"/>
              </a:rPr>
              <a:t>HỌC PHẦN LẬP TRÌNH PYTHON</a:t>
            </a:r>
          </a:p>
        </p:txBody>
      </p:sp>
      <p:pic>
        <p:nvPicPr>
          <p:cNvPr id="10" name="Picture 9">
            <a:extLst>
              <a:ext uri="{FF2B5EF4-FFF2-40B4-BE49-F238E27FC236}">
                <a16:creationId xmlns:a16="http://schemas.microsoft.com/office/drawing/2014/main" id="{87A475F0-D933-4B37-A9D6-DFD6D783A8A7}"/>
              </a:ext>
            </a:extLst>
          </p:cNvPr>
          <p:cNvPicPr>
            <a:picLocks noChangeAspect="1"/>
          </p:cNvPicPr>
          <p:nvPr/>
        </p:nvPicPr>
        <p:blipFill>
          <a:blip r:embed="rId2"/>
          <a:stretch>
            <a:fillRect/>
          </a:stretch>
        </p:blipFill>
        <p:spPr>
          <a:xfrm>
            <a:off x="10128243" y="755084"/>
            <a:ext cx="1974036" cy="1974036"/>
          </a:xfrm>
          <a:prstGeom prst="rect">
            <a:avLst/>
          </a:prstGeom>
        </p:spPr>
      </p:pic>
      <p:sp>
        <p:nvSpPr>
          <p:cNvPr id="15" name="TextBox 14">
            <a:extLst>
              <a:ext uri="{FF2B5EF4-FFF2-40B4-BE49-F238E27FC236}">
                <a16:creationId xmlns:a16="http://schemas.microsoft.com/office/drawing/2014/main" id="{5ADF5B30-AA8A-4C50-AD8E-9E9561A31B47}"/>
              </a:ext>
            </a:extLst>
          </p:cNvPr>
          <p:cNvSpPr txBox="1"/>
          <p:nvPr/>
        </p:nvSpPr>
        <p:spPr>
          <a:xfrm>
            <a:off x="1949592" y="755084"/>
            <a:ext cx="7937782" cy="553998"/>
          </a:xfrm>
          <a:prstGeom prst="rect">
            <a:avLst/>
          </a:prstGeom>
          <a:noFill/>
        </p:spPr>
        <p:txBody>
          <a:bodyPr wrap="square">
            <a:spAutoFit/>
          </a:bodyPr>
          <a:lstStyle/>
          <a:p>
            <a:pPr algn="ctr"/>
            <a:r>
              <a:rPr lang="en-US" sz="3000" b="1">
                <a:solidFill>
                  <a:srgbClr val="C00000"/>
                </a:solidFill>
                <a:latin typeface="Cambria" panose="02040503050406030204" pitchFamily="18" charset="0"/>
                <a:ea typeface="Cambria" panose="02040503050406030204" pitchFamily="18" charset="0"/>
              </a:rPr>
              <a:t>TÀI LIỆU THAM KHẢO</a:t>
            </a:r>
            <a:endParaRPr lang="vi-VN" sz="3000" b="1">
              <a:solidFill>
                <a:srgbClr val="C00000"/>
              </a:solidFill>
              <a:latin typeface="Cambria" panose="02040503050406030204" pitchFamily="18" charset="0"/>
              <a:ea typeface="Cambria" panose="02040503050406030204" pitchFamily="18" charset="0"/>
            </a:endParaRPr>
          </a:p>
        </p:txBody>
      </p:sp>
      <p:sp>
        <p:nvSpPr>
          <p:cNvPr id="16" name="object 8">
            <a:extLst>
              <a:ext uri="{FF2B5EF4-FFF2-40B4-BE49-F238E27FC236}">
                <a16:creationId xmlns:a16="http://schemas.microsoft.com/office/drawing/2014/main" id="{F5AEDA87-CAE3-4564-8E75-E9CBAC75ABCC}"/>
              </a:ext>
            </a:extLst>
          </p:cNvPr>
          <p:cNvSpPr txBox="1"/>
          <p:nvPr/>
        </p:nvSpPr>
        <p:spPr>
          <a:xfrm>
            <a:off x="414130" y="1198712"/>
            <a:ext cx="10240618" cy="5100755"/>
          </a:xfrm>
          <a:prstGeom prst="rect">
            <a:avLst/>
          </a:prstGeom>
        </p:spPr>
        <p:txBody>
          <a:bodyPr vert="horz" wrap="square" lIns="0" tIns="98425" rIns="0" bIns="0" rtlCol="0">
            <a:spAutoFit/>
          </a:bodyPr>
          <a:lstStyle/>
          <a:p>
            <a:pPr marL="469900" indent="-457200">
              <a:lnSpc>
                <a:spcPct val="100000"/>
              </a:lnSpc>
              <a:buClr>
                <a:srgbClr val="FF5A33"/>
              </a:buClr>
              <a:buFont typeface="+mj-lt"/>
              <a:buAutoNum type="arabicPeriod"/>
              <a:tabLst>
                <a:tab pos="355600" algn="l"/>
              </a:tabLst>
            </a:pPr>
            <a:r>
              <a:rPr lang="en-US" sz="2500" spc="-10">
                <a:latin typeface="Cambria" panose="02040503050406030204" pitchFamily="18" charset="0"/>
                <a:ea typeface="Cambria" panose="02040503050406030204" pitchFamily="18" charset="0"/>
                <a:cs typeface="Segoe UI"/>
              </a:rPr>
              <a:t>Python for Everybody (2016). Charles R. Severance, Exploring Data Using Python 3, USA</a:t>
            </a:r>
          </a:p>
          <a:p>
            <a:pPr marL="469900" indent="-457200">
              <a:lnSpc>
                <a:spcPct val="100000"/>
              </a:lnSpc>
              <a:buClr>
                <a:srgbClr val="FF5A33"/>
              </a:buClr>
              <a:buFont typeface="+mj-lt"/>
              <a:buAutoNum type="arabicPeriod"/>
              <a:tabLst>
                <a:tab pos="355600" algn="l"/>
              </a:tabLst>
            </a:pPr>
            <a:r>
              <a:rPr lang="en-US" sz="2500" spc="-10" err="1">
                <a:latin typeface="Cambria" panose="02040503050406030204" pitchFamily="18" charset="0"/>
                <a:ea typeface="Cambria" panose="02040503050406030204" pitchFamily="18" charset="0"/>
                <a:cs typeface="Segoe UI"/>
              </a:rPr>
              <a:t>Tự</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học</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lập</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trình</a:t>
            </a:r>
            <a:r>
              <a:rPr lang="en-US" sz="2500" spc="-10">
                <a:latin typeface="Cambria" panose="02040503050406030204" pitchFamily="18" charset="0"/>
                <a:ea typeface="Cambria" panose="02040503050406030204" pitchFamily="18" charset="0"/>
                <a:cs typeface="Segoe UI"/>
              </a:rPr>
              <a:t> Python </a:t>
            </a:r>
            <a:r>
              <a:rPr lang="en-US" sz="2500" spc="-10" err="1">
                <a:latin typeface="Cambria" panose="02040503050406030204" pitchFamily="18" charset="0"/>
                <a:ea typeface="Cambria" panose="02040503050406030204" pitchFamily="18" charset="0"/>
                <a:cs typeface="Segoe UI"/>
              </a:rPr>
              <a:t>căn</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bản</a:t>
            </a:r>
            <a:r>
              <a:rPr lang="en-US" sz="2500" spc="-10">
                <a:latin typeface="Cambria" panose="02040503050406030204" pitchFamily="18" charset="0"/>
                <a:ea typeface="Cambria" panose="02040503050406030204" pitchFamily="18" charset="0"/>
                <a:cs typeface="Segoe UI"/>
              </a:rPr>
              <a:t> (2019). </a:t>
            </a:r>
            <a:r>
              <a:rPr lang="en-US" sz="2500" spc="-10" err="1">
                <a:latin typeface="Cambria" panose="02040503050406030204" pitchFamily="18" charset="0"/>
                <a:ea typeface="Cambria" panose="02040503050406030204" pitchFamily="18" charset="0"/>
                <a:cs typeface="Segoe UI"/>
              </a:rPr>
              <a:t>Vũ</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Hải</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Quân</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Nhà</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xuất</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bản</a:t>
            </a:r>
            <a:r>
              <a:rPr lang="en-US" sz="2500" spc="-10">
                <a:latin typeface="Cambria" panose="02040503050406030204" pitchFamily="18" charset="0"/>
                <a:ea typeface="Cambria" panose="02040503050406030204" pitchFamily="18" charset="0"/>
                <a:cs typeface="Segoe UI"/>
              </a:rPr>
              <a:t> ĐHQG TP </a:t>
            </a:r>
            <a:r>
              <a:rPr lang="en-US" sz="2500" spc="-10" err="1">
                <a:latin typeface="Cambria" panose="02040503050406030204" pitchFamily="18" charset="0"/>
                <a:ea typeface="Cambria" panose="02040503050406030204" pitchFamily="18" charset="0"/>
                <a:cs typeface="Segoe UI"/>
              </a:rPr>
              <a:t>Hồ</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Chí</a:t>
            </a:r>
            <a:r>
              <a:rPr lang="en-US" sz="2500" spc="-10">
                <a:latin typeface="Cambria" panose="02040503050406030204" pitchFamily="18" charset="0"/>
                <a:ea typeface="Cambria" panose="02040503050406030204" pitchFamily="18" charset="0"/>
                <a:cs typeface="Segoe UI"/>
              </a:rPr>
              <a:t> Minh</a:t>
            </a:r>
          </a:p>
          <a:p>
            <a:pPr marL="469900" indent="-457200">
              <a:lnSpc>
                <a:spcPct val="100000"/>
              </a:lnSpc>
              <a:buClr>
                <a:srgbClr val="FF5A33"/>
              </a:buClr>
              <a:buFont typeface="+mj-lt"/>
              <a:buAutoNum type="arabicPeriod"/>
              <a:tabLst>
                <a:tab pos="355600" algn="l"/>
              </a:tabLst>
            </a:pPr>
            <a:r>
              <a:rPr lang="en-US" sz="2500" spc="-10">
                <a:latin typeface="Cambria" panose="02040503050406030204" pitchFamily="18" charset="0"/>
                <a:ea typeface="Cambria" panose="02040503050406030204" pitchFamily="18" charset="0"/>
                <a:cs typeface="Segoe UI"/>
              </a:rPr>
              <a:t>Python </a:t>
            </a:r>
            <a:r>
              <a:rPr lang="en-US" sz="2500" spc="-10" err="1">
                <a:latin typeface="Cambria" panose="02040503050406030204" pitchFamily="18" charset="0"/>
                <a:ea typeface="Cambria" panose="02040503050406030204" pitchFamily="18" charset="0"/>
                <a:cs typeface="Segoe UI"/>
              </a:rPr>
              <a:t>cơ</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bản</a:t>
            </a:r>
            <a:r>
              <a:rPr lang="en-US" sz="2500" spc="-10">
                <a:latin typeface="Cambria" panose="02040503050406030204" pitchFamily="18" charset="0"/>
                <a:ea typeface="Cambria" panose="02040503050406030204" pitchFamily="18" charset="0"/>
                <a:cs typeface="Segoe UI"/>
              </a:rPr>
              <a:t> (2020). </a:t>
            </a:r>
            <a:r>
              <a:rPr lang="en-US" sz="2500" spc="-10" err="1">
                <a:latin typeface="Cambria" panose="02040503050406030204" pitchFamily="18" charset="0"/>
                <a:ea typeface="Cambria" panose="02040503050406030204" pitchFamily="18" charset="0"/>
                <a:cs typeface="Segoe UI"/>
              </a:rPr>
              <a:t>Bùi</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Việt</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Hà</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Nhà</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xuất</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bản</a:t>
            </a:r>
            <a:r>
              <a:rPr lang="en-US" sz="2500" spc="-10">
                <a:latin typeface="Cambria" panose="02040503050406030204" pitchFamily="18" charset="0"/>
                <a:ea typeface="Cambria" panose="02040503050406030204" pitchFamily="18" charset="0"/>
                <a:cs typeface="Segoe UI"/>
              </a:rPr>
              <a:t> ĐHQG </a:t>
            </a:r>
            <a:r>
              <a:rPr lang="en-US" sz="2500" spc="-10" err="1">
                <a:latin typeface="Cambria" panose="02040503050406030204" pitchFamily="18" charset="0"/>
                <a:ea typeface="Cambria" panose="02040503050406030204" pitchFamily="18" charset="0"/>
                <a:cs typeface="Segoe UI"/>
              </a:rPr>
              <a:t>Hà</a:t>
            </a:r>
            <a:r>
              <a:rPr lang="en-US" sz="2500" spc="-10">
                <a:latin typeface="Cambria" panose="02040503050406030204" pitchFamily="18" charset="0"/>
                <a:ea typeface="Cambria" panose="02040503050406030204" pitchFamily="18" charset="0"/>
                <a:cs typeface="Segoe UI"/>
              </a:rPr>
              <a:t> </a:t>
            </a:r>
            <a:r>
              <a:rPr lang="en-US" sz="2500" spc="-10" err="1">
                <a:latin typeface="Cambria" panose="02040503050406030204" pitchFamily="18" charset="0"/>
                <a:ea typeface="Cambria" panose="02040503050406030204" pitchFamily="18" charset="0"/>
                <a:cs typeface="Segoe UI"/>
              </a:rPr>
              <a:t>Nội</a:t>
            </a:r>
            <a:r>
              <a:rPr lang="en-US" sz="2500" spc="-10">
                <a:latin typeface="Cambria" panose="02040503050406030204" pitchFamily="18" charset="0"/>
                <a:ea typeface="Cambria" panose="02040503050406030204" pitchFamily="18" charset="0"/>
                <a:cs typeface="Segoe UI"/>
              </a:rPr>
              <a:t>.</a:t>
            </a:r>
          </a:p>
          <a:p>
            <a:pPr marL="469900" indent="-457200">
              <a:lnSpc>
                <a:spcPct val="100000"/>
              </a:lnSpc>
              <a:buClr>
                <a:srgbClr val="FF5A33"/>
              </a:buClr>
              <a:buFont typeface="+mj-lt"/>
              <a:buAutoNum type="arabicPeriod"/>
              <a:tabLst>
                <a:tab pos="355600" algn="l"/>
              </a:tabLst>
            </a:pPr>
            <a:r>
              <a:rPr lang="en-US" sz="2500" spc="-10">
                <a:latin typeface="Cambria" panose="02040503050406030204" pitchFamily="18" charset="0"/>
                <a:ea typeface="Cambria" panose="02040503050406030204" pitchFamily="18" charset="0"/>
                <a:cs typeface="Segoe UI"/>
              </a:rPr>
              <a:t>https://niithanoi.edu.vn/huong-dan-cai-dat-va-su-dung-pycharm-ide-trong-lap-trinh-python.html</a:t>
            </a:r>
          </a:p>
          <a:p>
            <a:pPr marL="469900" indent="-457200">
              <a:lnSpc>
                <a:spcPct val="100000"/>
              </a:lnSpc>
              <a:buClr>
                <a:srgbClr val="FF5A33"/>
              </a:buClr>
              <a:buFont typeface="+mj-lt"/>
              <a:buAutoNum type="arabicPeriod"/>
              <a:tabLst>
                <a:tab pos="355600" algn="l"/>
              </a:tabLst>
            </a:pPr>
            <a:r>
              <a:rPr lang="en-US" sz="2500" spc="-10">
                <a:latin typeface="Cambria" panose="02040503050406030204" pitchFamily="18" charset="0"/>
                <a:ea typeface="Cambria" panose="02040503050406030204" pitchFamily="18" charset="0"/>
                <a:cs typeface="Segoe UI"/>
              </a:rPr>
              <a:t>https://ftlinuxcourse.com/cach-cai-dat-python-va-pycharm-ide-tren-windows</a:t>
            </a:r>
          </a:p>
          <a:p>
            <a:pPr marL="469900" indent="-457200">
              <a:lnSpc>
                <a:spcPct val="100000"/>
              </a:lnSpc>
              <a:buClr>
                <a:srgbClr val="FF5A33"/>
              </a:buClr>
              <a:buFont typeface="+mj-lt"/>
              <a:buAutoNum type="arabicPeriod"/>
              <a:tabLst>
                <a:tab pos="355600" algn="l"/>
              </a:tabLst>
            </a:pPr>
            <a:r>
              <a:rPr lang="en-US" sz="2500">
                <a:latin typeface="Cambria" panose="02040503050406030204" pitchFamily="18" charset="0"/>
                <a:ea typeface="Cambria" panose="02040503050406030204" pitchFamily="18" charset="0"/>
                <a:cs typeface="Segoe UI"/>
              </a:rPr>
              <a:t>quantrimang.com</a:t>
            </a:r>
          </a:p>
          <a:p>
            <a:pPr marL="469900" indent="-457200">
              <a:lnSpc>
                <a:spcPct val="100000"/>
              </a:lnSpc>
              <a:buClr>
                <a:srgbClr val="FF5A33"/>
              </a:buClr>
              <a:buFont typeface="+mj-lt"/>
              <a:buAutoNum type="arabicPeriod"/>
              <a:tabLst>
                <a:tab pos="355600" algn="l"/>
              </a:tabLst>
            </a:pPr>
            <a:r>
              <a:rPr lang="en-US" sz="2500">
                <a:latin typeface="Cambria" panose="02040503050406030204" pitchFamily="18" charset="0"/>
                <a:ea typeface="Cambria" panose="02040503050406030204" pitchFamily="18" charset="0"/>
                <a:cs typeface="Segoe UI"/>
              </a:rPr>
              <a:t>toidicode.com</a:t>
            </a:r>
          </a:p>
          <a:p>
            <a:pPr marL="469900" indent="-457200">
              <a:lnSpc>
                <a:spcPct val="100000"/>
              </a:lnSpc>
              <a:buClr>
                <a:srgbClr val="FF5A33"/>
              </a:buClr>
              <a:buFont typeface="+mj-lt"/>
              <a:buAutoNum type="arabicPeriod"/>
              <a:tabLst>
                <a:tab pos="355600" algn="l"/>
              </a:tabLst>
            </a:pPr>
            <a:r>
              <a:rPr lang="en-US" sz="2500">
                <a:latin typeface="Cambria" panose="02040503050406030204" pitchFamily="18" charset="0"/>
                <a:ea typeface="Cambria" panose="02040503050406030204" pitchFamily="18" charset="0"/>
                <a:cs typeface="Segoe UI"/>
              </a:rPr>
              <a:t>phannhatchanh.com</a:t>
            </a:r>
          </a:p>
          <a:p>
            <a:pPr marL="469900" indent="-457200">
              <a:lnSpc>
                <a:spcPct val="100000"/>
              </a:lnSpc>
              <a:buClr>
                <a:srgbClr val="FF5A33"/>
              </a:buClr>
              <a:buFont typeface="+mj-lt"/>
              <a:buAutoNum type="arabicPeriod"/>
              <a:tabLst>
                <a:tab pos="355600" algn="l"/>
              </a:tabLst>
            </a:pPr>
            <a:r>
              <a:rPr lang="en-US" sz="2500">
                <a:latin typeface="Cambria" panose="02040503050406030204" pitchFamily="18" charset="0"/>
                <a:ea typeface="Cambria" panose="02040503050406030204" pitchFamily="18" charset="0"/>
                <a:cs typeface="Segoe UI"/>
              </a:rPr>
              <a:t>…</a:t>
            </a:r>
            <a:endParaRPr sz="2500">
              <a:latin typeface="Cambria" panose="02040503050406030204" pitchFamily="18" charset="0"/>
              <a:ea typeface="Cambria" panose="02040503050406030204" pitchFamily="18" charset="0"/>
              <a:cs typeface="Segoe UI"/>
            </a:endParaRPr>
          </a:p>
        </p:txBody>
      </p:sp>
    </p:spTree>
    <p:extLst>
      <p:ext uri="{BB962C8B-B14F-4D97-AF65-F5344CB8AC3E}">
        <p14:creationId xmlns:p14="http://schemas.microsoft.com/office/powerpoint/2010/main" val="2930971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Cambria" panose="02040503050406030204" pitchFamily="18" charset="0"/>
                <a:ea typeface="Cambria" panose="02040503050406030204" pitchFamily="18" charset="0"/>
              </a:rPr>
              <a:t>Bài</a:t>
            </a:r>
            <a:r>
              <a:rPr lang="en-US">
                <a:latin typeface="Cambria" panose="02040503050406030204" pitchFamily="18" charset="0"/>
                <a:ea typeface="Cambria" panose="02040503050406030204" pitchFamily="18" charset="0"/>
              </a:rPr>
              <a:t> 4 – </a:t>
            </a:r>
            <a:r>
              <a:rPr lang="en-US" err="1">
                <a:latin typeface="Cambria" panose="02040503050406030204" pitchFamily="18" charset="0"/>
                <a:ea typeface="Cambria" panose="02040503050406030204" pitchFamily="18" charset="0"/>
              </a:rPr>
              <a:t>Lập</a:t>
            </a:r>
            <a:r>
              <a:rPr lang="en-US">
                <a:latin typeface="Cambria" panose="02040503050406030204" pitchFamily="18" charset="0"/>
                <a:ea typeface="Cambria" panose="02040503050406030204" pitchFamily="18" charset="0"/>
              </a:rPr>
              <a:t> </a:t>
            </a:r>
            <a:r>
              <a:rPr lang="en-US" err="1">
                <a:latin typeface="Cambria" panose="02040503050406030204" pitchFamily="18" charset="0"/>
                <a:ea typeface="Cambria" panose="02040503050406030204" pitchFamily="18" charset="0"/>
              </a:rPr>
              <a:t>trình</a:t>
            </a:r>
            <a:r>
              <a:rPr lang="en-US">
                <a:latin typeface="Cambria" panose="02040503050406030204" pitchFamily="18" charset="0"/>
                <a:ea typeface="Cambria" panose="02040503050406030204" pitchFamily="18" charset="0"/>
              </a:rPr>
              <a:t> </a:t>
            </a:r>
            <a:r>
              <a:rPr lang="en-US" err="1">
                <a:latin typeface="Cambria" panose="02040503050406030204" pitchFamily="18" charset="0"/>
                <a:ea typeface="Cambria" panose="02040503050406030204" pitchFamily="18" charset="0"/>
              </a:rPr>
              <a:t>hướng</a:t>
            </a:r>
            <a:r>
              <a:rPr lang="en-US">
                <a:latin typeface="Cambria" panose="02040503050406030204" pitchFamily="18" charset="0"/>
                <a:ea typeface="Cambria" panose="02040503050406030204" pitchFamily="18" charset="0"/>
              </a:rPr>
              <a:t> </a:t>
            </a:r>
            <a:r>
              <a:rPr lang="en-US" err="1">
                <a:latin typeface="Cambria" panose="02040503050406030204" pitchFamily="18" charset="0"/>
                <a:ea typeface="Cambria" panose="02040503050406030204" pitchFamily="18" charset="0"/>
              </a:rPr>
              <a:t>đối</a:t>
            </a:r>
            <a:r>
              <a:rPr lang="en-US">
                <a:latin typeface="Cambria" panose="02040503050406030204" pitchFamily="18" charset="0"/>
                <a:ea typeface="Cambria" panose="02040503050406030204" pitchFamily="18" charset="0"/>
              </a:rPr>
              <a:t> </a:t>
            </a:r>
            <a:r>
              <a:rPr lang="en-US" err="1">
                <a:latin typeface="Cambria" panose="02040503050406030204" pitchFamily="18" charset="0"/>
                <a:ea typeface="Cambria" panose="02040503050406030204" pitchFamily="18" charset="0"/>
              </a:rPr>
              <a:t>tượng</a:t>
            </a:r>
            <a:endParaRPr lang="en-US">
              <a:latin typeface="Cambria" panose="02040503050406030204" pitchFamily="18" charset="0"/>
              <a:ea typeface="Cambria" panose="02040503050406030204" pitchFamily="18" charset="0"/>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ea typeface="Cambria" panose="02040503050406030204" pitchFamily="18" charset="0"/>
              </a:rPr>
              <a:t>HỌC PHẦN LẬP TRÌNH PYTHON</a:t>
            </a:r>
          </a:p>
        </p:txBody>
      </p:sp>
      <p:pic>
        <p:nvPicPr>
          <p:cNvPr id="10" name="Picture 9">
            <a:extLst>
              <a:ext uri="{FF2B5EF4-FFF2-40B4-BE49-F238E27FC236}">
                <a16:creationId xmlns:a16="http://schemas.microsoft.com/office/drawing/2014/main" id="{87A475F0-D933-4B37-A9D6-DFD6D783A8A7}"/>
              </a:ext>
            </a:extLst>
          </p:cNvPr>
          <p:cNvPicPr>
            <a:picLocks noChangeAspect="1"/>
          </p:cNvPicPr>
          <p:nvPr/>
        </p:nvPicPr>
        <p:blipFill>
          <a:blip r:embed="rId2"/>
          <a:stretch>
            <a:fillRect/>
          </a:stretch>
        </p:blipFill>
        <p:spPr>
          <a:xfrm>
            <a:off x="10128243" y="755084"/>
            <a:ext cx="1974036" cy="1974036"/>
          </a:xfrm>
          <a:prstGeom prst="rect">
            <a:avLst/>
          </a:prstGeom>
        </p:spPr>
      </p:pic>
      <p:cxnSp>
        <p:nvCxnSpPr>
          <p:cNvPr id="15" name="Straight Connector 14">
            <a:extLst>
              <a:ext uri="{FF2B5EF4-FFF2-40B4-BE49-F238E27FC236}">
                <a16:creationId xmlns:a16="http://schemas.microsoft.com/office/drawing/2014/main" id="{5CD76142-C743-4DDD-90B9-B7FB62FE3EC2}"/>
              </a:ext>
            </a:extLst>
          </p:cNvPr>
          <p:cNvCxnSpPr/>
          <p:nvPr/>
        </p:nvCxnSpPr>
        <p:spPr>
          <a:xfrm>
            <a:off x="3162300" y="2485714"/>
            <a:ext cx="5867400" cy="0"/>
          </a:xfrm>
          <a:prstGeom prst="line">
            <a:avLst/>
          </a:prstGeom>
        </p:spPr>
        <p:style>
          <a:lnRef idx="2">
            <a:schemeClr val="accent2"/>
          </a:lnRef>
          <a:fillRef idx="0">
            <a:schemeClr val="accent2"/>
          </a:fillRef>
          <a:effectRef idx="1">
            <a:schemeClr val="accent2"/>
          </a:effectRef>
          <a:fontRef idx="minor">
            <a:schemeClr val="tx1"/>
          </a:fontRef>
        </p:style>
      </p:cxnSp>
      <p:sp>
        <p:nvSpPr>
          <p:cNvPr id="16" name="object 2"/>
          <p:cNvSpPr txBox="1"/>
          <p:nvPr/>
        </p:nvSpPr>
        <p:spPr>
          <a:xfrm>
            <a:off x="4843820" y="1721259"/>
            <a:ext cx="3156768" cy="627736"/>
          </a:xfrm>
          <a:prstGeom prst="rect">
            <a:avLst/>
          </a:prstGeom>
        </p:spPr>
        <p:txBody>
          <a:bodyPr vert="horz" wrap="square" lIns="0" tIns="12065" rIns="0" bIns="0" rtlCol="0">
            <a:spAutoFit/>
          </a:bodyPr>
          <a:lstStyle/>
          <a:p>
            <a:pPr marL="12700" algn="ctr">
              <a:lnSpc>
                <a:spcPct val="100000"/>
              </a:lnSpc>
              <a:spcBef>
                <a:spcPts val="95"/>
              </a:spcBef>
            </a:pPr>
            <a:r>
              <a:rPr lang="en-US" sz="4000" b="1" spc="-5" dirty="0" err="1">
                <a:solidFill>
                  <a:srgbClr val="FF0000"/>
                </a:solidFill>
                <a:latin typeface="Cambria" panose="02040503050406030204" pitchFamily="18" charset="0"/>
                <a:ea typeface="Cambria" panose="02040503050406030204" pitchFamily="18" charset="0"/>
                <a:cs typeface="Arial"/>
              </a:rPr>
              <a:t>Bài</a:t>
            </a:r>
            <a:r>
              <a:rPr lang="en-US" sz="4000" b="1" spc="-5" dirty="0">
                <a:solidFill>
                  <a:srgbClr val="FF0000"/>
                </a:solidFill>
                <a:latin typeface="Cambria" panose="02040503050406030204" pitchFamily="18" charset="0"/>
                <a:ea typeface="Cambria" panose="02040503050406030204" pitchFamily="18" charset="0"/>
                <a:cs typeface="Arial"/>
              </a:rPr>
              <a:t> 5</a:t>
            </a:r>
            <a:endParaRPr sz="4000" dirty="0">
              <a:solidFill>
                <a:srgbClr val="FF0000"/>
              </a:solidFill>
              <a:latin typeface="Cambria" panose="02040503050406030204" pitchFamily="18" charset="0"/>
              <a:ea typeface="Cambria" panose="02040503050406030204" pitchFamily="18" charset="0"/>
              <a:cs typeface="Arial"/>
            </a:endParaRPr>
          </a:p>
        </p:txBody>
      </p:sp>
      <p:sp>
        <p:nvSpPr>
          <p:cNvPr id="17" name="object 3"/>
          <p:cNvSpPr txBox="1"/>
          <p:nvPr/>
        </p:nvSpPr>
        <p:spPr>
          <a:xfrm>
            <a:off x="1578831" y="2622434"/>
            <a:ext cx="9215065" cy="590931"/>
          </a:xfrm>
          <a:prstGeom prst="rect">
            <a:avLst/>
          </a:prstGeom>
        </p:spPr>
        <p:txBody>
          <a:bodyPr vert="horz" wrap="square" lIns="0" tIns="12065" rIns="0" bIns="0" rtlCol="0">
            <a:spAutoFit/>
          </a:bodyPr>
          <a:lstStyle/>
          <a:p>
            <a:pPr marL="12700" algn="ctr">
              <a:lnSpc>
                <a:spcPct val="114000"/>
              </a:lnSpc>
              <a:spcBef>
                <a:spcPts val="660"/>
              </a:spcBef>
              <a:buClr>
                <a:srgbClr val="FF5A33"/>
              </a:buClr>
              <a:tabLst>
                <a:tab pos="355600" algn="l"/>
              </a:tabLst>
            </a:pPr>
            <a:r>
              <a:rPr lang="en-US" sz="3600" b="1" spc="-5" dirty="0">
                <a:solidFill>
                  <a:prstClr val="black"/>
                </a:solidFill>
                <a:latin typeface="Cambria" panose="02040503050406030204" pitchFamily="18" charset="0"/>
                <a:ea typeface="Cambria" panose="02040503050406030204" pitchFamily="18" charset="0"/>
                <a:cs typeface="Segoe UI"/>
              </a:rPr>
              <a:t>MỘT SỐ LĨNH VỰC ỨNG DỰNG PYTHON</a:t>
            </a:r>
          </a:p>
        </p:txBody>
      </p:sp>
    </p:spTree>
    <p:extLst>
      <p:ext uri="{BB962C8B-B14F-4D97-AF65-F5344CB8AC3E}">
        <p14:creationId xmlns:p14="http://schemas.microsoft.com/office/powerpoint/2010/main" val="1806052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606769"/>
          </a:xfrm>
          <a:prstGeom prst="rect">
            <a:avLst/>
          </a:prstGeom>
          <a:noFill/>
        </p:spPr>
        <p:txBody>
          <a:bodyPr wrap="square" rtlCol="0">
            <a:spAutoFit/>
          </a:bodyPr>
          <a:lstStyle/>
          <a:p>
            <a:pPr marL="12700">
              <a:lnSpc>
                <a:spcPct val="114000"/>
              </a:lnSpc>
              <a:spcBef>
                <a:spcPts val="660"/>
              </a:spcBef>
              <a:buClr>
                <a:srgbClr val="FF5A33"/>
              </a:buClr>
              <a:tabLst>
                <a:tab pos="355600" algn="l"/>
              </a:tabLst>
            </a:pPr>
            <a:r>
              <a:rPr lang="en-US" sz="3200" b="1" dirty="0">
                <a:solidFill>
                  <a:schemeClr val="bg1"/>
                </a:solidFill>
                <a:latin typeface="Cambria" panose="02040503050406030204" pitchFamily="18" charset="0"/>
                <a:ea typeface="Cambria" panose="02040503050406030204" pitchFamily="18" charset="0"/>
              </a:rPr>
              <a:t>BÀI 5: MỘT SỐ LĨNH VỰC ỨNG DỰNG PYTHON</a:t>
            </a:r>
          </a:p>
        </p:txBody>
      </p:sp>
      <p:pic>
        <p:nvPicPr>
          <p:cNvPr id="10" name="Picture 9">
            <a:extLst>
              <a:ext uri="{FF2B5EF4-FFF2-40B4-BE49-F238E27FC236}">
                <a16:creationId xmlns:a16="http://schemas.microsoft.com/office/drawing/2014/main" id="{87A475F0-D933-4B37-A9D6-DFD6D783A8A7}"/>
              </a:ext>
            </a:extLst>
          </p:cNvPr>
          <p:cNvPicPr>
            <a:picLocks noChangeAspect="1"/>
          </p:cNvPicPr>
          <p:nvPr/>
        </p:nvPicPr>
        <p:blipFill>
          <a:blip r:embed="rId2"/>
          <a:stretch>
            <a:fillRect/>
          </a:stretch>
        </p:blipFill>
        <p:spPr>
          <a:xfrm>
            <a:off x="10128243" y="755084"/>
            <a:ext cx="1974036" cy="1974036"/>
          </a:xfrm>
          <a:prstGeom prst="rect">
            <a:avLst/>
          </a:prstGeom>
        </p:spPr>
      </p:pic>
      <p:sp>
        <p:nvSpPr>
          <p:cNvPr id="11" name="object 5"/>
          <p:cNvSpPr txBox="1">
            <a:spLocks noGrp="1"/>
          </p:cNvSpPr>
          <p:nvPr>
            <p:ph type="title"/>
          </p:nvPr>
        </p:nvSpPr>
        <p:spPr>
          <a:xfrm>
            <a:off x="5883551" y="723029"/>
            <a:ext cx="1983105" cy="505267"/>
          </a:xfrm>
          <a:prstGeom prst="rect">
            <a:avLst/>
          </a:prstGeom>
        </p:spPr>
        <p:txBody>
          <a:bodyPr vert="horz" wrap="square" lIns="0" tIns="12700" rIns="0" bIns="0" rtlCol="0">
            <a:spAutoFit/>
          </a:bodyPr>
          <a:lstStyle/>
          <a:p>
            <a:pPr marL="12700">
              <a:lnSpc>
                <a:spcPct val="100000"/>
              </a:lnSpc>
              <a:spcBef>
                <a:spcPts val="100"/>
              </a:spcBef>
            </a:pPr>
            <a:r>
              <a:rPr lang="en-US" sz="3200" b="1" spc="-5" dirty="0">
                <a:solidFill>
                  <a:srgbClr val="FF0000"/>
                </a:solidFill>
                <a:latin typeface="Cambria" panose="02040503050406030204" pitchFamily="18" charset="0"/>
                <a:ea typeface="Cambria" panose="02040503050406030204" pitchFamily="18" charset="0"/>
                <a:cs typeface="Arial"/>
              </a:rPr>
              <a:t>NỘI DUNG</a:t>
            </a:r>
            <a:endParaRPr sz="3200" b="1" dirty="0">
              <a:solidFill>
                <a:srgbClr val="FF0000"/>
              </a:solidFill>
              <a:latin typeface="Cambria" panose="02040503050406030204" pitchFamily="18" charset="0"/>
              <a:ea typeface="Cambria" panose="02040503050406030204" pitchFamily="18" charset="0"/>
              <a:cs typeface="Arial"/>
            </a:endParaRPr>
          </a:p>
        </p:txBody>
      </p:sp>
      <p:sp>
        <p:nvSpPr>
          <p:cNvPr id="14" name="object 10">
            <a:extLst>
              <a:ext uri="{FF2B5EF4-FFF2-40B4-BE49-F238E27FC236}">
                <a16:creationId xmlns:a16="http://schemas.microsoft.com/office/drawing/2014/main" id="{6D7369DA-091C-43CA-9C14-C854816C811A}"/>
              </a:ext>
            </a:extLst>
          </p:cNvPr>
          <p:cNvSpPr txBox="1"/>
          <p:nvPr/>
        </p:nvSpPr>
        <p:spPr>
          <a:xfrm>
            <a:off x="257013" y="1090886"/>
            <a:ext cx="9871229" cy="5204630"/>
          </a:xfrm>
          <a:prstGeom prst="rect">
            <a:avLst/>
          </a:prstGeom>
        </p:spPr>
        <p:txBody>
          <a:bodyPr vert="horz" wrap="square" lIns="0" tIns="99695" rIns="0" bIns="0" rtlCol="0">
            <a:spAutoFit/>
          </a:bodyPr>
          <a:lstStyle/>
          <a:p>
            <a:pPr marL="469900" indent="-457200">
              <a:lnSpc>
                <a:spcPct val="100000"/>
              </a:lnSpc>
              <a:spcBef>
                <a:spcPts val="785"/>
              </a:spcBef>
              <a:buClr>
                <a:srgbClr val="FF5A33"/>
              </a:buClr>
              <a:buFont typeface="+mj-lt"/>
              <a:buAutoNum type="arabicPeriod"/>
              <a:tabLst>
                <a:tab pos="355600" algn="l"/>
              </a:tabLst>
            </a:pPr>
            <a:r>
              <a:rPr lang="en-US" sz="2500" b="1" spc="-5" dirty="0" err="1">
                <a:latin typeface="Cambria" panose="02040503050406030204" pitchFamily="18" charset="0"/>
                <a:ea typeface="Cambria" panose="02040503050406030204" pitchFamily="18" charset="0"/>
                <a:cs typeface="Segoe UI"/>
              </a:rPr>
              <a:t>Tổng</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quan</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về</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ứng</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dụng</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của</a:t>
            </a:r>
            <a:r>
              <a:rPr lang="en-US" sz="2500" b="1" spc="-5" dirty="0">
                <a:latin typeface="Cambria" panose="02040503050406030204" pitchFamily="18" charset="0"/>
                <a:ea typeface="Cambria" panose="02040503050406030204" pitchFamily="18" charset="0"/>
                <a:cs typeface="Segoe UI"/>
              </a:rPr>
              <a:t> Python</a:t>
            </a:r>
          </a:p>
          <a:p>
            <a:pPr marL="469900" indent="-457200">
              <a:lnSpc>
                <a:spcPct val="100000"/>
              </a:lnSpc>
              <a:spcBef>
                <a:spcPts val="785"/>
              </a:spcBef>
              <a:buClr>
                <a:srgbClr val="FF5A33"/>
              </a:buClr>
              <a:buFont typeface="+mj-lt"/>
              <a:buAutoNum type="arabicPeriod"/>
              <a:tabLst>
                <a:tab pos="355600" algn="l"/>
              </a:tabLst>
            </a:pPr>
            <a:r>
              <a:rPr lang="en-US" sz="2500" b="1" spc="-5" dirty="0" err="1">
                <a:latin typeface="Cambria" panose="02040503050406030204" pitchFamily="18" charset="0"/>
                <a:ea typeface="Cambria" panose="02040503050406030204" pitchFamily="18" charset="0"/>
                <a:cs typeface="Segoe UI"/>
              </a:rPr>
              <a:t>Các</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thư</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viện</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ứng</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dụng</a:t>
            </a:r>
            <a:endParaRPr lang="en-US" sz="2500" b="1" spc="-5" dirty="0">
              <a:latin typeface="Cambria" panose="02040503050406030204" pitchFamily="18" charset="0"/>
              <a:ea typeface="Cambria" panose="02040503050406030204" pitchFamily="18" charset="0"/>
              <a:cs typeface="Segoe UI"/>
            </a:endParaRPr>
          </a:p>
          <a:p>
            <a:pPr marL="812800" lvl="1" indent="-342900">
              <a:spcBef>
                <a:spcPts val="580"/>
              </a:spcBef>
              <a:buClr>
                <a:srgbClr val="FF5A33"/>
              </a:buClr>
              <a:buFont typeface="Wingdings" panose="05000000000000000000" pitchFamily="2" charset="2"/>
              <a:buChar char="§"/>
              <a:tabLst>
                <a:tab pos="756920" algn="l"/>
              </a:tabLst>
            </a:pPr>
            <a:r>
              <a:rPr lang="en-US" sz="2500" spc="-55" dirty="0" err="1">
                <a:latin typeface="Cambria" panose="02040503050406030204" pitchFamily="18" charset="0"/>
                <a:ea typeface="Cambria" panose="02040503050406030204" pitchFamily="18" charset="0"/>
                <a:cs typeface="Segoe UI"/>
              </a:rPr>
              <a:t>Numpy</a:t>
            </a:r>
            <a:endParaRPr lang="en-US" sz="2500" spc="-55" dirty="0">
              <a:latin typeface="Cambria" panose="02040503050406030204" pitchFamily="18" charset="0"/>
              <a:ea typeface="Cambria" panose="02040503050406030204" pitchFamily="18" charset="0"/>
              <a:cs typeface="Segoe UI"/>
            </a:endParaRPr>
          </a:p>
          <a:p>
            <a:pPr marL="812800" lvl="1" indent="-342900">
              <a:spcBef>
                <a:spcPts val="580"/>
              </a:spcBef>
              <a:buClr>
                <a:srgbClr val="FF5A33"/>
              </a:buClr>
              <a:buFont typeface="Wingdings" panose="05000000000000000000" pitchFamily="2" charset="2"/>
              <a:buChar char="§"/>
              <a:tabLst>
                <a:tab pos="756920" algn="l"/>
              </a:tabLst>
            </a:pPr>
            <a:r>
              <a:rPr lang="en-US" sz="2500" spc="-55" dirty="0">
                <a:latin typeface="Cambria" panose="02040503050406030204" pitchFamily="18" charset="0"/>
                <a:ea typeface="Cambria" panose="02040503050406030204" pitchFamily="18" charset="0"/>
                <a:cs typeface="Segoe UI"/>
              </a:rPr>
              <a:t>Pandas</a:t>
            </a:r>
          </a:p>
          <a:p>
            <a:pPr marL="812800" lvl="1" indent="-342900">
              <a:spcBef>
                <a:spcPts val="580"/>
              </a:spcBef>
              <a:buClr>
                <a:srgbClr val="FF5A33"/>
              </a:buClr>
              <a:buFont typeface="Wingdings" panose="05000000000000000000" pitchFamily="2" charset="2"/>
              <a:buChar char="§"/>
              <a:tabLst>
                <a:tab pos="756920" algn="l"/>
              </a:tabLst>
            </a:pPr>
            <a:r>
              <a:rPr lang="en-US" sz="2500" spc="-55" dirty="0" err="1">
                <a:latin typeface="Cambria" panose="02040503050406030204" pitchFamily="18" charset="0"/>
                <a:ea typeface="Cambria" panose="02040503050406030204" pitchFamily="18" charset="0"/>
                <a:cs typeface="Segoe UI"/>
              </a:rPr>
              <a:t>Matplotlib</a:t>
            </a:r>
            <a:endParaRPr lang="en-US" sz="2500" spc="-55" dirty="0">
              <a:latin typeface="Cambria" panose="02040503050406030204" pitchFamily="18" charset="0"/>
              <a:ea typeface="Cambria" panose="02040503050406030204" pitchFamily="18" charset="0"/>
              <a:cs typeface="Segoe UI"/>
            </a:endParaRPr>
          </a:p>
          <a:p>
            <a:pPr marL="812800" lvl="1" indent="-342900">
              <a:spcBef>
                <a:spcPts val="580"/>
              </a:spcBef>
              <a:buClr>
                <a:srgbClr val="FF5A33"/>
              </a:buClr>
              <a:buFont typeface="Wingdings" panose="05000000000000000000" pitchFamily="2" charset="2"/>
              <a:buChar char="§"/>
              <a:tabLst>
                <a:tab pos="756920" algn="l"/>
              </a:tabLst>
            </a:pPr>
            <a:r>
              <a:rPr lang="en-US" sz="2500" spc="-55" dirty="0" err="1">
                <a:latin typeface="Cambria" panose="02040503050406030204" pitchFamily="18" charset="0"/>
                <a:ea typeface="Cambria" panose="02040503050406030204" pitchFamily="18" charset="0"/>
                <a:cs typeface="Segoe UI"/>
              </a:rPr>
              <a:t>Sklearn</a:t>
            </a:r>
            <a:endParaRPr lang="en-US" sz="2500" spc="-55" dirty="0">
              <a:latin typeface="Cambria" panose="02040503050406030204" pitchFamily="18" charset="0"/>
              <a:ea typeface="Cambria" panose="02040503050406030204" pitchFamily="18" charset="0"/>
              <a:cs typeface="Segoe UI"/>
            </a:endParaRPr>
          </a:p>
          <a:p>
            <a:pPr marL="812800" lvl="1" indent="-342900">
              <a:spcBef>
                <a:spcPts val="580"/>
              </a:spcBef>
              <a:buClr>
                <a:srgbClr val="FF5A33"/>
              </a:buClr>
              <a:buFont typeface="Wingdings" panose="05000000000000000000" pitchFamily="2" charset="2"/>
              <a:buChar char="§"/>
              <a:tabLst>
                <a:tab pos="756920" algn="l"/>
              </a:tabLst>
            </a:pPr>
            <a:r>
              <a:rPr lang="en-US" sz="2500" spc="-55" dirty="0" err="1">
                <a:latin typeface="Cambria" panose="02040503050406030204" pitchFamily="18" charset="0"/>
                <a:ea typeface="Cambria" panose="02040503050406030204" pitchFamily="18" charset="0"/>
                <a:cs typeface="Segoe UI"/>
              </a:rPr>
              <a:t>Keras</a:t>
            </a:r>
            <a:endParaRPr lang="en-US" sz="2500" spc="-55" dirty="0">
              <a:latin typeface="Cambria" panose="02040503050406030204" pitchFamily="18" charset="0"/>
              <a:ea typeface="Cambria" panose="02040503050406030204" pitchFamily="18" charset="0"/>
              <a:cs typeface="Segoe UI"/>
            </a:endParaRPr>
          </a:p>
          <a:p>
            <a:pPr marL="812800" lvl="1" indent="-342900">
              <a:spcBef>
                <a:spcPts val="580"/>
              </a:spcBef>
              <a:buClr>
                <a:srgbClr val="FF5A33"/>
              </a:buClr>
              <a:buFont typeface="Wingdings" panose="05000000000000000000" pitchFamily="2" charset="2"/>
              <a:buChar char="§"/>
              <a:tabLst>
                <a:tab pos="756920" algn="l"/>
              </a:tabLst>
            </a:pPr>
            <a:r>
              <a:rPr lang="en-US" sz="2500" spc="-55" dirty="0">
                <a:latin typeface="Cambria" panose="02040503050406030204" pitchFamily="18" charset="0"/>
                <a:ea typeface="Cambria" panose="02040503050406030204" pitchFamily="18" charset="0"/>
                <a:cs typeface="Segoe UI"/>
              </a:rPr>
              <a:t>…..</a:t>
            </a:r>
          </a:p>
          <a:p>
            <a:pPr marL="469900" indent="-457200">
              <a:spcBef>
                <a:spcPts val="785"/>
              </a:spcBef>
              <a:buClr>
                <a:srgbClr val="FF5A33"/>
              </a:buClr>
              <a:buFont typeface="+mj-lt"/>
              <a:buAutoNum type="arabicPeriod"/>
              <a:tabLst>
                <a:tab pos="355600" algn="l"/>
              </a:tabLst>
            </a:pPr>
            <a:r>
              <a:rPr lang="en-US" sz="2500" b="1" spc="-5" dirty="0" err="1">
                <a:latin typeface="Cambria" panose="02040503050406030204" pitchFamily="18" charset="0"/>
                <a:ea typeface="Cambria" panose="02040503050406030204" pitchFamily="18" charset="0"/>
                <a:cs typeface="Segoe UI"/>
              </a:rPr>
              <a:t>Một</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số</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bài</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toán</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khoa</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học</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dữ</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liệu</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và</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trí</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tuệ</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nhân</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tạo</a:t>
            </a:r>
            <a:endParaRPr lang="en-US" sz="2500" b="1" spc="-5" dirty="0">
              <a:latin typeface="Cambria" panose="02040503050406030204" pitchFamily="18" charset="0"/>
              <a:ea typeface="Cambria" panose="02040503050406030204" pitchFamily="18" charset="0"/>
              <a:cs typeface="Segoe UI"/>
            </a:endParaRPr>
          </a:p>
          <a:p>
            <a:pPr marL="927100" lvl="1" indent="-457200">
              <a:spcBef>
                <a:spcPts val="785"/>
              </a:spcBef>
              <a:buClr>
                <a:srgbClr val="FF5A33"/>
              </a:buClr>
              <a:buFont typeface="Wingdings" panose="05000000000000000000" pitchFamily="2" charset="2"/>
              <a:buChar char="§"/>
              <a:tabLst>
                <a:tab pos="355600" algn="l"/>
              </a:tabLst>
            </a:pPr>
            <a:r>
              <a:rPr lang="en-US" sz="2500" spc="-5" dirty="0" err="1">
                <a:latin typeface="Cambria" panose="02040503050406030204" pitchFamily="18" charset="0"/>
                <a:ea typeface="Cambria" panose="02040503050406030204" pitchFamily="18" charset="0"/>
                <a:cs typeface="Segoe UI"/>
              </a:rPr>
              <a:t>Phân</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tích</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dữ</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liệu</a:t>
            </a:r>
            <a:endParaRPr lang="en-US" sz="2500" spc="-5" dirty="0">
              <a:latin typeface="Cambria" panose="02040503050406030204" pitchFamily="18" charset="0"/>
              <a:ea typeface="Cambria" panose="02040503050406030204" pitchFamily="18" charset="0"/>
              <a:cs typeface="Segoe UI"/>
            </a:endParaRPr>
          </a:p>
          <a:p>
            <a:pPr marL="927100" lvl="1" indent="-457200">
              <a:spcBef>
                <a:spcPts val="785"/>
              </a:spcBef>
              <a:buClr>
                <a:srgbClr val="FF5A33"/>
              </a:buClr>
              <a:buFont typeface="Wingdings" panose="05000000000000000000" pitchFamily="2" charset="2"/>
              <a:buChar char="§"/>
              <a:tabLst>
                <a:tab pos="355600" algn="l"/>
              </a:tabLst>
            </a:pPr>
            <a:r>
              <a:rPr lang="en-US" sz="2500" spc="-5" dirty="0" err="1">
                <a:latin typeface="Cambria" panose="02040503050406030204" pitchFamily="18" charset="0"/>
                <a:ea typeface="Cambria" panose="02040503050406030204" pitchFamily="18" charset="0"/>
                <a:cs typeface="Segoe UI"/>
              </a:rPr>
              <a:t>Học</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máy</a:t>
            </a:r>
            <a:endParaRPr lang="en-US" sz="2500" spc="-5" dirty="0">
              <a:latin typeface="Cambria" panose="02040503050406030204" pitchFamily="18" charset="0"/>
              <a:ea typeface="Cambria" panose="02040503050406030204" pitchFamily="18" charset="0"/>
              <a:cs typeface="Segoe UI"/>
            </a:endParaRPr>
          </a:p>
        </p:txBody>
      </p:sp>
    </p:spTree>
    <p:extLst>
      <p:ext uri="{BB962C8B-B14F-4D97-AF65-F5344CB8AC3E}">
        <p14:creationId xmlns:p14="http://schemas.microsoft.com/office/powerpoint/2010/main" val="3400525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TỔNG QUAN VỀ ỨNG DỤNG CỦA PYTHON</a:t>
            </a:r>
          </a:p>
        </p:txBody>
      </p:sp>
      <p:sp>
        <p:nvSpPr>
          <p:cNvPr id="6" name="object 10">
            <a:extLst>
              <a:ext uri="{FF2B5EF4-FFF2-40B4-BE49-F238E27FC236}">
                <a16:creationId xmlns:a16="http://schemas.microsoft.com/office/drawing/2014/main" id="{6D7369DA-091C-43CA-9C14-C854816C811A}"/>
              </a:ext>
            </a:extLst>
          </p:cNvPr>
          <p:cNvSpPr txBox="1"/>
          <p:nvPr/>
        </p:nvSpPr>
        <p:spPr>
          <a:xfrm>
            <a:off x="470449" y="836211"/>
            <a:ext cx="8382002" cy="6550319"/>
          </a:xfrm>
          <a:prstGeom prst="rect">
            <a:avLst/>
          </a:prstGeom>
        </p:spPr>
        <p:txBody>
          <a:bodyPr vert="horz" wrap="square" lIns="0" tIns="99695" rIns="0" bIns="0" rtlCol="0">
            <a:spAutoFit/>
          </a:bodyPr>
          <a:lstStyle/>
          <a:p>
            <a:pPr marL="469900" indent="-457200">
              <a:lnSpc>
                <a:spcPct val="130000"/>
              </a:lnSpc>
              <a:buClr>
                <a:srgbClr val="FF5A33"/>
              </a:buClr>
              <a:buFont typeface="+mj-lt"/>
              <a:buAutoNum type="arabicPeriod"/>
              <a:tabLst>
                <a:tab pos="355600" algn="l"/>
              </a:tabLst>
            </a:pPr>
            <a:r>
              <a:rPr lang="en-US" sz="2500" spc="-5" dirty="0" err="1">
                <a:latin typeface="Cambria" panose="02040503050406030204" pitchFamily="18" charset="0"/>
                <a:ea typeface="Cambria" panose="02040503050406030204" pitchFamily="18" charset="0"/>
                <a:cs typeface="Segoe UI"/>
              </a:rPr>
              <a:t>Trong</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khoa</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học</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dữ</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liệu</a:t>
            </a:r>
            <a:endParaRPr lang="en-US" sz="2500" spc="-5" dirty="0">
              <a:latin typeface="Cambria" panose="02040503050406030204" pitchFamily="18" charset="0"/>
              <a:ea typeface="Cambria" panose="02040503050406030204" pitchFamily="18" charset="0"/>
              <a:cs typeface="Segoe UI"/>
            </a:endParaRPr>
          </a:p>
          <a:p>
            <a:pPr marL="469900" indent="-457200">
              <a:lnSpc>
                <a:spcPct val="130000"/>
              </a:lnSpc>
              <a:buClr>
                <a:srgbClr val="FF5A33"/>
              </a:buClr>
              <a:buFont typeface="+mj-lt"/>
              <a:buAutoNum type="arabicPeriod"/>
              <a:tabLst>
                <a:tab pos="355600" algn="l"/>
              </a:tabLst>
            </a:pPr>
            <a:r>
              <a:rPr lang="en-US" sz="2500" spc="-5" dirty="0" err="1">
                <a:latin typeface="Cambria" panose="02040503050406030204" pitchFamily="18" charset="0"/>
                <a:ea typeface="Cambria" panose="02040503050406030204" pitchFamily="18" charset="0"/>
                <a:cs typeface="Segoe UI"/>
              </a:rPr>
              <a:t>Trong</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trí</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tuệ</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nhân</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tạo</a:t>
            </a:r>
            <a:endParaRPr lang="en-US" sz="2500" spc="-5" dirty="0">
              <a:latin typeface="Cambria" panose="02040503050406030204" pitchFamily="18" charset="0"/>
              <a:ea typeface="Cambria" panose="02040503050406030204" pitchFamily="18" charset="0"/>
              <a:cs typeface="Segoe UI"/>
            </a:endParaRPr>
          </a:p>
          <a:p>
            <a:pPr marL="469900" indent="-457200">
              <a:lnSpc>
                <a:spcPct val="130000"/>
              </a:lnSpc>
              <a:buClr>
                <a:srgbClr val="FF5A33"/>
              </a:buClr>
              <a:buFont typeface="+mj-lt"/>
              <a:buAutoNum type="arabicPeriod"/>
              <a:tabLst>
                <a:tab pos="355600" algn="l"/>
              </a:tabLst>
            </a:pPr>
            <a:r>
              <a:rPr lang="en-US" sz="2500" spc="-5" dirty="0" err="1">
                <a:latin typeface="Cambria" panose="02040503050406030204" pitchFamily="18" charset="0"/>
                <a:ea typeface="Cambria" panose="02040503050406030204" pitchFamily="18" charset="0"/>
                <a:cs typeface="Segoe UI"/>
              </a:rPr>
              <a:t>Các</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ứng</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dụng</a:t>
            </a:r>
            <a:r>
              <a:rPr lang="en-US" sz="2500" spc="-5" dirty="0">
                <a:latin typeface="Cambria" panose="02040503050406030204" pitchFamily="18" charset="0"/>
                <a:ea typeface="Cambria" panose="02040503050406030204" pitchFamily="18" charset="0"/>
                <a:cs typeface="Segoe UI"/>
              </a:rPr>
              <a:t> web</a:t>
            </a:r>
          </a:p>
          <a:p>
            <a:pPr marL="469900" indent="-457200">
              <a:lnSpc>
                <a:spcPct val="130000"/>
              </a:lnSpc>
              <a:buClr>
                <a:srgbClr val="FF5A33"/>
              </a:buClr>
              <a:buFont typeface="+mj-lt"/>
              <a:buAutoNum type="arabicPeriod"/>
              <a:tabLst>
                <a:tab pos="355600" algn="l"/>
              </a:tabLst>
            </a:pPr>
            <a:r>
              <a:rPr lang="en-US" sz="2500" spc="-5" dirty="0" err="1">
                <a:latin typeface="Cambria" panose="02040503050406030204" pitchFamily="18" charset="0"/>
                <a:ea typeface="Cambria" panose="02040503050406030204" pitchFamily="18" charset="0"/>
                <a:cs typeface="Segoe UI"/>
              </a:rPr>
              <a:t>Trong</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IoT</a:t>
            </a:r>
            <a:endParaRPr lang="en-US" sz="2500" spc="-5" dirty="0">
              <a:latin typeface="Cambria" panose="02040503050406030204" pitchFamily="18" charset="0"/>
              <a:ea typeface="Cambria" panose="02040503050406030204" pitchFamily="18" charset="0"/>
              <a:cs typeface="Segoe UI"/>
            </a:endParaRPr>
          </a:p>
          <a:p>
            <a:pPr marL="469900" indent="-457200">
              <a:lnSpc>
                <a:spcPct val="130000"/>
              </a:lnSpc>
              <a:buClr>
                <a:srgbClr val="FF5A33"/>
              </a:buClr>
              <a:buFont typeface="+mj-lt"/>
              <a:buAutoNum type="arabicPeriod"/>
              <a:tabLst>
                <a:tab pos="355600" algn="l"/>
              </a:tabLst>
            </a:pPr>
            <a:r>
              <a:rPr lang="en-US" sz="2500" spc="-5" dirty="0" err="1">
                <a:latin typeface="Cambria" panose="02040503050406030204" pitchFamily="18" charset="0"/>
                <a:ea typeface="Cambria" panose="02040503050406030204" pitchFamily="18" charset="0"/>
                <a:cs typeface="Segoe UI"/>
              </a:rPr>
              <a:t>Lập</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trình</a:t>
            </a:r>
            <a:r>
              <a:rPr lang="en-US" sz="2500" spc="-5" dirty="0">
                <a:latin typeface="Cambria" panose="02040503050406030204" pitchFamily="18" charset="0"/>
                <a:ea typeface="Cambria" panose="02040503050406030204" pitchFamily="18" charset="0"/>
                <a:cs typeface="Segoe UI"/>
              </a:rPr>
              <a:t> game</a:t>
            </a:r>
          </a:p>
          <a:p>
            <a:pPr marL="469900" indent="-457200">
              <a:lnSpc>
                <a:spcPct val="130000"/>
              </a:lnSpc>
              <a:buClr>
                <a:srgbClr val="FF5A33"/>
              </a:buClr>
              <a:buFont typeface="+mj-lt"/>
              <a:buAutoNum type="arabicPeriod"/>
              <a:tabLst>
                <a:tab pos="355600" algn="l"/>
              </a:tabLst>
            </a:pPr>
            <a:r>
              <a:rPr lang="en-US" sz="2500" spc="-5" dirty="0" err="1">
                <a:latin typeface="Cambria" panose="02040503050406030204" pitchFamily="18" charset="0"/>
                <a:ea typeface="Cambria" panose="02040503050406030204" pitchFamily="18" charset="0"/>
                <a:cs typeface="Segoe UI"/>
              </a:rPr>
              <a:t>Dùng</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ngôn</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ngữ</a:t>
            </a:r>
            <a:r>
              <a:rPr lang="en-US" sz="2500" spc="-5" dirty="0">
                <a:latin typeface="Cambria" panose="02040503050406030204" pitchFamily="18" charset="0"/>
                <a:ea typeface="Cambria" panose="02040503050406030204" pitchFamily="18" charset="0"/>
                <a:cs typeface="Segoe UI"/>
              </a:rPr>
              <a:t> Python </a:t>
            </a:r>
            <a:r>
              <a:rPr lang="en-US" sz="2500" spc="-5" dirty="0" err="1">
                <a:latin typeface="Cambria" panose="02040503050406030204" pitchFamily="18" charset="0"/>
                <a:ea typeface="Cambria" panose="02040503050406030204" pitchFamily="18" charset="0"/>
                <a:cs typeface="Segoe UI"/>
              </a:rPr>
              <a:t>để</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viết</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ngôn</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ngữ</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lập</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trình</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kịch</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bản</a:t>
            </a:r>
            <a:r>
              <a:rPr lang="en-US" sz="2500" spc="-5" dirty="0">
                <a:latin typeface="Cambria" panose="02040503050406030204" pitchFamily="18" charset="0"/>
                <a:ea typeface="Cambria" panose="02040503050406030204" pitchFamily="18" charset="0"/>
                <a:cs typeface="Segoe UI"/>
              </a:rPr>
              <a:t> (scripting language)</a:t>
            </a:r>
          </a:p>
          <a:p>
            <a:pPr marL="469900" indent="-457200">
              <a:lnSpc>
                <a:spcPct val="130000"/>
              </a:lnSpc>
              <a:buClr>
                <a:srgbClr val="FF5A33"/>
              </a:buClr>
              <a:buFont typeface="+mj-lt"/>
              <a:buAutoNum type="arabicPeriod"/>
              <a:tabLst>
                <a:tab pos="355600" algn="l"/>
              </a:tabLst>
            </a:pPr>
            <a:r>
              <a:rPr lang="en-US" sz="2500" spc="-5" dirty="0" err="1">
                <a:latin typeface="Cambria" panose="02040503050406030204" pitchFamily="18" charset="0"/>
                <a:ea typeface="Cambria" panose="02040503050406030204" pitchFamily="18" charset="0"/>
                <a:cs typeface="Segoe UI"/>
              </a:rPr>
              <a:t>Nghiên</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cứu</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mang</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tính</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học</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thuật</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với</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dữ</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liệu</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lớn</a:t>
            </a:r>
            <a:endParaRPr lang="en-US" sz="2500" spc="-5" dirty="0">
              <a:latin typeface="Cambria" panose="02040503050406030204" pitchFamily="18" charset="0"/>
              <a:ea typeface="Cambria" panose="02040503050406030204" pitchFamily="18" charset="0"/>
              <a:cs typeface="Segoe UI"/>
            </a:endParaRPr>
          </a:p>
          <a:p>
            <a:pPr marL="355600" indent="-342900">
              <a:lnSpc>
                <a:spcPct val="130000"/>
              </a:lnSpc>
              <a:buClr>
                <a:srgbClr val="FF5A33"/>
              </a:buClr>
              <a:buFont typeface="Wingdings" panose="05000000000000000000" pitchFamily="2" charset="2"/>
              <a:buChar char="§"/>
              <a:tabLst>
                <a:tab pos="355600" algn="l"/>
              </a:tabLst>
            </a:pPr>
            <a:endParaRPr lang="en-US" sz="2500" spc="-5" dirty="0">
              <a:latin typeface="Cambria" panose="02040503050406030204" pitchFamily="18" charset="0"/>
              <a:ea typeface="Cambria" panose="02040503050406030204" pitchFamily="18" charset="0"/>
              <a:cs typeface="Segoe UI"/>
            </a:endParaRPr>
          </a:p>
          <a:p>
            <a:pPr marL="812800" lvl="1" indent="-342900">
              <a:lnSpc>
                <a:spcPct val="130000"/>
              </a:lnSpc>
              <a:buClr>
                <a:srgbClr val="FF5A33"/>
              </a:buClr>
              <a:buFont typeface="Wingdings" panose="05000000000000000000" pitchFamily="2" charset="2"/>
              <a:buChar char="§"/>
              <a:tabLst>
                <a:tab pos="756920" algn="l"/>
              </a:tabLst>
            </a:pPr>
            <a:endParaRPr lang="en-US" sz="2500" spc="-5" dirty="0">
              <a:latin typeface="Cambria" panose="02040503050406030204" pitchFamily="18" charset="0"/>
              <a:ea typeface="Cambria" panose="02040503050406030204" pitchFamily="18" charset="0"/>
              <a:cs typeface="Segoe UI"/>
            </a:endParaRPr>
          </a:p>
          <a:p>
            <a:pPr marL="812800" lvl="1" indent="-342900">
              <a:lnSpc>
                <a:spcPct val="130000"/>
              </a:lnSpc>
              <a:buClr>
                <a:srgbClr val="FF5A33"/>
              </a:buClr>
              <a:buFont typeface="Wingdings" panose="05000000000000000000" pitchFamily="2" charset="2"/>
              <a:buChar char="§"/>
              <a:tabLst>
                <a:tab pos="756920" algn="l"/>
              </a:tabLst>
            </a:pPr>
            <a:endParaRPr lang="en-US" sz="2500" dirty="0">
              <a:latin typeface="Cambria" panose="02040503050406030204" pitchFamily="18" charset="0"/>
              <a:ea typeface="Cambria" panose="02040503050406030204" pitchFamily="18" charset="0"/>
              <a:cs typeface="Segoe UI"/>
            </a:endParaRPr>
          </a:p>
          <a:p>
            <a:pPr marL="812800" lvl="1" indent="-342900">
              <a:lnSpc>
                <a:spcPct val="130000"/>
              </a:lnSpc>
              <a:buClr>
                <a:srgbClr val="FF5A33"/>
              </a:buClr>
              <a:buFont typeface="Wingdings" panose="05000000000000000000" pitchFamily="2" charset="2"/>
              <a:buChar char="§"/>
              <a:tabLst>
                <a:tab pos="756920" algn="l"/>
              </a:tabLst>
            </a:pPr>
            <a:endParaRPr sz="2500" dirty="0">
              <a:latin typeface="Cambria" panose="02040503050406030204" pitchFamily="18" charset="0"/>
              <a:ea typeface="Cambria" panose="02040503050406030204" pitchFamily="18" charset="0"/>
              <a:cs typeface="Segoe UI"/>
            </a:endParaRPr>
          </a:p>
          <a:p>
            <a:pPr marL="355600" indent="-342900">
              <a:lnSpc>
                <a:spcPct val="130000"/>
              </a:lnSpc>
              <a:buClr>
                <a:srgbClr val="FF5A33"/>
              </a:buClr>
              <a:buFont typeface="Wingdings" panose="05000000000000000000" pitchFamily="2" charset="2"/>
              <a:buChar char="§"/>
              <a:tabLst>
                <a:tab pos="355600" algn="l"/>
              </a:tabLst>
            </a:pPr>
            <a:endParaRPr sz="2500" dirty="0">
              <a:latin typeface="Cambria" panose="02040503050406030204" pitchFamily="18" charset="0"/>
              <a:ea typeface="Cambria" panose="02040503050406030204" pitchFamily="18" charset="0"/>
              <a:cs typeface="Segoe UI"/>
            </a:endParaRPr>
          </a:p>
        </p:txBody>
      </p:sp>
      <p:pic>
        <p:nvPicPr>
          <p:cNvPr id="10" name="Picture 9">
            <a:extLst>
              <a:ext uri="{FF2B5EF4-FFF2-40B4-BE49-F238E27FC236}">
                <a16:creationId xmlns:a16="http://schemas.microsoft.com/office/drawing/2014/main" id="{187A503A-A4F2-3CF0-F282-DB2999200B6C}"/>
              </a:ext>
            </a:extLst>
          </p:cNvPr>
          <p:cNvPicPr>
            <a:picLocks noChangeAspect="1"/>
          </p:cNvPicPr>
          <p:nvPr/>
        </p:nvPicPr>
        <p:blipFill>
          <a:blip r:embed="rId2"/>
          <a:stretch>
            <a:fillRect/>
          </a:stretch>
        </p:blipFill>
        <p:spPr>
          <a:xfrm>
            <a:off x="7726017" y="836211"/>
            <a:ext cx="4075589" cy="2292518"/>
          </a:xfrm>
          <a:prstGeom prst="rect">
            <a:avLst/>
          </a:prstGeom>
        </p:spPr>
      </p:pic>
      <p:pic>
        <p:nvPicPr>
          <p:cNvPr id="11" name="Picture 10">
            <a:extLst>
              <a:ext uri="{FF2B5EF4-FFF2-40B4-BE49-F238E27FC236}">
                <a16:creationId xmlns:a16="http://schemas.microsoft.com/office/drawing/2014/main" id="{C6696D6E-7D38-8AFE-5741-EF058EF263D7}"/>
              </a:ext>
            </a:extLst>
          </p:cNvPr>
          <p:cNvPicPr>
            <a:picLocks noChangeAspect="1"/>
          </p:cNvPicPr>
          <p:nvPr/>
        </p:nvPicPr>
        <p:blipFill>
          <a:blip r:embed="rId3"/>
          <a:stretch>
            <a:fillRect/>
          </a:stretch>
        </p:blipFill>
        <p:spPr>
          <a:xfrm>
            <a:off x="7726016" y="3994188"/>
            <a:ext cx="4075589" cy="2292518"/>
          </a:xfrm>
          <a:prstGeom prst="rect">
            <a:avLst/>
          </a:prstGeom>
        </p:spPr>
      </p:pic>
    </p:spTree>
    <p:extLst>
      <p:ext uri="{BB962C8B-B14F-4D97-AF65-F5344CB8AC3E}">
        <p14:creationId xmlns:p14="http://schemas.microsoft.com/office/powerpoint/2010/main" val="65782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PYTHON CHO KHOA HỌC DỮ LIỆU</a:t>
            </a:r>
          </a:p>
        </p:txBody>
      </p:sp>
      <p:sp>
        <p:nvSpPr>
          <p:cNvPr id="12" name="Content Placeholder 2">
            <a:extLst>
              <a:ext uri="{FF2B5EF4-FFF2-40B4-BE49-F238E27FC236}">
                <a16:creationId xmlns:a16="http://schemas.microsoft.com/office/drawing/2014/main" id="{D84E1B89-45F1-4C39-88F0-3A380DA733A9}"/>
              </a:ext>
            </a:extLst>
          </p:cNvPr>
          <p:cNvSpPr>
            <a:spLocks noGrp="1"/>
          </p:cNvSpPr>
          <p:nvPr>
            <p:ph idx="1"/>
          </p:nvPr>
        </p:nvSpPr>
        <p:spPr>
          <a:xfrm>
            <a:off x="289891" y="689950"/>
            <a:ext cx="11612217" cy="4525963"/>
          </a:xfrm>
        </p:spPr>
        <p:txBody>
          <a:bodyPr>
            <a:noAutofit/>
          </a:bodyPr>
          <a:lstStyle/>
          <a:p>
            <a:pPr algn="just">
              <a:lnSpc>
                <a:spcPct val="150000"/>
              </a:lnSpc>
              <a:buClr>
                <a:srgbClr val="FF0000"/>
              </a:buClr>
              <a:buFont typeface="Wingdings" panose="05000000000000000000" pitchFamily="2" charset="2"/>
              <a:buChar char="§"/>
            </a:pPr>
            <a:r>
              <a:rPr lang="vi-VN" sz="2500" b="0" spc="-5" dirty="0">
                <a:latin typeface="Cambria" panose="02040503050406030204" pitchFamily="18" charset="0"/>
                <a:ea typeface="Cambria" panose="02040503050406030204" pitchFamily="18" charset="0"/>
                <a:cs typeface="Segoe UI"/>
              </a:rPr>
              <a:t>Khoa học dữ liệu có 3 nhiệm vụ chính</a:t>
            </a:r>
            <a:r>
              <a:rPr lang="en-US" sz="2500" b="0" spc="-5" dirty="0">
                <a:latin typeface="Cambria" panose="02040503050406030204" pitchFamily="18" charset="0"/>
                <a:ea typeface="Cambria" panose="02040503050406030204" pitchFamily="18" charset="0"/>
                <a:cs typeface="Segoe UI"/>
              </a:rPr>
              <a:t>:</a:t>
            </a:r>
            <a:r>
              <a:rPr lang="vi-VN" sz="2500" b="0" spc="-5" dirty="0">
                <a:latin typeface="Cambria" panose="02040503050406030204" pitchFamily="18" charset="0"/>
                <a:ea typeface="Cambria" panose="02040503050406030204" pitchFamily="18" charset="0"/>
                <a:cs typeface="Segoe UI"/>
              </a:rPr>
              <a:t> </a:t>
            </a:r>
            <a:r>
              <a:rPr lang="vi-VN" sz="2500" b="1" spc="-5" dirty="0">
                <a:latin typeface="Cambria" panose="02040503050406030204" pitchFamily="18" charset="0"/>
                <a:ea typeface="Cambria" panose="02040503050406030204" pitchFamily="18" charset="0"/>
                <a:cs typeface="Segoe UI"/>
              </a:rPr>
              <a:t>phân tích, tổng hợp và tối ưu hóa dữ liệu</a:t>
            </a:r>
            <a:endParaRPr lang="en-US" sz="2500" b="1" spc="-5" dirty="0">
              <a:latin typeface="Cambria" panose="02040503050406030204" pitchFamily="18" charset="0"/>
              <a:ea typeface="Cambria" panose="02040503050406030204" pitchFamily="18" charset="0"/>
              <a:cs typeface="Segoe UI"/>
            </a:endParaRPr>
          </a:p>
          <a:p>
            <a:pPr algn="just">
              <a:lnSpc>
                <a:spcPct val="150000"/>
              </a:lnSpc>
              <a:buClr>
                <a:srgbClr val="FF0000"/>
              </a:buClr>
              <a:buFont typeface="Wingdings" panose="05000000000000000000" pitchFamily="2" charset="2"/>
              <a:buChar char="§"/>
            </a:pPr>
            <a:r>
              <a:rPr lang="en-US" sz="2500" b="0" spc="-5" dirty="0">
                <a:latin typeface="Cambria" panose="02040503050406030204" pitchFamily="18" charset="0"/>
                <a:ea typeface="Cambria" panose="02040503050406030204" pitchFamily="18" charset="0"/>
                <a:cs typeface="Segoe UI"/>
              </a:rPr>
              <a:t>L</a:t>
            </a:r>
            <a:r>
              <a:rPr lang="vi-VN" sz="2500" b="0" spc="-5" dirty="0">
                <a:latin typeface="Cambria" panose="02040503050406030204" pitchFamily="18" charset="0"/>
                <a:ea typeface="Cambria" panose="02040503050406030204" pitchFamily="18" charset="0"/>
                <a:cs typeface="Segoe UI"/>
              </a:rPr>
              <a:t>à quá trình thu thập kiến ​​thức và hiểu biết sâu </a:t>
            </a:r>
            <a:r>
              <a:rPr lang="en-US" sz="2500" b="0" spc="-5" dirty="0" err="1">
                <a:latin typeface="Cambria" panose="02040503050406030204" pitchFamily="18" charset="0"/>
                <a:ea typeface="Cambria" panose="02040503050406030204" pitchFamily="18" charset="0"/>
                <a:cs typeface="Segoe UI"/>
              </a:rPr>
              <a:t>hơn</a:t>
            </a:r>
            <a:r>
              <a:rPr lang="vi-VN" sz="2500" b="0" spc="-5" dirty="0">
                <a:latin typeface="Cambria" panose="02040503050406030204" pitchFamily="18" charset="0"/>
                <a:ea typeface="Cambria" panose="02040503050406030204" pitchFamily="18" charset="0"/>
                <a:cs typeface="Segoe UI"/>
              </a:rPr>
              <a:t> từ một tập hợp dữ liệu khổng lồ và đa dạng thông qua </a:t>
            </a:r>
            <a:r>
              <a:rPr lang="en-US" sz="2500" b="0" spc="-5" dirty="0" err="1">
                <a:latin typeface="Cambria" panose="02040503050406030204" pitchFamily="18" charset="0"/>
                <a:ea typeface="Cambria" panose="02040503050406030204" pitchFamily="18" charset="0"/>
                <a:cs typeface="Segoe UI"/>
              </a:rPr>
              <a:t>việc</a:t>
            </a:r>
            <a:r>
              <a:rPr lang="en-US" sz="2500" b="0" spc="-5" dirty="0">
                <a:latin typeface="Cambria" panose="02040503050406030204" pitchFamily="18" charset="0"/>
                <a:ea typeface="Cambria" panose="02040503050406030204" pitchFamily="18" charset="0"/>
                <a:cs typeface="Segoe UI"/>
              </a:rPr>
              <a:t> </a:t>
            </a:r>
            <a:r>
              <a:rPr lang="vi-VN" sz="2500" b="0" spc="-5" dirty="0">
                <a:latin typeface="Cambria" panose="02040503050406030204" pitchFamily="18" charset="0"/>
                <a:ea typeface="Cambria" panose="02040503050406030204" pitchFamily="18" charset="0"/>
                <a:cs typeface="Segoe UI"/>
              </a:rPr>
              <a:t>tổ</a:t>
            </a:r>
            <a:r>
              <a:rPr lang="en-US" sz="2500" b="0" spc="-5" dirty="0">
                <a:latin typeface="Cambria" panose="02040503050406030204" pitchFamily="18" charset="0"/>
                <a:ea typeface="Cambria" panose="02040503050406030204" pitchFamily="18" charset="0"/>
                <a:cs typeface="Segoe UI"/>
              </a:rPr>
              <a:t> </a:t>
            </a:r>
            <a:r>
              <a:rPr lang="vi-VN" sz="2500" b="0" spc="-5" dirty="0">
                <a:latin typeface="Cambria" panose="02040503050406030204" pitchFamily="18" charset="0"/>
                <a:ea typeface="Cambria" panose="02040503050406030204" pitchFamily="18" charset="0"/>
                <a:cs typeface="Segoe UI"/>
              </a:rPr>
              <a:t>chức, xử lý và phân tích dữ liệu. Nó liên quan đến nhiều lĩnh vực khác nhau như mô hình toán học và thống kê, trích xuất dữ liệu từ nguồn và áp dụng các kỹ thuật trực quan hóa dữ liệu. </a:t>
            </a:r>
            <a:endParaRPr lang="en-US" sz="2500" b="0" spc="-5" dirty="0">
              <a:latin typeface="Cambria" panose="02040503050406030204" pitchFamily="18" charset="0"/>
              <a:ea typeface="Cambria" panose="02040503050406030204" pitchFamily="18" charset="0"/>
              <a:cs typeface="Segoe UI"/>
            </a:endParaRPr>
          </a:p>
          <a:p>
            <a:pPr algn="just">
              <a:lnSpc>
                <a:spcPct val="150000"/>
              </a:lnSpc>
              <a:buClr>
                <a:srgbClr val="FF0000"/>
              </a:buClr>
              <a:buFont typeface="Wingdings" panose="05000000000000000000" pitchFamily="2" charset="2"/>
              <a:buChar char="§"/>
            </a:pPr>
            <a:r>
              <a:rPr lang="en-US" sz="2500" b="0" spc="-5" dirty="0">
                <a:latin typeface="Cambria" panose="02040503050406030204" pitchFamily="18" charset="0"/>
                <a:ea typeface="Cambria" panose="02040503050406030204" pitchFamily="18" charset="0"/>
                <a:cs typeface="Segoe UI"/>
              </a:rPr>
              <a:t>N</a:t>
            </a:r>
            <a:r>
              <a:rPr lang="vi-VN" sz="2500" b="0" spc="-5" dirty="0">
                <a:latin typeface="Cambria" panose="02040503050406030204" pitchFamily="18" charset="0"/>
                <a:ea typeface="Cambria" panose="02040503050406030204" pitchFamily="18" charset="0"/>
                <a:cs typeface="Segoe UI"/>
              </a:rPr>
              <a:t>ó cũng liên quan đến việc xử lý các công nghệ dữ liệu lớn để thu thập cả dữ liệu có cấu trúc và không có cấu trúc. </a:t>
            </a:r>
            <a:endParaRPr lang="en-US" sz="2500" b="0" spc="-5" dirty="0">
              <a:latin typeface="Cambria" panose="02040503050406030204" pitchFamily="18" charset="0"/>
              <a:ea typeface="Cambria" panose="02040503050406030204" pitchFamily="18" charset="0"/>
              <a:cs typeface="Segoe UI"/>
            </a:endParaRPr>
          </a:p>
        </p:txBody>
      </p:sp>
    </p:spTree>
    <p:extLst>
      <p:ext uri="{BB962C8B-B14F-4D97-AF65-F5344CB8AC3E}">
        <p14:creationId xmlns:p14="http://schemas.microsoft.com/office/powerpoint/2010/main" val="2306850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PYTHON CHO KHOA HỌC DỮ LIỆU</a:t>
            </a: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270013" y="691585"/>
            <a:ext cx="11651974" cy="4188528"/>
          </a:xfrm>
        </p:spPr>
        <p:txBody>
          <a:bodyPr>
            <a:noAutofit/>
          </a:bodyPr>
          <a:lstStyle/>
          <a:p>
            <a:pPr marL="0" indent="0" algn="just">
              <a:lnSpc>
                <a:spcPct val="150000"/>
              </a:lnSpc>
              <a:spcBef>
                <a:spcPts val="0"/>
              </a:spcBef>
              <a:buClr>
                <a:srgbClr val="FF0000"/>
              </a:buClr>
              <a:buNone/>
            </a:pPr>
            <a:r>
              <a:rPr lang="en-US" sz="2400" b="1" spc="-5" dirty="0" err="1">
                <a:solidFill>
                  <a:srgbClr val="FF0000"/>
                </a:solidFill>
                <a:latin typeface="Cambria" panose="02040503050406030204" pitchFamily="18" charset="0"/>
                <a:ea typeface="Cambria" panose="02040503050406030204" pitchFamily="18" charset="0"/>
                <a:cs typeface="Segoe UI"/>
              </a:rPr>
              <a:t>Một</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số</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lĩnh</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vực</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ứng</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dụng</a:t>
            </a:r>
            <a:endParaRPr lang="en-US" sz="2400" b="1" spc="-5" dirty="0">
              <a:solidFill>
                <a:srgbClr val="FF0000"/>
              </a:solidFill>
              <a:latin typeface="Cambria" panose="02040503050406030204" pitchFamily="18" charset="0"/>
              <a:ea typeface="Cambria" panose="02040503050406030204" pitchFamily="18" charset="0"/>
              <a:cs typeface="Segoe UI"/>
            </a:endParaRPr>
          </a:p>
          <a:p>
            <a:pPr marL="457200" lvl="1" indent="0" algn="just">
              <a:lnSpc>
                <a:spcPct val="150000"/>
              </a:lnSpc>
              <a:spcBef>
                <a:spcPts val="0"/>
              </a:spcBef>
              <a:buClr>
                <a:srgbClr val="FF0000"/>
              </a:buClr>
              <a:buNone/>
            </a:pPr>
            <a:r>
              <a:rPr lang="vi-VN" sz="2400" b="1" spc="-5" dirty="0">
                <a:latin typeface="Cambria" panose="02040503050406030204" pitchFamily="18" charset="0"/>
                <a:ea typeface="Cambria" panose="02040503050406030204" pitchFamily="18" charset="0"/>
                <a:cs typeface="Segoe UI"/>
              </a:rPr>
              <a:t>Hệ thống </a:t>
            </a:r>
            <a:r>
              <a:rPr lang="en-US" sz="2400" b="1" spc="-5" dirty="0" err="1">
                <a:latin typeface="Cambria" panose="02040503050406030204" pitchFamily="18" charset="0"/>
                <a:ea typeface="Cambria" panose="02040503050406030204" pitchFamily="18" charset="0"/>
                <a:cs typeface="Segoe UI"/>
              </a:rPr>
              <a:t>đưa</a:t>
            </a:r>
            <a:r>
              <a:rPr lang="en-US" sz="2400" b="1" spc="-5" dirty="0">
                <a:latin typeface="Cambria" panose="02040503050406030204" pitchFamily="18" charset="0"/>
                <a:ea typeface="Cambria" panose="02040503050406030204" pitchFamily="18" charset="0"/>
                <a:cs typeface="Segoe UI"/>
              </a:rPr>
              <a:t> </a:t>
            </a:r>
            <a:r>
              <a:rPr lang="en-US" sz="2400" b="1" spc="-5" dirty="0" err="1">
                <a:latin typeface="Cambria" panose="02040503050406030204" pitchFamily="18" charset="0"/>
                <a:ea typeface="Cambria" panose="02040503050406030204" pitchFamily="18" charset="0"/>
                <a:cs typeface="Segoe UI"/>
              </a:rPr>
              <a:t>ra</a:t>
            </a:r>
            <a:r>
              <a:rPr lang="en-US" sz="2400" b="1" spc="-5" dirty="0">
                <a:latin typeface="Cambria" panose="02040503050406030204" pitchFamily="18" charset="0"/>
                <a:ea typeface="Cambria" panose="02040503050406030204" pitchFamily="18" charset="0"/>
                <a:cs typeface="Segoe UI"/>
              </a:rPr>
              <a:t> </a:t>
            </a:r>
            <a:r>
              <a:rPr lang="vi-VN" sz="2400" b="1" spc="-5" dirty="0">
                <a:latin typeface="Cambria" panose="02040503050406030204" pitchFamily="18" charset="0"/>
                <a:ea typeface="Cambria" panose="02040503050406030204" pitchFamily="18" charset="0"/>
                <a:cs typeface="Segoe UI"/>
              </a:rPr>
              <a:t>khuyến nghị</a:t>
            </a:r>
            <a:r>
              <a:rPr lang="en-US" sz="2400" b="1" spc="-5" dirty="0">
                <a:latin typeface="Cambria" panose="02040503050406030204" pitchFamily="18" charset="0"/>
                <a:ea typeface="Cambria" panose="02040503050406030204" pitchFamily="18" charset="0"/>
                <a:cs typeface="Segoe UI"/>
              </a:rPr>
              <a:t>: </a:t>
            </a:r>
          </a:p>
          <a:p>
            <a:pPr marL="0" indent="0" algn="just">
              <a:lnSpc>
                <a:spcPct val="150000"/>
              </a:lnSpc>
              <a:spcBef>
                <a:spcPts val="0"/>
              </a:spcBef>
              <a:buClr>
                <a:srgbClr val="FF0000"/>
              </a:buClr>
              <a:buNone/>
            </a:pPr>
            <a:r>
              <a:rPr lang="en-US" sz="2400" b="0" spc="-5" dirty="0" err="1">
                <a:latin typeface="Cambria" panose="02040503050406030204" pitchFamily="18" charset="0"/>
                <a:ea typeface="Cambria" panose="02040503050406030204" pitchFamily="18" charset="0"/>
                <a:cs typeface="Segoe UI"/>
              </a:rPr>
              <a:t>Ví</a:t>
            </a:r>
            <a:r>
              <a:rPr lang="en-US" sz="2400" b="0" spc="-5" dirty="0">
                <a:latin typeface="Cambria" panose="02040503050406030204" pitchFamily="18" charset="0"/>
                <a:ea typeface="Cambria" panose="02040503050406030204" pitchFamily="18" charset="0"/>
                <a:cs typeface="Segoe UI"/>
              </a:rPr>
              <a:t> </a:t>
            </a:r>
            <a:r>
              <a:rPr lang="en-US" sz="2400" b="0" spc="-5" dirty="0" err="1">
                <a:latin typeface="Cambria" panose="02040503050406030204" pitchFamily="18" charset="0"/>
                <a:ea typeface="Cambria" panose="02040503050406030204" pitchFamily="18" charset="0"/>
                <a:cs typeface="Segoe UI"/>
              </a:rPr>
              <a:t>dụ</a:t>
            </a:r>
            <a:r>
              <a:rPr lang="en-US" sz="2400" b="0" spc="-5" dirty="0">
                <a:latin typeface="Cambria" panose="02040503050406030204" pitchFamily="18" charset="0"/>
                <a:ea typeface="Cambria" panose="02040503050406030204" pitchFamily="18" charset="0"/>
                <a:cs typeface="Segoe UI"/>
              </a:rPr>
              <a:t>: </a:t>
            </a:r>
            <a:r>
              <a:rPr lang="en-US" sz="2400" b="0" spc="-5" dirty="0" err="1">
                <a:latin typeface="Cambria" panose="02040503050406030204" pitchFamily="18" charset="0"/>
                <a:ea typeface="Cambria" panose="02040503050406030204" pitchFamily="18" charset="0"/>
                <a:cs typeface="Segoe UI"/>
              </a:rPr>
              <a:t>Trong</a:t>
            </a:r>
            <a:r>
              <a:rPr lang="en-US" sz="2400" b="0" spc="-5" dirty="0">
                <a:latin typeface="Cambria" panose="02040503050406030204" pitchFamily="18" charset="0"/>
                <a:ea typeface="Cambria" panose="02040503050406030204" pitchFamily="18" charset="0"/>
                <a:cs typeface="Segoe UI"/>
              </a:rPr>
              <a:t> </a:t>
            </a:r>
            <a:r>
              <a:rPr lang="en-US" sz="2400" b="0" spc="-5" dirty="0" err="1">
                <a:latin typeface="Cambria" panose="02040503050406030204" pitchFamily="18" charset="0"/>
                <a:ea typeface="Cambria" panose="02040503050406030204" pitchFamily="18" charset="0"/>
                <a:cs typeface="Segoe UI"/>
              </a:rPr>
              <a:t>mua</a:t>
            </a:r>
            <a:r>
              <a:rPr lang="en-US" sz="2400" b="0" spc="-5" dirty="0">
                <a:latin typeface="Cambria" panose="02040503050406030204" pitchFamily="18" charset="0"/>
                <a:ea typeface="Cambria" panose="02040503050406030204" pitchFamily="18" charset="0"/>
                <a:cs typeface="Segoe UI"/>
              </a:rPr>
              <a:t> </a:t>
            </a:r>
            <a:r>
              <a:rPr lang="vi-VN" sz="2400" b="0" spc="-5" dirty="0">
                <a:latin typeface="Cambria" panose="02040503050406030204" pitchFamily="18" charset="0"/>
                <a:ea typeface="Cambria" panose="02040503050406030204" pitchFamily="18" charset="0"/>
                <a:cs typeface="Segoe UI"/>
              </a:rPr>
              <a:t>sắm trực tuyến, các nền tảng thương mại điện tử có thể nắm bắt được sở thích mua sắm của người dùng cũng như hiệu suất của các sản phẩm khác nhau trên thị trường. Điều này dẫn đến việc tạo ra các hệ thống đề xuất tạo ra các mô hình dự đoán nhu cầu của người mua hàng và hiển thị các sản phẩm mà người mua sắm có nhiều khả năng mua nhất.</a:t>
            </a:r>
          </a:p>
        </p:txBody>
      </p:sp>
    </p:spTree>
    <p:extLst>
      <p:ext uri="{BB962C8B-B14F-4D97-AF65-F5344CB8AC3E}">
        <p14:creationId xmlns:p14="http://schemas.microsoft.com/office/powerpoint/2010/main" val="14765248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PYTHON CHO KHOA HỌC DỮ LIỆU</a:t>
            </a: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270013" y="691585"/>
            <a:ext cx="11651974" cy="4188528"/>
          </a:xfrm>
        </p:spPr>
        <p:txBody>
          <a:bodyPr>
            <a:noAutofit/>
          </a:bodyPr>
          <a:lstStyle/>
          <a:p>
            <a:pPr marL="0" indent="0" algn="just">
              <a:lnSpc>
                <a:spcPct val="150000"/>
              </a:lnSpc>
              <a:spcBef>
                <a:spcPts val="0"/>
              </a:spcBef>
              <a:buClr>
                <a:srgbClr val="FF0000"/>
              </a:buClr>
              <a:buNone/>
            </a:pPr>
            <a:r>
              <a:rPr lang="en-US" sz="2400" b="1" spc="-5" dirty="0" err="1">
                <a:solidFill>
                  <a:srgbClr val="FF0000"/>
                </a:solidFill>
                <a:latin typeface="Cambria" panose="02040503050406030204" pitchFamily="18" charset="0"/>
                <a:ea typeface="Cambria" panose="02040503050406030204" pitchFamily="18" charset="0"/>
                <a:cs typeface="Segoe UI"/>
              </a:rPr>
              <a:t>Một</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số</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lĩnh</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vực</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ứng</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dụng</a:t>
            </a:r>
            <a:endParaRPr lang="en-US" sz="2400" b="1" spc="-5" dirty="0">
              <a:solidFill>
                <a:srgbClr val="FF0000"/>
              </a:solidFill>
              <a:latin typeface="Cambria" panose="02040503050406030204" pitchFamily="18" charset="0"/>
              <a:ea typeface="Cambria" panose="02040503050406030204" pitchFamily="18" charset="0"/>
              <a:cs typeface="Segoe UI"/>
            </a:endParaRPr>
          </a:p>
          <a:p>
            <a:pPr marL="0" indent="0" algn="just">
              <a:lnSpc>
                <a:spcPct val="150000"/>
              </a:lnSpc>
              <a:spcBef>
                <a:spcPts val="0"/>
              </a:spcBef>
              <a:buClr>
                <a:srgbClr val="FF0000"/>
              </a:buClr>
              <a:buNone/>
            </a:pPr>
            <a:r>
              <a:rPr lang="en-US" sz="2400" spc="-5" dirty="0">
                <a:latin typeface="Cambria" panose="02040503050406030204" pitchFamily="18" charset="0"/>
                <a:ea typeface="Cambria" panose="02040503050406030204" pitchFamily="18" charset="0"/>
                <a:cs typeface="Segoe UI"/>
              </a:rPr>
              <a:t>	</a:t>
            </a:r>
            <a:r>
              <a:rPr lang="vi-VN" sz="2400" b="1" spc="-5" dirty="0">
                <a:latin typeface="Cambria" panose="02040503050406030204" pitchFamily="18" charset="0"/>
                <a:ea typeface="Cambria" panose="02040503050406030204" pitchFamily="18" charset="0"/>
                <a:cs typeface="Segoe UI"/>
              </a:rPr>
              <a:t>Quản lý rủi ro tài chính</a:t>
            </a:r>
            <a:r>
              <a:rPr lang="en-US" sz="2400" b="1" spc="-5" dirty="0">
                <a:latin typeface="Cambria" panose="02040503050406030204" pitchFamily="18" charset="0"/>
                <a:ea typeface="Cambria" panose="02040503050406030204" pitchFamily="18" charset="0"/>
                <a:cs typeface="Segoe UI"/>
              </a:rPr>
              <a:t>: </a:t>
            </a:r>
          </a:p>
          <a:p>
            <a:pPr algn="just">
              <a:lnSpc>
                <a:spcPct val="150000"/>
              </a:lnSpc>
              <a:spcBef>
                <a:spcPts val="0"/>
              </a:spcBef>
              <a:buClr>
                <a:srgbClr val="FF0000"/>
              </a:buClr>
              <a:buFont typeface="Wingdings" panose="05000000000000000000" pitchFamily="2" charset="2"/>
              <a:buChar char="§"/>
            </a:pPr>
            <a:r>
              <a:rPr lang="vi-VN" sz="2400" spc="-5" dirty="0">
                <a:latin typeface="Cambria" panose="02040503050406030204" pitchFamily="18" charset="0"/>
                <a:ea typeface="Cambria" panose="02040503050406030204" pitchFamily="18" charset="0"/>
                <a:cs typeface="Segoe UI"/>
              </a:rPr>
              <a:t>Rủi ro tài chính liên quan đến các khoản cho vay và tín dụng được phân tích tốt hơn bằng cách sử dụng thói quen chi tiêu của khách hàng trong quá khứ, các khoản nợ trong quá khứ, các cam kết tài chính khác và nhiều chỉ số kinh tế xã hội. </a:t>
            </a:r>
            <a:endParaRPr lang="en-US" sz="2400" spc="-5" dirty="0">
              <a:latin typeface="Cambria" panose="02040503050406030204" pitchFamily="18" charset="0"/>
              <a:ea typeface="Cambria" panose="02040503050406030204" pitchFamily="18" charset="0"/>
              <a:cs typeface="Segoe UI"/>
            </a:endParaRPr>
          </a:p>
          <a:p>
            <a:pPr algn="just">
              <a:lnSpc>
                <a:spcPct val="150000"/>
              </a:lnSpc>
              <a:spcBef>
                <a:spcPts val="0"/>
              </a:spcBef>
              <a:buClr>
                <a:srgbClr val="FF0000"/>
              </a:buClr>
              <a:buFont typeface="Wingdings" panose="05000000000000000000" pitchFamily="2" charset="2"/>
              <a:buChar char="§"/>
            </a:pPr>
            <a:r>
              <a:rPr lang="vi-VN" sz="2400" spc="-5" dirty="0">
                <a:latin typeface="Cambria" panose="02040503050406030204" pitchFamily="18" charset="0"/>
                <a:ea typeface="Cambria" panose="02040503050406030204" pitchFamily="18" charset="0"/>
                <a:cs typeface="Segoe UI"/>
              </a:rPr>
              <a:t>Những dữ liệu này được thu thập từ nhiều nguồn khác nhau với các định dạng khác nhau. Việc tổ chức chúng lại với nhau và có được thông tin chi tiết về hồ sơ khách hàng cần sự trợ giúp của Khoa học dữ liệu. Kết quả là giảm thiểu tổn thất cho tổ chức tài chính bằng cách tránh nợ xấu.</a:t>
            </a:r>
          </a:p>
          <a:p>
            <a:pPr marL="0" indent="0" algn="just">
              <a:lnSpc>
                <a:spcPct val="150000"/>
              </a:lnSpc>
              <a:spcBef>
                <a:spcPts val="0"/>
              </a:spcBef>
              <a:buClr>
                <a:srgbClr val="FF0000"/>
              </a:buClr>
              <a:buNone/>
            </a:pPr>
            <a:endParaRPr lang="en-US" sz="2400" b="1" spc="-5" dirty="0">
              <a:solidFill>
                <a:srgbClr val="FF0000"/>
              </a:solidFill>
              <a:latin typeface="Cambria" panose="02040503050406030204" pitchFamily="18" charset="0"/>
              <a:ea typeface="Cambria" panose="02040503050406030204" pitchFamily="18" charset="0"/>
              <a:cs typeface="Segoe UI"/>
            </a:endParaRPr>
          </a:p>
        </p:txBody>
      </p:sp>
    </p:spTree>
    <p:extLst>
      <p:ext uri="{BB962C8B-B14F-4D97-AF65-F5344CB8AC3E}">
        <p14:creationId xmlns:p14="http://schemas.microsoft.com/office/powerpoint/2010/main" val="44008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PYTHON CHO KHOA HỌC DỮ LIỆU</a:t>
            </a: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270013" y="691585"/>
            <a:ext cx="11651974" cy="4188528"/>
          </a:xfrm>
        </p:spPr>
        <p:txBody>
          <a:bodyPr>
            <a:noAutofit/>
          </a:bodyPr>
          <a:lstStyle/>
          <a:p>
            <a:pPr marL="0" indent="0" algn="just">
              <a:lnSpc>
                <a:spcPct val="150000"/>
              </a:lnSpc>
              <a:spcBef>
                <a:spcPts val="0"/>
              </a:spcBef>
              <a:buClr>
                <a:srgbClr val="FF0000"/>
              </a:buClr>
              <a:buNone/>
            </a:pPr>
            <a:r>
              <a:rPr lang="en-US" sz="2400" b="1" spc="-5" dirty="0" err="1">
                <a:solidFill>
                  <a:srgbClr val="FF0000"/>
                </a:solidFill>
                <a:latin typeface="Cambria" panose="02040503050406030204" pitchFamily="18" charset="0"/>
                <a:ea typeface="Cambria" panose="02040503050406030204" pitchFamily="18" charset="0"/>
                <a:cs typeface="Segoe UI"/>
              </a:rPr>
              <a:t>Một</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số</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lĩnh</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vực</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ứng</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dụng</a:t>
            </a:r>
            <a:endParaRPr lang="en-US" sz="2400" b="1" spc="-5" dirty="0">
              <a:solidFill>
                <a:srgbClr val="FF0000"/>
              </a:solidFill>
              <a:latin typeface="Cambria" panose="02040503050406030204" pitchFamily="18" charset="0"/>
              <a:ea typeface="Cambria" panose="02040503050406030204" pitchFamily="18" charset="0"/>
              <a:cs typeface="Segoe UI"/>
            </a:endParaRPr>
          </a:p>
          <a:p>
            <a:pPr marL="0" indent="0" algn="just">
              <a:lnSpc>
                <a:spcPct val="150000"/>
              </a:lnSpc>
              <a:spcBef>
                <a:spcPts val="0"/>
              </a:spcBef>
              <a:buClr>
                <a:srgbClr val="FF0000"/>
              </a:buClr>
              <a:buNone/>
            </a:pPr>
            <a:r>
              <a:rPr lang="en-US" sz="2400" spc="-5" dirty="0">
                <a:latin typeface="Cambria" panose="02040503050406030204" pitchFamily="18" charset="0"/>
                <a:ea typeface="Cambria" panose="02040503050406030204" pitchFamily="18" charset="0"/>
                <a:cs typeface="Segoe UI"/>
              </a:rPr>
              <a:t>	</a:t>
            </a:r>
            <a:r>
              <a:rPr lang="vi-VN" sz="2400" b="1" spc="-5" dirty="0">
                <a:latin typeface="Cambria" panose="02040503050406030204" pitchFamily="18" charset="0"/>
                <a:ea typeface="Cambria" panose="02040503050406030204" pitchFamily="18" charset="0"/>
                <a:cs typeface="Segoe UI"/>
              </a:rPr>
              <a:t>Cải thiện các dịch vụ Chăm sóc sức khỏe</a:t>
            </a:r>
            <a:r>
              <a:rPr lang="en-US" sz="2400" b="1" spc="-5" dirty="0">
                <a:latin typeface="Cambria" panose="02040503050406030204" pitchFamily="18" charset="0"/>
                <a:ea typeface="Cambria" panose="02040503050406030204" pitchFamily="18" charset="0"/>
                <a:cs typeface="Segoe UI"/>
              </a:rPr>
              <a:t>: </a:t>
            </a:r>
          </a:p>
          <a:p>
            <a:pPr marL="0" indent="0" algn="just">
              <a:lnSpc>
                <a:spcPct val="150000"/>
              </a:lnSpc>
              <a:spcBef>
                <a:spcPts val="0"/>
              </a:spcBef>
              <a:buClr>
                <a:srgbClr val="FF0000"/>
              </a:buClr>
              <a:buNone/>
            </a:pPr>
            <a:r>
              <a:rPr lang="vi-VN" sz="2400" spc="-5" dirty="0">
                <a:latin typeface="Cambria" panose="02040503050406030204" pitchFamily="18" charset="0"/>
                <a:ea typeface="Cambria" panose="02040503050406030204" pitchFamily="18" charset="0"/>
                <a:cs typeface="Segoe UI"/>
              </a:rPr>
              <a:t>Ngành công nghiệp chăm sóc sức khỏe xử lý nhiều loại dữ liệu có thể được phân loại thành dữ liệu kỹ thuật, dữ liệu tài chính, thông tin bệnh nhân, thông tin thuốc và các quy tắc pháp lý. </a:t>
            </a:r>
            <a:endParaRPr lang="en-US" sz="2400" spc="-5" dirty="0">
              <a:latin typeface="Cambria" panose="02040503050406030204" pitchFamily="18" charset="0"/>
              <a:ea typeface="Cambria" panose="02040503050406030204" pitchFamily="18" charset="0"/>
              <a:cs typeface="Segoe UI"/>
            </a:endParaRPr>
          </a:p>
          <a:p>
            <a:pPr marL="0" indent="0" algn="just">
              <a:lnSpc>
                <a:spcPct val="150000"/>
              </a:lnSpc>
              <a:spcBef>
                <a:spcPts val="0"/>
              </a:spcBef>
              <a:buClr>
                <a:srgbClr val="FF0000"/>
              </a:buClr>
              <a:buNone/>
            </a:pPr>
            <a:r>
              <a:rPr lang="vi-VN" sz="2400" spc="-5" dirty="0">
                <a:latin typeface="Cambria" panose="02040503050406030204" pitchFamily="18" charset="0"/>
                <a:ea typeface="Cambria" panose="02040503050406030204" pitchFamily="18" charset="0"/>
                <a:cs typeface="Segoe UI"/>
              </a:rPr>
              <a:t>Tất cả dữ liệu này cần được phân tích một cách đồng bộ để tạo ra thông tin chi tiết giúp tiết kiệm chi phí cho cả nhà cung cấp dịch vụ chăm sóc sức khỏe và người nhận dịch vụ chăm sóc trong khi vẫn tuân thủ pháp luật.</a:t>
            </a:r>
            <a:endParaRPr lang="en-US" sz="2400" spc="-5" dirty="0">
              <a:latin typeface="Cambria" panose="02040503050406030204" pitchFamily="18" charset="0"/>
              <a:ea typeface="Cambria" panose="02040503050406030204" pitchFamily="18" charset="0"/>
              <a:cs typeface="Segoe UI"/>
            </a:endParaRPr>
          </a:p>
          <a:p>
            <a:pPr marL="0" indent="0" algn="just">
              <a:lnSpc>
                <a:spcPct val="150000"/>
              </a:lnSpc>
              <a:spcBef>
                <a:spcPts val="0"/>
              </a:spcBef>
              <a:buClr>
                <a:srgbClr val="FF0000"/>
              </a:buClr>
              <a:buNone/>
            </a:pPr>
            <a:endParaRPr lang="en-US" sz="2400" b="1" spc="-5" dirty="0">
              <a:solidFill>
                <a:srgbClr val="FF0000"/>
              </a:solidFill>
              <a:latin typeface="Cambria" panose="02040503050406030204" pitchFamily="18" charset="0"/>
              <a:ea typeface="Cambria" panose="02040503050406030204" pitchFamily="18" charset="0"/>
              <a:cs typeface="Segoe UI"/>
            </a:endParaRPr>
          </a:p>
        </p:txBody>
      </p:sp>
    </p:spTree>
    <p:extLst>
      <p:ext uri="{BB962C8B-B14F-4D97-AF65-F5344CB8AC3E}">
        <p14:creationId xmlns:p14="http://schemas.microsoft.com/office/powerpoint/2010/main" val="1623056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PYTHON CHO KHOA HỌC DỮ LIỆU</a:t>
            </a: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270013" y="691585"/>
            <a:ext cx="11651974" cy="4188528"/>
          </a:xfrm>
        </p:spPr>
        <p:txBody>
          <a:bodyPr>
            <a:noAutofit/>
          </a:bodyPr>
          <a:lstStyle/>
          <a:p>
            <a:pPr marL="0" indent="0" algn="just">
              <a:lnSpc>
                <a:spcPct val="150000"/>
              </a:lnSpc>
              <a:spcBef>
                <a:spcPts val="0"/>
              </a:spcBef>
              <a:buClr>
                <a:srgbClr val="FF0000"/>
              </a:buClr>
              <a:buNone/>
            </a:pPr>
            <a:r>
              <a:rPr lang="en-US" sz="2400" b="1" spc="-5" dirty="0" err="1">
                <a:solidFill>
                  <a:srgbClr val="FF0000"/>
                </a:solidFill>
                <a:latin typeface="Cambria" panose="02040503050406030204" pitchFamily="18" charset="0"/>
                <a:ea typeface="Cambria" panose="02040503050406030204" pitchFamily="18" charset="0"/>
                <a:cs typeface="Segoe UI"/>
              </a:rPr>
              <a:t>Một</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số</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lĩnh</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vực</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ứng</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dụng</a:t>
            </a:r>
            <a:endParaRPr lang="en-US" sz="2400" b="1" spc="-5" dirty="0">
              <a:solidFill>
                <a:srgbClr val="FF0000"/>
              </a:solidFill>
              <a:latin typeface="Cambria" panose="02040503050406030204" pitchFamily="18" charset="0"/>
              <a:ea typeface="Cambria" panose="02040503050406030204" pitchFamily="18" charset="0"/>
              <a:cs typeface="Segoe UI"/>
            </a:endParaRPr>
          </a:p>
          <a:p>
            <a:pPr marL="0" indent="0" algn="just">
              <a:lnSpc>
                <a:spcPct val="150000"/>
              </a:lnSpc>
              <a:spcBef>
                <a:spcPts val="0"/>
              </a:spcBef>
              <a:buClr>
                <a:srgbClr val="FF0000"/>
              </a:buClr>
              <a:buNone/>
            </a:pPr>
            <a:r>
              <a:rPr lang="en-US" sz="2400" spc="-5" dirty="0">
                <a:latin typeface="Cambria" panose="02040503050406030204" pitchFamily="18" charset="0"/>
                <a:ea typeface="Cambria" panose="02040503050406030204" pitchFamily="18" charset="0"/>
                <a:cs typeface="Segoe UI"/>
              </a:rPr>
              <a:t>	</a:t>
            </a:r>
            <a:r>
              <a:rPr lang="vi-VN" sz="2400" b="1" spc="-5" dirty="0">
                <a:latin typeface="Cambria" panose="02040503050406030204" pitchFamily="18" charset="0"/>
                <a:ea typeface="Cambria" panose="02040503050406030204" pitchFamily="18" charset="0"/>
                <a:cs typeface="Segoe UI"/>
              </a:rPr>
              <a:t>Tầm nhìn máy tính</a:t>
            </a:r>
            <a:r>
              <a:rPr lang="en-US" sz="2400" b="1" spc="-5" dirty="0">
                <a:latin typeface="Cambria" panose="02040503050406030204" pitchFamily="18" charset="0"/>
                <a:ea typeface="Cambria" panose="02040503050406030204" pitchFamily="18" charset="0"/>
                <a:cs typeface="Segoe UI"/>
              </a:rPr>
              <a:t>: </a:t>
            </a:r>
          </a:p>
          <a:p>
            <a:pPr marL="0" indent="0" algn="just">
              <a:lnSpc>
                <a:spcPct val="150000"/>
              </a:lnSpc>
              <a:spcBef>
                <a:spcPts val="0"/>
              </a:spcBef>
              <a:buClr>
                <a:srgbClr val="FF0000"/>
              </a:buClr>
              <a:buNone/>
            </a:pPr>
            <a:r>
              <a:rPr lang="vi-VN" sz="2400" spc="-5" dirty="0">
                <a:latin typeface="Cambria" panose="02040503050406030204" pitchFamily="18" charset="0"/>
                <a:ea typeface="Cambria" panose="02040503050406030204" pitchFamily="18" charset="0"/>
                <a:cs typeface="Segoe UI"/>
              </a:rPr>
              <a:t>Sự tiến bộ trong việc nhận dạng hình ảnh bằng máy tính liên quan đến việc xử lý tập hợp lớn dữ liệu hình ảnh từ nhiều đối tượng cùng loại. </a:t>
            </a:r>
            <a:endParaRPr lang="en-US" sz="2400" spc="-5" dirty="0">
              <a:latin typeface="Cambria" panose="02040503050406030204" pitchFamily="18" charset="0"/>
              <a:ea typeface="Cambria" panose="02040503050406030204" pitchFamily="18" charset="0"/>
              <a:cs typeface="Segoe UI"/>
            </a:endParaRPr>
          </a:p>
          <a:p>
            <a:pPr marL="0" indent="0" algn="just">
              <a:lnSpc>
                <a:spcPct val="150000"/>
              </a:lnSpc>
              <a:spcBef>
                <a:spcPts val="0"/>
              </a:spcBef>
              <a:buClr>
                <a:srgbClr val="FF0000"/>
              </a:buClr>
              <a:buNone/>
            </a:pPr>
            <a:r>
              <a:rPr lang="vi-VN" sz="2400" spc="-5" dirty="0">
                <a:latin typeface="Cambria" panose="02040503050406030204" pitchFamily="18" charset="0"/>
                <a:ea typeface="Cambria" panose="02040503050406030204" pitchFamily="18" charset="0"/>
                <a:cs typeface="Segoe UI"/>
              </a:rPr>
              <a:t>Ví dụ: Nhận dạng khuôn mặt. Các tập dữ liệu này được lập mô hình và các thuật toán được tạo ra để áp dụng mô hình cho các hình ảnh mới hơn nhằm thu được kết quả hài lòng. Việc xử lý các tập dữ liệu khổng lồ này và tạo ra các mô hình cần các công cụ khác nhau được sử dụng trong Khoa học dữ liệu.</a:t>
            </a:r>
          </a:p>
          <a:p>
            <a:pPr marL="0" indent="0" algn="just">
              <a:lnSpc>
                <a:spcPct val="150000"/>
              </a:lnSpc>
              <a:spcBef>
                <a:spcPts val="0"/>
              </a:spcBef>
              <a:buClr>
                <a:srgbClr val="FF0000"/>
              </a:buClr>
              <a:buNone/>
            </a:pPr>
            <a:endParaRPr lang="en-US" sz="2400" b="1" spc="-5" dirty="0">
              <a:solidFill>
                <a:srgbClr val="FF0000"/>
              </a:solidFill>
              <a:latin typeface="Cambria" panose="02040503050406030204" pitchFamily="18" charset="0"/>
              <a:ea typeface="Cambria" panose="02040503050406030204" pitchFamily="18" charset="0"/>
              <a:cs typeface="Segoe UI"/>
            </a:endParaRPr>
          </a:p>
        </p:txBody>
      </p:sp>
    </p:spTree>
    <p:extLst>
      <p:ext uri="{BB962C8B-B14F-4D97-AF65-F5344CB8AC3E}">
        <p14:creationId xmlns:p14="http://schemas.microsoft.com/office/powerpoint/2010/main" val="323474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PYTHON CHO KHOA HỌC DỮ LIỆU</a:t>
            </a: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270013" y="691585"/>
            <a:ext cx="11651974" cy="4188528"/>
          </a:xfrm>
        </p:spPr>
        <p:txBody>
          <a:bodyPr>
            <a:noAutofit/>
          </a:bodyPr>
          <a:lstStyle/>
          <a:p>
            <a:pPr marL="0" indent="0" algn="just">
              <a:lnSpc>
                <a:spcPct val="150000"/>
              </a:lnSpc>
              <a:spcBef>
                <a:spcPts val="0"/>
              </a:spcBef>
              <a:buClr>
                <a:srgbClr val="FF0000"/>
              </a:buClr>
              <a:buNone/>
            </a:pPr>
            <a:r>
              <a:rPr lang="en-US" sz="2400" b="1" spc="-5" dirty="0" err="1">
                <a:solidFill>
                  <a:srgbClr val="FF0000"/>
                </a:solidFill>
                <a:latin typeface="Cambria" panose="02040503050406030204" pitchFamily="18" charset="0"/>
                <a:ea typeface="Cambria" panose="02040503050406030204" pitchFamily="18" charset="0"/>
                <a:cs typeface="Segoe UI"/>
              </a:rPr>
              <a:t>Một</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số</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lĩnh</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vực</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ứng</a:t>
            </a:r>
            <a:r>
              <a:rPr lang="en-US" sz="2400" b="1" spc="-5" dirty="0">
                <a:solidFill>
                  <a:srgbClr val="FF0000"/>
                </a:solidFill>
                <a:latin typeface="Cambria" panose="02040503050406030204" pitchFamily="18" charset="0"/>
                <a:ea typeface="Cambria" panose="02040503050406030204" pitchFamily="18" charset="0"/>
                <a:cs typeface="Segoe UI"/>
              </a:rPr>
              <a:t> </a:t>
            </a:r>
            <a:r>
              <a:rPr lang="en-US" sz="2400" b="1" spc="-5" dirty="0" err="1">
                <a:solidFill>
                  <a:srgbClr val="FF0000"/>
                </a:solidFill>
                <a:latin typeface="Cambria" panose="02040503050406030204" pitchFamily="18" charset="0"/>
                <a:ea typeface="Cambria" panose="02040503050406030204" pitchFamily="18" charset="0"/>
                <a:cs typeface="Segoe UI"/>
              </a:rPr>
              <a:t>dụng</a:t>
            </a:r>
            <a:endParaRPr lang="en-US" sz="2400" b="1" spc="-5" dirty="0">
              <a:solidFill>
                <a:srgbClr val="FF0000"/>
              </a:solidFill>
              <a:latin typeface="Cambria" panose="02040503050406030204" pitchFamily="18" charset="0"/>
              <a:ea typeface="Cambria" panose="02040503050406030204" pitchFamily="18" charset="0"/>
              <a:cs typeface="Segoe UI"/>
            </a:endParaRPr>
          </a:p>
          <a:p>
            <a:pPr marL="0" indent="0" algn="just">
              <a:lnSpc>
                <a:spcPct val="150000"/>
              </a:lnSpc>
              <a:spcBef>
                <a:spcPts val="0"/>
              </a:spcBef>
              <a:buClr>
                <a:srgbClr val="FF0000"/>
              </a:buClr>
              <a:buNone/>
            </a:pPr>
            <a:r>
              <a:rPr lang="en-US" sz="2400" spc="-5" dirty="0">
                <a:latin typeface="Cambria" panose="02040503050406030204" pitchFamily="18" charset="0"/>
                <a:ea typeface="Cambria" panose="02040503050406030204" pitchFamily="18" charset="0"/>
                <a:cs typeface="Segoe UI"/>
              </a:rPr>
              <a:t>	</a:t>
            </a:r>
            <a:r>
              <a:rPr lang="vi-VN" sz="2400" b="1" spc="-5" dirty="0">
                <a:latin typeface="Cambria" panose="02040503050406030204" pitchFamily="18" charset="0"/>
                <a:ea typeface="Cambria" panose="02040503050406030204" pitchFamily="18" charset="0"/>
                <a:cs typeface="Segoe UI"/>
              </a:rPr>
              <a:t>Quản lý hiệu quả năng lượng</a:t>
            </a:r>
            <a:r>
              <a:rPr lang="en-US" sz="2400" b="1" spc="-5" dirty="0">
                <a:latin typeface="Cambria" panose="02040503050406030204" pitchFamily="18" charset="0"/>
                <a:ea typeface="Cambria" panose="02040503050406030204" pitchFamily="18" charset="0"/>
                <a:cs typeface="Segoe UI"/>
              </a:rPr>
              <a:t>: </a:t>
            </a:r>
          </a:p>
          <a:p>
            <a:pPr marL="0" indent="0" algn="just">
              <a:lnSpc>
                <a:spcPct val="150000"/>
              </a:lnSpc>
              <a:spcBef>
                <a:spcPts val="0"/>
              </a:spcBef>
              <a:buClr>
                <a:srgbClr val="FF0000"/>
              </a:buClr>
              <a:buNone/>
            </a:pPr>
            <a:r>
              <a:rPr lang="vi-VN" sz="2400" spc="-5" dirty="0">
                <a:latin typeface="Cambria" panose="02040503050406030204" pitchFamily="18" charset="0"/>
                <a:ea typeface="Cambria" panose="02040503050406030204" pitchFamily="18" charset="0"/>
                <a:cs typeface="Segoe UI"/>
              </a:rPr>
              <a:t>Khi nhu cầu tiêu thụ năng lượng tăng cao, các công ty sản xuất năng lượng cần quản lý các giai đoạn khác nhau của quá trình sản xuất và phân phối năng lượng hiệu quả hơn. Điều này liên quan đến việc tối ưu hóa các phương pháp sản xuất, cơ chế lưu trữ và phân phối cũng như nghiên cứu cách thức tiêu dùng của khách hàng. </a:t>
            </a:r>
            <a:endParaRPr lang="en-US" sz="2400" spc="-5" dirty="0">
              <a:latin typeface="Cambria" panose="02040503050406030204" pitchFamily="18" charset="0"/>
              <a:ea typeface="Cambria" panose="02040503050406030204" pitchFamily="18" charset="0"/>
              <a:cs typeface="Segoe UI"/>
            </a:endParaRPr>
          </a:p>
          <a:p>
            <a:pPr marL="0" indent="0" algn="just">
              <a:lnSpc>
                <a:spcPct val="150000"/>
              </a:lnSpc>
              <a:spcBef>
                <a:spcPts val="0"/>
              </a:spcBef>
              <a:buClr>
                <a:srgbClr val="FF0000"/>
              </a:buClr>
              <a:buNone/>
            </a:pPr>
            <a:r>
              <a:rPr lang="vi-VN" sz="2400" spc="-5" dirty="0">
                <a:latin typeface="Cambria" panose="02040503050406030204" pitchFamily="18" charset="0"/>
                <a:ea typeface="Cambria" panose="02040503050406030204" pitchFamily="18" charset="0"/>
                <a:cs typeface="Segoe UI"/>
              </a:rPr>
              <a:t>Liên kết dữ liệu từ tất cả các nguồn này và thu được thông tin chi tiết có vẻ là một nhiệm vụ khó khăn</a:t>
            </a:r>
            <a:r>
              <a:rPr lang="en-US" sz="2400" spc="-5" dirty="0">
                <a:latin typeface="Cambria" panose="02040503050406030204" pitchFamily="18" charset="0"/>
                <a:ea typeface="Cambria" panose="02040503050406030204" pitchFamily="18" charset="0"/>
                <a:cs typeface="Segoe UI"/>
              </a:rPr>
              <a:t> =&gt; </a:t>
            </a:r>
            <a:r>
              <a:rPr lang="vi-VN" sz="2400" spc="-5" dirty="0">
                <a:latin typeface="Cambria" panose="02040503050406030204" pitchFamily="18" charset="0"/>
                <a:ea typeface="Cambria" panose="02040503050406030204" pitchFamily="18" charset="0"/>
                <a:cs typeface="Segoe UI"/>
              </a:rPr>
              <a:t>được thực hiện dễ dàng hơn bằng cách sử dụng các công cụ của khoa học dữ liệu.</a:t>
            </a:r>
          </a:p>
          <a:p>
            <a:pPr marL="0" indent="0" algn="just">
              <a:lnSpc>
                <a:spcPct val="150000"/>
              </a:lnSpc>
              <a:spcBef>
                <a:spcPts val="0"/>
              </a:spcBef>
              <a:buClr>
                <a:srgbClr val="FF0000"/>
              </a:buClr>
              <a:buNone/>
            </a:pPr>
            <a:endParaRPr lang="en-US" sz="2400" b="1" spc="-5" dirty="0">
              <a:solidFill>
                <a:srgbClr val="FF0000"/>
              </a:solidFill>
              <a:latin typeface="Cambria" panose="02040503050406030204" pitchFamily="18" charset="0"/>
              <a:ea typeface="Cambria" panose="02040503050406030204" pitchFamily="18" charset="0"/>
              <a:cs typeface="Segoe UI"/>
            </a:endParaRPr>
          </a:p>
        </p:txBody>
      </p:sp>
    </p:spTree>
    <p:extLst>
      <p:ext uri="{BB962C8B-B14F-4D97-AF65-F5344CB8AC3E}">
        <p14:creationId xmlns:p14="http://schemas.microsoft.com/office/powerpoint/2010/main" val="537349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PYTHON CHO KHOA HỌC DỮ LIỆU</a:t>
            </a: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270013" y="691584"/>
            <a:ext cx="11651974" cy="5460737"/>
          </a:xfrm>
        </p:spPr>
        <p:txBody>
          <a:bodyPr>
            <a:noAutofit/>
          </a:bodyPr>
          <a:lstStyle/>
          <a:p>
            <a:pPr marL="0" indent="0" algn="just">
              <a:lnSpc>
                <a:spcPct val="150000"/>
              </a:lnSpc>
              <a:spcBef>
                <a:spcPts val="0"/>
              </a:spcBef>
              <a:buNone/>
            </a:pPr>
            <a:r>
              <a:rPr lang="en-US" sz="2500" b="1" dirty="0" err="1">
                <a:solidFill>
                  <a:srgbClr val="FF0000"/>
                </a:solidFill>
                <a:latin typeface="Cambria" panose="02040503050406030204" pitchFamily="18" charset="0"/>
                <a:ea typeface="Cambria" panose="02040503050406030204" pitchFamily="18" charset="0"/>
              </a:rPr>
              <a:t>Tại</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sao</a:t>
            </a:r>
            <a:r>
              <a:rPr lang="en-US" sz="2500" b="1" dirty="0">
                <a:solidFill>
                  <a:srgbClr val="FF0000"/>
                </a:solidFill>
                <a:latin typeface="Cambria" panose="02040503050406030204" pitchFamily="18" charset="0"/>
                <a:ea typeface="Cambria" panose="02040503050406030204" pitchFamily="18" charset="0"/>
              </a:rPr>
              <a:t> </a:t>
            </a:r>
            <a:r>
              <a:rPr lang="vi-VN" sz="2500" b="1" dirty="0">
                <a:solidFill>
                  <a:srgbClr val="FF0000"/>
                </a:solidFill>
                <a:latin typeface="Cambria" panose="02040503050406030204" pitchFamily="18" charset="0"/>
                <a:ea typeface="Cambria" panose="02040503050406030204" pitchFamily="18" charset="0"/>
              </a:rPr>
              <a:t>Python </a:t>
            </a:r>
            <a:r>
              <a:rPr lang="en-US" sz="2500" b="1" dirty="0" err="1">
                <a:solidFill>
                  <a:srgbClr val="FF0000"/>
                </a:solidFill>
                <a:latin typeface="Cambria" panose="02040503050406030204" pitchFamily="18" charset="0"/>
                <a:ea typeface="Cambria" panose="02040503050406030204" pitchFamily="18" charset="0"/>
              </a:rPr>
              <a:t>thích</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hợp</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cho</a:t>
            </a:r>
            <a:r>
              <a:rPr lang="en-US" sz="2500" b="1" dirty="0">
                <a:solidFill>
                  <a:srgbClr val="FF0000"/>
                </a:solidFill>
                <a:latin typeface="Cambria" panose="02040503050406030204" pitchFamily="18" charset="0"/>
                <a:ea typeface="Cambria" panose="02040503050406030204" pitchFamily="18" charset="0"/>
              </a:rPr>
              <a:t> </a:t>
            </a:r>
            <a:r>
              <a:rPr lang="vi-VN" sz="2500" b="1" dirty="0">
                <a:solidFill>
                  <a:srgbClr val="FF0000"/>
                </a:solidFill>
                <a:latin typeface="Cambria" panose="02040503050406030204" pitchFamily="18" charset="0"/>
                <a:ea typeface="Cambria" panose="02040503050406030204" pitchFamily="18" charset="0"/>
              </a:rPr>
              <a:t>Khoa học Dữ liệu</a:t>
            </a:r>
            <a:r>
              <a:rPr lang="en-US" sz="2500" b="1" dirty="0">
                <a:solidFill>
                  <a:srgbClr val="FF0000"/>
                </a:solidFill>
                <a:latin typeface="Cambria" panose="02040503050406030204" pitchFamily="18" charset="0"/>
                <a:ea typeface="Cambria" panose="02040503050406030204" pitchFamily="18" charset="0"/>
              </a:rPr>
              <a:t> ????</a:t>
            </a:r>
            <a:endParaRPr lang="vi-VN" sz="2500" b="1" dirty="0">
              <a:solidFill>
                <a:srgbClr val="FF0000"/>
              </a:solidFill>
              <a:latin typeface="Cambria" panose="02040503050406030204" pitchFamily="18" charset="0"/>
              <a:ea typeface="Cambria" panose="02040503050406030204" pitchFamily="18" charset="0"/>
            </a:endParaRPr>
          </a:p>
          <a:p>
            <a:pPr marL="0" indent="0" algn="just">
              <a:lnSpc>
                <a:spcPct val="150000"/>
              </a:lnSpc>
              <a:spcBef>
                <a:spcPts val="0"/>
              </a:spcBef>
              <a:buNone/>
            </a:pPr>
            <a:r>
              <a:rPr lang="en-US" sz="2500" spc="-5" dirty="0">
                <a:latin typeface="Cambria" panose="02040503050406030204" pitchFamily="18" charset="0"/>
                <a:ea typeface="Cambria" panose="02040503050406030204" pitchFamily="18" charset="0"/>
                <a:cs typeface="Segoe UI"/>
              </a:rPr>
              <a:t>	</a:t>
            </a:r>
            <a:r>
              <a:rPr lang="vi-VN" sz="2500" spc="-5" dirty="0">
                <a:latin typeface="Cambria" panose="02040503050406030204" pitchFamily="18" charset="0"/>
                <a:ea typeface="Cambria" panose="02040503050406030204" pitchFamily="18" charset="0"/>
                <a:cs typeface="Segoe UI"/>
              </a:rPr>
              <a:t>Các yêu cầu lập trình của khoa học dữ liệu đòi hỏi một ngôn ngữ rất linh hoạt, đơn giản để viết mã nhưng có thể xử lý các xử lý toán học rất phức tạp. </a:t>
            </a:r>
            <a:endParaRPr lang="en-US" sz="2500" spc="-5" dirty="0">
              <a:latin typeface="Cambria" panose="02040503050406030204" pitchFamily="18" charset="0"/>
              <a:ea typeface="Cambria" panose="02040503050406030204" pitchFamily="18" charset="0"/>
              <a:cs typeface="Segoe UI"/>
            </a:endParaRPr>
          </a:p>
          <a:p>
            <a:pPr marL="0" indent="0" algn="just">
              <a:lnSpc>
                <a:spcPct val="150000"/>
              </a:lnSpc>
              <a:buNone/>
            </a:pPr>
            <a:r>
              <a:rPr lang="vi-VN" sz="2300" b="1" i="1" spc="-5" dirty="0">
                <a:latin typeface="Cambria" panose="02040503050406030204" pitchFamily="18" charset="0"/>
                <a:ea typeface="Cambria" panose="02040503050406030204" pitchFamily="18" charset="0"/>
                <a:cs typeface="Segoe UI"/>
              </a:rPr>
              <a:t>Python phù hợp nhất cho các yêu cầu như </a:t>
            </a:r>
            <a:r>
              <a:rPr lang="en-US" sz="2300" b="1" i="1" spc="-5" dirty="0" err="1">
                <a:latin typeface="Cambria" panose="02040503050406030204" pitchFamily="18" charset="0"/>
                <a:ea typeface="Cambria" panose="02040503050406030204" pitchFamily="18" charset="0"/>
                <a:cs typeface="Segoe UI"/>
              </a:rPr>
              <a:t>này</a:t>
            </a:r>
            <a:r>
              <a:rPr lang="vi-VN" sz="2300" b="1" i="1" spc="-5" dirty="0">
                <a:latin typeface="Cambria" panose="02040503050406030204" pitchFamily="18" charset="0"/>
                <a:ea typeface="Cambria" panose="02040503050406030204" pitchFamily="18" charset="0"/>
                <a:cs typeface="Segoe UI"/>
              </a:rPr>
              <a:t> vì </a:t>
            </a:r>
            <a:r>
              <a:rPr lang="en-US" sz="2300" b="1" i="1" spc="-5" dirty="0">
                <a:latin typeface="Cambria" panose="02040503050406030204" pitchFamily="18" charset="0"/>
                <a:ea typeface="Cambria" panose="02040503050406030204" pitchFamily="18" charset="0"/>
                <a:cs typeface="Segoe UI"/>
              </a:rPr>
              <a:t>:</a:t>
            </a:r>
          </a:p>
          <a:p>
            <a:pPr lvl="1" algn="just">
              <a:lnSpc>
                <a:spcPct val="150000"/>
              </a:lnSpc>
            </a:pPr>
            <a:r>
              <a:rPr lang="vi-VN" sz="2500" spc="-5" dirty="0">
                <a:latin typeface="Cambria" panose="02040503050406030204" pitchFamily="18" charset="0"/>
                <a:ea typeface="Cambria" panose="02040503050406030204" pitchFamily="18" charset="0"/>
                <a:cs typeface="Segoe UI"/>
              </a:rPr>
              <a:t>nó đã được thiết lập như một ngôn ngữ cho tính toán chung cũng như tính toán khoa học. </a:t>
            </a:r>
            <a:endParaRPr lang="en-US" sz="2500" spc="-5" dirty="0">
              <a:latin typeface="Cambria" panose="02040503050406030204" pitchFamily="18" charset="0"/>
              <a:ea typeface="Cambria" panose="02040503050406030204" pitchFamily="18" charset="0"/>
              <a:cs typeface="Segoe UI"/>
            </a:endParaRPr>
          </a:p>
          <a:p>
            <a:pPr lvl="1" algn="just">
              <a:lnSpc>
                <a:spcPct val="150000"/>
              </a:lnSpc>
            </a:pPr>
            <a:r>
              <a:rPr lang="vi-VN" sz="2500" spc="-5" dirty="0">
                <a:latin typeface="Cambria" panose="02040503050406030204" pitchFamily="18" charset="0"/>
                <a:ea typeface="Cambria" panose="02040503050406030204" pitchFamily="18" charset="0"/>
                <a:cs typeface="Segoe UI"/>
              </a:rPr>
              <a:t>nó đang liên tục được nâng cấp dưới dạng bổ sung mới cho vô số thư viện nhằm vào các yêu cầu lập trình khác nhau. </a:t>
            </a:r>
          </a:p>
        </p:txBody>
      </p:sp>
    </p:spTree>
    <p:extLst>
      <p:ext uri="{BB962C8B-B14F-4D97-AF65-F5344CB8AC3E}">
        <p14:creationId xmlns:p14="http://schemas.microsoft.com/office/powerpoint/2010/main" val="531901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PYTHON CHO KHOA HỌC DỮ LIỆU</a:t>
            </a: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270013" y="691584"/>
            <a:ext cx="11651974" cy="5460737"/>
          </a:xfrm>
        </p:spPr>
        <p:txBody>
          <a:bodyPr>
            <a:noAutofit/>
          </a:bodyPr>
          <a:lstStyle/>
          <a:p>
            <a:pPr marL="0" indent="0" algn="just">
              <a:lnSpc>
                <a:spcPct val="130000"/>
              </a:lnSpc>
              <a:spcBef>
                <a:spcPts val="0"/>
              </a:spcBef>
              <a:buNone/>
            </a:pP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Một</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số</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thư</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viện</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hỗ</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trợ</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Python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cho</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khoa</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học</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dữ</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liệu</a:t>
            </a:r>
            <a:r>
              <a:rPr lang="en-US" sz="2500"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vi-VN"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rPr>
              <a:t>Numpy</a:t>
            </a:r>
            <a:r>
              <a:rPr lang="en-US"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rPr>
              <a:t>, Pandas, </a:t>
            </a:r>
            <a:r>
              <a:rPr lang="vi-VN"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rPr>
              <a:t>Matplotlib</a:t>
            </a:r>
            <a:r>
              <a:rPr lang="en-US"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rPr>
              <a:t>, </a:t>
            </a:r>
            <a:r>
              <a:rPr lang="vi-VN"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rPr>
              <a:t>Seaborn</a:t>
            </a:r>
            <a:r>
              <a:rPr lang="en-US"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rPr>
              <a:t>, </a:t>
            </a:r>
            <a:r>
              <a:rPr lang="vi-VN"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rPr>
              <a:t>Scikit-Learn</a:t>
            </a:r>
          </a:p>
        </p:txBody>
      </p:sp>
      <p:pic>
        <p:nvPicPr>
          <p:cNvPr id="2" name="Picture 1"/>
          <p:cNvPicPr>
            <a:picLocks noChangeAspect="1"/>
          </p:cNvPicPr>
          <p:nvPr/>
        </p:nvPicPr>
        <p:blipFill>
          <a:blip r:embed="rId2"/>
          <a:stretch>
            <a:fillRect/>
          </a:stretch>
        </p:blipFill>
        <p:spPr>
          <a:xfrm>
            <a:off x="4672946" y="1499373"/>
            <a:ext cx="5446643" cy="4652948"/>
          </a:xfrm>
          <a:prstGeom prst="rect">
            <a:avLst/>
          </a:prstGeom>
        </p:spPr>
      </p:pic>
    </p:spTree>
    <p:extLst>
      <p:ext uri="{BB962C8B-B14F-4D97-AF65-F5344CB8AC3E}">
        <p14:creationId xmlns:p14="http://schemas.microsoft.com/office/powerpoint/2010/main" val="34942517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PYTHON CHO KHOA HỌC DỮ LIỆU</a:t>
            </a: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270013" y="691584"/>
            <a:ext cx="11651974" cy="5460737"/>
          </a:xfrm>
        </p:spPr>
        <p:txBody>
          <a:bodyPr>
            <a:noAutofit/>
          </a:bodyPr>
          <a:lstStyle/>
          <a:p>
            <a:pPr marL="0" indent="0" algn="just">
              <a:lnSpc>
                <a:spcPct val="130000"/>
              </a:lnSpc>
              <a:spcBef>
                <a:spcPts val="0"/>
              </a:spcBef>
              <a:buNone/>
            </a:pP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Một</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số</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thư</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viện</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hỗ</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trợ</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Python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cho</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khoa</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học</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dữ</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liệu</a:t>
            </a:r>
            <a:r>
              <a:rPr lang="en-US" sz="2500"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vi-VN"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rPr>
              <a:t>Numpy</a:t>
            </a:r>
            <a:r>
              <a:rPr lang="en-US"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rPr>
              <a:t>, Pandas, </a:t>
            </a:r>
            <a:r>
              <a:rPr lang="vi-VN"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rPr>
              <a:t>Matplotlib</a:t>
            </a:r>
            <a:r>
              <a:rPr lang="en-US"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rPr>
              <a:t>, </a:t>
            </a:r>
            <a:r>
              <a:rPr lang="vi-VN"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rPr>
              <a:t>Seaborn</a:t>
            </a:r>
            <a:r>
              <a:rPr lang="en-US"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rPr>
              <a:t>, </a:t>
            </a:r>
            <a:r>
              <a:rPr lang="vi-VN"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rPr>
              <a:t>Scikit-Learn</a:t>
            </a:r>
            <a:endParaRPr lang="en-US"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endParaRPr>
          </a:p>
          <a:p>
            <a:pPr algn="just">
              <a:lnSpc>
                <a:spcPct val="130000"/>
              </a:lnSpc>
              <a:spcBef>
                <a:spcPts val="0"/>
              </a:spcBef>
              <a:buClr>
                <a:srgbClr val="FF0000"/>
              </a:buClr>
              <a:buFont typeface="Wingdings" panose="05000000000000000000" pitchFamily="2" charset="2"/>
              <a:buChar char="§"/>
            </a:pPr>
            <a:r>
              <a:rPr lang="en-US" sz="2500" u="sng" dirty="0" err="1">
                <a:solidFill>
                  <a:srgbClr val="007BFF"/>
                </a:solidFill>
                <a:latin typeface="Cambria" panose="02040503050406030204" pitchFamily="18" charset="0"/>
                <a:ea typeface="Cambria" panose="02040503050406030204" pitchFamily="18" charset="0"/>
                <a:cs typeface="Times New Roman" panose="02020603050405020304" pitchFamily="18" charset="0"/>
                <a:hlinkClick r:id="rId2"/>
              </a:rPr>
              <a:t>NumPy</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(Numerical Python):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Xử</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lý</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dữ</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liệu</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và</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mô</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hình</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hóa</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Sử</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dụng</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cho</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tính</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toán</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khoa</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học</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chứa</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một</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đối</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tượng</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mảng</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n-</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chiều</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mạnh</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mẽ</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và</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cung</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cấp</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các</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công</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cụ</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để</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tích</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hợp</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C, C ++,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v.v</a:t>
            </a:r>
            <a:endPar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endParaRPr>
          </a:p>
          <a:p>
            <a:pPr algn="just">
              <a:lnSpc>
                <a:spcPct val="130000"/>
              </a:lnSpc>
              <a:spcBef>
                <a:spcPts val="0"/>
              </a:spcBef>
              <a:buClr>
                <a:srgbClr val="FF0000"/>
              </a:buClr>
              <a:buFont typeface="Wingdings" panose="05000000000000000000" pitchFamily="2" charset="2"/>
              <a:buChar char="§"/>
            </a:pPr>
            <a:r>
              <a:rPr lang="en-US" sz="2500" dirty="0">
                <a:solidFill>
                  <a:srgbClr val="007BFF"/>
                </a:solidFill>
                <a:latin typeface="Cambria" panose="02040503050406030204" pitchFamily="18" charset="0"/>
                <a:ea typeface="Cambria" panose="02040503050406030204" pitchFamily="18" charset="0"/>
                <a:cs typeface="Times New Roman" panose="02020603050405020304" pitchFamily="18" charset="0"/>
                <a:hlinkClick r:id="rId3"/>
              </a:rPr>
              <a:t>Pandas</a:t>
            </a:r>
            <a:r>
              <a:rPr lang="en-US" sz="2500" dirty="0">
                <a:solidFill>
                  <a:srgbClr val="007BFF"/>
                </a:solidFill>
                <a:latin typeface="Cambria" panose="02040503050406030204" pitchFamily="18" charset="0"/>
                <a:ea typeface="Cambria" panose="02040503050406030204" pitchFamily="18" charset="0"/>
                <a:cs typeface="Times New Roman" panose="02020603050405020304" pitchFamily="18" charset="0"/>
              </a:rPr>
              <a:t>:</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Xử</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lý</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dữ</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liệu</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và</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mô</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hình</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hóa</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Sử</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dụng</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để</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thao</a:t>
            </a:r>
            <a:r>
              <a:rPr lang="en-US" sz="25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tác</a:t>
            </a:r>
            <a:r>
              <a:rPr lang="en-US" sz="25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và</a:t>
            </a:r>
            <a:r>
              <a:rPr lang="en-US" sz="25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phân</a:t>
            </a:r>
            <a:r>
              <a:rPr lang="en-US" sz="25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tích</a:t>
            </a:r>
            <a:r>
              <a:rPr lang="en-US" sz="25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dữ</a:t>
            </a:r>
            <a:r>
              <a:rPr lang="en-US" sz="25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liệu</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Nó</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rất</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phù</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hợp</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với</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các</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dữ</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liệu</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khác</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nhau</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như</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bảng</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chuỗi</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thời</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gian</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có</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thứ</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tự</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và</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không</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có</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thứ</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tự</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 </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dữ</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liệu</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ma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trận</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v.v. </a:t>
            </a:r>
          </a:p>
          <a:p>
            <a:pPr algn="just">
              <a:lnSpc>
                <a:spcPct val="130000"/>
              </a:lnSpc>
              <a:spcBef>
                <a:spcPts val="0"/>
              </a:spcBef>
              <a:buClr>
                <a:srgbClr val="FF0000"/>
              </a:buClr>
              <a:buFont typeface="Wingdings" panose="05000000000000000000" pitchFamily="2" charset="2"/>
              <a:buChar char="§"/>
            </a:pPr>
            <a:r>
              <a:rPr lang="en-US" sz="2500" u="sng" dirty="0" err="1">
                <a:solidFill>
                  <a:srgbClr val="007BFF"/>
                </a:solidFill>
                <a:latin typeface="Cambria" panose="02040503050406030204" pitchFamily="18" charset="0"/>
                <a:ea typeface="Cambria" panose="02040503050406030204" pitchFamily="18" charset="0"/>
                <a:cs typeface="Times New Roman" panose="02020603050405020304" pitchFamily="18" charset="0"/>
                <a:hlinkClick r:id="rId5"/>
              </a:rPr>
              <a:t>Matplotlib</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là</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một</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thư</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viện</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mạnh</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mẽ</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để</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b="1"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trực</a:t>
            </a:r>
            <a:r>
              <a:rPr lang="en-US" sz="2500" b="1"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b="1"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quan</a:t>
            </a:r>
            <a:r>
              <a:rPr lang="en-US" sz="2500" b="1"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b="1"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hóa</a:t>
            </a:r>
            <a:r>
              <a:rPr lang="en-US" sz="2500" b="1"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b="1"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dữ</a:t>
            </a:r>
            <a:r>
              <a:rPr lang="en-US" sz="2500" b="1"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b="1"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liệu</a:t>
            </a:r>
            <a:r>
              <a:rPr lang="en-US" sz="2500" b="1"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bằng</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Python.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Nó</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có</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thể</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được</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sử</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dụng</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trong</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các</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tập</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lệnh</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Python,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trình</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bao</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máy</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chủ</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ứng</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dụng</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web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và</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các</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bộ</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công</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cụ</a:t>
            </a:r>
            <a:r>
              <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rPr>
              <a:t> GUI </a:t>
            </a:r>
            <a:r>
              <a:rPr lang="en-US" sz="2500" dirty="0" err="1">
                <a:solidFill>
                  <a:srgbClr val="4A4A4A"/>
                </a:solidFill>
                <a:latin typeface="Cambria" panose="02040503050406030204" pitchFamily="18" charset="0"/>
                <a:ea typeface="Cambria" panose="02040503050406030204" pitchFamily="18" charset="0"/>
                <a:cs typeface="Times New Roman" panose="02020603050405020304" pitchFamily="18" charset="0"/>
              </a:rPr>
              <a:t>khác</a:t>
            </a:r>
            <a:endParaRPr lang="en-US" sz="2500" dirty="0">
              <a:solidFill>
                <a:srgbClr val="4A4A4A"/>
              </a:solidFill>
              <a:latin typeface="Cambria" panose="02040503050406030204" pitchFamily="18" charset="0"/>
              <a:ea typeface="Cambria" panose="02040503050406030204" pitchFamily="18" charset="0"/>
              <a:cs typeface="Times New Roman" panose="02020603050405020304" pitchFamily="18" charset="0"/>
            </a:endParaRPr>
          </a:p>
          <a:p>
            <a:pPr marL="0" indent="0" algn="just">
              <a:lnSpc>
                <a:spcPct val="130000"/>
              </a:lnSpc>
              <a:spcBef>
                <a:spcPts val="0"/>
              </a:spcBef>
              <a:buNone/>
            </a:pPr>
            <a:endParaRPr lang="vi-VN"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487901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PYTHON CHO KHOA HỌC DỮ LIỆU</a:t>
            </a: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270013" y="691584"/>
            <a:ext cx="11651974" cy="5460737"/>
          </a:xfrm>
        </p:spPr>
        <p:txBody>
          <a:bodyPr>
            <a:noAutofit/>
          </a:bodyPr>
          <a:lstStyle/>
          <a:p>
            <a:pPr marL="0" indent="0" algn="just">
              <a:lnSpc>
                <a:spcPct val="130000"/>
              </a:lnSpc>
              <a:spcBef>
                <a:spcPts val="0"/>
              </a:spcBef>
              <a:buNone/>
            </a:pP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Một</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số</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thư</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viện</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hỗ</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trợ</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Python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cho</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khoa</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học</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dữ</a:t>
            </a:r>
            <a:r>
              <a:rPr lang="en-US" sz="2500" b="1"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en-US" sz="2500" b="1" spc="-5" dirty="0" err="1">
                <a:solidFill>
                  <a:srgbClr val="FF0000"/>
                </a:solidFill>
                <a:latin typeface="Cambria" panose="02040503050406030204" pitchFamily="18" charset="0"/>
                <a:ea typeface="Cambria" panose="02040503050406030204" pitchFamily="18" charset="0"/>
                <a:cs typeface="Times New Roman" panose="02020603050405020304" pitchFamily="18" charset="0"/>
              </a:rPr>
              <a:t>liệu</a:t>
            </a:r>
            <a:r>
              <a:rPr lang="en-US" sz="2500" spc="-5"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vi-VN"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rPr>
              <a:t>Numpy</a:t>
            </a:r>
            <a:r>
              <a:rPr lang="en-US"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rPr>
              <a:t>, Pandas, </a:t>
            </a:r>
            <a:r>
              <a:rPr lang="vi-VN"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rPr>
              <a:t>Matplotlib</a:t>
            </a:r>
            <a:r>
              <a:rPr lang="en-US"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rPr>
              <a:t>, </a:t>
            </a:r>
            <a:r>
              <a:rPr lang="vi-VN"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rPr>
              <a:t>Seaborn</a:t>
            </a:r>
            <a:r>
              <a:rPr lang="en-US"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rPr>
              <a:t>, </a:t>
            </a:r>
            <a:r>
              <a:rPr lang="vi-VN"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rPr>
              <a:t>Scikit-Learn</a:t>
            </a:r>
            <a:endParaRPr lang="en-US"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endParaRPr>
          </a:p>
          <a:p>
            <a:pPr algn="just">
              <a:lnSpc>
                <a:spcPct val="130000"/>
              </a:lnSpc>
              <a:spcBef>
                <a:spcPts val="0"/>
              </a:spcBef>
              <a:buClr>
                <a:srgbClr val="FF0000"/>
              </a:buClr>
              <a:buFont typeface="Wingdings" panose="05000000000000000000" pitchFamily="2" charset="2"/>
              <a:buChar char="§"/>
            </a:pPr>
            <a:r>
              <a:rPr lang="en-US" sz="2500" u="sng" dirty="0" err="1">
                <a:solidFill>
                  <a:srgbClr val="007BFF"/>
                </a:solidFill>
                <a:latin typeface="Cambria" panose="02040503050406030204" pitchFamily="18" charset="0"/>
                <a:ea typeface="Cambria" panose="02040503050406030204" pitchFamily="18" charset="0"/>
                <a:hlinkClick r:id="rId2"/>
              </a:rPr>
              <a:t>Seaborn</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là</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một</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thư</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viện</a:t>
            </a:r>
            <a:r>
              <a:rPr lang="en-US" sz="2500" dirty="0">
                <a:solidFill>
                  <a:srgbClr val="4A4A4A"/>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biểu</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đồ</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thống</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kê</a:t>
            </a:r>
            <a:r>
              <a:rPr lang="en-US" sz="2500" b="1" dirty="0">
                <a:solidFill>
                  <a:srgbClr val="FF0000"/>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bằng</a:t>
            </a:r>
            <a:r>
              <a:rPr lang="en-US" sz="2500" dirty="0">
                <a:solidFill>
                  <a:srgbClr val="4A4A4A"/>
                </a:solidFill>
                <a:latin typeface="Cambria" panose="02040503050406030204" pitchFamily="18" charset="0"/>
                <a:ea typeface="Cambria" panose="02040503050406030204" pitchFamily="18" charset="0"/>
              </a:rPr>
              <a:t> Python. </a:t>
            </a:r>
            <a:r>
              <a:rPr lang="vi-VN" sz="2500" dirty="0">
                <a:solidFill>
                  <a:srgbClr val="4A4A4A"/>
                </a:solidFill>
                <a:latin typeface="Cambria" panose="02040503050406030204" pitchFamily="18" charset="0"/>
                <a:ea typeface="Cambria" panose="02040503050406030204" pitchFamily="18" charset="0"/>
              </a:rPr>
              <a:t>Seaborn dựa trên Matplotlib</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cho</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hình</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ảnh</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hóa</a:t>
            </a:r>
            <a:r>
              <a:rPr lang="en-US" sz="2500" dirty="0">
                <a:solidFill>
                  <a:srgbClr val="4A4A4A"/>
                </a:solidFill>
                <a:latin typeface="Cambria" panose="02040503050406030204" pitchFamily="18" charset="0"/>
                <a:ea typeface="Cambria" panose="02040503050406030204" pitchFamily="18" charset="0"/>
              </a:rPr>
              <a:t> 2D)</a:t>
            </a:r>
            <a:r>
              <a:rPr lang="vi-VN" sz="2500" dirty="0">
                <a:solidFill>
                  <a:srgbClr val="4A4A4A"/>
                </a:solidFill>
                <a:latin typeface="Cambria" panose="02040503050406030204" pitchFamily="18" charset="0"/>
                <a:ea typeface="Cambria" panose="02040503050406030204" pitchFamily="18" charset="0"/>
              </a:rPr>
              <a:t> và phục vụ như một công cụ học máy Python hữu ích, nhằm trực quan hóa các mô hình thống kê - bản đồ nhiệt và các loại trực quan khác dùng để tóm tắt dữ liệu và mô tả các phân phối tổng thể.</a:t>
            </a:r>
            <a:endParaRPr lang="en-US" sz="2500" dirty="0">
              <a:solidFill>
                <a:srgbClr val="4A4A4A"/>
              </a:solidFill>
              <a:latin typeface="Cambria" panose="02040503050406030204" pitchFamily="18" charset="0"/>
              <a:ea typeface="Cambria" panose="02040503050406030204" pitchFamily="18" charset="0"/>
            </a:endParaRPr>
          </a:p>
          <a:p>
            <a:pPr algn="just">
              <a:lnSpc>
                <a:spcPct val="130000"/>
              </a:lnSpc>
              <a:spcBef>
                <a:spcPts val="0"/>
              </a:spcBef>
              <a:buClr>
                <a:srgbClr val="FF0000"/>
              </a:buClr>
              <a:buFont typeface="Wingdings" panose="05000000000000000000" pitchFamily="2" charset="2"/>
              <a:buChar char="§"/>
            </a:pPr>
            <a:r>
              <a:rPr lang="en-US" sz="2500" u="sng" dirty="0" err="1">
                <a:solidFill>
                  <a:srgbClr val="007BFF"/>
                </a:solidFill>
                <a:latin typeface="Cambria" panose="02040503050406030204" pitchFamily="18" charset="0"/>
                <a:ea typeface="Cambria" panose="02040503050406030204" pitchFamily="18" charset="0"/>
                <a:hlinkClick r:id="rId3"/>
              </a:rPr>
              <a:t>Scikit</a:t>
            </a:r>
            <a:r>
              <a:rPr lang="en-US" sz="2500" u="sng" dirty="0">
                <a:solidFill>
                  <a:srgbClr val="007BFF"/>
                </a:solidFill>
                <a:latin typeface="Cambria" panose="02040503050406030204" pitchFamily="18" charset="0"/>
                <a:ea typeface="Cambria" panose="02040503050406030204" pitchFamily="18" charset="0"/>
                <a:hlinkClick r:id="rId3"/>
              </a:rPr>
              <a:t> learning</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là</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một</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trong</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những</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điểm</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thu</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hút</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chính</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trong</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đó</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bạn</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có</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thể</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triển</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khai</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học</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máy</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bằng</a:t>
            </a:r>
            <a:r>
              <a:rPr lang="en-US" sz="2500" dirty="0">
                <a:solidFill>
                  <a:srgbClr val="4A4A4A"/>
                </a:solidFill>
                <a:latin typeface="Cambria" panose="02040503050406030204" pitchFamily="18" charset="0"/>
                <a:ea typeface="Cambria" panose="02040503050406030204" pitchFamily="18" charset="0"/>
              </a:rPr>
              <a:t> Python. </a:t>
            </a:r>
            <a:r>
              <a:rPr lang="en-US" sz="2500" dirty="0" err="1">
                <a:solidFill>
                  <a:srgbClr val="4A4A4A"/>
                </a:solidFill>
                <a:latin typeface="Cambria" panose="02040503050406030204" pitchFamily="18" charset="0"/>
                <a:ea typeface="Cambria" panose="02040503050406030204" pitchFamily="18" charset="0"/>
              </a:rPr>
              <a:t>Đây</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là</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một</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thư</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viện</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miễn</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phí</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chứa</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các</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công</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cụ</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đơn</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giản</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và</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hiệu</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quả</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cho</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các</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mục</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đích</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phân</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tích</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và</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khai</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thác</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dữ</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liệu</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Bạn</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có</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thể</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triển</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khai</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các</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thuật</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toán</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khác</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nhau</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chẳng</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hạn</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như</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hồi</a:t>
            </a:r>
            <a:r>
              <a:rPr lang="en-US" sz="2500" dirty="0">
                <a:solidFill>
                  <a:srgbClr val="4A4A4A"/>
                </a:solidFill>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 </a:t>
            </a:r>
            <a:r>
              <a:rPr lang="en-US" sz="2500" dirty="0" err="1">
                <a:solidFill>
                  <a:srgbClr val="4A4A4A"/>
                </a:solidFill>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quy</a:t>
            </a:r>
            <a:r>
              <a:rPr lang="en-US" sz="2500" dirty="0">
                <a:solidFill>
                  <a:srgbClr val="4A4A4A"/>
                </a:solidFill>
                <a:latin typeface="Cambria" panose="02040503050406030204" pitchFamily="18" charset="0"/>
                <a:ea typeface="Cambria" panose="02040503050406030204" pitchFamily="18" charset="0"/>
                <a:hlinkClick r:id="rId4">
                  <a:extLst>
                    <a:ext uri="{A12FA001-AC4F-418D-AE19-62706E023703}">
                      <ahyp:hlinkClr xmlns:ahyp="http://schemas.microsoft.com/office/drawing/2018/hyperlinkcolor" val="tx"/>
                    </a:ext>
                  </a:extLst>
                </a:hlinkClick>
              </a:rPr>
              <a:t> logistic, </a:t>
            </a:r>
            <a:r>
              <a:rPr lang="en-US" sz="2500" dirty="0" err="1">
                <a:solidFill>
                  <a:srgbClr val="4A4A4A"/>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rPr>
              <a:t>thuật</a:t>
            </a:r>
            <a:r>
              <a:rPr lang="en-US" sz="2500" dirty="0">
                <a:solidFill>
                  <a:srgbClr val="4A4A4A"/>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rPr>
              <a:t> </a:t>
            </a:r>
            <a:r>
              <a:rPr lang="en-US" sz="2500" dirty="0" err="1">
                <a:solidFill>
                  <a:srgbClr val="4A4A4A"/>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rPr>
              <a:t>toán</a:t>
            </a:r>
            <a:r>
              <a:rPr lang="en-US" sz="2500" dirty="0">
                <a:solidFill>
                  <a:srgbClr val="4A4A4A"/>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rPr>
              <a:t> </a:t>
            </a:r>
            <a:r>
              <a:rPr lang="en-US" sz="2500" dirty="0" err="1">
                <a:solidFill>
                  <a:srgbClr val="4A4A4A"/>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rPr>
              <a:t>chuỗi</a:t>
            </a:r>
            <a:r>
              <a:rPr lang="en-US" sz="2500" dirty="0">
                <a:solidFill>
                  <a:srgbClr val="4A4A4A"/>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rPr>
              <a:t> </a:t>
            </a:r>
            <a:r>
              <a:rPr lang="en-US" sz="2500" dirty="0" err="1">
                <a:solidFill>
                  <a:srgbClr val="4A4A4A"/>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rPr>
              <a:t>thời</a:t>
            </a:r>
            <a:r>
              <a:rPr lang="en-US" sz="2500" dirty="0">
                <a:solidFill>
                  <a:srgbClr val="4A4A4A"/>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rPr>
              <a:t> </a:t>
            </a:r>
            <a:r>
              <a:rPr lang="en-US" sz="2500" dirty="0" err="1">
                <a:solidFill>
                  <a:srgbClr val="4A4A4A"/>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rPr>
              <a:t>gian</a:t>
            </a:r>
            <a:r>
              <a:rPr lang="en-US" sz="2500" dirty="0">
                <a:solidFill>
                  <a:srgbClr val="4A4A4A"/>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rPr>
              <a:t> </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bằng</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cách</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sử</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dụng</a:t>
            </a:r>
            <a:r>
              <a:rPr lang="en-US" sz="2500" dirty="0">
                <a:solidFill>
                  <a:srgbClr val="4A4A4A"/>
                </a:solidFill>
                <a:latin typeface="Cambria" panose="02040503050406030204" pitchFamily="18" charset="0"/>
                <a:ea typeface="Cambria" panose="02040503050406030204" pitchFamily="18" charset="0"/>
              </a:rPr>
              <a:t> </a:t>
            </a:r>
            <a:r>
              <a:rPr lang="en-US" sz="2500" dirty="0" err="1">
                <a:solidFill>
                  <a:srgbClr val="4A4A4A"/>
                </a:solidFill>
                <a:latin typeface="Cambria" panose="02040503050406030204" pitchFamily="18" charset="0"/>
                <a:ea typeface="Cambria" panose="02040503050406030204" pitchFamily="18" charset="0"/>
              </a:rPr>
              <a:t>scikit</a:t>
            </a:r>
            <a:r>
              <a:rPr lang="en-US" sz="2500" dirty="0">
                <a:solidFill>
                  <a:srgbClr val="4A4A4A"/>
                </a:solidFill>
                <a:latin typeface="Cambria" panose="02040503050406030204" pitchFamily="18" charset="0"/>
                <a:ea typeface="Cambria" panose="02040503050406030204" pitchFamily="18" charset="0"/>
              </a:rPr>
              <a:t>-learning</a:t>
            </a:r>
          </a:p>
          <a:p>
            <a:pPr marL="0" indent="0" algn="just">
              <a:lnSpc>
                <a:spcPct val="130000"/>
              </a:lnSpc>
              <a:spcBef>
                <a:spcPts val="0"/>
              </a:spcBef>
              <a:buNone/>
            </a:pPr>
            <a:endParaRPr lang="vi-VN" sz="2500" spc="-5" dirty="0">
              <a:solidFill>
                <a:srgbClr val="0000CC"/>
              </a:solidFill>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2687520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NUMPY</a:t>
            </a:r>
          </a:p>
        </p:txBody>
      </p:sp>
      <p:sp>
        <p:nvSpPr>
          <p:cNvPr id="3" name="Rectangle 2"/>
          <p:cNvSpPr/>
          <p:nvPr/>
        </p:nvSpPr>
        <p:spPr>
          <a:xfrm>
            <a:off x="79513" y="620377"/>
            <a:ext cx="11887200" cy="2593018"/>
          </a:xfrm>
          <a:prstGeom prst="rect">
            <a:avLst/>
          </a:prstGeom>
        </p:spPr>
        <p:txBody>
          <a:bodyPr wrap="square">
            <a:spAutoFit/>
          </a:bodyPr>
          <a:lstStyle/>
          <a:p>
            <a:pPr>
              <a:lnSpc>
                <a:spcPct val="130000"/>
              </a:lnSpc>
            </a:pPr>
            <a:r>
              <a:rPr lang="vi-VN" sz="2500" dirty="0">
                <a:solidFill>
                  <a:srgbClr val="000000"/>
                </a:solidFill>
                <a:latin typeface="Cambria" panose="02040503050406030204" pitchFamily="18" charset="0"/>
                <a:ea typeface="Cambria" panose="02040503050406030204" pitchFamily="18" charset="0"/>
              </a:rPr>
              <a:t>NumPy là một thư viện toán học phổ biến và mạnh mẽ của Python, cho phép làm việc</a:t>
            </a:r>
            <a:br>
              <a:rPr lang="vi-VN" sz="2500" dirty="0">
                <a:solidFill>
                  <a:srgbClr val="000000"/>
                </a:solidFill>
                <a:latin typeface="Cambria" panose="02040503050406030204" pitchFamily="18" charset="0"/>
                <a:ea typeface="Cambria" panose="02040503050406030204" pitchFamily="18" charset="0"/>
              </a:rPr>
            </a:br>
            <a:r>
              <a:rPr lang="vi-VN" sz="2500" dirty="0">
                <a:solidFill>
                  <a:srgbClr val="000000"/>
                </a:solidFill>
                <a:latin typeface="Cambria" panose="02040503050406030204" pitchFamily="18" charset="0"/>
                <a:ea typeface="Cambria" panose="02040503050406030204" pitchFamily="18" charset="0"/>
              </a:rPr>
              <a:t>hiệu quả với ma trận và mảng, nó cũng bao gồm các chức năng làm việc với lĩnh vực</a:t>
            </a:r>
            <a:br>
              <a:rPr lang="vi-VN" sz="2500" dirty="0">
                <a:solidFill>
                  <a:srgbClr val="000000"/>
                </a:solidFill>
                <a:latin typeface="Cambria" panose="02040503050406030204" pitchFamily="18" charset="0"/>
                <a:ea typeface="Cambria" panose="02040503050406030204" pitchFamily="18" charset="0"/>
              </a:rPr>
            </a:br>
            <a:r>
              <a:rPr lang="vi-VN" sz="2500" dirty="0">
                <a:solidFill>
                  <a:srgbClr val="000000"/>
                </a:solidFill>
                <a:latin typeface="Cambria" panose="02040503050406030204" pitchFamily="18" charset="0"/>
                <a:ea typeface="Cambria" panose="02040503050406030204" pitchFamily="18" charset="0"/>
              </a:rPr>
              <a:t>đại số tuyến tính, biến đổi fourier</a:t>
            </a:r>
            <a:r>
              <a:rPr lang="en-US" sz="2500" dirty="0">
                <a:solidFill>
                  <a:srgbClr val="000000"/>
                </a:solidFill>
                <a:latin typeface="Cambria" panose="02040503050406030204" pitchFamily="18" charset="0"/>
                <a:ea typeface="Cambria" panose="02040503050406030204" pitchFamily="18" charset="0"/>
              </a:rPr>
              <a:t>.</a:t>
            </a:r>
          </a:p>
          <a:p>
            <a:pPr>
              <a:lnSpc>
                <a:spcPct val="130000"/>
              </a:lnSpc>
            </a:pPr>
            <a:r>
              <a:rPr lang="en-US" sz="2500" b="1" dirty="0" err="1">
                <a:solidFill>
                  <a:srgbClr val="FF0000"/>
                </a:solidFill>
                <a:latin typeface="Cambria" panose="02040503050406030204" pitchFamily="18" charset="0"/>
                <a:ea typeface="Cambria" panose="02040503050406030204" pitchFamily="18" charset="0"/>
              </a:rPr>
              <a:t>Tại</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sao</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sử</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dụng</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Numpy</a:t>
            </a:r>
            <a:r>
              <a:rPr lang="en-US" sz="2500" b="1" dirty="0">
                <a:solidFill>
                  <a:srgbClr val="FF0000"/>
                </a:solidFill>
                <a:latin typeface="Cambria" panose="02040503050406030204" pitchFamily="18" charset="0"/>
                <a:ea typeface="Cambria" panose="02040503050406030204" pitchFamily="18" charset="0"/>
              </a:rPr>
              <a:t>?</a:t>
            </a:r>
            <a:r>
              <a:rPr lang="vi-VN" sz="2500" b="1" dirty="0">
                <a:solidFill>
                  <a:srgbClr val="FF0000"/>
                </a:solidFill>
                <a:latin typeface="Cambria" panose="02040503050406030204" pitchFamily="18" charset="0"/>
                <a:ea typeface="Cambria" panose="02040503050406030204" pitchFamily="18" charset="0"/>
              </a:rPr>
              <a:t> </a:t>
            </a:r>
            <a:br>
              <a:rPr lang="vi-VN" sz="2500" dirty="0">
                <a:latin typeface="Cambria" panose="02040503050406030204" pitchFamily="18" charset="0"/>
                <a:ea typeface="Cambria" panose="02040503050406030204" pitchFamily="18" charset="0"/>
              </a:rPr>
            </a:br>
            <a:endParaRPr lang="en-US" sz="2500" dirty="0">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a:blip r:embed="rId2"/>
          <a:stretch>
            <a:fillRect/>
          </a:stretch>
        </p:blipFill>
        <p:spPr>
          <a:xfrm>
            <a:off x="8301423" y="2110030"/>
            <a:ext cx="3777933" cy="2749840"/>
          </a:xfrm>
          <a:prstGeom prst="rect">
            <a:avLst/>
          </a:prstGeom>
        </p:spPr>
      </p:pic>
      <p:sp>
        <p:nvSpPr>
          <p:cNvPr id="10" name="Rectangle 9"/>
          <p:cNvSpPr/>
          <p:nvPr/>
        </p:nvSpPr>
        <p:spPr>
          <a:xfrm>
            <a:off x="79513" y="2603777"/>
            <a:ext cx="8458200" cy="3313215"/>
          </a:xfrm>
          <a:prstGeom prst="rect">
            <a:avLst/>
          </a:prstGeom>
        </p:spPr>
        <p:txBody>
          <a:bodyPr wrap="square">
            <a:spAutoFit/>
          </a:bodyPr>
          <a:lstStyle/>
          <a:p>
            <a:pPr marL="228600" indent="-228600">
              <a:lnSpc>
                <a:spcPct val="130000"/>
              </a:lnSpc>
              <a:buFont typeface="Wingdings" panose="05000000000000000000" pitchFamily="2" charset="2"/>
              <a:buChar char="§"/>
            </a:pPr>
            <a:r>
              <a:rPr lang="vi-VN" sz="2300" dirty="0">
                <a:solidFill>
                  <a:srgbClr val="000000"/>
                </a:solidFill>
                <a:latin typeface="Cambria" panose="02040503050406030204" pitchFamily="18" charset="0"/>
                <a:ea typeface="Cambria" panose="02040503050406030204" pitchFamily="18" charset="0"/>
              </a:rPr>
              <a:t>Trong Python danh sách (list) sử dụng như mảng, tuy nhiên tốc độ chậm. NumPy</a:t>
            </a:r>
            <a:r>
              <a:rPr lang="en-US" sz="2300" dirty="0">
                <a:solidFill>
                  <a:srgbClr val="000000"/>
                </a:solidFill>
                <a:latin typeface="Cambria" panose="02040503050406030204" pitchFamily="18" charset="0"/>
                <a:ea typeface="Cambria" panose="02040503050406030204" pitchFamily="18" charset="0"/>
              </a:rPr>
              <a:t> </a:t>
            </a:r>
            <a:r>
              <a:rPr lang="vi-VN" sz="2300" dirty="0">
                <a:solidFill>
                  <a:srgbClr val="000000"/>
                </a:solidFill>
                <a:latin typeface="Cambria" panose="02040503050406030204" pitchFamily="18" charset="0"/>
                <a:ea typeface="Cambria" panose="02040503050406030204" pitchFamily="18" charset="0"/>
              </a:rPr>
              <a:t>cung cấp một mảng đối tượng mà nó tăng tốc xử lý gấp 50 lần mảng truyền thống.</a:t>
            </a:r>
            <a:endParaRPr lang="en-US" sz="2300" dirty="0">
              <a:solidFill>
                <a:srgbClr val="000000"/>
              </a:solidFill>
              <a:latin typeface="Cambria" panose="02040503050406030204" pitchFamily="18" charset="0"/>
              <a:ea typeface="Cambria" panose="02040503050406030204" pitchFamily="18" charset="0"/>
            </a:endParaRPr>
          </a:p>
          <a:p>
            <a:pPr marL="228600" indent="-228600">
              <a:lnSpc>
                <a:spcPct val="130000"/>
              </a:lnSpc>
              <a:buFont typeface="Wingdings" panose="05000000000000000000" pitchFamily="2" charset="2"/>
              <a:buChar char="§"/>
            </a:pPr>
            <a:r>
              <a:rPr lang="vi-VN" sz="2300" dirty="0">
                <a:solidFill>
                  <a:srgbClr val="000000"/>
                </a:solidFill>
                <a:latin typeface="Cambria" panose="02040503050406030204" pitchFamily="18" charset="0"/>
                <a:ea typeface="Cambria" panose="02040503050406030204" pitchFamily="18" charset="0"/>
              </a:rPr>
              <a:t>Mảng đối tượng trong NumPy gọi là ndarray, nó cung cấp nhiều chức năng hỗ trợ làm</a:t>
            </a:r>
            <a:r>
              <a:rPr lang="en-US" sz="2300" dirty="0">
                <a:solidFill>
                  <a:srgbClr val="000000"/>
                </a:solidFill>
                <a:latin typeface="Cambria" panose="02040503050406030204" pitchFamily="18" charset="0"/>
                <a:ea typeface="Cambria" panose="02040503050406030204" pitchFamily="18" charset="0"/>
              </a:rPr>
              <a:t> </a:t>
            </a:r>
            <a:r>
              <a:rPr lang="vi-VN" sz="2300" dirty="0">
                <a:solidFill>
                  <a:srgbClr val="000000"/>
                </a:solidFill>
                <a:latin typeface="Cambria" panose="02040503050406030204" pitchFamily="18" charset="0"/>
                <a:ea typeface="Cambria" panose="02040503050406030204" pitchFamily="18" charset="0"/>
              </a:rPr>
              <a:t>việc với ndarray dễ dàng, các mảng sử dụng nhiều trong lĩnh vực data science, trong</a:t>
            </a:r>
            <a:r>
              <a:rPr lang="en-US" sz="2300" dirty="0">
                <a:solidFill>
                  <a:srgbClr val="000000"/>
                </a:solidFill>
                <a:latin typeface="Cambria" panose="02040503050406030204" pitchFamily="18" charset="0"/>
                <a:ea typeface="Cambria" panose="02040503050406030204" pitchFamily="18" charset="0"/>
              </a:rPr>
              <a:t> </a:t>
            </a:r>
            <a:r>
              <a:rPr lang="vi-VN" sz="2300" dirty="0">
                <a:solidFill>
                  <a:srgbClr val="000000"/>
                </a:solidFill>
                <a:latin typeface="Cambria" panose="02040503050406030204" pitchFamily="18" charset="0"/>
                <a:ea typeface="Cambria" panose="02040503050406030204" pitchFamily="18" charset="0"/>
              </a:rPr>
              <a:t>đó tài nguyên và tốc độ rất quan trọng.</a:t>
            </a:r>
            <a:r>
              <a:rPr lang="vi-VN" sz="2300" dirty="0">
                <a:solidFill>
                  <a:srgbClr val="FFFFFF"/>
                </a:solidFill>
                <a:latin typeface="Cambria" panose="02040503050406030204" pitchFamily="18" charset="0"/>
                <a:ea typeface="Cambria" panose="02040503050406030204" pitchFamily="18" charset="0"/>
              </a:rPr>
              <a:t>viện NumPy </a:t>
            </a:r>
            <a:endParaRPr lang="en-US" sz="23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34393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NUMPY</a:t>
            </a:r>
          </a:p>
        </p:txBody>
      </p:sp>
      <p:pic>
        <p:nvPicPr>
          <p:cNvPr id="4" name="Picture 3"/>
          <p:cNvPicPr>
            <a:picLocks noChangeAspect="1"/>
          </p:cNvPicPr>
          <p:nvPr/>
        </p:nvPicPr>
        <p:blipFill>
          <a:blip r:embed="rId2"/>
          <a:stretch>
            <a:fillRect/>
          </a:stretch>
        </p:blipFill>
        <p:spPr>
          <a:xfrm>
            <a:off x="8014984" y="1171087"/>
            <a:ext cx="3777933" cy="2749840"/>
          </a:xfrm>
          <a:prstGeom prst="rect">
            <a:avLst/>
          </a:prstGeom>
        </p:spPr>
      </p:pic>
      <p:sp>
        <p:nvSpPr>
          <p:cNvPr id="11" name="Content Placeholder 2">
            <a:extLst>
              <a:ext uri="{FF2B5EF4-FFF2-40B4-BE49-F238E27FC236}">
                <a16:creationId xmlns:a16="http://schemas.microsoft.com/office/drawing/2014/main" id="{D84E1B89-45F1-4C39-88F0-3A380DA733A9}"/>
              </a:ext>
            </a:extLst>
          </p:cNvPr>
          <p:cNvSpPr>
            <a:spLocks noGrp="1"/>
          </p:cNvSpPr>
          <p:nvPr>
            <p:ph idx="1"/>
          </p:nvPr>
        </p:nvSpPr>
        <p:spPr>
          <a:xfrm>
            <a:off x="79513" y="691585"/>
            <a:ext cx="11873788" cy="5356675"/>
          </a:xfrm>
        </p:spPr>
        <p:txBody>
          <a:bodyPr>
            <a:noAutofit/>
          </a:bodyPr>
          <a:lstStyle/>
          <a:p>
            <a:pPr marL="0" lvl="1" indent="0" algn="just">
              <a:lnSpc>
                <a:spcPct val="120000"/>
              </a:lnSpc>
              <a:spcBef>
                <a:spcPts val="580"/>
              </a:spcBef>
              <a:buClr>
                <a:srgbClr val="FF5A33"/>
              </a:buClr>
              <a:buNone/>
            </a:pPr>
            <a:r>
              <a:rPr lang="vi-VN" sz="2500" spc="-5" dirty="0">
                <a:latin typeface="Cambria" panose="02040503050406030204" pitchFamily="18" charset="0"/>
                <a:ea typeface="Cambria" panose="02040503050406030204" pitchFamily="18" charset="0"/>
                <a:cs typeface="Segoe UI"/>
              </a:rPr>
              <a:t>NumPy, </a:t>
            </a:r>
            <a:r>
              <a:rPr lang="vi-VN" sz="2500" b="0" spc="-5" dirty="0">
                <a:latin typeface="Cambria" panose="02040503050406030204" pitchFamily="18" charset="0"/>
                <a:ea typeface="Cambria" panose="02040503050406030204" pitchFamily="18" charset="0"/>
                <a:cs typeface="Segoe UI"/>
              </a:rPr>
              <a:t>viết tắt của Numerical Python, là một thư viện bao gồm các đối tượng mảng đa chiều và một tập hợp các quy trình để xử lý các mảng đó. </a:t>
            </a:r>
            <a:endParaRPr lang="en-US" sz="2500" b="0" spc="-5" dirty="0">
              <a:latin typeface="Cambria" panose="02040503050406030204" pitchFamily="18" charset="0"/>
              <a:ea typeface="Cambria" panose="02040503050406030204" pitchFamily="18" charset="0"/>
              <a:cs typeface="Segoe UI"/>
            </a:endParaRPr>
          </a:p>
          <a:p>
            <a:pPr marL="0" lvl="1" indent="0" algn="just">
              <a:lnSpc>
                <a:spcPct val="120000"/>
              </a:lnSpc>
              <a:spcBef>
                <a:spcPts val="580"/>
              </a:spcBef>
              <a:buClr>
                <a:srgbClr val="FF5A33"/>
              </a:buClr>
              <a:buNone/>
            </a:pPr>
            <a:r>
              <a:rPr lang="en-US" sz="2500" b="1" i="1" spc="-5" dirty="0" err="1">
                <a:latin typeface="Cambria" panose="02040503050406030204" pitchFamily="18" charset="0"/>
                <a:ea typeface="Cambria" panose="02040503050406030204" pitchFamily="18" charset="0"/>
                <a:cs typeface="Segoe UI"/>
              </a:rPr>
              <a:t>Các</a:t>
            </a:r>
            <a:r>
              <a:rPr lang="en-US" sz="2500" b="1" i="1" spc="-5" dirty="0">
                <a:latin typeface="Cambria" panose="02040503050406030204" pitchFamily="18" charset="0"/>
                <a:ea typeface="Cambria" panose="02040503050406030204" pitchFamily="18" charset="0"/>
                <a:cs typeface="Segoe UI"/>
              </a:rPr>
              <a:t> </a:t>
            </a:r>
            <a:r>
              <a:rPr lang="en-US" sz="2500" b="1" i="1" spc="-5" dirty="0" err="1">
                <a:latin typeface="Cambria" panose="02040503050406030204" pitchFamily="18" charset="0"/>
                <a:ea typeface="Cambria" panose="02040503050406030204" pitchFamily="18" charset="0"/>
                <a:cs typeface="Segoe UI"/>
              </a:rPr>
              <a:t>hoạt</a:t>
            </a:r>
            <a:r>
              <a:rPr lang="en-US" sz="2500" b="1" i="1" spc="-5" dirty="0">
                <a:latin typeface="Cambria" panose="02040503050406030204" pitchFamily="18" charset="0"/>
                <a:ea typeface="Cambria" panose="02040503050406030204" pitchFamily="18" charset="0"/>
                <a:cs typeface="Segoe UI"/>
              </a:rPr>
              <a:t> </a:t>
            </a:r>
            <a:r>
              <a:rPr lang="en-US" sz="2500" b="1" i="1" spc="-5" dirty="0" err="1">
                <a:latin typeface="Cambria" panose="02040503050406030204" pitchFamily="18" charset="0"/>
                <a:ea typeface="Cambria" panose="02040503050406030204" pitchFamily="18" charset="0"/>
                <a:cs typeface="Segoe UI"/>
              </a:rPr>
              <a:t>động</a:t>
            </a:r>
            <a:r>
              <a:rPr lang="en-US" sz="2500" b="1" i="1" spc="-5" dirty="0">
                <a:latin typeface="Cambria" panose="02040503050406030204" pitchFamily="18" charset="0"/>
                <a:ea typeface="Cambria" panose="02040503050406030204" pitchFamily="18" charset="0"/>
                <a:cs typeface="Segoe UI"/>
              </a:rPr>
              <a:t> </a:t>
            </a:r>
            <a:r>
              <a:rPr lang="en-US" sz="2500" b="1" i="1" spc="-5" dirty="0" err="1">
                <a:latin typeface="Cambria" panose="02040503050406030204" pitchFamily="18" charset="0"/>
                <a:ea typeface="Cambria" panose="02040503050406030204" pitchFamily="18" charset="0"/>
                <a:cs typeface="Segoe UI"/>
              </a:rPr>
              <a:t>sử</a:t>
            </a:r>
            <a:r>
              <a:rPr lang="en-US" sz="2500" b="1" i="1" spc="-5" dirty="0">
                <a:latin typeface="Cambria" panose="02040503050406030204" pitchFamily="18" charset="0"/>
                <a:ea typeface="Cambria" panose="02040503050406030204" pitchFamily="18" charset="0"/>
                <a:cs typeface="Segoe UI"/>
              </a:rPr>
              <a:t> </a:t>
            </a:r>
            <a:r>
              <a:rPr lang="en-US" sz="2500" b="1" i="1" spc="-5" dirty="0" err="1">
                <a:latin typeface="Cambria" panose="02040503050406030204" pitchFamily="18" charset="0"/>
                <a:ea typeface="Cambria" panose="02040503050406030204" pitchFamily="18" charset="0"/>
                <a:cs typeface="Segoe UI"/>
              </a:rPr>
              <a:t>dụng</a:t>
            </a:r>
            <a:r>
              <a:rPr lang="en-US" sz="2500" b="1" i="1" spc="-5" dirty="0">
                <a:latin typeface="Cambria" panose="02040503050406030204" pitchFamily="18" charset="0"/>
                <a:ea typeface="Cambria" panose="02040503050406030204" pitchFamily="18" charset="0"/>
                <a:cs typeface="Segoe UI"/>
              </a:rPr>
              <a:t> </a:t>
            </a:r>
            <a:r>
              <a:rPr lang="en-US" sz="2500" b="1" i="1" spc="-5" dirty="0" err="1">
                <a:latin typeface="Cambria" panose="02040503050406030204" pitchFamily="18" charset="0"/>
                <a:ea typeface="Cambria" panose="02040503050406030204" pitchFamily="18" charset="0"/>
                <a:cs typeface="Segoe UI"/>
              </a:rPr>
              <a:t>NumPy</a:t>
            </a:r>
            <a:r>
              <a:rPr lang="en-US" sz="2500" b="1" i="1" spc="-5" dirty="0">
                <a:latin typeface="Cambria" panose="02040503050406030204" pitchFamily="18" charset="0"/>
                <a:ea typeface="Cambria" panose="02040503050406030204" pitchFamily="18" charset="0"/>
                <a:cs typeface="Segoe UI"/>
              </a:rPr>
              <a:t> :</a:t>
            </a:r>
          </a:p>
          <a:p>
            <a:pPr algn="l">
              <a:lnSpc>
                <a:spcPct val="120000"/>
              </a:lnSpc>
              <a:buFont typeface="Arial" panose="020B0604020202020204" pitchFamily="34" charset="0"/>
              <a:buChar char="•"/>
            </a:pPr>
            <a:r>
              <a:rPr lang="en-US" sz="2500" b="0" spc="-5" dirty="0" err="1">
                <a:latin typeface="Cambria" panose="02040503050406030204" pitchFamily="18" charset="0"/>
                <a:ea typeface="Cambria" panose="02040503050406030204" pitchFamily="18" charset="0"/>
                <a:cs typeface="Segoe UI"/>
              </a:rPr>
              <a:t>Thực</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hiện</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các</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phép</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toán</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toán</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học</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và</a:t>
            </a:r>
            <a:r>
              <a:rPr lang="en-US" sz="2500" b="0" spc="-5" dirty="0">
                <a:latin typeface="Cambria" panose="02040503050406030204" pitchFamily="18" charset="0"/>
                <a:ea typeface="Cambria" panose="02040503050406030204" pitchFamily="18" charset="0"/>
                <a:cs typeface="Segoe UI"/>
              </a:rPr>
              <a:t> logic </a:t>
            </a:r>
            <a:r>
              <a:rPr lang="en-US" sz="2500" b="0" spc="-5" dirty="0" err="1">
                <a:latin typeface="Cambria" panose="02040503050406030204" pitchFamily="18" charset="0"/>
                <a:ea typeface="Cambria" panose="02040503050406030204" pitchFamily="18" charset="0"/>
                <a:cs typeface="Segoe UI"/>
              </a:rPr>
              <a:t>trên</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mảng</a:t>
            </a:r>
            <a:r>
              <a:rPr lang="en-US" sz="2500" b="0" spc="-5" dirty="0">
                <a:latin typeface="Cambria" panose="02040503050406030204" pitchFamily="18" charset="0"/>
                <a:ea typeface="Cambria" panose="02040503050406030204" pitchFamily="18" charset="0"/>
                <a:cs typeface="Segoe UI"/>
              </a:rPr>
              <a:t>.</a:t>
            </a:r>
          </a:p>
          <a:p>
            <a:pPr algn="l">
              <a:lnSpc>
                <a:spcPct val="120000"/>
              </a:lnSpc>
              <a:buFont typeface="Arial" panose="020B0604020202020204" pitchFamily="34" charset="0"/>
              <a:buChar char="•"/>
            </a:pPr>
            <a:r>
              <a:rPr lang="en-US" sz="2500" b="0" spc="-5" dirty="0" err="1">
                <a:latin typeface="Cambria" panose="02040503050406030204" pitchFamily="18" charset="0"/>
                <a:ea typeface="Cambria" panose="02040503050406030204" pitchFamily="18" charset="0"/>
                <a:cs typeface="Segoe UI"/>
              </a:rPr>
              <a:t>Các</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biến</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đổi</a:t>
            </a:r>
            <a:r>
              <a:rPr lang="en-US" sz="2500" b="0" spc="-5" dirty="0">
                <a:latin typeface="Cambria" panose="02040503050406030204" pitchFamily="18" charset="0"/>
                <a:ea typeface="Cambria" panose="02040503050406030204" pitchFamily="18" charset="0"/>
                <a:cs typeface="Segoe UI"/>
              </a:rPr>
              <a:t> Fourier </a:t>
            </a:r>
            <a:r>
              <a:rPr lang="en-US" sz="2500" b="0" spc="-5" dirty="0" err="1">
                <a:latin typeface="Cambria" panose="02040503050406030204" pitchFamily="18" charset="0"/>
                <a:ea typeface="Cambria" panose="02040503050406030204" pitchFamily="18" charset="0"/>
                <a:cs typeface="Segoe UI"/>
              </a:rPr>
              <a:t>và</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các</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quy</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trình</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để</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thao</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tác</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hình</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dạng</a:t>
            </a:r>
            <a:r>
              <a:rPr lang="en-US" sz="2500" b="0" spc="-5" dirty="0">
                <a:latin typeface="Cambria" panose="02040503050406030204" pitchFamily="18" charset="0"/>
                <a:ea typeface="Cambria" panose="02040503050406030204" pitchFamily="18" charset="0"/>
                <a:cs typeface="Segoe UI"/>
              </a:rPr>
              <a:t>.</a:t>
            </a:r>
          </a:p>
          <a:p>
            <a:pPr algn="l">
              <a:lnSpc>
                <a:spcPct val="120000"/>
              </a:lnSpc>
              <a:buFont typeface="Arial" panose="020B0604020202020204" pitchFamily="34" charset="0"/>
              <a:buChar char="•"/>
            </a:pPr>
            <a:r>
              <a:rPr lang="en-US" sz="2500" b="0" spc="-5" dirty="0" err="1">
                <a:latin typeface="Cambria" panose="02040503050406030204" pitchFamily="18" charset="0"/>
                <a:ea typeface="Cambria" panose="02040503050406030204" pitchFamily="18" charset="0"/>
                <a:cs typeface="Segoe UI"/>
              </a:rPr>
              <a:t>Các</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phép</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toán</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liên</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quan</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đến</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đại</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số</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tuyến</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tính</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NumPy</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tích</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hợp</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sẵn</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các</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hàm</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cho</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đại</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số</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tuyến</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tính</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và</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tạo</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số</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ngẫu</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nhiên</a:t>
            </a:r>
            <a:r>
              <a:rPr lang="en-US" sz="2500" b="0" spc="-5" dirty="0">
                <a:latin typeface="Cambria" panose="02040503050406030204" pitchFamily="18" charset="0"/>
                <a:ea typeface="Cambria" panose="02040503050406030204" pitchFamily="18" charset="0"/>
                <a:cs typeface="Segoe UI"/>
              </a:rPr>
              <a:t>.</a:t>
            </a:r>
          </a:p>
          <a:p>
            <a:pPr marL="0" lvl="1" indent="0" algn="just">
              <a:lnSpc>
                <a:spcPct val="120000"/>
              </a:lnSpc>
              <a:spcBef>
                <a:spcPts val="580"/>
              </a:spcBef>
              <a:buClr>
                <a:srgbClr val="FF5A33"/>
              </a:buClr>
              <a:buNone/>
            </a:pPr>
            <a:r>
              <a:rPr lang="en-US" sz="2500" b="1" spc="-5" dirty="0" err="1">
                <a:latin typeface="Cambria" panose="02040503050406030204" pitchFamily="18" charset="0"/>
                <a:ea typeface="Cambria" panose="02040503050406030204" pitchFamily="18" charset="0"/>
                <a:cs typeface="Segoe UI"/>
              </a:rPr>
              <a:t>Cài</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đặt</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Tích</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hợp</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trong</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các</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gói</a:t>
            </a:r>
            <a:r>
              <a:rPr lang="en-US" sz="2500" b="0" spc="-5" dirty="0">
                <a:latin typeface="Cambria" panose="02040503050406030204" pitchFamily="18" charset="0"/>
                <a:ea typeface="Cambria" panose="02040503050406030204" pitchFamily="18" charset="0"/>
                <a:cs typeface="Segoe UI"/>
              </a:rPr>
              <a:t> Anaconda, </a:t>
            </a:r>
            <a:r>
              <a:rPr lang="en-US" sz="2500" b="0" spc="-5" dirty="0" err="1">
                <a:latin typeface="Cambria" panose="02040503050406030204" pitchFamily="18" charset="0"/>
                <a:ea typeface="Cambria" panose="02040503050406030204" pitchFamily="18" charset="0"/>
                <a:cs typeface="Segoe UI"/>
              </a:rPr>
              <a:t>SciPy</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hoặc</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sử</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dụng</a:t>
            </a:r>
            <a:r>
              <a:rPr lang="en-US" sz="2500" b="0" spc="-5" dirty="0">
                <a:latin typeface="Cambria" panose="02040503050406030204" pitchFamily="18" charset="0"/>
                <a:ea typeface="Cambria" panose="02040503050406030204" pitchFamily="18" charset="0"/>
                <a:cs typeface="Segoe UI"/>
              </a:rPr>
              <a:t> VS/</a:t>
            </a:r>
            <a:r>
              <a:rPr lang="en-US" sz="2500" b="0" spc="-5" dirty="0" err="1">
                <a:latin typeface="Cambria" panose="02040503050406030204" pitchFamily="18" charset="0"/>
                <a:ea typeface="Cambria" panose="02040503050406030204" pitchFamily="18" charset="0"/>
                <a:cs typeface="Segoe UI"/>
              </a:rPr>
              <a:t>Pycharm</a:t>
            </a:r>
            <a:r>
              <a:rPr lang="en-US" sz="2500" b="0" spc="-5" dirty="0">
                <a:latin typeface="Cambria" panose="02040503050406030204" pitchFamily="18" charset="0"/>
                <a:ea typeface="Cambria" panose="02040503050406030204" pitchFamily="18" charset="0"/>
                <a:cs typeface="Segoe UI"/>
              </a:rPr>
              <a:t> </a:t>
            </a:r>
            <a:r>
              <a:rPr lang="en-US" sz="2500" b="0" spc="-5" dirty="0" err="1">
                <a:latin typeface="Cambria" panose="02040503050406030204" pitchFamily="18" charset="0"/>
                <a:ea typeface="Cambria" panose="02040503050406030204" pitchFamily="18" charset="0"/>
                <a:cs typeface="Segoe UI"/>
              </a:rPr>
              <a:t>cài</a:t>
            </a:r>
            <a:r>
              <a:rPr lang="en-US" sz="2500" b="0" spc="-5" dirty="0">
                <a:latin typeface="Cambria" panose="02040503050406030204" pitchFamily="18" charset="0"/>
                <a:ea typeface="Cambria" panose="02040503050406030204" pitchFamily="18" charset="0"/>
                <a:cs typeface="Segoe UI"/>
              </a:rPr>
              <a:t> qua </a:t>
            </a:r>
            <a:r>
              <a:rPr lang="en-US" sz="2500" b="0" spc="-5" dirty="0" err="1">
                <a:latin typeface="Cambria" panose="02040503050406030204" pitchFamily="18" charset="0"/>
                <a:ea typeface="Cambria" panose="02040503050406030204" pitchFamily="18" charset="0"/>
                <a:cs typeface="Segoe UI"/>
              </a:rPr>
              <a:t>lệnh</a:t>
            </a:r>
            <a:r>
              <a:rPr lang="en-US" sz="2500" b="0" spc="-5" dirty="0">
                <a:latin typeface="Cambria" panose="02040503050406030204" pitchFamily="18" charset="0"/>
                <a:ea typeface="Cambria" panose="02040503050406030204" pitchFamily="18" charset="0"/>
                <a:cs typeface="Segoe UI"/>
              </a:rPr>
              <a:t>:		</a:t>
            </a:r>
            <a:r>
              <a:rPr lang="en-US" sz="2500" b="1" i="0" dirty="0">
                <a:solidFill>
                  <a:srgbClr val="FF0000"/>
                </a:solidFill>
                <a:effectLst/>
                <a:latin typeface="Cambria" panose="02040503050406030204" pitchFamily="18" charset="0"/>
                <a:ea typeface="Cambria" panose="02040503050406030204" pitchFamily="18" charset="0"/>
              </a:rPr>
              <a:t>pip install </a:t>
            </a:r>
            <a:r>
              <a:rPr lang="en-US" sz="2500" b="1" i="0" dirty="0" err="1">
                <a:solidFill>
                  <a:srgbClr val="FF0000"/>
                </a:solidFill>
                <a:effectLst/>
                <a:latin typeface="Cambria" panose="02040503050406030204" pitchFamily="18" charset="0"/>
                <a:ea typeface="Cambria" panose="02040503050406030204" pitchFamily="18" charset="0"/>
              </a:rPr>
              <a:t>numpy</a:t>
            </a:r>
            <a:endParaRPr lang="en-US" sz="2500" b="1" dirty="0">
              <a:solidFill>
                <a:srgbClr val="FF0000"/>
              </a:solidFill>
              <a:latin typeface="Cambria" panose="02040503050406030204" pitchFamily="18" charset="0"/>
              <a:ea typeface="Cambria" panose="02040503050406030204" pitchFamily="18" charset="0"/>
            </a:endParaRPr>
          </a:p>
          <a:p>
            <a:pPr marL="1314450" lvl="4" indent="-1314450" algn="just">
              <a:lnSpc>
                <a:spcPct val="120000"/>
              </a:lnSpc>
              <a:spcBef>
                <a:spcPts val="580"/>
              </a:spcBef>
              <a:buClr>
                <a:srgbClr val="FF5A33"/>
              </a:buClr>
              <a:buNone/>
            </a:pPr>
            <a:r>
              <a:rPr lang="en-US" sz="2500" b="1" spc="-5" dirty="0" err="1">
                <a:latin typeface="Cambria" panose="02040503050406030204" pitchFamily="18" charset="0"/>
                <a:ea typeface="Cambria" panose="02040503050406030204" pitchFamily="18" charset="0"/>
                <a:cs typeface="Segoe UI"/>
              </a:rPr>
              <a:t>Sử</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dụng</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numpy</a:t>
            </a:r>
            <a:r>
              <a:rPr lang="en-US" sz="2500" b="1" spc="-5" dirty="0">
                <a:latin typeface="Cambria" panose="02040503050406030204" pitchFamily="18" charset="0"/>
                <a:ea typeface="Cambria" panose="02040503050406030204" pitchFamily="18" charset="0"/>
                <a:cs typeface="Segoe UI"/>
              </a:rPr>
              <a:t>: </a:t>
            </a:r>
            <a:r>
              <a:rPr lang="en-US" sz="2500" b="1" spc="-55" dirty="0">
                <a:solidFill>
                  <a:srgbClr val="FF0000"/>
                </a:solidFill>
                <a:latin typeface="Cambria" panose="02040503050406030204" pitchFamily="18" charset="0"/>
                <a:ea typeface="Cambria" panose="02040503050406030204" pitchFamily="18" charset="0"/>
                <a:cs typeface="Segoe UI"/>
              </a:rPr>
              <a:t>import </a:t>
            </a:r>
            <a:r>
              <a:rPr lang="en-US" sz="2500" b="1" spc="-55" dirty="0" err="1">
                <a:solidFill>
                  <a:srgbClr val="FF0000"/>
                </a:solidFill>
                <a:latin typeface="Cambria" panose="02040503050406030204" pitchFamily="18" charset="0"/>
                <a:ea typeface="Cambria" panose="02040503050406030204" pitchFamily="18" charset="0"/>
                <a:cs typeface="Segoe UI"/>
              </a:rPr>
              <a:t>numpy</a:t>
            </a:r>
            <a:r>
              <a:rPr lang="en-US" sz="2500" b="1" spc="-55" dirty="0">
                <a:solidFill>
                  <a:srgbClr val="FF0000"/>
                </a:solidFill>
                <a:latin typeface="Cambria" panose="02040503050406030204" pitchFamily="18" charset="0"/>
                <a:ea typeface="Cambria" panose="02040503050406030204" pitchFamily="18" charset="0"/>
                <a:cs typeface="Segoe UI"/>
              </a:rPr>
              <a:t> as np</a:t>
            </a:r>
          </a:p>
          <a:p>
            <a:pPr marL="0" lvl="1" indent="0" algn="just">
              <a:lnSpc>
                <a:spcPct val="120000"/>
              </a:lnSpc>
              <a:spcBef>
                <a:spcPts val="580"/>
              </a:spcBef>
              <a:buClr>
                <a:srgbClr val="FF5A33"/>
              </a:buClr>
              <a:buNone/>
            </a:pPr>
            <a:endParaRPr lang="en-US" sz="2500" b="0" spc="-55" dirty="0">
              <a:latin typeface="Cambria" panose="02040503050406030204" pitchFamily="18" charset="0"/>
              <a:ea typeface="Cambria" panose="02040503050406030204" pitchFamily="18" charset="0"/>
              <a:cs typeface="Segoe UI"/>
            </a:endParaRPr>
          </a:p>
        </p:txBody>
      </p:sp>
    </p:spTree>
    <p:extLst>
      <p:ext uri="{BB962C8B-B14F-4D97-AF65-F5344CB8AC3E}">
        <p14:creationId xmlns:p14="http://schemas.microsoft.com/office/powerpoint/2010/main" val="29709554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NUMPY</a:t>
            </a:r>
          </a:p>
        </p:txBody>
      </p:sp>
      <p:sp>
        <p:nvSpPr>
          <p:cNvPr id="3" name="Rectangle 2"/>
          <p:cNvSpPr/>
          <p:nvPr/>
        </p:nvSpPr>
        <p:spPr>
          <a:xfrm>
            <a:off x="79513" y="620377"/>
            <a:ext cx="11887200" cy="669414"/>
          </a:xfrm>
          <a:prstGeom prst="rect">
            <a:avLst/>
          </a:prstGeom>
        </p:spPr>
        <p:txBody>
          <a:bodyPr wrap="square">
            <a:spAutoFit/>
          </a:bodyPr>
          <a:lstStyle/>
          <a:p>
            <a:pPr>
              <a:lnSpc>
                <a:spcPct val="150000"/>
              </a:lnSpc>
            </a:pPr>
            <a:r>
              <a:rPr lang="en-US" sz="2500" b="1" dirty="0" err="1">
                <a:solidFill>
                  <a:srgbClr val="FF0000"/>
                </a:solidFill>
                <a:latin typeface="Cambria" panose="02040503050406030204" pitchFamily="18" charset="0"/>
                <a:ea typeface="Cambria" panose="02040503050406030204" pitchFamily="18" charset="0"/>
              </a:rPr>
              <a:t>Kiểu</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dữ</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liệu</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sử</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dụng</a:t>
            </a:r>
            <a:r>
              <a:rPr lang="en-US" sz="2500" b="1">
                <a:solidFill>
                  <a:srgbClr val="FF0000"/>
                </a:solidFill>
                <a:latin typeface="Cambria" panose="02040503050406030204" pitchFamily="18" charset="0"/>
                <a:ea typeface="Cambria" panose="02040503050406030204" pitchFamily="18" charset="0"/>
              </a:rPr>
              <a:t> Numpy</a:t>
            </a:r>
            <a:r>
              <a:rPr lang="en-US" sz="2500" b="1" dirty="0">
                <a:solidFill>
                  <a:srgbClr val="FF0000"/>
                </a:solidFill>
                <a:latin typeface="Cambria" panose="02040503050406030204" pitchFamily="18" charset="0"/>
                <a:ea typeface="Cambria" panose="02040503050406030204" pitchFamily="18" charset="0"/>
              </a:rPr>
              <a:t>?</a:t>
            </a:r>
            <a:r>
              <a:rPr lang="vi-VN" sz="2500" b="1" dirty="0">
                <a:solidFill>
                  <a:srgbClr val="FF0000"/>
                </a:solidFill>
                <a:latin typeface="Cambria" panose="02040503050406030204" pitchFamily="18" charset="0"/>
                <a:ea typeface="Cambria" panose="02040503050406030204" pitchFamily="18" charset="0"/>
              </a:rPr>
              <a:t> </a:t>
            </a:r>
            <a:endParaRPr lang="en-US" sz="2500" dirty="0">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a:blip r:embed="rId2"/>
          <a:stretch>
            <a:fillRect/>
          </a:stretch>
        </p:blipFill>
        <p:spPr>
          <a:xfrm>
            <a:off x="752416" y="1205152"/>
            <a:ext cx="10578193" cy="5139737"/>
          </a:xfrm>
          <a:prstGeom prst="rect">
            <a:avLst/>
          </a:prstGeom>
        </p:spPr>
      </p:pic>
    </p:spTree>
    <p:extLst>
      <p:ext uri="{BB962C8B-B14F-4D97-AF65-F5344CB8AC3E}">
        <p14:creationId xmlns:p14="http://schemas.microsoft.com/office/powerpoint/2010/main" val="2653771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NUMPY</a:t>
            </a:r>
          </a:p>
        </p:txBody>
      </p:sp>
      <p:sp>
        <p:nvSpPr>
          <p:cNvPr id="3" name="Rectangle 2"/>
          <p:cNvSpPr/>
          <p:nvPr/>
        </p:nvSpPr>
        <p:spPr>
          <a:xfrm>
            <a:off x="79513" y="620377"/>
            <a:ext cx="11887200" cy="477054"/>
          </a:xfrm>
          <a:prstGeom prst="rect">
            <a:avLst/>
          </a:prstGeom>
        </p:spPr>
        <p:txBody>
          <a:bodyPr wrap="square">
            <a:spAutoFit/>
          </a:bodyPr>
          <a:lstStyle/>
          <a:p>
            <a:r>
              <a:rPr lang="en-US" sz="2500" b="1" dirty="0" err="1">
                <a:solidFill>
                  <a:srgbClr val="FF0000"/>
                </a:solidFill>
                <a:latin typeface="Cambria" panose="02040503050406030204" pitchFamily="18" charset="0"/>
                <a:ea typeface="Cambria" panose="02040503050406030204" pitchFamily="18" charset="0"/>
              </a:rPr>
              <a:t>Sử</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dụng</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numpy</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tạo</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mảng</a:t>
            </a:r>
            <a:endParaRPr lang="en-US" sz="2500" dirty="0">
              <a:latin typeface="Cambria" panose="02040503050406030204" pitchFamily="18" charset="0"/>
              <a:ea typeface="Cambria" panose="02040503050406030204" pitchFamily="18" charset="0"/>
            </a:endParaRPr>
          </a:p>
        </p:txBody>
      </p:sp>
      <p:graphicFrame>
        <p:nvGraphicFramePr>
          <p:cNvPr id="10" name="Table 5">
            <a:extLst>
              <a:ext uri="{FF2B5EF4-FFF2-40B4-BE49-F238E27FC236}">
                <a16:creationId xmlns:a16="http://schemas.microsoft.com/office/drawing/2014/main" id="{9380F5BF-A330-F4A3-7518-0BC3ED7E05D1}"/>
              </a:ext>
            </a:extLst>
          </p:cNvPr>
          <p:cNvGraphicFramePr>
            <a:graphicFrameLocks noGrp="1"/>
          </p:cNvGraphicFramePr>
          <p:nvPr>
            <p:extLst>
              <p:ext uri="{D42A27DB-BD31-4B8C-83A1-F6EECF244321}">
                <p14:modId xmlns:p14="http://schemas.microsoft.com/office/powerpoint/2010/main" val="2372790163"/>
              </p:ext>
            </p:extLst>
          </p:nvPr>
        </p:nvGraphicFramePr>
        <p:xfrm>
          <a:off x="338874" y="1163638"/>
          <a:ext cx="11361039" cy="5207167"/>
        </p:xfrm>
        <a:graphic>
          <a:graphicData uri="http://schemas.openxmlformats.org/drawingml/2006/table">
            <a:tbl>
              <a:tblPr firstRow="1" bandRow="1">
                <a:tableStyleId>{5C22544A-7EE6-4342-B048-85BDC9FD1C3A}</a:tableStyleId>
              </a:tblPr>
              <a:tblGrid>
                <a:gridCol w="1032822">
                  <a:extLst>
                    <a:ext uri="{9D8B030D-6E8A-4147-A177-3AD203B41FA5}">
                      <a16:colId xmlns:a16="http://schemas.microsoft.com/office/drawing/2014/main" val="3477611606"/>
                    </a:ext>
                  </a:extLst>
                </a:gridCol>
                <a:gridCol w="5267391">
                  <a:extLst>
                    <a:ext uri="{9D8B030D-6E8A-4147-A177-3AD203B41FA5}">
                      <a16:colId xmlns:a16="http://schemas.microsoft.com/office/drawing/2014/main" val="2449429522"/>
                    </a:ext>
                  </a:extLst>
                </a:gridCol>
                <a:gridCol w="5060826">
                  <a:extLst>
                    <a:ext uri="{9D8B030D-6E8A-4147-A177-3AD203B41FA5}">
                      <a16:colId xmlns:a16="http://schemas.microsoft.com/office/drawing/2014/main" val="169192170"/>
                    </a:ext>
                  </a:extLst>
                </a:gridCol>
              </a:tblGrid>
              <a:tr h="370840">
                <a:tc>
                  <a:txBody>
                    <a:bodyPr/>
                    <a:lstStyle/>
                    <a:p>
                      <a:pPr algn="ctr"/>
                      <a:r>
                        <a:rPr lang="en-US" sz="1900" b="1">
                          <a:latin typeface="Cambria" panose="02040503050406030204" pitchFamily="18" charset="0"/>
                          <a:ea typeface="Cambria" panose="02040503050406030204" pitchFamily="18" charset="0"/>
                        </a:rPr>
                        <a:t>TT</a:t>
                      </a:r>
                    </a:p>
                  </a:txBody>
                  <a:tcPr/>
                </a:tc>
                <a:tc>
                  <a:txBody>
                    <a:bodyPr/>
                    <a:lstStyle/>
                    <a:p>
                      <a:pPr algn="ctr"/>
                      <a:r>
                        <a:rPr lang="en-US" sz="1900" b="1">
                          <a:latin typeface="Cambria" panose="02040503050406030204" pitchFamily="18" charset="0"/>
                          <a:ea typeface="Cambria" panose="02040503050406030204" pitchFamily="18" charset="0"/>
                        </a:rPr>
                        <a:t>Tạo mảng</a:t>
                      </a:r>
                    </a:p>
                  </a:txBody>
                  <a:tcPr/>
                </a:tc>
                <a:tc>
                  <a:txBody>
                    <a:bodyPr/>
                    <a:lstStyle/>
                    <a:p>
                      <a:pPr algn="ctr"/>
                      <a:r>
                        <a:rPr lang="en-US" sz="1900" b="1">
                          <a:latin typeface="Cambria" panose="02040503050406030204" pitchFamily="18" charset="0"/>
                          <a:ea typeface="Cambria" panose="02040503050406030204" pitchFamily="18" charset="0"/>
                        </a:rPr>
                        <a:t>Ý nghĩa</a:t>
                      </a:r>
                    </a:p>
                  </a:txBody>
                  <a:tcPr/>
                </a:tc>
                <a:extLst>
                  <a:ext uri="{0D108BD9-81ED-4DB2-BD59-A6C34878D82A}">
                    <a16:rowId xmlns:a16="http://schemas.microsoft.com/office/drawing/2014/main" val="1894653875"/>
                  </a:ext>
                </a:extLst>
              </a:tr>
              <a:tr h="370840">
                <a:tc>
                  <a:txBody>
                    <a:bodyPr/>
                    <a:lstStyle/>
                    <a:p>
                      <a:pPr algn="ctr"/>
                      <a:r>
                        <a:rPr lang="en-US" sz="1900">
                          <a:latin typeface="Cambria" panose="02040503050406030204" pitchFamily="18" charset="0"/>
                          <a:ea typeface="Cambria" panose="02040503050406030204" pitchFamily="18" charset="0"/>
                        </a:rPr>
                        <a:t>1</a:t>
                      </a:r>
                    </a:p>
                  </a:txBody>
                  <a:tcPr/>
                </a:tc>
                <a:tc>
                  <a:txBody>
                    <a:bodyPr/>
                    <a:lstStyle/>
                    <a:p>
                      <a:r>
                        <a:rPr lang="en-US" sz="1900" b="1" i="0" kern="1200" dirty="0">
                          <a:solidFill>
                            <a:schemeClr val="dk1"/>
                          </a:solidFill>
                          <a:effectLst/>
                          <a:latin typeface="Cambria" panose="02040503050406030204" pitchFamily="18" charset="0"/>
                          <a:ea typeface="Cambria" panose="02040503050406030204" pitchFamily="18" charset="0"/>
                          <a:cs typeface="+mn-cs"/>
                        </a:rPr>
                        <a:t>import</a:t>
                      </a:r>
                      <a:r>
                        <a:rPr lang="en-US" sz="1900" b="0" i="0" kern="1200" dirty="0">
                          <a:solidFill>
                            <a:schemeClr val="dk1"/>
                          </a:solidFill>
                          <a:effectLst/>
                          <a:latin typeface="Cambria" panose="02040503050406030204" pitchFamily="18" charset="0"/>
                          <a:ea typeface="Cambria" panose="02040503050406030204" pitchFamily="18" charset="0"/>
                          <a:cs typeface="+mn-cs"/>
                        </a:rPr>
                        <a:t> </a:t>
                      </a:r>
                      <a:r>
                        <a:rPr lang="en-US" sz="1900" b="0" i="0" kern="1200" dirty="0" err="1">
                          <a:solidFill>
                            <a:schemeClr val="dk1"/>
                          </a:solidFill>
                          <a:effectLst/>
                          <a:latin typeface="Cambria" panose="02040503050406030204" pitchFamily="18" charset="0"/>
                          <a:ea typeface="Cambria" panose="02040503050406030204" pitchFamily="18" charset="0"/>
                          <a:cs typeface="+mn-cs"/>
                        </a:rPr>
                        <a:t>numpy</a:t>
                      </a:r>
                      <a:r>
                        <a:rPr lang="en-US" sz="1900" b="0" i="0" kern="1200" dirty="0">
                          <a:solidFill>
                            <a:schemeClr val="dk1"/>
                          </a:solidFill>
                          <a:effectLst/>
                          <a:latin typeface="Cambria" panose="02040503050406030204" pitchFamily="18" charset="0"/>
                          <a:ea typeface="Cambria" panose="02040503050406030204" pitchFamily="18" charset="0"/>
                          <a:cs typeface="+mn-cs"/>
                        </a:rPr>
                        <a:t> as np </a:t>
                      </a:r>
                    </a:p>
                    <a:p>
                      <a:r>
                        <a:rPr lang="en-US" sz="1900" b="0" i="0" kern="1200" dirty="0">
                          <a:solidFill>
                            <a:schemeClr val="dk1"/>
                          </a:solidFill>
                          <a:effectLst/>
                          <a:latin typeface="Cambria" panose="02040503050406030204" pitchFamily="18" charset="0"/>
                          <a:ea typeface="Cambria" panose="02040503050406030204" pitchFamily="18" charset="0"/>
                          <a:cs typeface="+mn-cs"/>
                        </a:rPr>
                        <a:t>x = </a:t>
                      </a:r>
                      <a:r>
                        <a:rPr lang="en-US" sz="1900" b="0" i="0" kern="1200" dirty="0" err="1">
                          <a:solidFill>
                            <a:schemeClr val="dk1"/>
                          </a:solidFill>
                          <a:effectLst/>
                          <a:latin typeface="Cambria" panose="02040503050406030204" pitchFamily="18" charset="0"/>
                          <a:ea typeface="Cambria" panose="02040503050406030204" pitchFamily="18" charset="0"/>
                          <a:cs typeface="+mn-cs"/>
                        </a:rPr>
                        <a:t>np.empty</a:t>
                      </a:r>
                      <a:r>
                        <a:rPr lang="en-US" sz="1900" b="0" i="0" kern="1200" dirty="0">
                          <a:solidFill>
                            <a:schemeClr val="dk1"/>
                          </a:solidFill>
                          <a:effectLst/>
                          <a:latin typeface="Cambria" panose="02040503050406030204" pitchFamily="18" charset="0"/>
                          <a:ea typeface="Cambria" panose="02040503050406030204" pitchFamily="18" charset="0"/>
                          <a:cs typeface="+mn-cs"/>
                        </a:rPr>
                        <a:t>([3,2], </a:t>
                      </a:r>
                      <a:r>
                        <a:rPr lang="en-US" sz="1900" b="0" i="0" kern="1200" dirty="0" err="1">
                          <a:solidFill>
                            <a:schemeClr val="dk1"/>
                          </a:solidFill>
                          <a:effectLst/>
                          <a:latin typeface="Cambria" panose="02040503050406030204" pitchFamily="18" charset="0"/>
                          <a:ea typeface="Cambria" panose="02040503050406030204" pitchFamily="18" charset="0"/>
                          <a:cs typeface="+mn-cs"/>
                        </a:rPr>
                        <a:t>dtype</a:t>
                      </a:r>
                      <a:r>
                        <a:rPr lang="en-US" sz="1900" b="0" i="0" kern="1200" dirty="0">
                          <a:solidFill>
                            <a:schemeClr val="dk1"/>
                          </a:solidFill>
                          <a:effectLst/>
                          <a:latin typeface="Cambria" panose="02040503050406030204" pitchFamily="18" charset="0"/>
                          <a:ea typeface="Cambria" panose="02040503050406030204" pitchFamily="18" charset="0"/>
                          <a:cs typeface="+mn-cs"/>
                        </a:rPr>
                        <a:t> = </a:t>
                      </a:r>
                      <a:r>
                        <a:rPr lang="en-US" sz="1900" b="0" i="0" kern="1200" dirty="0" err="1">
                          <a:solidFill>
                            <a:schemeClr val="dk1"/>
                          </a:solidFill>
                          <a:effectLst/>
                          <a:latin typeface="Cambria" panose="02040503050406030204" pitchFamily="18" charset="0"/>
                          <a:ea typeface="Cambria" panose="02040503050406030204" pitchFamily="18" charset="0"/>
                          <a:cs typeface="+mn-cs"/>
                        </a:rPr>
                        <a:t>int</a:t>
                      </a:r>
                      <a:r>
                        <a:rPr lang="en-US" sz="1900" b="0" i="0" kern="1200" dirty="0">
                          <a:solidFill>
                            <a:schemeClr val="dk1"/>
                          </a:solidFill>
                          <a:effectLst/>
                          <a:latin typeface="Cambria" panose="02040503050406030204" pitchFamily="18" charset="0"/>
                          <a:ea typeface="Cambria" panose="02040503050406030204" pitchFamily="18" charset="0"/>
                          <a:cs typeface="+mn-cs"/>
                        </a:rPr>
                        <a:t>) </a:t>
                      </a:r>
                    </a:p>
                    <a:p>
                      <a:r>
                        <a:rPr lang="en-US" sz="1900" b="0" i="0" kern="1200" dirty="0">
                          <a:solidFill>
                            <a:schemeClr val="dk1"/>
                          </a:solidFill>
                          <a:effectLst/>
                          <a:latin typeface="Cambria" panose="02040503050406030204" pitchFamily="18" charset="0"/>
                          <a:ea typeface="Cambria" panose="02040503050406030204" pitchFamily="18" charset="0"/>
                          <a:cs typeface="+mn-cs"/>
                        </a:rPr>
                        <a:t>print (x)</a:t>
                      </a:r>
                      <a:endParaRPr lang="en-US" sz="1900" dirty="0">
                        <a:latin typeface="Cambria" panose="02040503050406030204" pitchFamily="18" charset="0"/>
                        <a:ea typeface="Cambria" panose="020405030504060302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a:latin typeface="Cambria" panose="02040503050406030204" pitchFamily="18" charset="0"/>
                          <a:ea typeface="Cambria" panose="02040503050406030204" pitchFamily="18" charset="0"/>
                        </a:rPr>
                        <a:t>Tạo mảng số nguyên size 3 x2</a:t>
                      </a:r>
                    </a:p>
                    <a:p>
                      <a:endParaRPr lang="en-US" sz="190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399602260"/>
                  </a:ext>
                </a:extLst>
              </a:tr>
              <a:tr h="370840">
                <a:tc>
                  <a:txBody>
                    <a:bodyPr/>
                    <a:lstStyle/>
                    <a:p>
                      <a:pPr algn="ctr"/>
                      <a:r>
                        <a:rPr lang="en-US" sz="1900">
                          <a:latin typeface="Cambria" panose="02040503050406030204" pitchFamily="18" charset="0"/>
                          <a:ea typeface="Cambria" panose="02040503050406030204" pitchFamily="18" charset="0"/>
                        </a:rPr>
                        <a:t>2</a:t>
                      </a:r>
                    </a:p>
                  </a:txBody>
                  <a:tcPr/>
                </a:tc>
                <a:tc>
                  <a:txBody>
                    <a:bodyPr/>
                    <a:lstStyle/>
                    <a:p>
                      <a:r>
                        <a:rPr lang="pt-BR" sz="1900" b="0" i="0" kern="1200" dirty="0">
                          <a:solidFill>
                            <a:schemeClr val="dk1"/>
                          </a:solidFill>
                          <a:effectLst/>
                          <a:latin typeface="Cambria" panose="02040503050406030204" pitchFamily="18" charset="0"/>
                          <a:ea typeface="Cambria" panose="02040503050406030204" pitchFamily="18" charset="0"/>
                          <a:cs typeface="+mn-cs"/>
                        </a:rPr>
                        <a:t>x = np.zeros(5) ; </a:t>
                      </a:r>
                      <a:r>
                        <a:rPr lang="en-US" sz="1900" b="0" i="0" kern="1200" dirty="0">
                          <a:solidFill>
                            <a:schemeClr val="dk1"/>
                          </a:solidFill>
                          <a:effectLst/>
                          <a:latin typeface="Cambria" panose="02040503050406030204" pitchFamily="18" charset="0"/>
                          <a:ea typeface="Cambria" panose="02040503050406030204" pitchFamily="18" charset="0"/>
                          <a:cs typeface="+mn-cs"/>
                        </a:rPr>
                        <a:t>print (x)</a:t>
                      </a:r>
                      <a:endParaRPr lang="en-US" sz="1900" dirty="0">
                        <a:latin typeface="Cambria" panose="02040503050406030204" pitchFamily="18" charset="0"/>
                        <a:ea typeface="Cambria" panose="02040503050406030204" pitchFamily="18" charset="0"/>
                      </a:endParaRPr>
                    </a:p>
                  </a:txBody>
                  <a:tcPr/>
                </a:tc>
                <a:tc>
                  <a:txBody>
                    <a:bodyPr/>
                    <a:lstStyle/>
                    <a:p>
                      <a:r>
                        <a:rPr lang="en-US" sz="1900">
                          <a:latin typeface="Cambria" panose="02040503050406030204" pitchFamily="18" charset="0"/>
                          <a:ea typeface="Cambria" panose="02040503050406030204" pitchFamily="18" charset="0"/>
                        </a:rPr>
                        <a:t>Tạo mảng 1 chiều khởi tạo giá trị =0</a:t>
                      </a:r>
                    </a:p>
                  </a:txBody>
                  <a:tcPr/>
                </a:tc>
                <a:extLst>
                  <a:ext uri="{0D108BD9-81ED-4DB2-BD59-A6C34878D82A}">
                    <a16:rowId xmlns:a16="http://schemas.microsoft.com/office/drawing/2014/main" val="3458899390"/>
                  </a:ext>
                </a:extLst>
              </a:tr>
              <a:tr h="370840">
                <a:tc>
                  <a:txBody>
                    <a:bodyPr/>
                    <a:lstStyle/>
                    <a:p>
                      <a:pPr algn="ctr"/>
                      <a:r>
                        <a:rPr lang="en-US" sz="1900">
                          <a:latin typeface="Cambria" panose="02040503050406030204" pitchFamily="18" charset="0"/>
                          <a:ea typeface="Cambria" panose="02040503050406030204" pitchFamily="18" charset="0"/>
                        </a:rPr>
                        <a:t>3</a:t>
                      </a:r>
                    </a:p>
                  </a:txBody>
                  <a:tcPr/>
                </a:tc>
                <a:tc>
                  <a:txBody>
                    <a:bodyPr/>
                    <a:lstStyle/>
                    <a:p>
                      <a:r>
                        <a:rPr lang="en-US" sz="1900" b="0" i="0" kern="1200" dirty="0">
                          <a:solidFill>
                            <a:schemeClr val="dk1"/>
                          </a:solidFill>
                          <a:effectLst/>
                          <a:latin typeface="Cambria" panose="02040503050406030204" pitchFamily="18" charset="0"/>
                          <a:ea typeface="Cambria" panose="02040503050406030204" pitchFamily="18" charset="0"/>
                          <a:cs typeface="+mn-cs"/>
                        </a:rPr>
                        <a:t>x = </a:t>
                      </a:r>
                      <a:r>
                        <a:rPr lang="en-US" sz="1900" b="0" i="0" kern="1200" dirty="0" err="1">
                          <a:solidFill>
                            <a:schemeClr val="dk1"/>
                          </a:solidFill>
                          <a:effectLst/>
                          <a:latin typeface="Cambria" panose="02040503050406030204" pitchFamily="18" charset="0"/>
                          <a:ea typeface="Cambria" panose="02040503050406030204" pitchFamily="18" charset="0"/>
                          <a:cs typeface="+mn-cs"/>
                        </a:rPr>
                        <a:t>np.zeros</a:t>
                      </a:r>
                      <a:r>
                        <a:rPr lang="en-US" sz="1900" b="0" i="0" kern="1200" dirty="0">
                          <a:solidFill>
                            <a:schemeClr val="dk1"/>
                          </a:solidFill>
                          <a:effectLst/>
                          <a:latin typeface="Cambria" panose="02040503050406030204" pitchFamily="18" charset="0"/>
                          <a:ea typeface="Cambria" panose="02040503050406030204" pitchFamily="18" charset="0"/>
                          <a:cs typeface="+mn-cs"/>
                        </a:rPr>
                        <a:t>((2,2), </a:t>
                      </a:r>
                      <a:r>
                        <a:rPr lang="en-US" sz="1900" b="0" i="0" kern="1200" dirty="0" err="1">
                          <a:solidFill>
                            <a:schemeClr val="dk1"/>
                          </a:solidFill>
                          <a:effectLst/>
                          <a:latin typeface="Cambria" panose="02040503050406030204" pitchFamily="18" charset="0"/>
                          <a:ea typeface="Cambria" panose="02040503050406030204" pitchFamily="18" charset="0"/>
                          <a:cs typeface="+mn-cs"/>
                        </a:rPr>
                        <a:t>dtype</a:t>
                      </a:r>
                      <a:r>
                        <a:rPr lang="en-US" sz="1900" b="0" i="0" kern="1200" dirty="0">
                          <a:solidFill>
                            <a:schemeClr val="dk1"/>
                          </a:solidFill>
                          <a:effectLst/>
                          <a:latin typeface="Cambria" panose="02040503050406030204" pitchFamily="18" charset="0"/>
                          <a:ea typeface="Cambria" panose="02040503050406030204" pitchFamily="18" charset="0"/>
                          <a:cs typeface="+mn-cs"/>
                        </a:rPr>
                        <a:t> = [('x', 'i4'), ('y', 'i4')]) ; print (x)</a:t>
                      </a:r>
                      <a:endParaRPr lang="en-US" sz="1900" dirty="0">
                        <a:latin typeface="Cambria" panose="02040503050406030204" pitchFamily="18" charset="0"/>
                        <a:ea typeface="Cambria" panose="020405030504060302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a:latin typeface="Cambria" panose="02040503050406030204" pitchFamily="18" charset="0"/>
                          <a:ea typeface="Cambria" panose="02040503050406030204" pitchFamily="18" charset="0"/>
                        </a:rPr>
                        <a:t>Tạo mảng 2 chiều khởi tạo giá trị =0</a:t>
                      </a:r>
                    </a:p>
                    <a:p>
                      <a:r>
                        <a:rPr lang="en-US" sz="1900">
                          <a:latin typeface="Cambria" panose="02040503050406030204" pitchFamily="18" charset="0"/>
                          <a:ea typeface="Cambria" panose="02040503050406030204" pitchFamily="18" charset="0"/>
                        </a:rPr>
                        <a:t>[0,0,0,0,0]</a:t>
                      </a:r>
                    </a:p>
                  </a:txBody>
                  <a:tcPr/>
                </a:tc>
                <a:extLst>
                  <a:ext uri="{0D108BD9-81ED-4DB2-BD59-A6C34878D82A}">
                    <a16:rowId xmlns:a16="http://schemas.microsoft.com/office/drawing/2014/main" val="3890216569"/>
                  </a:ext>
                </a:extLst>
              </a:tr>
              <a:tr h="121920">
                <a:tc>
                  <a:txBody>
                    <a:bodyPr/>
                    <a:lstStyle/>
                    <a:p>
                      <a:pPr algn="ctr"/>
                      <a:r>
                        <a:rPr lang="en-US" sz="1900">
                          <a:latin typeface="Cambria" panose="02040503050406030204" pitchFamily="18" charset="0"/>
                          <a:ea typeface="Cambria" panose="02040503050406030204" pitchFamily="18" charset="0"/>
                        </a:rPr>
                        <a:t>4</a:t>
                      </a:r>
                    </a:p>
                  </a:txBody>
                  <a:tcPr/>
                </a:tc>
                <a:tc>
                  <a:txBody>
                    <a:bodyPr/>
                    <a:lstStyle/>
                    <a:p>
                      <a:r>
                        <a:rPr lang="fr-FR" sz="1900" b="0" i="0" kern="1200" dirty="0">
                          <a:solidFill>
                            <a:schemeClr val="dk1"/>
                          </a:solidFill>
                          <a:effectLst/>
                          <a:latin typeface="Cambria" panose="02040503050406030204" pitchFamily="18" charset="0"/>
                          <a:ea typeface="Cambria" panose="02040503050406030204" pitchFamily="18" charset="0"/>
                          <a:cs typeface="+mn-cs"/>
                        </a:rPr>
                        <a:t>x = </a:t>
                      </a:r>
                      <a:r>
                        <a:rPr lang="fr-FR" sz="1900" b="0" i="0" kern="1200" dirty="0" err="1">
                          <a:solidFill>
                            <a:schemeClr val="dk1"/>
                          </a:solidFill>
                          <a:effectLst/>
                          <a:latin typeface="Cambria" panose="02040503050406030204" pitchFamily="18" charset="0"/>
                          <a:ea typeface="Cambria" panose="02040503050406030204" pitchFamily="18" charset="0"/>
                          <a:cs typeface="+mn-cs"/>
                        </a:rPr>
                        <a:t>np.ones</a:t>
                      </a:r>
                      <a:r>
                        <a:rPr lang="fr-FR" sz="1900" b="0" i="0" kern="1200" dirty="0">
                          <a:solidFill>
                            <a:schemeClr val="dk1"/>
                          </a:solidFill>
                          <a:effectLst/>
                          <a:latin typeface="Cambria" panose="02040503050406030204" pitchFamily="18" charset="0"/>
                          <a:ea typeface="Cambria" panose="02040503050406030204" pitchFamily="18" charset="0"/>
                          <a:cs typeface="+mn-cs"/>
                        </a:rPr>
                        <a:t>(5) ; </a:t>
                      </a:r>
                      <a:r>
                        <a:rPr lang="en-US" sz="1900" b="0" i="0" kern="1200" dirty="0">
                          <a:solidFill>
                            <a:schemeClr val="dk1"/>
                          </a:solidFill>
                          <a:effectLst/>
                          <a:latin typeface="Cambria" panose="02040503050406030204" pitchFamily="18" charset="0"/>
                          <a:ea typeface="Cambria" panose="02040503050406030204" pitchFamily="18" charset="0"/>
                          <a:cs typeface="+mn-cs"/>
                        </a:rPr>
                        <a:t>print (x)</a:t>
                      </a:r>
                      <a:endParaRPr lang="en-US" sz="1900" dirty="0">
                        <a:latin typeface="Cambria" panose="02040503050406030204" pitchFamily="18" charset="0"/>
                        <a:ea typeface="Cambria" panose="020405030504060302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dirty="0" err="1">
                          <a:latin typeface="Cambria" panose="02040503050406030204" pitchFamily="18" charset="0"/>
                          <a:ea typeface="Cambria" panose="02040503050406030204" pitchFamily="18" charset="0"/>
                        </a:rPr>
                        <a:t>Tạo</a:t>
                      </a:r>
                      <a:r>
                        <a:rPr lang="en-US" sz="1900" dirty="0">
                          <a:latin typeface="Cambria" panose="02040503050406030204" pitchFamily="18" charset="0"/>
                          <a:ea typeface="Cambria" panose="02040503050406030204" pitchFamily="18" charset="0"/>
                        </a:rPr>
                        <a:t> </a:t>
                      </a:r>
                      <a:r>
                        <a:rPr lang="en-US" sz="1900" dirty="0" err="1">
                          <a:latin typeface="Cambria" panose="02040503050406030204" pitchFamily="18" charset="0"/>
                          <a:ea typeface="Cambria" panose="02040503050406030204" pitchFamily="18" charset="0"/>
                        </a:rPr>
                        <a:t>mảng</a:t>
                      </a:r>
                      <a:r>
                        <a:rPr lang="en-US" sz="1900" dirty="0">
                          <a:latin typeface="Cambria" panose="02040503050406030204" pitchFamily="18" charset="0"/>
                          <a:ea typeface="Cambria" panose="02040503050406030204" pitchFamily="18" charset="0"/>
                        </a:rPr>
                        <a:t> 1 </a:t>
                      </a:r>
                      <a:r>
                        <a:rPr lang="en-US" sz="1900" dirty="0" err="1">
                          <a:latin typeface="Cambria" panose="02040503050406030204" pitchFamily="18" charset="0"/>
                          <a:ea typeface="Cambria" panose="02040503050406030204" pitchFamily="18" charset="0"/>
                        </a:rPr>
                        <a:t>chiều</a:t>
                      </a:r>
                      <a:r>
                        <a:rPr lang="en-US" sz="1900" dirty="0">
                          <a:latin typeface="Cambria" panose="02040503050406030204" pitchFamily="18" charset="0"/>
                          <a:ea typeface="Cambria" panose="02040503050406030204" pitchFamily="18" charset="0"/>
                        </a:rPr>
                        <a:t> </a:t>
                      </a:r>
                      <a:r>
                        <a:rPr lang="en-US" sz="1900" dirty="0" err="1">
                          <a:latin typeface="Cambria" panose="02040503050406030204" pitchFamily="18" charset="0"/>
                          <a:ea typeface="Cambria" panose="02040503050406030204" pitchFamily="18" charset="0"/>
                        </a:rPr>
                        <a:t>khởi</a:t>
                      </a:r>
                      <a:r>
                        <a:rPr lang="en-US" sz="1900" dirty="0">
                          <a:latin typeface="Cambria" panose="02040503050406030204" pitchFamily="18" charset="0"/>
                          <a:ea typeface="Cambria" panose="02040503050406030204" pitchFamily="18" charset="0"/>
                        </a:rPr>
                        <a:t> </a:t>
                      </a:r>
                      <a:r>
                        <a:rPr lang="en-US" sz="1900" dirty="0" err="1">
                          <a:latin typeface="Cambria" panose="02040503050406030204" pitchFamily="18" charset="0"/>
                          <a:ea typeface="Cambria" panose="02040503050406030204" pitchFamily="18" charset="0"/>
                        </a:rPr>
                        <a:t>tạo</a:t>
                      </a:r>
                      <a:r>
                        <a:rPr lang="en-US" sz="1900" dirty="0">
                          <a:latin typeface="Cambria" panose="02040503050406030204" pitchFamily="18" charset="0"/>
                          <a:ea typeface="Cambria" panose="02040503050406030204" pitchFamily="18" charset="0"/>
                        </a:rPr>
                        <a:t> </a:t>
                      </a:r>
                      <a:r>
                        <a:rPr lang="en-US" sz="1900" dirty="0" err="1">
                          <a:latin typeface="Cambria" panose="02040503050406030204" pitchFamily="18" charset="0"/>
                          <a:ea typeface="Cambria" panose="02040503050406030204" pitchFamily="18" charset="0"/>
                        </a:rPr>
                        <a:t>giá</a:t>
                      </a:r>
                      <a:r>
                        <a:rPr lang="en-US" sz="1900" dirty="0">
                          <a:latin typeface="Cambria" panose="02040503050406030204" pitchFamily="18" charset="0"/>
                          <a:ea typeface="Cambria" panose="02040503050406030204" pitchFamily="18" charset="0"/>
                        </a:rPr>
                        <a:t> </a:t>
                      </a:r>
                      <a:r>
                        <a:rPr lang="en-US" sz="1900" dirty="0" err="1">
                          <a:latin typeface="Cambria" panose="02040503050406030204" pitchFamily="18" charset="0"/>
                          <a:ea typeface="Cambria" panose="02040503050406030204" pitchFamily="18" charset="0"/>
                        </a:rPr>
                        <a:t>trị</a:t>
                      </a:r>
                      <a:r>
                        <a:rPr lang="en-US" sz="1900" dirty="0">
                          <a:latin typeface="Cambria" panose="02040503050406030204" pitchFamily="18" charset="0"/>
                          <a:ea typeface="Cambria" panose="02040503050406030204" pitchFamily="18" charset="0"/>
                        </a:rPr>
                        <a:t>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i="0" kern="1200" dirty="0">
                          <a:solidFill>
                            <a:schemeClr val="dk1"/>
                          </a:solidFill>
                          <a:effectLst/>
                          <a:latin typeface="Cambria" panose="02040503050406030204" pitchFamily="18" charset="0"/>
                          <a:ea typeface="Cambria" panose="02040503050406030204" pitchFamily="18" charset="0"/>
                          <a:cs typeface="+mn-cs"/>
                        </a:rPr>
                        <a:t>[ 1. 1. 1. 1. 1.]</a:t>
                      </a:r>
                      <a:endParaRPr lang="en-US" sz="19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4162568275"/>
                  </a:ext>
                </a:extLst>
              </a:tr>
              <a:tr h="370840">
                <a:tc>
                  <a:txBody>
                    <a:bodyPr/>
                    <a:lstStyle/>
                    <a:p>
                      <a:pPr algn="ctr"/>
                      <a:r>
                        <a:rPr lang="en-US" sz="1900">
                          <a:latin typeface="Cambria" panose="02040503050406030204" pitchFamily="18" charset="0"/>
                          <a:ea typeface="Cambria" panose="02040503050406030204" pitchFamily="18" charset="0"/>
                        </a:rPr>
                        <a:t>5</a:t>
                      </a:r>
                    </a:p>
                  </a:txBody>
                  <a:tcPr/>
                </a:tc>
                <a:tc>
                  <a:txBody>
                    <a:bodyPr/>
                    <a:lstStyle/>
                    <a:p>
                      <a:r>
                        <a:rPr lang="fr-FR" sz="1900" b="0" i="0" kern="1200" dirty="0">
                          <a:solidFill>
                            <a:schemeClr val="dk1"/>
                          </a:solidFill>
                          <a:effectLst/>
                          <a:latin typeface="Cambria" panose="02040503050406030204" pitchFamily="18" charset="0"/>
                          <a:ea typeface="Cambria" panose="02040503050406030204" pitchFamily="18" charset="0"/>
                          <a:cs typeface="+mn-cs"/>
                        </a:rPr>
                        <a:t>x = </a:t>
                      </a:r>
                      <a:r>
                        <a:rPr lang="fr-FR" sz="1900" b="0" i="0" kern="1200" dirty="0" err="1">
                          <a:solidFill>
                            <a:schemeClr val="dk1"/>
                          </a:solidFill>
                          <a:effectLst/>
                          <a:latin typeface="Cambria" panose="02040503050406030204" pitchFamily="18" charset="0"/>
                          <a:ea typeface="Cambria" panose="02040503050406030204" pitchFamily="18" charset="0"/>
                          <a:cs typeface="+mn-cs"/>
                        </a:rPr>
                        <a:t>np.ones</a:t>
                      </a:r>
                      <a:r>
                        <a:rPr lang="fr-FR" sz="1900" b="0" i="0" kern="1200" dirty="0">
                          <a:solidFill>
                            <a:schemeClr val="dk1"/>
                          </a:solidFill>
                          <a:effectLst/>
                          <a:latin typeface="Cambria" panose="02040503050406030204" pitchFamily="18" charset="0"/>
                          <a:ea typeface="Cambria" panose="02040503050406030204" pitchFamily="18" charset="0"/>
                          <a:cs typeface="+mn-cs"/>
                        </a:rPr>
                        <a:t>([2,2], </a:t>
                      </a:r>
                      <a:r>
                        <a:rPr lang="fr-FR" sz="1900" b="0" i="0" kern="1200" dirty="0" err="1">
                          <a:solidFill>
                            <a:schemeClr val="dk1"/>
                          </a:solidFill>
                          <a:effectLst/>
                          <a:latin typeface="Cambria" panose="02040503050406030204" pitchFamily="18" charset="0"/>
                          <a:ea typeface="Cambria" panose="02040503050406030204" pitchFamily="18" charset="0"/>
                          <a:cs typeface="+mn-cs"/>
                        </a:rPr>
                        <a:t>dtype</a:t>
                      </a:r>
                      <a:r>
                        <a:rPr lang="fr-FR" sz="1900" b="0" i="0" kern="1200" dirty="0">
                          <a:solidFill>
                            <a:schemeClr val="dk1"/>
                          </a:solidFill>
                          <a:effectLst/>
                          <a:latin typeface="Cambria" panose="02040503050406030204" pitchFamily="18" charset="0"/>
                          <a:ea typeface="Cambria" panose="02040503050406030204" pitchFamily="18" charset="0"/>
                          <a:cs typeface="+mn-cs"/>
                        </a:rPr>
                        <a:t> = </a:t>
                      </a:r>
                      <a:r>
                        <a:rPr lang="fr-FR" sz="1900" b="0" i="0" kern="1200" dirty="0" err="1">
                          <a:solidFill>
                            <a:schemeClr val="dk1"/>
                          </a:solidFill>
                          <a:effectLst/>
                          <a:latin typeface="Cambria" panose="02040503050406030204" pitchFamily="18" charset="0"/>
                          <a:ea typeface="Cambria" panose="02040503050406030204" pitchFamily="18" charset="0"/>
                          <a:cs typeface="+mn-cs"/>
                        </a:rPr>
                        <a:t>int</a:t>
                      </a:r>
                      <a:r>
                        <a:rPr lang="fr-FR" sz="1900" b="0" i="0" kern="1200" dirty="0">
                          <a:solidFill>
                            <a:schemeClr val="dk1"/>
                          </a:solidFill>
                          <a:effectLst/>
                          <a:latin typeface="Cambria" panose="02040503050406030204" pitchFamily="18" charset="0"/>
                          <a:ea typeface="Cambria" panose="02040503050406030204" pitchFamily="18" charset="0"/>
                          <a:cs typeface="+mn-cs"/>
                        </a:rPr>
                        <a:t>) </a:t>
                      </a:r>
                    </a:p>
                    <a:p>
                      <a:r>
                        <a:rPr lang="en-US" sz="1900" b="0" i="0" kern="1200" dirty="0">
                          <a:solidFill>
                            <a:schemeClr val="dk1"/>
                          </a:solidFill>
                          <a:effectLst/>
                          <a:latin typeface="Cambria" panose="02040503050406030204" pitchFamily="18" charset="0"/>
                          <a:ea typeface="Cambria" panose="02040503050406030204" pitchFamily="18" charset="0"/>
                          <a:cs typeface="+mn-cs"/>
                        </a:rPr>
                        <a:t>print (x)</a:t>
                      </a:r>
                      <a:endParaRPr lang="en-US" sz="1900" dirty="0">
                        <a:latin typeface="Cambria" panose="02040503050406030204" pitchFamily="18" charset="0"/>
                        <a:ea typeface="Cambria" panose="020405030504060302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a:latin typeface="Cambria" panose="02040503050406030204" pitchFamily="18" charset="0"/>
                          <a:ea typeface="Cambria" panose="02040503050406030204" pitchFamily="18" charset="0"/>
                        </a:rPr>
                        <a:t>Tạo mảng 2 chiều khởi tạo giá trị =1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i="0" kern="1200">
                          <a:solidFill>
                            <a:schemeClr val="dk1"/>
                          </a:solidFill>
                          <a:effectLst/>
                          <a:latin typeface="Cambria" panose="02040503050406030204" pitchFamily="18" charset="0"/>
                          <a:ea typeface="Cambria" panose="02040503050406030204" pitchFamily="18" charset="0"/>
                          <a:cs typeface="+mn-cs"/>
                        </a:rPr>
                        <a:t>[[1 1] [1 1]]</a:t>
                      </a:r>
                      <a:endParaRPr lang="en-US" sz="190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1169728990"/>
                  </a:ext>
                </a:extLst>
              </a:tr>
              <a:tr h="370840">
                <a:tc>
                  <a:txBody>
                    <a:bodyPr/>
                    <a:lstStyle/>
                    <a:p>
                      <a:pPr algn="ctr"/>
                      <a:r>
                        <a:rPr lang="en-US" sz="1900">
                          <a:latin typeface="Cambria" panose="02040503050406030204" pitchFamily="18" charset="0"/>
                          <a:ea typeface="Cambria" panose="02040503050406030204" pitchFamily="18" charset="0"/>
                        </a:rPr>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i="0" kern="1200" dirty="0">
                          <a:solidFill>
                            <a:schemeClr val="dk1"/>
                          </a:solidFill>
                          <a:effectLst/>
                          <a:latin typeface="Cambria" panose="02040503050406030204" pitchFamily="18" charset="0"/>
                          <a:ea typeface="Cambria" panose="02040503050406030204" pitchFamily="18" charset="0"/>
                          <a:cs typeface="+mn-cs"/>
                        </a:rPr>
                        <a:t>x = [1,2,3] ;a = </a:t>
                      </a:r>
                      <a:r>
                        <a:rPr lang="en-US" sz="1900" b="0" i="0" kern="1200" dirty="0" err="1">
                          <a:solidFill>
                            <a:schemeClr val="dk1"/>
                          </a:solidFill>
                          <a:effectLst/>
                          <a:latin typeface="Cambria" panose="02040503050406030204" pitchFamily="18" charset="0"/>
                          <a:ea typeface="Cambria" panose="02040503050406030204" pitchFamily="18" charset="0"/>
                          <a:cs typeface="+mn-cs"/>
                        </a:rPr>
                        <a:t>np.asarray</a:t>
                      </a:r>
                      <a:r>
                        <a:rPr lang="en-US" sz="1900" b="0" i="0" kern="1200" dirty="0">
                          <a:solidFill>
                            <a:schemeClr val="dk1"/>
                          </a:solidFill>
                          <a:effectLst/>
                          <a:latin typeface="Cambria" panose="02040503050406030204" pitchFamily="18" charset="0"/>
                          <a:ea typeface="Cambria" panose="02040503050406030204" pitchFamily="18" charset="0"/>
                          <a:cs typeface="+mn-cs"/>
                        </a:rPr>
                        <a:t>(x, </a:t>
                      </a:r>
                      <a:r>
                        <a:rPr lang="en-US" sz="1900" b="0" i="0" kern="1200" dirty="0" err="1">
                          <a:solidFill>
                            <a:schemeClr val="dk1"/>
                          </a:solidFill>
                          <a:effectLst/>
                          <a:latin typeface="Cambria" panose="02040503050406030204" pitchFamily="18" charset="0"/>
                          <a:ea typeface="Cambria" panose="02040503050406030204" pitchFamily="18" charset="0"/>
                          <a:cs typeface="+mn-cs"/>
                        </a:rPr>
                        <a:t>dtype</a:t>
                      </a:r>
                      <a:r>
                        <a:rPr lang="en-US" sz="1900" b="0" i="0" kern="1200" dirty="0">
                          <a:solidFill>
                            <a:schemeClr val="dk1"/>
                          </a:solidFill>
                          <a:effectLst/>
                          <a:latin typeface="Cambria" panose="02040503050406030204" pitchFamily="18" charset="0"/>
                          <a:ea typeface="Cambria" panose="02040503050406030204" pitchFamily="18" charset="0"/>
                          <a:cs typeface="+mn-cs"/>
                        </a:rPr>
                        <a:t> = float) ;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i="0" kern="1200" dirty="0">
                          <a:solidFill>
                            <a:schemeClr val="dk1"/>
                          </a:solidFill>
                          <a:effectLst/>
                          <a:latin typeface="Cambria" panose="02040503050406030204" pitchFamily="18" charset="0"/>
                          <a:ea typeface="Cambria" panose="02040503050406030204" pitchFamily="18" charset="0"/>
                          <a:cs typeface="+mn-cs"/>
                        </a:rPr>
                        <a:t>print (a)</a:t>
                      </a:r>
                      <a:endParaRPr lang="en-US" sz="1900" dirty="0">
                        <a:latin typeface="Cambria" panose="02040503050406030204" pitchFamily="18" charset="0"/>
                        <a:ea typeface="Cambria" panose="020405030504060302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a:latin typeface="Cambria" panose="02040503050406030204" pitchFamily="18" charset="0"/>
                          <a:ea typeface="Cambria" panose="02040503050406030204" pitchFamily="18" charset="0"/>
                        </a:rPr>
                        <a:t>Tạo choỗi thành mảng số thực</a:t>
                      </a:r>
                    </a:p>
                  </a:txBody>
                  <a:tcPr/>
                </a:tc>
                <a:extLst>
                  <a:ext uri="{0D108BD9-81ED-4DB2-BD59-A6C34878D82A}">
                    <a16:rowId xmlns:a16="http://schemas.microsoft.com/office/drawing/2014/main" val="398598752"/>
                  </a:ext>
                </a:extLst>
              </a:tr>
              <a:tr h="421807">
                <a:tc>
                  <a:txBody>
                    <a:bodyPr/>
                    <a:lstStyle/>
                    <a:p>
                      <a:pPr algn="ctr"/>
                      <a:r>
                        <a:rPr lang="en-US" sz="1900">
                          <a:latin typeface="Cambria" panose="02040503050406030204" pitchFamily="18" charset="0"/>
                          <a:ea typeface="Cambria" panose="02040503050406030204" pitchFamily="18" charset="0"/>
                        </a:rPr>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900" b="0" i="0" kern="1200">
                          <a:solidFill>
                            <a:schemeClr val="dk1"/>
                          </a:solidFill>
                          <a:effectLst/>
                          <a:latin typeface="Cambria" panose="02040503050406030204" pitchFamily="18" charset="0"/>
                          <a:ea typeface="Cambria" panose="02040503050406030204" pitchFamily="18" charset="0"/>
                          <a:cs typeface="+mn-cs"/>
                        </a:rPr>
                        <a:t>x = [(1,2,3),(4,5)]; a = np.asarray(x) </a:t>
                      </a:r>
                      <a:endParaRPr lang="en-US" sz="1900">
                        <a:latin typeface="Cambria" panose="02040503050406030204" pitchFamily="18" charset="0"/>
                        <a:ea typeface="Cambria" panose="020405030504060302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a:latin typeface="Cambria" panose="02040503050406030204" pitchFamily="18" charset="0"/>
                          <a:ea typeface="Cambria" panose="02040503050406030204" pitchFamily="18" charset="0"/>
                        </a:rPr>
                        <a:t>Tạo mảng từ list của tups</a:t>
                      </a:r>
                    </a:p>
                  </a:txBody>
                  <a:tcPr/>
                </a:tc>
                <a:extLst>
                  <a:ext uri="{0D108BD9-81ED-4DB2-BD59-A6C34878D82A}">
                    <a16:rowId xmlns:a16="http://schemas.microsoft.com/office/drawing/2014/main" val="3404904706"/>
                  </a:ext>
                </a:extLst>
              </a:tr>
              <a:tr h="370840">
                <a:tc>
                  <a:txBody>
                    <a:bodyPr/>
                    <a:lstStyle/>
                    <a:p>
                      <a:pPr algn="ctr"/>
                      <a:r>
                        <a:rPr lang="en-US" sz="1900" dirty="0">
                          <a:latin typeface="Cambria" panose="02040503050406030204" pitchFamily="18" charset="0"/>
                          <a:ea typeface="Cambria" panose="02040503050406030204" pitchFamily="18" charset="0"/>
                        </a:rPr>
                        <a:t>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i="0" kern="1200" dirty="0" err="1">
                          <a:solidFill>
                            <a:schemeClr val="dk1"/>
                          </a:solidFill>
                          <a:effectLst/>
                          <a:latin typeface="Cambria" panose="02040503050406030204" pitchFamily="18" charset="0"/>
                          <a:ea typeface="Cambria" panose="02040503050406030204" pitchFamily="18" charset="0"/>
                          <a:cs typeface="+mn-cs"/>
                        </a:rPr>
                        <a:t>numpy.arange</a:t>
                      </a:r>
                      <a:r>
                        <a:rPr lang="en-US" sz="1900" b="0" i="0" kern="1200" dirty="0">
                          <a:solidFill>
                            <a:schemeClr val="dk1"/>
                          </a:solidFill>
                          <a:effectLst/>
                          <a:latin typeface="Cambria" panose="02040503050406030204" pitchFamily="18" charset="0"/>
                          <a:ea typeface="Cambria" panose="02040503050406030204" pitchFamily="18" charset="0"/>
                          <a:cs typeface="+mn-cs"/>
                        </a:rPr>
                        <a:t>(</a:t>
                      </a:r>
                      <a:r>
                        <a:rPr lang="en-US" sz="1900" b="1" i="0" kern="1200" dirty="0">
                          <a:solidFill>
                            <a:schemeClr val="dk1"/>
                          </a:solidFill>
                          <a:effectLst/>
                          <a:latin typeface="Cambria" panose="02040503050406030204" pitchFamily="18" charset="0"/>
                          <a:ea typeface="Cambria" panose="02040503050406030204" pitchFamily="18" charset="0"/>
                          <a:cs typeface="+mn-cs"/>
                        </a:rPr>
                        <a:t>start</a:t>
                      </a:r>
                      <a:r>
                        <a:rPr lang="en-US" sz="1900" b="0" i="0" kern="1200" dirty="0">
                          <a:solidFill>
                            <a:schemeClr val="dk1"/>
                          </a:solidFill>
                          <a:effectLst/>
                          <a:latin typeface="Cambria" panose="02040503050406030204" pitchFamily="18" charset="0"/>
                          <a:ea typeface="Cambria" panose="02040503050406030204" pitchFamily="18" charset="0"/>
                          <a:cs typeface="+mn-cs"/>
                        </a:rPr>
                        <a:t>, </a:t>
                      </a:r>
                      <a:r>
                        <a:rPr lang="en-US" sz="1900" b="1" i="0" kern="1200" dirty="0">
                          <a:solidFill>
                            <a:schemeClr val="dk1"/>
                          </a:solidFill>
                          <a:effectLst/>
                          <a:latin typeface="Cambria" panose="02040503050406030204" pitchFamily="18" charset="0"/>
                          <a:ea typeface="Cambria" panose="02040503050406030204" pitchFamily="18" charset="0"/>
                          <a:cs typeface="+mn-cs"/>
                        </a:rPr>
                        <a:t>stop</a:t>
                      </a:r>
                      <a:r>
                        <a:rPr lang="en-US" sz="1900" b="0" i="0" kern="1200" dirty="0">
                          <a:solidFill>
                            <a:schemeClr val="dk1"/>
                          </a:solidFill>
                          <a:effectLst/>
                          <a:latin typeface="Cambria" panose="02040503050406030204" pitchFamily="18" charset="0"/>
                          <a:ea typeface="Cambria" panose="02040503050406030204" pitchFamily="18" charset="0"/>
                          <a:cs typeface="+mn-cs"/>
                        </a:rPr>
                        <a:t>, step, </a:t>
                      </a:r>
                      <a:r>
                        <a:rPr lang="en-US" sz="1900" b="0" i="0" kern="1200" dirty="0" err="1">
                          <a:solidFill>
                            <a:schemeClr val="dk1"/>
                          </a:solidFill>
                          <a:effectLst/>
                          <a:latin typeface="Cambria" panose="02040503050406030204" pitchFamily="18" charset="0"/>
                          <a:ea typeface="Cambria" panose="02040503050406030204" pitchFamily="18" charset="0"/>
                          <a:cs typeface="+mn-cs"/>
                        </a:rPr>
                        <a:t>dtype</a:t>
                      </a:r>
                      <a:r>
                        <a:rPr lang="en-US" sz="1900" b="0" i="0" kern="1200" dirty="0">
                          <a:solidFill>
                            <a:schemeClr val="dk1"/>
                          </a:solidFill>
                          <a:effectLst/>
                          <a:latin typeface="Cambria" panose="02040503050406030204" pitchFamily="18" charset="0"/>
                          <a:ea typeface="Cambria" panose="02040503050406030204" pitchFamily="18" charset="0"/>
                          <a:cs typeface="+mn-cs"/>
                        </a:rPr>
                        <a:t>)</a:t>
                      </a:r>
                      <a:endParaRPr lang="en-US" sz="1900" dirty="0">
                        <a:latin typeface="Cambria" panose="02040503050406030204" pitchFamily="18" charset="0"/>
                        <a:ea typeface="Cambria" panose="020405030504060302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dirty="0" err="1">
                          <a:latin typeface="Cambria" panose="02040503050406030204" pitchFamily="18" charset="0"/>
                          <a:ea typeface="Cambria" panose="02040503050406030204" pitchFamily="18" charset="0"/>
                        </a:rPr>
                        <a:t>Tạo</a:t>
                      </a:r>
                      <a:r>
                        <a:rPr lang="en-US" sz="1900" dirty="0">
                          <a:latin typeface="Cambria" panose="02040503050406030204" pitchFamily="18" charset="0"/>
                          <a:ea typeface="Cambria" panose="02040503050406030204" pitchFamily="18" charset="0"/>
                        </a:rPr>
                        <a:t> </a:t>
                      </a:r>
                      <a:r>
                        <a:rPr lang="en-US" sz="1900" dirty="0" err="1">
                          <a:latin typeface="Cambria" panose="02040503050406030204" pitchFamily="18" charset="0"/>
                          <a:ea typeface="Cambria" panose="02040503050406030204" pitchFamily="18" charset="0"/>
                        </a:rPr>
                        <a:t>mảng</a:t>
                      </a:r>
                      <a:r>
                        <a:rPr lang="en-US" sz="1900" dirty="0">
                          <a:latin typeface="Cambria" panose="02040503050406030204" pitchFamily="18" charset="0"/>
                          <a:ea typeface="Cambria" panose="02040503050406030204" pitchFamily="18" charset="0"/>
                        </a:rPr>
                        <a:t> </a:t>
                      </a:r>
                      <a:r>
                        <a:rPr lang="en-US" sz="1900" dirty="0" err="1">
                          <a:latin typeface="Cambria" panose="02040503050406030204" pitchFamily="18" charset="0"/>
                          <a:ea typeface="Cambria" panose="02040503050406030204" pitchFamily="18" charset="0"/>
                        </a:rPr>
                        <a:t>từ</a:t>
                      </a:r>
                      <a:r>
                        <a:rPr lang="en-US" sz="1900" dirty="0">
                          <a:latin typeface="Cambria" panose="02040503050406030204" pitchFamily="18" charset="0"/>
                          <a:ea typeface="Cambria" panose="02040503050406030204" pitchFamily="18" charset="0"/>
                        </a:rPr>
                        <a:t> </a:t>
                      </a:r>
                      <a:r>
                        <a:rPr lang="en-US" sz="1900" dirty="0" err="1">
                          <a:latin typeface="Cambria" panose="02040503050406030204" pitchFamily="18" charset="0"/>
                          <a:ea typeface="Cambria" panose="02040503050406030204" pitchFamily="18" charset="0"/>
                        </a:rPr>
                        <a:t>một</a:t>
                      </a:r>
                      <a:r>
                        <a:rPr lang="en-US" sz="1900" dirty="0">
                          <a:latin typeface="Cambria" panose="02040503050406030204" pitchFamily="18" charset="0"/>
                          <a:ea typeface="Cambria" panose="02040503050406030204" pitchFamily="18" charset="0"/>
                        </a:rPr>
                        <a:t> </a:t>
                      </a:r>
                      <a:r>
                        <a:rPr lang="en-US" sz="1900" dirty="0" err="1">
                          <a:latin typeface="Cambria" panose="02040503050406030204" pitchFamily="18" charset="0"/>
                          <a:ea typeface="Cambria" panose="02040503050406030204" pitchFamily="18" charset="0"/>
                        </a:rPr>
                        <a:t>khoảng</a:t>
                      </a:r>
                      <a:endParaRPr lang="en-US" sz="19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06910607"/>
                  </a:ext>
                </a:extLst>
              </a:tr>
            </a:tbl>
          </a:graphicData>
        </a:graphic>
      </p:graphicFrame>
    </p:spTree>
    <p:extLst>
      <p:ext uri="{BB962C8B-B14F-4D97-AF65-F5344CB8AC3E}">
        <p14:creationId xmlns:p14="http://schemas.microsoft.com/office/powerpoint/2010/main" val="26622119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NUMPY</a:t>
            </a:r>
          </a:p>
        </p:txBody>
      </p:sp>
      <p:sp>
        <p:nvSpPr>
          <p:cNvPr id="3" name="Rectangle 2"/>
          <p:cNvSpPr/>
          <p:nvPr/>
        </p:nvSpPr>
        <p:spPr>
          <a:xfrm>
            <a:off x="79513" y="620377"/>
            <a:ext cx="11887200" cy="477054"/>
          </a:xfrm>
          <a:prstGeom prst="rect">
            <a:avLst/>
          </a:prstGeom>
        </p:spPr>
        <p:txBody>
          <a:bodyPr wrap="square">
            <a:spAutoFit/>
          </a:bodyPr>
          <a:lstStyle/>
          <a:p>
            <a:r>
              <a:rPr lang="en-US" sz="2500" b="1" dirty="0" err="1">
                <a:solidFill>
                  <a:srgbClr val="FF0000"/>
                </a:solidFill>
                <a:latin typeface="Cambria" panose="02040503050406030204" pitchFamily="18" charset="0"/>
                <a:ea typeface="Cambria" panose="02040503050406030204" pitchFamily="18" charset="0"/>
              </a:rPr>
              <a:t>Các</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hàm</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thống</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kê</a:t>
            </a:r>
            <a:endParaRPr lang="en-US" sz="2500" dirty="0">
              <a:latin typeface="Cambria" panose="02040503050406030204" pitchFamily="18" charset="0"/>
              <a:ea typeface="Cambria" panose="02040503050406030204" pitchFamily="18" charset="0"/>
            </a:endParaRPr>
          </a:p>
        </p:txBody>
      </p:sp>
      <p:graphicFrame>
        <p:nvGraphicFramePr>
          <p:cNvPr id="11" name="Table 5">
            <a:extLst>
              <a:ext uri="{FF2B5EF4-FFF2-40B4-BE49-F238E27FC236}">
                <a16:creationId xmlns:a16="http://schemas.microsoft.com/office/drawing/2014/main" id="{9380F5BF-A330-F4A3-7518-0BC3ED7E05D1}"/>
              </a:ext>
            </a:extLst>
          </p:cNvPr>
          <p:cNvGraphicFramePr>
            <a:graphicFrameLocks noGrp="1"/>
          </p:cNvGraphicFramePr>
          <p:nvPr>
            <p:extLst>
              <p:ext uri="{D42A27DB-BD31-4B8C-83A1-F6EECF244321}">
                <p14:modId xmlns:p14="http://schemas.microsoft.com/office/powerpoint/2010/main" val="1493806903"/>
              </p:ext>
            </p:extLst>
          </p:nvPr>
        </p:nvGraphicFramePr>
        <p:xfrm>
          <a:off x="302045" y="1097431"/>
          <a:ext cx="11664667" cy="5242560"/>
        </p:xfrm>
        <a:graphic>
          <a:graphicData uri="http://schemas.openxmlformats.org/drawingml/2006/table">
            <a:tbl>
              <a:tblPr firstRow="1" bandRow="1">
                <a:tableStyleId>{5C22544A-7EE6-4342-B048-85BDC9FD1C3A}</a:tableStyleId>
              </a:tblPr>
              <a:tblGrid>
                <a:gridCol w="1060424">
                  <a:extLst>
                    <a:ext uri="{9D8B030D-6E8A-4147-A177-3AD203B41FA5}">
                      <a16:colId xmlns:a16="http://schemas.microsoft.com/office/drawing/2014/main" val="3477611606"/>
                    </a:ext>
                  </a:extLst>
                </a:gridCol>
                <a:gridCol w="5408164">
                  <a:extLst>
                    <a:ext uri="{9D8B030D-6E8A-4147-A177-3AD203B41FA5}">
                      <a16:colId xmlns:a16="http://schemas.microsoft.com/office/drawing/2014/main" val="2449429522"/>
                    </a:ext>
                  </a:extLst>
                </a:gridCol>
                <a:gridCol w="5196079">
                  <a:extLst>
                    <a:ext uri="{9D8B030D-6E8A-4147-A177-3AD203B41FA5}">
                      <a16:colId xmlns:a16="http://schemas.microsoft.com/office/drawing/2014/main" val="169192170"/>
                    </a:ext>
                  </a:extLst>
                </a:gridCol>
              </a:tblGrid>
              <a:tr h="370840">
                <a:tc>
                  <a:txBody>
                    <a:bodyPr/>
                    <a:lstStyle/>
                    <a:p>
                      <a:pPr algn="ctr"/>
                      <a:r>
                        <a:rPr lang="en-US" sz="1900" b="1">
                          <a:latin typeface="Cambria" panose="02040503050406030204" pitchFamily="18" charset="0"/>
                          <a:ea typeface="Cambria" panose="02040503050406030204" pitchFamily="18" charset="0"/>
                        </a:rPr>
                        <a:t>TT</a:t>
                      </a:r>
                    </a:p>
                  </a:txBody>
                  <a:tcPr/>
                </a:tc>
                <a:tc>
                  <a:txBody>
                    <a:bodyPr/>
                    <a:lstStyle/>
                    <a:p>
                      <a:pPr algn="ctr"/>
                      <a:r>
                        <a:rPr lang="en-US" sz="1900" b="1">
                          <a:latin typeface="Cambria" panose="02040503050406030204" pitchFamily="18" charset="0"/>
                          <a:ea typeface="Cambria" panose="02040503050406030204" pitchFamily="18" charset="0"/>
                        </a:rPr>
                        <a:t>Hàm</a:t>
                      </a:r>
                    </a:p>
                  </a:txBody>
                  <a:tcPr/>
                </a:tc>
                <a:tc>
                  <a:txBody>
                    <a:bodyPr/>
                    <a:lstStyle/>
                    <a:p>
                      <a:pPr algn="ctr"/>
                      <a:r>
                        <a:rPr lang="en-US" sz="1900" b="1">
                          <a:latin typeface="Cambria" panose="02040503050406030204" pitchFamily="18" charset="0"/>
                          <a:ea typeface="Cambria" panose="02040503050406030204" pitchFamily="18" charset="0"/>
                        </a:rPr>
                        <a:t>Ý nghĩa</a:t>
                      </a:r>
                    </a:p>
                  </a:txBody>
                  <a:tcPr/>
                </a:tc>
                <a:extLst>
                  <a:ext uri="{0D108BD9-81ED-4DB2-BD59-A6C34878D82A}">
                    <a16:rowId xmlns:a16="http://schemas.microsoft.com/office/drawing/2014/main" val="1894653875"/>
                  </a:ext>
                </a:extLst>
              </a:tr>
              <a:tr h="370840">
                <a:tc>
                  <a:txBody>
                    <a:bodyPr/>
                    <a:lstStyle/>
                    <a:p>
                      <a:pPr algn="ctr"/>
                      <a:r>
                        <a:rPr lang="en-US" sz="1900">
                          <a:latin typeface="Cambria" panose="02040503050406030204" pitchFamily="18" charset="0"/>
                          <a:ea typeface="Cambria" panose="02040503050406030204" pitchFamily="18" charset="0"/>
                        </a:rPr>
                        <a:t>1</a:t>
                      </a:r>
                    </a:p>
                  </a:txBody>
                  <a:tcPr/>
                </a:tc>
                <a:tc>
                  <a:txBody>
                    <a:bodyPr/>
                    <a:lstStyle/>
                    <a:p>
                      <a:r>
                        <a:rPr lang="en-US" sz="1900">
                          <a:latin typeface="Cambria" panose="02040503050406030204" pitchFamily="18" charset="0"/>
                          <a:ea typeface="Cambria" panose="02040503050406030204" pitchFamily="18" charset="0"/>
                        </a:rPr>
                        <a:t>Hàm lượng giác: sin(), cos(), tan(),…</a:t>
                      </a:r>
                    </a:p>
                  </a:txBody>
                  <a:tcPr/>
                </a:tc>
                <a:tc>
                  <a:txBody>
                    <a:bodyPr/>
                    <a:lstStyle/>
                    <a:p>
                      <a:r>
                        <a:rPr lang="en-US" sz="1900">
                          <a:latin typeface="Cambria" panose="02040503050406030204" pitchFamily="18" charset="0"/>
                          <a:ea typeface="Cambria" panose="02040503050406030204" pitchFamily="18" charset="0"/>
                        </a:rPr>
                        <a:t>Tính giá trị theo radian</a:t>
                      </a:r>
                    </a:p>
                  </a:txBody>
                  <a:tcPr/>
                </a:tc>
                <a:extLst>
                  <a:ext uri="{0D108BD9-81ED-4DB2-BD59-A6C34878D82A}">
                    <a16:rowId xmlns:a16="http://schemas.microsoft.com/office/drawing/2014/main" val="3399602260"/>
                  </a:ext>
                </a:extLst>
              </a:tr>
              <a:tr h="370840">
                <a:tc>
                  <a:txBody>
                    <a:bodyPr/>
                    <a:lstStyle/>
                    <a:p>
                      <a:pPr algn="ctr"/>
                      <a:r>
                        <a:rPr lang="en-US" sz="1900">
                          <a:latin typeface="Cambria" panose="02040503050406030204" pitchFamily="18" charset="0"/>
                          <a:ea typeface="Cambria" panose="02040503050406030204" pitchFamily="18" charset="0"/>
                        </a:rPr>
                        <a:t>2</a:t>
                      </a:r>
                    </a:p>
                  </a:txBody>
                  <a:tcPr/>
                </a:tc>
                <a:tc>
                  <a:txBody>
                    <a:bodyPr/>
                    <a:lstStyle/>
                    <a:p>
                      <a:r>
                        <a:rPr lang="en-US" sz="1900" dirty="0">
                          <a:latin typeface="Cambria" panose="02040503050406030204" pitchFamily="18" charset="0"/>
                          <a:ea typeface="Cambria" panose="02040503050406030204" pitchFamily="18" charset="0"/>
                        </a:rPr>
                        <a:t>around(a)</a:t>
                      </a:r>
                    </a:p>
                  </a:txBody>
                  <a:tcPr/>
                </a:tc>
                <a:tc>
                  <a:txBody>
                    <a:bodyPr/>
                    <a:lstStyle/>
                    <a:p>
                      <a:r>
                        <a:rPr lang="en-US" sz="1900">
                          <a:latin typeface="Cambria" panose="02040503050406030204" pitchFamily="18" charset="0"/>
                          <a:ea typeface="Cambria" panose="02040503050406030204" pitchFamily="18" charset="0"/>
                        </a:rPr>
                        <a:t>Làm tròn a</a:t>
                      </a:r>
                    </a:p>
                  </a:txBody>
                  <a:tcPr/>
                </a:tc>
                <a:extLst>
                  <a:ext uri="{0D108BD9-81ED-4DB2-BD59-A6C34878D82A}">
                    <a16:rowId xmlns:a16="http://schemas.microsoft.com/office/drawing/2014/main" val="3458899390"/>
                  </a:ext>
                </a:extLst>
              </a:tr>
              <a:tr h="370840">
                <a:tc>
                  <a:txBody>
                    <a:bodyPr/>
                    <a:lstStyle/>
                    <a:p>
                      <a:pPr algn="ctr"/>
                      <a:r>
                        <a:rPr lang="en-US" sz="1900">
                          <a:latin typeface="Cambria" panose="02040503050406030204" pitchFamily="18" charset="0"/>
                          <a:ea typeface="Cambria" panose="02040503050406030204" pitchFamily="18" charset="0"/>
                        </a:rPr>
                        <a:t>3</a:t>
                      </a:r>
                    </a:p>
                  </a:txBody>
                  <a:tcPr/>
                </a:tc>
                <a:tc>
                  <a:txBody>
                    <a:bodyPr/>
                    <a:lstStyle/>
                    <a:p>
                      <a:r>
                        <a:rPr lang="en-US" sz="1900" dirty="0">
                          <a:latin typeface="Cambria" panose="02040503050406030204" pitchFamily="18" charset="0"/>
                          <a:ea typeface="Cambria" panose="02040503050406030204" pitchFamily="18" charset="0"/>
                        </a:rPr>
                        <a:t>floor(a)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a:latin typeface="Cambria" panose="02040503050406030204" pitchFamily="18" charset="0"/>
                          <a:ea typeface="Cambria" panose="02040503050406030204" pitchFamily="18" charset="0"/>
                        </a:rPr>
                        <a:t>Làm tròn xuống số nguyên dưới của a</a:t>
                      </a:r>
                    </a:p>
                  </a:txBody>
                  <a:tcPr/>
                </a:tc>
                <a:extLst>
                  <a:ext uri="{0D108BD9-81ED-4DB2-BD59-A6C34878D82A}">
                    <a16:rowId xmlns:a16="http://schemas.microsoft.com/office/drawing/2014/main" val="3890216569"/>
                  </a:ext>
                </a:extLst>
              </a:tr>
              <a:tr h="121920">
                <a:tc>
                  <a:txBody>
                    <a:bodyPr/>
                    <a:lstStyle/>
                    <a:p>
                      <a:pPr algn="ctr"/>
                      <a:r>
                        <a:rPr lang="en-US" sz="1900">
                          <a:latin typeface="Cambria" panose="02040503050406030204" pitchFamily="18" charset="0"/>
                          <a:ea typeface="Cambria" panose="02040503050406030204" pitchFamily="18" charset="0"/>
                        </a:rPr>
                        <a:t>4</a:t>
                      </a:r>
                    </a:p>
                  </a:txBody>
                  <a:tcPr/>
                </a:tc>
                <a:tc>
                  <a:txBody>
                    <a:bodyPr/>
                    <a:lstStyle/>
                    <a:p>
                      <a:r>
                        <a:rPr lang="en-US" sz="1900">
                          <a:latin typeface="Cambria" panose="02040503050406030204" pitchFamily="18" charset="0"/>
                          <a:ea typeface="Cambria" panose="02040503050406030204" pitchFamily="18" charset="0"/>
                        </a:rPr>
                        <a:t>ceil(a)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a:latin typeface="Cambria" panose="02040503050406030204" pitchFamily="18" charset="0"/>
                          <a:ea typeface="Cambria" panose="02040503050406030204" pitchFamily="18" charset="0"/>
                        </a:rPr>
                        <a:t>Làm tròn lên số nguyên trên của a</a:t>
                      </a:r>
                    </a:p>
                  </a:txBody>
                  <a:tcPr/>
                </a:tc>
                <a:extLst>
                  <a:ext uri="{0D108BD9-81ED-4DB2-BD59-A6C34878D82A}">
                    <a16:rowId xmlns:a16="http://schemas.microsoft.com/office/drawing/2014/main" val="4162568275"/>
                  </a:ext>
                </a:extLst>
              </a:tr>
              <a:tr h="370840">
                <a:tc>
                  <a:txBody>
                    <a:bodyPr/>
                    <a:lstStyle/>
                    <a:p>
                      <a:pPr algn="ctr"/>
                      <a:r>
                        <a:rPr lang="en-US" sz="1900">
                          <a:latin typeface="Cambria" panose="02040503050406030204" pitchFamily="18" charset="0"/>
                          <a:ea typeface="Cambria" panose="02040503050406030204" pitchFamily="18" charset="0"/>
                        </a:rPr>
                        <a:t>5</a:t>
                      </a:r>
                    </a:p>
                  </a:txBody>
                  <a:tcPr/>
                </a:tc>
                <a:tc>
                  <a:txBody>
                    <a:bodyPr/>
                    <a:lstStyle/>
                    <a:p>
                      <a:r>
                        <a:rPr lang="en-US" sz="1900">
                          <a:latin typeface="Cambria" panose="02040503050406030204" pitchFamily="18" charset="0"/>
                          <a:ea typeface="Cambria" panose="02040503050406030204" pitchFamily="18" charset="0"/>
                        </a:rPr>
                        <a:t>mod(a,b)</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a:latin typeface="Cambria" panose="02040503050406030204" pitchFamily="18" charset="0"/>
                          <a:ea typeface="Cambria" panose="02040503050406030204" pitchFamily="18" charset="0"/>
                        </a:rPr>
                        <a:t>Lấy phần dư của phép chia</a:t>
                      </a:r>
                    </a:p>
                  </a:txBody>
                  <a:tcPr/>
                </a:tc>
                <a:extLst>
                  <a:ext uri="{0D108BD9-81ED-4DB2-BD59-A6C34878D82A}">
                    <a16:rowId xmlns:a16="http://schemas.microsoft.com/office/drawing/2014/main" val="1169728990"/>
                  </a:ext>
                </a:extLst>
              </a:tr>
              <a:tr h="370840">
                <a:tc>
                  <a:txBody>
                    <a:bodyPr/>
                    <a:lstStyle/>
                    <a:p>
                      <a:pPr algn="ctr"/>
                      <a:r>
                        <a:rPr lang="en-US" sz="1900">
                          <a:latin typeface="Cambria" panose="02040503050406030204" pitchFamily="18" charset="0"/>
                          <a:ea typeface="Cambria" panose="02040503050406030204" pitchFamily="18" charset="0"/>
                        </a:rPr>
                        <a:t>6</a:t>
                      </a:r>
                    </a:p>
                  </a:txBody>
                  <a:tcPr/>
                </a:tc>
                <a:tc>
                  <a:txBody>
                    <a:bodyPr/>
                    <a:lstStyle/>
                    <a:p>
                      <a:r>
                        <a:rPr lang="en-US" sz="1900">
                          <a:latin typeface="Cambria" panose="02040503050406030204" pitchFamily="18" charset="0"/>
                          <a:ea typeface="Cambria" panose="02040503050406030204" pitchFamily="18" charset="0"/>
                        </a:rPr>
                        <a:t>real(a), imag(a)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a:latin typeface="Cambria" panose="02040503050406030204" pitchFamily="18" charset="0"/>
                          <a:ea typeface="Cambria" panose="02040503050406030204" pitchFamily="18" charset="0"/>
                        </a:rPr>
                        <a:t>Lấy phần thực, ảo của số phức</a:t>
                      </a:r>
                    </a:p>
                  </a:txBody>
                  <a:tcPr/>
                </a:tc>
                <a:extLst>
                  <a:ext uri="{0D108BD9-81ED-4DB2-BD59-A6C34878D82A}">
                    <a16:rowId xmlns:a16="http://schemas.microsoft.com/office/drawing/2014/main" val="1203382447"/>
                  </a:ext>
                </a:extLst>
              </a:tr>
              <a:tr h="370840">
                <a:tc>
                  <a:txBody>
                    <a:bodyPr/>
                    <a:lstStyle/>
                    <a:p>
                      <a:pPr algn="ctr"/>
                      <a:r>
                        <a:rPr lang="en-US" sz="1900">
                          <a:latin typeface="Cambria" panose="02040503050406030204" pitchFamily="18" charset="0"/>
                          <a:ea typeface="Cambria" panose="02040503050406030204" pitchFamily="18" charset="0"/>
                        </a:rPr>
                        <a:t>7</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i="0" kern="1200" dirty="0" err="1">
                          <a:solidFill>
                            <a:schemeClr val="dk1"/>
                          </a:solidFill>
                          <a:effectLst/>
                          <a:latin typeface="Cambria" panose="02040503050406030204" pitchFamily="18" charset="0"/>
                          <a:ea typeface="Cambria" panose="02040503050406030204" pitchFamily="18" charset="0"/>
                          <a:cs typeface="+mn-cs"/>
                        </a:rPr>
                        <a:t>amin</a:t>
                      </a:r>
                      <a:r>
                        <a:rPr lang="en-US" sz="1900" b="0" i="0" kern="1200" dirty="0">
                          <a:solidFill>
                            <a:schemeClr val="dk1"/>
                          </a:solidFill>
                          <a:effectLst/>
                          <a:latin typeface="Cambria" panose="02040503050406030204" pitchFamily="18" charset="0"/>
                          <a:ea typeface="Cambria" panose="02040503050406030204" pitchFamily="18" charset="0"/>
                          <a:cs typeface="+mn-cs"/>
                        </a:rPr>
                        <a:t>() </a:t>
                      </a:r>
                      <a:r>
                        <a:rPr lang="en-US" sz="1900" b="0" i="0" kern="1200" dirty="0" err="1">
                          <a:solidFill>
                            <a:schemeClr val="dk1"/>
                          </a:solidFill>
                          <a:effectLst/>
                          <a:latin typeface="Cambria" panose="02040503050406030204" pitchFamily="18" charset="0"/>
                          <a:ea typeface="Cambria" panose="02040503050406030204" pitchFamily="18" charset="0"/>
                          <a:cs typeface="+mn-cs"/>
                        </a:rPr>
                        <a:t>và</a:t>
                      </a:r>
                      <a:r>
                        <a:rPr lang="en-US" sz="1900" b="0" i="0" kern="1200" dirty="0">
                          <a:solidFill>
                            <a:schemeClr val="dk1"/>
                          </a:solidFill>
                          <a:effectLst/>
                          <a:latin typeface="Cambria" panose="02040503050406030204" pitchFamily="18" charset="0"/>
                          <a:ea typeface="Cambria" panose="02040503050406030204" pitchFamily="18" charset="0"/>
                          <a:cs typeface="+mn-cs"/>
                        </a:rPr>
                        <a:t> </a:t>
                      </a:r>
                      <a:r>
                        <a:rPr lang="en-US" sz="1900" b="0" i="0" kern="1200" dirty="0" err="1">
                          <a:solidFill>
                            <a:schemeClr val="dk1"/>
                          </a:solidFill>
                          <a:effectLst/>
                          <a:latin typeface="Cambria" panose="02040503050406030204" pitchFamily="18" charset="0"/>
                          <a:ea typeface="Cambria" panose="02040503050406030204" pitchFamily="18" charset="0"/>
                          <a:cs typeface="+mn-cs"/>
                        </a:rPr>
                        <a:t>amax</a:t>
                      </a:r>
                      <a:r>
                        <a:rPr lang="en-US" sz="1900" b="0" i="0" kern="1200" dirty="0">
                          <a:solidFill>
                            <a:schemeClr val="dk1"/>
                          </a:solidFill>
                          <a:effectLst/>
                          <a:latin typeface="Cambria" panose="02040503050406030204" pitchFamily="18" charset="0"/>
                          <a:ea typeface="Cambria" panose="02040503050406030204" pitchFamily="18" charset="0"/>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dirty="0" err="1">
                          <a:latin typeface="Cambria" panose="02040503050406030204" pitchFamily="18" charset="0"/>
                          <a:ea typeface="Cambria" panose="02040503050406030204" pitchFamily="18" charset="0"/>
                        </a:rPr>
                        <a:t>Lấy</a:t>
                      </a:r>
                      <a:r>
                        <a:rPr lang="en-US" sz="1900" dirty="0">
                          <a:latin typeface="Cambria" panose="02040503050406030204" pitchFamily="18" charset="0"/>
                          <a:ea typeface="Cambria" panose="02040503050406030204" pitchFamily="18" charset="0"/>
                        </a:rPr>
                        <a:t> </a:t>
                      </a:r>
                      <a:r>
                        <a:rPr lang="en-US" sz="1900" dirty="0" err="1">
                          <a:latin typeface="Cambria" panose="02040503050406030204" pitchFamily="18" charset="0"/>
                          <a:ea typeface="Cambria" panose="02040503050406030204" pitchFamily="18" charset="0"/>
                        </a:rPr>
                        <a:t>giá</a:t>
                      </a:r>
                      <a:r>
                        <a:rPr lang="en-US" sz="1900" dirty="0">
                          <a:latin typeface="Cambria" panose="02040503050406030204" pitchFamily="18" charset="0"/>
                          <a:ea typeface="Cambria" panose="02040503050406030204" pitchFamily="18" charset="0"/>
                        </a:rPr>
                        <a:t> </a:t>
                      </a:r>
                      <a:r>
                        <a:rPr lang="en-US" sz="1900" dirty="0" err="1">
                          <a:latin typeface="Cambria" panose="02040503050406030204" pitchFamily="18" charset="0"/>
                          <a:ea typeface="Cambria" panose="02040503050406030204" pitchFamily="18" charset="0"/>
                        </a:rPr>
                        <a:t>trị</a:t>
                      </a:r>
                      <a:r>
                        <a:rPr lang="en-US" sz="1900" dirty="0">
                          <a:latin typeface="Cambria" panose="02040503050406030204" pitchFamily="18" charset="0"/>
                          <a:ea typeface="Cambria" panose="02040503050406030204" pitchFamily="18" charset="0"/>
                        </a:rPr>
                        <a:t> max, min </a:t>
                      </a:r>
                      <a:r>
                        <a:rPr lang="en-US" sz="1900" dirty="0" err="1">
                          <a:latin typeface="Cambria" panose="02040503050406030204" pitchFamily="18" charset="0"/>
                          <a:ea typeface="Cambria" panose="02040503050406030204" pitchFamily="18" charset="0"/>
                        </a:rPr>
                        <a:t>của</a:t>
                      </a:r>
                      <a:r>
                        <a:rPr lang="en-US" sz="1900" dirty="0">
                          <a:latin typeface="Cambria" panose="02040503050406030204" pitchFamily="18" charset="0"/>
                          <a:ea typeface="Cambria" panose="02040503050406030204" pitchFamily="18" charset="0"/>
                        </a:rPr>
                        <a:t> </a:t>
                      </a:r>
                      <a:r>
                        <a:rPr lang="en-US" sz="1900" dirty="0" err="1">
                          <a:latin typeface="Cambria" panose="02040503050406030204" pitchFamily="18" charset="0"/>
                          <a:ea typeface="Cambria" panose="02040503050406030204" pitchFamily="18" charset="0"/>
                        </a:rPr>
                        <a:t>mảng</a:t>
                      </a:r>
                      <a:endParaRPr lang="en-US" sz="19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61258834"/>
                  </a:ext>
                </a:extLst>
              </a:tr>
              <a:tr h="370840">
                <a:tc>
                  <a:txBody>
                    <a:bodyPr/>
                    <a:lstStyle/>
                    <a:p>
                      <a:pPr algn="ctr"/>
                      <a:r>
                        <a:rPr lang="en-US" sz="1900">
                          <a:latin typeface="Cambria" panose="02040503050406030204" pitchFamily="18" charset="0"/>
                          <a:ea typeface="Cambria" panose="02040503050406030204" pitchFamily="18" charset="0"/>
                        </a:rPr>
                        <a:t>8</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i="0" kern="1200">
                          <a:solidFill>
                            <a:schemeClr val="dk1"/>
                          </a:solidFill>
                          <a:effectLst/>
                          <a:latin typeface="Cambria" panose="02040503050406030204" pitchFamily="18" charset="0"/>
                          <a:ea typeface="Cambria" panose="02040503050406030204" pitchFamily="18" charset="0"/>
                          <a:cs typeface="+mn-cs"/>
                        </a:rPr>
                        <a:t>median()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a:latin typeface="Cambria" panose="02040503050406030204" pitchFamily="18" charset="0"/>
                          <a:ea typeface="Cambria" panose="02040503050406030204" pitchFamily="18" charset="0"/>
                        </a:rPr>
                        <a:t>Lấy </a:t>
                      </a:r>
                      <a:r>
                        <a:rPr lang="en-US" sz="1900" b="0" i="0" kern="1200">
                          <a:solidFill>
                            <a:schemeClr val="dk1"/>
                          </a:solidFill>
                          <a:effectLst/>
                          <a:latin typeface="Cambria" panose="02040503050406030204" pitchFamily="18" charset="0"/>
                          <a:ea typeface="Cambria" panose="02040503050406030204" pitchFamily="18" charset="0"/>
                          <a:cs typeface="+mn-cs"/>
                        </a:rPr>
                        <a:t>Giá trị mà tại đó tách mẫu dữ liệu thành 2 nửa</a:t>
                      </a:r>
                      <a:endParaRPr lang="en-US" sz="190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611563910"/>
                  </a:ext>
                </a:extLst>
              </a:tr>
              <a:tr h="370840">
                <a:tc>
                  <a:txBody>
                    <a:bodyPr/>
                    <a:lstStyle/>
                    <a:p>
                      <a:pPr algn="ctr"/>
                      <a:r>
                        <a:rPr lang="en-US" sz="1900">
                          <a:latin typeface="Cambria" panose="02040503050406030204" pitchFamily="18" charset="0"/>
                          <a:ea typeface="Cambria" panose="02040503050406030204" pitchFamily="18" charset="0"/>
                        </a:rPr>
                        <a:t>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i="0" kern="1200" dirty="0">
                          <a:solidFill>
                            <a:schemeClr val="dk1"/>
                          </a:solidFill>
                          <a:effectLst/>
                          <a:latin typeface="Cambria" panose="02040503050406030204" pitchFamily="18" charset="0"/>
                          <a:ea typeface="Cambria" panose="02040503050406030204" pitchFamily="18" charset="0"/>
                          <a:cs typeface="+mn-cs"/>
                        </a:rPr>
                        <a:t>mean()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a:latin typeface="Cambria" panose="02040503050406030204" pitchFamily="18" charset="0"/>
                          <a:ea typeface="Cambria" panose="02040503050406030204" pitchFamily="18" charset="0"/>
                        </a:rPr>
                        <a:t>Tính trung bình cộng</a:t>
                      </a:r>
                    </a:p>
                  </a:txBody>
                  <a:tcPr/>
                </a:tc>
                <a:extLst>
                  <a:ext uri="{0D108BD9-81ED-4DB2-BD59-A6C34878D82A}">
                    <a16:rowId xmlns:a16="http://schemas.microsoft.com/office/drawing/2014/main" val="2891639967"/>
                  </a:ext>
                </a:extLst>
              </a:tr>
              <a:tr h="370840">
                <a:tc>
                  <a:txBody>
                    <a:bodyPr/>
                    <a:lstStyle/>
                    <a:p>
                      <a:pPr algn="ctr"/>
                      <a:r>
                        <a:rPr lang="en-US" sz="1900">
                          <a:latin typeface="Cambria" panose="02040503050406030204" pitchFamily="18" charset="0"/>
                          <a:ea typeface="Cambria" panose="02040503050406030204" pitchFamily="18" charset="0"/>
                        </a:rPr>
                        <a:t>10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i="0" kern="1200">
                          <a:solidFill>
                            <a:schemeClr val="dk1"/>
                          </a:solidFill>
                          <a:effectLst/>
                          <a:latin typeface="Cambria" panose="02040503050406030204" pitchFamily="18" charset="0"/>
                          <a:ea typeface="Cambria" panose="02040503050406030204" pitchFamily="18" charset="0"/>
                          <a:cs typeface="+mn-cs"/>
                        </a:rPr>
                        <a:t>average()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a:latin typeface="Cambria" panose="02040503050406030204" pitchFamily="18" charset="0"/>
                          <a:ea typeface="Cambria" panose="02040503050406030204" pitchFamily="18" charset="0"/>
                        </a:rPr>
                        <a:t>Tính trung bình có trọng số</a:t>
                      </a:r>
                    </a:p>
                  </a:txBody>
                  <a:tcPr/>
                </a:tc>
                <a:extLst>
                  <a:ext uri="{0D108BD9-81ED-4DB2-BD59-A6C34878D82A}">
                    <a16:rowId xmlns:a16="http://schemas.microsoft.com/office/drawing/2014/main" val="2765048335"/>
                  </a:ext>
                </a:extLst>
              </a:tr>
              <a:tr h="370840">
                <a:tc>
                  <a:txBody>
                    <a:bodyPr/>
                    <a:lstStyle/>
                    <a:p>
                      <a:pPr algn="ctr"/>
                      <a:r>
                        <a:rPr lang="en-US" sz="1900">
                          <a:latin typeface="Cambria" panose="02040503050406030204" pitchFamily="18" charset="0"/>
                          <a:ea typeface="Cambria" panose="02040503050406030204" pitchFamily="18" charset="0"/>
                        </a:rPr>
                        <a:t>11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i="0" kern="1200" dirty="0" err="1">
                          <a:solidFill>
                            <a:schemeClr val="dk1"/>
                          </a:solidFill>
                          <a:effectLst/>
                          <a:latin typeface="Cambria" panose="02040503050406030204" pitchFamily="18" charset="0"/>
                          <a:ea typeface="Cambria" panose="02040503050406030204" pitchFamily="18" charset="0"/>
                          <a:cs typeface="+mn-cs"/>
                        </a:rPr>
                        <a:t>std</a:t>
                      </a:r>
                      <a:r>
                        <a:rPr lang="en-US" sz="1900" b="0" i="0" kern="1200" dirty="0">
                          <a:solidFill>
                            <a:schemeClr val="dk1"/>
                          </a:solidFill>
                          <a:effectLst/>
                          <a:latin typeface="Cambria" panose="02040503050406030204" pitchFamily="18" charset="0"/>
                          <a:ea typeface="Cambria" panose="02040503050406030204" pitchFamily="18" charset="0"/>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a:latin typeface="Cambria" panose="02040503050406030204" pitchFamily="18" charset="0"/>
                          <a:ea typeface="Cambria" panose="02040503050406030204" pitchFamily="18" charset="0"/>
                        </a:rPr>
                        <a:t>Tính độ lệch chuẩn</a:t>
                      </a:r>
                    </a:p>
                  </a:txBody>
                  <a:tcPr/>
                </a:tc>
                <a:extLst>
                  <a:ext uri="{0D108BD9-81ED-4DB2-BD59-A6C34878D82A}">
                    <a16:rowId xmlns:a16="http://schemas.microsoft.com/office/drawing/2014/main" val="3953306674"/>
                  </a:ext>
                </a:extLst>
              </a:tr>
              <a:tr h="370840">
                <a:tc>
                  <a:txBody>
                    <a:bodyPr/>
                    <a:lstStyle/>
                    <a:p>
                      <a:pPr algn="ctr"/>
                      <a:r>
                        <a:rPr lang="en-US" sz="1900">
                          <a:latin typeface="Cambria" panose="02040503050406030204" pitchFamily="18" charset="0"/>
                          <a:ea typeface="Cambria" panose="02040503050406030204" pitchFamily="18" charset="0"/>
                        </a:rPr>
                        <a:t>12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b="0" i="0" kern="1200" dirty="0" err="1">
                          <a:solidFill>
                            <a:schemeClr val="dk1"/>
                          </a:solidFill>
                          <a:effectLst/>
                          <a:latin typeface="Cambria" panose="02040503050406030204" pitchFamily="18" charset="0"/>
                          <a:ea typeface="Cambria" panose="02040503050406030204" pitchFamily="18" charset="0"/>
                          <a:cs typeface="+mn-cs"/>
                        </a:rPr>
                        <a:t>var</a:t>
                      </a:r>
                      <a:r>
                        <a:rPr lang="en-US" sz="1900" b="0" i="0" kern="1200" dirty="0">
                          <a:solidFill>
                            <a:schemeClr val="dk1"/>
                          </a:solidFill>
                          <a:effectLst/>
                          <a:latin typeface="Cambria" panose="02040503050406030204" pitchFamily="18" charset="0"/>
                          <a:ea typeface="Cambria" panose="02040503050406030204" pitchFamily="18" charset="0"/>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900" dirty="0" err="1">
                          <a:latin typeface="Cambria" panose="02040503050406030204" pitchFamily="18" charset="0"/>
                          <a:ea typeface="Cambria" panose="02040503050406030204" pitchFamily="18" charset="0"/>
                        </a:rPr>
                        <a:t>Tinh</a:t>
                      </a:r>
                      <a:r>
                        <a:rPr lang="en-US" sz="1900" dirty="0">
                          <a:latin typeface="Cambria" panose="02040503050406030204" pitchFamily="18" charset="0"/>
                          <a:ea typeface="Cambria" panose="02040503050406030204" pitchFamily="18" charset="0"/>
                        </a:rPr>
                        <a:t> </a:t>
                      </a:r>
                      <a:r>
                        <a:rPr lang="en-US" sz="1900" dirty="0" err="1">
                          <a:latin typeface="Cambria" panose="02040503050406030204" pitchFamily="18" charset="0"/>
                          <a:ea typeface="Cambria" panose="02040503050406030204" pitchFamily="18" charset="0"/>
                        </a:rPr>
                        <a:t>phương</a:t>
                      </a:r>
                      <a:r>
                        <a:rPr lang="en-US" sz="1900" dirty="0">
                          <a:latin typeface="Cambria" panose="02040503050406030204" pitchFamily="18" charset="0"/>
                          <a:ea typeface="Cambria" panose="02040503050406030204" pitchFamily="18" charset="0"/>
                        </a:rPr>
                        <a:t> </a:t>
                      </a:r>
                      <a:r>
                        <a:rPr lang="en-US" sz="1900" dirty="0" err="1">
                          <a:latin typeface="Cambria" panose="02040503050406030204" pitchFamily="18" charset="0"/>
                          <a:ea typeface="Cambria" panose="02040503050406030204" pitchFamily="18" charset="0"/>
                        </a:rPr>
                        <a:t>sai</a:t>
                      </a:r>
                      <a:endParaRPr lang="en-US" sz="1900"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887385835"/>
                  </a:ext>
                </a:extLst>
              </a:tr>
            </a:tbl>
          </a:graphicData>
        </a:graphic>
      </p:graphicFrame>
    </p:spTree>
    <p:extLst>
      <p:ext uri="{BB962C8B-B14F-4D97-AF65-F5344CB8AC3E}">
        <p14:creationId xmlns:p14="http://schemas.microsoft.com/office/powerpoint/2010/main" val="23118558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NUMPY</a:t>
            </a:r>
          </a:p>
        </p:txBody>
      </p:sp>
      <p:sp>
        <p:nvSpPr>
          <p:cNvPr id="3" name="Rectangle 2"/>
          <p:cNvSpPr/>
          <p:nvPr/>
        </p:nvSpPr>
        <p:spPr>
          <a:xfrm>
            <a:off x="79513" y="614589"/>
            <a:ext cx="11887200" cy="598049"/>
          </a:xfrm>
          <a:prstGeom prst="rect">
            <a:avLst/>
          </a:prstGeom>
        </p:spPr>
        <p:txBody>
          <a:bodyPr wrap="square">
            <a:spAutoFit/>
          </a:bodyPr>
          <a:lstStyle/>
          <a:p>
            <a:pPr>
              <a:lnSpc>
                <a:spcPct val="150000"/>
              </a:lnSpc>
            </a:pPr>
            <a:r>
              <a:rPr lang="en-US" sz="2500" b="1" dirty="0" err="1">
                <a:solidFill>
                  <a:srgbClr val="FF0000"/>
                </a:solidFill>
                <a:latin typeface="Cambria" panose="02040503050406030204" pitchFamily="18" charset="0"/>
                <a:ea typeface="Cambria" panose="02040503050406030204" pitchFamily="18" charset="0"/>
              </a:rPr>
              <a:t>Các</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chức</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năng</a:t>
            </a:r>
            <a:r>
              <a:rPr lang="en-US" sz="2500" b="1" dirty="0">
                <a:solidFill>
                  <a:srgbClr val="FF0000"/>
                </a:solidFill>
                <a:latin typeface="Cambria" panose="02040503050406030204" pitchFamily="18" charset="0"/>
                <a:ea typeface="Cambria" panose="02040503050406030204" pitchFamily="18" charset="0"/>
              </a:rPr>
              <a:t> I/O </a:t>
            </a:r>
            <a:r>
              <a:rPr lang="en-US" sz="2500" b="1" dirty="0" err="1">
                <a:solidFill>
                  <a:srgbClr val="FF0000"/>
                </a:solidFill>
                <a:latin typeface="Cambria" panose="02040503050406030204" pitchFamily="18" charset="0"/>
                <a:ea typeface="Cambria" panose="02040503050406030204" pitchFamily="18" charset="0"/>
              </a:rPr>
              <a:t>có</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sẵn</a:t>
            </a:r>
            <a:r>
              <a:rPr lang="en-US" sz="2500" b="1" dirty="0">
                <a:solidFill>
                  <a:srgbClr val="FF0000"/>
                </a:solidFill>
                <a:latin typeface="Cambria" panose="02040503050406030204" pitchFamily="18" charset="0"/>
                <a:ea typeface="Cambria" panose="02040503050406030204" pitchFamily="18" charset="0"/>
              </a:rPr>
              <a:t>:</a:t>
            </a:r>
            <a:endParaRPr lang="vi-VN" sz="2500" b="1" dirty="0">
              <a:solidFill>
                <a:srgbClr val="FF0000"/>
              </a:solidFill>
              <a:latin typeface="Cambria" panose="02040503050406030204" pitchFamily="18" charset="0"/>
              <a:ea typeface="Cambria" panose="02040503050406030204" pitchFamily="18" charset="0"/>
            </a:endParaRP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321865" y="1234969"/>
            <a:ext cx="11644848" cy="1279631"/>
          </a:xfrm>
        </p:spPr>
        <p:txBody>
          <a:bodyPr>
            <a:noAutofit/>
          </a:bodyPr>
          <a:lstStyle/>
          <a:p>
            <a:pPr marL="228600" lvl="1" algn="just">
              <a:lnSpc>
                <a:spcPct val="150000"/>
              </a:lnSpc>
              <a:spcBef>
                <a:spcPts val="0"/>
              </a:spcBef>
              <a:buClr>
                <a:srgbClr val="FF5A33"/>
              </a:buClr>
              <a:buFont typeface="Wingdings" panose="05000000000000000000" pitchFamily="2" charset="2"/>
              <a:buChar char="§"/>
            </a:pPr>
            <a:r>
              <a:rPr lang="vi-VN" sz="2500" b="0" spc="-55" dirty="0">
                <a:latin typeface="Cambria" panose="02040503050406030204" pitchFamily="18" charset="0"/>
                <a:ea typeface="Cambria" panose="02040503050406030204" pitchFamily="18" charset="0"/>
                <a:cs typeface="Segoe UI"/>
              </a:rPr>
              <a:t>Các hàm </a:t>
            </a:r>
            <a:r>
              <a:rPr lang="vi-VN" sz="2500" b="1" spc="-55" dirty="0">
                <a:latin typeface="Cambria" panose="02040503050406030204" pitchFamily="18" charset="0"/>
                <a:ea typeface="Cambria" panose="02040503050406030204" pitchFamily="18" charset="0"/>
                <a:cs typeface="Segoe UI"/>
              </a:rPr>
              <a:t>load () </a:t>
            </a:r>
            <a:r>
              <a:rPr lang="vi-VN" sz="2500" spc="-55" dirty="0">
                <a:latin typeface="Cambria" panose="02040503050406030204" pitchFamily="18" charset="0"/>
                <a:ea typeface="Cambria" panose="02040503050406030204" pitchFamily="18" charset="0"/>
                <a:cs typeface="Segoe UI"/>
              </a:rPr>
              <a:t>và </a:t>
            </a:r>
            <a:r>
              <a:rPr lang="vi-VN" sz="2500" b="1" spc="-55" dirty="0">
                <a:latin typeface="Cambria" panose="02040503050406030204" pitchFamily="18" charset="0"/>
                <a:ea typeface="Cambria" panose="02040503050406030204" pitchFamily="18" charset="0"/>
                <a:cs typeface="Segoe UI"/>
              </a:rPr>
              <a:t>save () </a:t>
            </a:r>
            <a:r>
              <a:rPr lang="vi-VN" sz="2500" b="0" spc="-55" dirty="0">
                <a:latin typeface="Cambria" panose="02040503050406030204" pitchFamily="18" charset="0"/>
                <a:ea typeface="Cambria" panose="02040503050406030204" pitchFamily="18" charset="0"/>
                <a:cs typeface="Segoe UI"/>
              </a:rPr>
              <a:t>xử lý các tệp nhị phân / numPy (với phần mở rộng npy)</a:t>
            </a:r>
          </a:p>
          <a:p>
            <a:pPr marL="228600" lvl="1" algn="just">
              <a:lnSpc>
                <a:spcPct val="150000"/>
              </a:lnSpc>
              <a:spcBef>
                <a:spcPts val="0"/>
              </a:spcBef>
              <a:buClr>
                <a:srgbClr val="FF5A33"/>
              </a:buClr>
              <a:buFont typeface="Wingdings" panose="05000000000000000000" pitchFamily="2" charset="2"/>
              <a:buChar char="§"/>
            </a:pPr>
            <a:r>
              <a:rPr lang="vi-VN" sz="2500" b="0" spc="-55" dirty="0">
                <a:latin typeface="Cambria" panose="02040503050406030204" pitchFamily="18" charset="0"/>
                <a:ea typeface="Cambria" panose="02040503050406030204" pitchFamily="18" charset="0"/>
                <a:cs typeface="Segoe UI"/>
              </a:rPr>
              <a:t>Các hàm </a:t>
            </a:r>
            <a:r>
              <a:rPr lang="vi-VN" sz="2500" b="1" spc="-55" dirty="0">
                <a:latin typeface="Cambria" panose="02040503050406030204" pitchFamily="18" charset="0"/>
                <a:ea typeface="Cambria" panose="02040503050406030204" pitchFamily="18" charset="0"/>
                <a:cs typeface="Segoe UI"/>
              </a:rPr>
              <a:t>loadtxt () </a:t>
            </a:r>
            <a:r>
              <a:rPr lang="vi-VN" sz="2500" spc="-55" dirty="0">
                <a:latin typeface="Cambria" panose="02040503050406030204" pitchFamily="18" charset="0"/>
                <a:ea typeface="Cambria" panose="02040503050406030204" pitchFamily="18" charset="0"/>
                <a:cs typeface="Segoe UI"/>
              </a:rPr>
              <a:t>và </a:t>
            </a:r>
            <a:r>
              <a:rPr lang="vi-VN" sz="2500" b="1" spc="-55" dirty="0">
                <a:latin typeface="Cambria" panose="02040503050406030204" pitchFamily="18" charset="0"/>
                <a:ea typeface="Cambria" panose="02040503050406030204" pitchFamily="18" charset="0"/>
                <a:cs typeface="Segoe UI"/>
              </a:rPr>
              <a:t>savetxt () </a:t>
            </a:r>
            <a:r>
              <a:rPr lang="vi-VN" sz="2500" b="0" spc="-55" dirty="0">
                <a:latin typeface="Cambria" panose="02040503050406030204" pitchFamily="18" charset="0"/>
                <a:ea typeface="Cambria" panose="02040503050406030204" pitchFamily="18" charset="0"/>
                <a:cs typeface="Segoe UI"/>
              </a:rPr>
              <a:t>xử lý các tệp văn bản bình thường</a:t>
            </a:r>
            <a:endParaRPr lang="en-US" sz="2500" b="0" spc="-55" dirty="0">
              <a:latin typeface="Cambria" panose="02040503050406030204" pitchFamily="18" charset="0"/>
              <a:ea typeface="Cambria" panose="02040503050406030204" pitchFamily="18" charset="0"/>
              <a:cs typeface="Segoe UI"/>
            </a:endParaRPr>
          </a:p>
        </p:txBody>
      </p:sp>
      <p:sp>
        <p:nvSpPr>
          <p:cNvPr id="11" name="Rectangle 1">
            <a:extLst>
              <a:ext uri="{FF2B5EF4-FFF2-40B4-BE49-F238E27FC236}">
                <a16:creationId xmlns:a16="http://schemas.microsoft.com/office/drawing/2014/main" id="{A902272F-6221-A541-DB6F-AA78FA027B27}"/>
              </a:ext>
            </a:extLst>
          </p:cNvPr>
          <p:cNvSpPr>
            <a:spLocks noChangeArrowheads="1"/>
          </p:cNvSpPr>
          <p:nvPr/>
        </p:nvSpPr>
        <p:spPr bwMode="auto">
          <a:xfrm>
            <a:off x="568187" y="2536931"/>
            <a:ext cx="11055625" cy="278537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500" b="0" i="1" u="none" strike="noStrike" cap="none" normalizeH="0" baseline="0" dirty="0">
                <a:ln>
                  <a:noFill/>
                </a:ln>
                <a:solidFill>
                  <a:srgbClr val="808080"/>
                </a:solidFill>
                <a:effectLst/>
                <a:latin typeface="Cambria" panose="02040503050406030204" pitchFamily="18" charset="0"/>
                <a:ea typeface="Cambria" panose="02040503050406030204" pitchFamily="18" charset="0"/>
              </a:rPr>
              <a:t>#</a:t>
            </a:r>
            <a:r>
              <a:rPr kumimoji="0" lang="en-US" altLang="en-US" sz="2500" b="0" i="1" u="none" strike="noStrike" cap="none" normalizeH="0" baseline="0" dirty="0" err="1">
                <a:ln>
                  <a:noFill/>
                </a:ln>
                <a:solidFill>
                  <a:srgbClr val="808080"/>
                </a:solidFill>
                <a:effectLst/>
                <a:latin typeface="Cambria" panose="02040503050406030204" pitchFamily="18" charset="0"/>
                <a:ea typeface="Cambria" panose="02040503050406030204" pitchFamily="18" charset="0"/>
              </a:rPr>
              <a:t>lưu</a:t>
            </a:r>
            <a:r>
              <a:rPr kumimoji="0" lang="en-US" altLang="en-US" sz="2500" b="0" i="1" u="none" strike="noStrike" cap="none" normalizeH="0" baseline="0" dirty="0">
                <a:ln>
                  <a:noFill/>
                </a:ln>
                <a:solidFill>
                  <a:srgbClr val="808080"/>
                </a:solidFill>
                <a:effectLst/>
                <a:latin typeface="Cambria" panose="02040503050406030204" pitchFamily="18" charset="0"/>
                <a:ea typeface="Cambria" panose="02040503050406030204" pitchFamily="18" charset="0"/>
              </a:rPr>
              <a:t> </a:t>
            </a:r>
            <a:r>
              <a:rPr kumimoji="0" lang="en-US" altLang="en-US" sz="2500" b="0" i="1" u="none" strike="noStrike" cap="none" normalizeH="0" baseline="0" dirty="0" err="1">
                <a:ln>
                  <a:noFill/>
                </a:ln>
                <a:solidFill>
                  <a:srgbClr val="808080"/>
                </a:solidFill>
                <a:effectLst/>
                <a:latin typeface="Cambria" panose="02040503050406030204" pitchFamily="18" charset="0"/>
                <a:ea typeface="Cambria" panose="02040503050406030204" pitchFamily="18" charset="0"/>
              </a:rPr>
              <a:t>ra</a:t>
            </a:r>
            <a:r>
              <a:rPr kumimoji="0" lang="en-US" altLang="en-US" sz="2500" b="0" i="1" u="none" strike="noStrike" cap="none" normalizeH="0" baseline="0" dirty="0">
                <a:ln>
                  <a:noFill/>
                </a:ln>
                <a:solidFill>
                  <a:srgbClr val="808080"/>
                </a:solidFill>
                <a:effectLst/>
                <a:latin typeface="Cambria" panose="02040503050406030204" pitchFamily="18" charset="0"/>
                <a:ea typeface="Cambria" panose="02040503050406030204" pitchFamily="18" charset="0"/>
              </a:rPr>
              <a:t> </a:t>
            </a:r>
            <a:r>
              <a:rPr kumimoji="0" lang="en-US" altLang="en-US" sz="2500" b="0" i="1" u="none" strike="noStrike" cap="none" normalizeH="0" baseline="0" dirty="0" err="1">
                <a:ln>
                  <a:noFill/>
                </a:ln>
                <a:solidFill>
                  <a:srgbClr val="808080"/>
                </a:solidFill>
                <a:effectLst/>
                <a:latin typeface="Cambria" panose="02040503050406030204" pitchFamily="18" charset="0"/>
                <a:ea typeface="Cambria" panose="02040503050406030204" pitchFamily="18" charset="0"/>
              </a:rPr>
              <a:t>tệp</a:t>
            </a:r>
            <a:r>
              <a:rPr kumimoji="0" lang="en-US" altLang="en-US" sz="2500" b="0" i="1" u="none" strike="noStrike" cap="none" normalizeH="0" baseline="0" dirty="0">
                <a:ln>
                  <a:noFill/>
                </a:ln>
                <a:solidFill>
                  <a:srgbClr val="808080"/>
                </a:solidFill>
                <a:effectLst/>
                <a:latin typeface="Cambria" panose="02040503050406030204" pitchFamily="18" charset="0"/>
                <a:ea typeface="Cambria" panose="02040503050406030204" pitchFamily="18" charset="0"/>
              </a:rPr>
              <a:t> </a:t>
            </a:r>
            <a:r>
              <a:rPr kumimoji="0" lang="en-US" altLang="en-US" sz="2500" b="0" i="1" u="none" strike="noStrike" cap="none" normalizeH="0" baseline="0" dirty="0" err="1">
                <a:ln>
                  <a:noFill/>
                </a:ln>
                <a:solidFill>
                  <a:srgbClr val="808080"/>
                </a:solidFill>
                <a:effectLst/>
                <a:latin typeface="Cambria" panose="02040503050406030204" pitchFamily="18" charset="0"/>
                <a:ea typeface="Cambria" panose="02040503050406030204" pitchFamily="18" charset="0"/>
              </a:rPr>
              <a:t>nhị</a:t>
            </a:r>
            <a:r>
              <a:rPr kumimoji="0" lang="en-US" altLang="en-US" sz="2500" b="0" i="1" u="none" strike="noStrike" cap="none" normalizeH="0" baseline="0" dirty="0">
                <a:ln>
                  <a:noFill/>
                </a:ln>
                <a:solidFill>
                  <a:srgbClr val="808080"/>
                </a:solidFill>
                <a:effectLst/>
                <a:latin typeface="Cambria" panose="02040503050406030204" pitchFamily="18" charset="0"/>
                <a:ea typeface="Cambria" panose="02040503050406030204" pitchFamily="18" charset="0"/>
              </a:rPr>
              <a:t> </a:t>
            </a:r>
            <a:r>
              <a:rPr kumimoji="0" lang="en-US" altLang="en-US" sz="2500" b="0" i="1" u="none" strike="noStrike" cap="none" normalizeH="0" baseline="0" dirty="0" err="1">
                <a:ln>
                  <a:noFill/>
                </a:ln>
                <a:solidFill>
                  <a:srgbClr val="808080"/>
                </a:solidFill>
                <a:effectLst/>
                <a:latin typeface="Cambria" panose="02040503050406030204" pitchFamily="18" charset="0"/>
                <a:ea typeface="Cambria" panose="02040503050406030204" pitchFamily="18" charset="0"/>
              </a:rPr>
              <a:t>phân</a:t>
            </a:r>
            <a:br>
              <a:rPr kumimoji="0" lang="en-US" altLang="en-US" sz="2500" b="0" i="1" u="none" strike="noStrike" cap="none" normalizeH="0" baseline="0" dirty="0">
                <a:ln>
                  <a:noFill/>
                </a:ln>
                <a:solidFill>
                  <a:srgbClr val="808080"/>
                </a:solidFill>
                <a:effectLst/>
                <a:latin typeface="Cambria" panose="02040503050406030204" pitchFamily="18" charset="0"/>
                <a:ea typeface="Cambria" panose="02040503050406030204" pitchFamily="18" charset="0"/>
              </a:rPr>
            </a:b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 = </a:t>
            </a: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np.array</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1</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2</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3</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4</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5</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np.save</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a:t>
            </a:r>
            <a:r>
              <a:rPr kumimoji="0" lang="en-US" altLang="en-US" sz="2500" b="1" i="0" u="none" strike="noStrike" cap="none" normalizeH="0" baseline="0" dirty="0" err="1">
                <a:ln>
                  <a:noFill/>
                </a:ln>
                <a:solidFill>
                  <a:srgbClr val="008000"/>
                </a:solidFill>
                <a:effectLst/>
                <a:latin typeface="Cambria" panose="02040503050406030204" pitchFamily="18" charset="0"/>
                <a:ea typeface="Cambria" panose="02040503050406030204" pitchFamily="18" charset="0"/>
              </a:rPr>
              <a:t>outfile</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500" b="0" i="1" u="none" strike="noStrike" cap="none" normalizeH="0" baseline="0" dirty="0">
                <a:ln>
                  <a:noFill/>
                </a:ln>
                <a:solidFill>
                  <a:srgbClr val="808080"/>
                </a:solidFill>
                <a:effectLst/>
                <a:latin typeface="Cambria" panose="02040503050406030204" pitchFamily="18" charset="0"/>
                <a:ea typeface="Cambria" panose="02040503050406030204" pitchFamily="18" charset="0"/>
              </a:rPr>
              <a:t>#</a:t>
            </a:r>
            <a:r>
              <a:rPr kumimoji="0" lang="en-US" altLang="en-US" sz="2500" b="0" i="1" u="none" strike="noStrike" cap="none" normalizeH="0" baseline="0" dirty="0" err="1">
                <a:ln>
                  <a:noFill/>
                </a:ln>
                <a:solidFill>
                  <a:srgbClr val="808080"/>
                </a:solidFill>
                <a:effectLst/>
                <a:latin typeface="Cambria" panose="02040503050406030204" pitchFamily="18" charset="0"/>
                <a:ea typeface="Cambria" panose="02040503050406030204" pitchFamily="18" charset="0"/>
              </a:rPr>
              <a:t>Đọc</a:t>
            </a:r>
            <a:r>
              <a:rPr kumimoji="0" lang="en-US" altLang="en-US" sz="2500" b="0" i="1" u="none" strike="noStrike" cap="none" normalizeH="0" baseline="0" dirty="0">
                <a:ln>
                  <a:noFill/>
                </a:ln>
                <a:solidFill>
                  <a:srgbClr val="808080"/>
                </a:solidFill>
                <a:effectLst/>
                <a:latin typeface="Cambria" panose="02040503050406030204" pitchFamily="18" charset="0"/>
                <a:ea typeface="Cambria" panose="02040503050406030204" pitchFamily="18" charset="0"/>
              </a:rPr>
              <a:t> </a:t>
            </a:r>
            <a:r>
              <a:rPr kumimoji="0" lang="en-US" altLang="en-US" sz="2500" b="0" i="1" u="none" strike="noStrike" cap="none" normalizeH="0" baseline="0" dirty="0" err="1">
                <a:ln>
                  <a:noFill/>
                </a:ln>
                <a:solidFill>
                  <a:srgbClr val="808080"/>
                </a:solidFill>
                <a:effectLst/>
                <a:latin typeface="Cambria" panose="02040503050406030204" pitchFamily="18" charset="0"/>
                <a:ea typeface="Cambria" panose="02040503050406030204" pitchFamily="18" charset="0"/>
              </a:rPr>
              <a:t>và</a:t>
            </a:r>
            <a:r>
              <a:rPr kumimoji="0" lang="en-US" altLang="en-US" sz="2500" b="0" i="1" u="none" strike="noStrike" cap="none" normalizeH="0" baseline="0" dirty="0">
                <a:ln>
                  <a:noFill/>
                </a:ln>
                <a:solidFill>
                  <a:srgbClr val="808080"/>
                </a:solidFill>
                <a:effectLst/>
                <a:latin typeface="Cambria" panose="02040503050406030204" pitchFamily="18" charset="0"/>
                <a:ea typeface="Cambria" panose="02040503050406030204" pitchFamily="18" charset="0"/>
              </a:rPr>
              <a:t> in </a:t>
            </a:r>
            <a:r>
              <a:rPr kumimoji="0" lang="en-US" altLang="en-US" sz="2500" b="0" i="1" u="none" strike="noStrike" cap="none" normalizeH="0" baseline="0" dirty="0" err="1">
                <a:ln>
                  <a:noFill/>
                </a:ln>
                <a:solidFill>
                  <a:srgbClr val="808080"/>
                </a:solidFill>
                <a:effectLst/>
                <a:latin typeface="Cambria" panose="02040503050406030204" pitchFamily="18" charset="0"/>
                <a:ea typeface="Cambria" panose="02040503050406030204" pitchFamily="18" charset="0"/>
              </a:rPr>
              <a:t>dữ</a:t>
            </a:r>
            <a:r>
              <a:rPr kumimoji="0" lang="en-US" altLang="en-US" sz="2500" b="0" i="1" u="none" strike="noStrike" cap="none" normalizeH="0" baseline="0" dirty="0">
                <a:ln>
                  <a:noFill/>
                </a:ln>
                <a:solidFill>
                  <a:srgbClr val="808080"/>
                </a:solidFill>
                <a:effectLst/>
                <a:latin typeface="Cambria" panose="02040503050406030204" pitchFamily="18" charset="0"/>
                <a:ea typeface="Cambria" panose="02040503050406030204" pitchFamily="18" charset="0"/>
              </a:rPr>
              <a:t> </a:t>
            </a:r>
            <a:r>
              <a:rPr kumimoji="0" lang="en-US" altLang="en-US" sz="2500" b="0" i="1" u="none" strike="noStrike" cap="none" normalizeH="0" baseline="0" dirty="0" err="1">
                <a:ln>
                  <a:noFill/>
                </a:ln>
                <a:solidFill>
                  <a:srgbClr val="808080"/>
                </a:solidFill>
                <a:effectLst/>
                <a:latin typeface="Cambria" panose="02040503050406030204" pitchFamily="18" charset="0"/>
                <a:ea typeface="Cambria" panose="02040503050406030204" pitchFamily="18" charset="0"/>
              </a:rPr>
              <a:t>liệu</a:t>
            </a:r>
            <a:r>
              <a:rPr kumimoji="0" lang="en-US" altLang="en-US" sz="2500" b="0" i="1" u="none" strike="noStrike" cap="none" normalizeH="0" baseline="0" dirty="0">
                <a:ln>
                  <a:noFill/>
                </a:ln>
                <a:solidFill>
                  <a:srgbClr val="808080"/>
                </a:solidFill>
                <a:effectLst/>
                <a:latin typeface="Cambria" panose="02040503050406030204" pitchFamily="18" charset="0"/>
                <a:ea typeface="Cambria" panose="02040503050406030204" pitchFamily="18" charset="0"/>
              </a:rPr>
              <a:t> </a:t>
            </a:r>
            <a:r>
              <a:rPr kumimoji="0" lang="en-US" altLang="en-US" sz="2500" b="0" i="1" u="none" strike="noStrike" cap="none" normalizeH="0" baseline="0" dirty="0" err="1">
                <a:ln>
                  <a:noFill/>
                </a:ln>
                <a:solidFill>
                  <a:srgbClr val="808080"/>
                </a:solidFill>
                <a:effectLst/>
                <a:latin typeface="Cambria" panose="02040503050406030204" pitchFamily="18" charset="0"/>
                <a:ea typeface="Cambria" panose="02040503050406030204" pitchFamily="18" charset="0"/>
              </a:rPr>
              <a:t>từ</a:t>
            </a:r>
            <a:r>
              <a:rPr kumimoji="0" lang="en-US" altLang="en-US" sz="2500" b="0" i="1" u="none" strike="noStrike" cap="none" normalizeH="0" baseline="0" dirty="0">
                <a:ln>
                  <a:noFill/>
                </a:ln>
                <a:solidFill>
                  <a:srgbClr val="808080"/>
                </a:solidFill>
                <a:effectLst/>
                <a:latin typeface="Cambria" panose="02040503050406030204" pitchFamily="18" charset="0"/>
                <a:ea typeface="Cambria" panose="02040503050406030204" pitchFamily="18" charset="0"/>
              </a:rPr>
              <a:t> </a:t>
            </a:r>
            <a:r>
              <a:rPr kumimoji="0" lang="en-US" altLang="en-US" sz="2500" b="0" i="1" u="none" strike="noStrike" cap="none" normalizeH="0" baseline="0" dirty="0" err="1">
                <a:ln>
                  <a:noFill/>
                </a:ln>
                <a:solidFill>
                  <a:srgbClr val="808080"/>
                </a:solidFill>
                <a:effectLst/>
                <a:latin typeface="Cambria" panose="02040503050406030204" pitchFamily="18" charset="0"/>
                <a:ea typeface="Cambria" panose="02040503050406030204" pitchFamily="18" charset="0"/>
              </a:rPr>
              <a:t>tệp</a:t>
            </a:r>
            <a:r>
              <a:rPr kumimoji="0" lang="en-US" altLang="en-US" sz="2500" b="0" i="1" u="none" strike="noStrike" cap="none" normalizeH="0" baseline="0" dirty="0">
                <a:ln>
                  <a:noFill/>
                </a:ln>
                <a:solidFill>
                  <a:srgbClr val="808080"/>
                </a:solidFill>
                <a:effectLst/>
                <a:latin typeface="Cambria" panose="02040503050406030204" pitchFamily="18" charset="0"/>
                <a:ea typeface="Cambria" panose="02040503050406030204" pitchFamily="18" charset="0"/>
              </a:rPr>
              <a:t> </a:t>
            </a:r>
            <a:r>
              <a:rPr kumimoji="0" lang="en-US" altLang="en-US" sz="2500" b="0" i="1" u="none" strike="noStrike" cap="none" normalizeH="0" baseline="0" dirty="0" err="1">
                <a:ln>
                  <a:noFill/>
                </a:ln>
                <a:solidFill>
                  <a:srgbClr val="808080"/>
                </a:solidFill>
                <a:effectLst/>
                <a:latin typeface="Cambria" panose="02040503050406030204" pitchFamily="18" charset="0"/>
                <a:ea typeface="Cambria" panose="02040503050406030204" pitchFamily="18" charset="0"/>
              </a:rPr>
              <a:t>nhị</a:t>
            </a:r>
            <a:r>
              <a:rPr kumimoji="0" lang="en-US" altLang="en-US" sz="2500" b="0" i="1" u="none" strike="noStrike" cap="none" normalizeH="0" baseline="0" dirty="0">
                <a:ln>
                  <a:noFill/>
                </a:ln>
                <a:solidFill>
                  <a:srgbClr val="808080"/>
                </a:solidFill>
                <a:effectLst/>
                <a:latin typeface="Cambria" panose="02040503050406030204" pitchFamily="18" charset="0"/>
                <a:ea typeface="Cambria" panose="02040503050406030204" pitchFamily="18" charset="0"/>
              </a:rPr>
              <a:t> </a:t>
            </a:r>
            <a:r>
              <a:rPr kumimoji="0" lang="en-US" altLang="en-US" sz="2500" b="0" i="1" u="none" strike="noStrike" cap="none" normalizeH="0" baseline="0" dirty="0" err="1">
                <a:ln>
                  <a:noFill/>
                </a:ln>
                <a:solidFill>
                  <a:srgbClr val="808080"/>
                </a:solidFill>
                <a:effectLst/>
                <a:latin typeface="Cambria" panose="02040503050406030204" pitchFamily="18" charset="0"/>
                <a:ea typeface="Cambria" panose="02040503050406030204" pitchFamily="18" charset="0"/>
              </a:rPr>
              <a:t>phân</a:t>
            </a:r>
            <a:br>
              <a:rPr kumimoji="0" lang="en-US" altLang="en-US" sz="2500" b="0" i="1" u="none" strike="noStrike" cap="none" normalizeH="0" baseline="0" dirty="0">
                <a:ln>
                  <a:noFill/>
                </a:ln>
                <a:solidFill>
                  <a:srgbClr val="808080"/>
                </a:solidFill>
                <a:effectLst/>
                <a:latin typeface="Cambria" panose="02040503050406030204" pitchFamily="18" charset="0"/>
                <a:ea typeface="Cambria" panose="02040503050406030204" pitchFamily="18" charset="0"/>
              </a:rPr>
            </a:b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b = </a:t>
            </a: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np.load</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a:t>
            </a:r>
            <a:r>
              <a:rPr kumimoji="0" lang="en-US" altLang="en-US" sz="2500" b="1" i="0" u="none" strike="noStrike" cap="none" normalizeH="0" baseline="0" dirty="0" err="1">
                <a:ln>
                  <a:noFill/>
                </a:ln>
                <a:solidFill>
                  <a:srgbClr val="008000"/>
                </a:solidFill>
                <a:effectLst/>
                <a:latin typeface="Cambria" panose="02040503050406030204" pitchFamily="18" charset="0"/>
                <a:ea typeface="Cambria" panose="02040503050406030204" pitchFamily="18" charset="0"/>
              </a:rPr>
              <a:t>outfile.npy</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500" b="0" i="0" u="none" strike="noStrike" cap="none" normalizeH="0" baseline="0" dirty="0">
                <a:ln>
                  <a:noFill/>
                </a:ln>
                <a:solidFill>
                  <a:srgbClr val="000080"/>
                </a:solidFill>
                <a:effectLst/>
                <a:latin typeface="Cambria" panose="02040503050406030204" pitchFamily="18" charset="0"/>
                <a:ea typeface="Cambria" panose="02040503050406030204" pitchFamily="18" charset="0"/>
              </a:rPr>
              <a:t>print</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(b)</a:t>
            </a:r>
            <a:endParaRPr kumimoji="0" lang="en-US" altLang="en-US" sz="25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749385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PANDAS</a:t>
            </a:r>
          </a:p>
        </p:txBody>
      </p:sp>
      <p:sp>
        <p:nvSpPr>
          <p:cNvPr id="5" name="Rectangle 4"/>
          <p:cNvSpPr/>
          <p:nvPr/>
        </p:nvSpPr>
        <p:spPr>
          <a:xfrm>
            <a:off x="160682" y="655980"/>
            <a:ext cx="11902787" cy="3554819"/>
          </a:xfrm>
          <a:prstGeom prst="rect">
            <a:avLst/>
          </a:prstGeom>
        </p:spPr>
        <p:txBody>
          <a:bodyPr wrap="square">
            <a:spAutoFit/>
          </a:bodyPr>
          <a:lstStyle/>
          <a:p>
            <a:pPr>
              <a:lnSpc>
                <a:spcPct val="150000"/>
              </a:lnSpc>
            </a:pPr>
            <a:r>
              <a:rPr lang="vi-VN" sz="2500" b="1" dirty="0">
                <a:solidFill>
                  <a:srgbClr val="000000"/>
                </a:solidFill>
                <a:latin typeface="Cambria" panose="02040503050406030204" pitchFamily="18" charset="0"/>
                <a:ea typeface="Cambria" panose="02040503050406030204" pitchFamily="18" charset="0"/>
              </a:rPr>
              <a:t>Thư viện pandas </a:t>
            </a:r>
            <a:r>
              <a:rPr lang="vi-VN" sz="2500" dirty="0">
                <a:solidFill>
                  <a:srgbClr val="000000"/>
                </a:solidFill>
                <a:latin typeface="Cambria" panose="02040503050406030204" pitchFamily="18" charset="0"/>
                <a:ea typeface="Cambria" panose="02040503050406030204" pitchFamily="18" charset="0"/>
              </a:rPr>
              <a:t>trong python là một thư viện mã</a:t>
            </a:r>
            <a:r>
              <a:rPr lang="en-US" sz="2500" dirty="0">
                <a:solidFill>
                  <a:srgbClr val="000000"/>
                </a:solidFill>
                <a:latin typeface="Cambria" panose="02040503050406030204" pitchFamily="18" charset="0"/>
                <a:ea typeface="Cambria" panose="02040503050406030204" pitchFamily="18" charset="0"/>
              </a:rPr>
              <a:t> </a:t>
            </a:r>
            <a:r>
              <a:rPr lang="vi-VN" sz="2500" dirty="0">
                <a:solidFill>
                  <a:srgbClr val="000000"/>
                </a:solidFill>
                <a:latin typeface="Cambria" panose="02040503050406030204" pitchFamily="18" charset="0"/>
                <a:ea typeface="Cambria" panose="02040503050406030204" pitchFamily="18" charset="0"/>
              </a:rPr>
              <a:t>nguồn mở, hỗ trợ đắc lực trong thao tác dữ liệu.</a:t>
            </a:r>
            <a:r>
              <a:rPr lang="en-US" sz="2500" dirty="0">
                <a:solidFill>
                  <a:srgbClr val="000000"/>
                </a:solidFill>
                <a:latin typeface="Cambria" panose="02040503050406030204" pitchFamily="18" charset="0"/>
                <a:ea typeface="Cambria" panose="02040503050406030204" pitchFamily="18" charset="0"/>
              </a:rPr>
              <a:t> </a:t>
            </a:r>
            <a:r>
              <a:rPr lang="vi-VN" sz="2500" dirty="0">
                <a:solidFill>
                  <a:srgbClr val="000000"/>
                </a:solidFill>
                <a:latin typeface="Cambria" panose="02040503050406030204" pitchFamily="18" charset="0"/>
                <a:ea typeface="Cambria" panose="02040503050406030204" pitchFamily="18" charset="0"/>
              </a:rPr>
              <a:t>Nó cũng là bộ công cụ phân tích và xử lý dữ liệu</a:t>
            </a:r>
            <a:r>
              <a:rPr lang="en-US" sz="2500" dirty="0">
                <a:solidFill>
                  <a:srgbClr val="000000"/>
                </a:solidFill>
                <a:latin typeface="Cambria" panose="02040503050406030204" pitchFamily="18" charset="0"/>
                <a:ea typeface="Cambria" panose="02040503050406030204" pitchFamily="18" charset="0"/>
              </a:rPr>
              <a:t> </a:t>
            </a:r>
            <a:r>
              <a:rPr lang="vi-VN" sz="2500" dirty="0">
                <a:solidFill>
                  <a:srgbClr val="000000"/>
                </a:solidFill>
                <a:latin typeface="Cambria" panose="02040503050406030204" pitchFamily="18" charset="0"/>
                <a:ea typeface="Cambria" panose="02040503050406030204" pitchFamily="18" charset="0"/>
              </a:rPr>
              <a:t>mạnh mẽ của ngôn ngữ lập trình python.</a:t>
            </a:r>
            <a:endParaRPr lang="en-US" sz="2500" dirty="0">
              <a:solidFill>
                <a:srgbClr val="000000"/>
              </a:solidFill>
              <a:latin typeface="Cambria" panose="02040503050406030204" pitchFamily="18" charset="0"/>
              <a:ea typeface="Cambria" panose="02040503050406030204" pitchFamily="18" charset="0"/>
            </a:endParaRPr>
          </a:p>
          <a:p>
            <a:pPr>
              <a:lnSpc>
                <a:spcPct val="150000"/>
              </a:lnSpc>
            </a:pPr>
            <a:r>
              <a:rPr lang="en-US" sz="2500" b="1" dirty="0" err="1">
                <a:solidFill>
                  <a:srgbClr val="000000"/>
                </a:solidFill>
                <a:latin typeface="Cambria" panose="02040503050406030204" pitchFamily="18" charset="0"/>
                <a:ea typeface="Cambria" panose="02040503050406030204" pitchFamily="18" charset="0"/>
              </a:rPr>
              <a:t>Cài</a:t>
            </a:r>
            <a:r>
              <a:rPr lang="en-US" sz="2500" b="1" dirty="0">
                <a:solidFill>
                  <a:srgbClr val="000000"/>
                </a:solidFill>
                <a:latin typeface="Cambria" panose="02040503050406030204" pitchFamily="18" charset="0"/>
                <a:ea typeface="Cambria" panose="02040503050406030204" pitchFamily="18" charset="0"/>
              </a:rPr>
              <a:t> </a:t>
            </a:r>
            <a:r>
              <a:rPr lang="en-US" sz="2500" b="1" dirty="0" err="1">
                <a:solidFill>
                  <a:srgbClr val="000000"/>
                </a:solidFill>
                <a:latin typeface="Cambria" panose="02040503050406030204" pitchFamily="18" charset="0"/>
                <a:ea typeface="Cambria" panose="02040503050406030204" pitchFamily="18" charset="0"/>
              </a:rPr>
              <a:t>đặt</a:t>
            </a:r>
            <a:r>
              <a:rPr lang="en-US" sz="2500" b="1" dirty="0">
                <a:solidFill>
                  <a:srgbClr val="000000"/>
                </a:solidFill>
                <a:latin typeface="Cambria" panose="02040503050406030204" pitchFamily="18" charset="0"/>
                <a:ea typeface="Cambria" panose="02040503050406030204" pitchFamily="18" charset="0"/>
              </a:rPr>
              <a:t>:  </a:t>
            </a:r>
            <a:r>
              <a:rPr lang="en-US" sz="2500" spc="-5" dirty="0" err="1">
                <a:latin typeface="Cambria" panose="02040503050406030204" pitchFamily="18" charset="0"/>
                <a:ea typeface="Cambria" panose="02040503050406030204" pitchFamily="18" charset="0"/>
                <a:cs typeface="Segoe UI"/>
              </a:rPr>
              <a:t>Tích</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hợp</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trong</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các</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gói</a:t>
            </a:r>
            <a:r>
              <a:rPr lang="en-US" sz="2500" spc="-5" dirty="0">
                <a:latin typeface="Cambria" panose="02040503050406030204" pitchFamily="18" charset="0"/>
                <a:ea typeface="Cambria" panose="02040503050406030204" pitchFamily="18" charset="0"/>
                <a:cs typeface="Segoe UI"/>
              </a:rPr>
              <a:t> Anaconda, </a:t>
            </a:r>
            <a:r>
              <a:rPr lang="en-US" sz="2500" spc="-5" dirty="0" err="1">
                <a:latin typeface="Cambria" panose="02040503050406030204" pitchFamily="18" charset="0"/>
                <a:ea typeface="Cambria" panose="02040503050406030204" pitchFamily="18" charset="0"/>
                <a:cs typeface="Segoe UI"/>
              </a:rPr>
              <a:t>SciPy</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hoặc</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sử</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dụng</a:t>
            </a:r>
            <a:r>
              <a:rPr lang="en-US" sz="2500" spc="-5" dirty="0">
                <a:latin typeface="Cambria" panose="02040503050406030204" pitchFamily="18" charset="0"/>
                <a:ea typeface="Cambria" panose="02040503050406030204" pitchFamily="18" charset="0"/>
                <a:cs typeface="Segoe UI"/>
              </a:rPr>
              <a:t> VS/</a:t>
            </a:r>
            <a:r>
              <a:rPr lang="en-US" sz="2500" spc="-5" dirty="0" err="1">
                <a:latin typeface="Cambria" panose="02040503050406030204" pitchFamily="18" charset="0"/>
                <a:ea typeface="Cambria" panose="02040503050406030204" pitchFamily="18" charset="0"/>
                <a:cs typeface="Segoe UI"/>
              </a:rPr>
              <a:t>Pycharm</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cài</a:t>
            </a:r>
            <a:r>
              <a:rPr lang="en-US" sz="2500" spc="-5" dirty="0">
                <a:latin typeface="Cambria" panose="02040503050406030204" pitchFamily="18" charset="0"/>
                <a:ea typeface="Cambria" panose="02040503050406030204" pitchFamily="18" charset="0"/>
                <a:cs typeface="Segoe UI"/>
              </a:rPr>
              <a:t> qua </a:t>
            </a:r>
            <a:r>
              <a:rPr lang="en-US" sz="2500" spc="-5" dirty="0" err="1">
                <a:latin typeface="Cambria" panose="02040503050406030204" pitchFamily="18" charset="0"/>
                <a:ea typeface="Cambria" panose="02040503050406030204" pitchFamily="18" charset="0"/>
                <a:cs typeface="Segoe UI"/>
              </a:rPr>
              <a:t>lệnh</a:t>
            </a:r>
            <a:r>
              <a:rPr lang="en-US" sz="2500" spc="-5" dirty="0">
                <a:latin typeface="Cambria" panose="02040503050406030204" pitchFamily="18" charset="0"/>
                <a:ea typeface="Cambria" panose="02040503050406030204" pitchFamily="18" charset="0"/>
                <a:cs typeface="Segoe UI"/>
              </a:rPr>
              <a:t>: </a:t>
            </a:r>
            <a:r>
              <a:rPr lang="en-US" sz="2500" spc="-55" dirty="0">
                <a:latin typeface="Cambria" panose="02040503050406030204" pitchFamily="18" charset="0"/>
                <a:ea typeface="Cambria" panose="02040503050406030204" pitchFamily="18" charset="0"/>
                <a:cs typeface="Segoe UI"/>
              </a:rPr>
              <a:t> </a:t>
            </a:r>
            <a:r>
              <a:rPr lang="vi-VN" sz="2500" b="1" i="1" spc="-55" dirty="0">
                <a:solidFill>
                  <a:srgbClr val="FF0000"/>
                </a:solidFill>
                <a:latin typeface="Cambria" panose="02040503050406030204" pitchFamily="18" charset="0"/>
                <a:ea typeface="Cambria" panose="02040503050406030204" pitchFamily="18" charset="0"/>
                <a:cs typeface="Segoe UI"/>
              </a:rPr>
              <a:t>pip install pandas</a:t>
            </a:r>
            <a:endParaRPr lang="en-US" sz="2500" b="1" i="1" spc="-55" dirty="0">
              <a:solidFill>
                <a:srgbClr val="FF0000"/>
              </a:solidFill>
              <a:latin typeface="Cambria" panose="02040503050406030204" pitchFamily="18" charset="0"/>
              <a:ea typeface="Cambria" panose="02040503050406030204" pitchFamily="18" charset="0"/>
              <a:cs typeface="Segoe UI"/>
            </a:endParaRPr>
          </a:p>
          <a:p>
            <a:pPr>
              <a:lnSpc>
                <a:spcPct val="150000"/>
              </a:lnSpc>
            </a:pPr>
            <a:r>
              <a:rPr lang="en-US" sz="2500" b="1" dirty="0" err="1">
                <a:solidFill>
                  <a:srgbClr val="000000"/>
                </a:solidFill>
                <a:latin typeface="Cambria" panose="02040503050406030204" pitchFamily="18" charset="0"/>
                <a:ea typeface="Cambria" panose="02040503050406030204" pitchFamily="18" charset="0"/>
              </a:rPr>
              <a:t>Sử</a:t>
            </a:r>
            <a:r>
              <a:rPr lang="en-US" sz="2500" b="1" dirty="0">
                <a:solidFill>
                  <a:srgbClr val="000000"/>
                </a:solidFill>
                <a:latin typeface="Cambria" panose="02040503050406030204" pitchFamily="18" charset="0"/>
                <a:ea typeface="Cambria" panose="02040503050406030204" pitchFamily="18" charset="0"/>
              </a:rPr>
              <a:t> </a:t>
            </a:r>
            <a:r>
              <a:rPr lang="en-US" sz="2500" b="1" dirty="0" err="1">
                <a:solidFill>
                  <a:srgbClr val="000000"/>
                </a:solidFill>
                <a:latin typeface="Cambria" panose="02040503050406030204" pitchFamily="18" charset="0"/>
                <a:ea typeface="Cambria" panose="02040503050406030204" pitchFamily="18" charset="0"/>
              </a:rPr>
              <a:t>dụng</a:t>
            </a:r>
            <a:r>
              <a:rPr lang="en-US" sz="2500" b="1" dirty="0">
                <a:solidFill>
                  <a:srgbClr val="000000"/>
                </a:solidFill>
                <a:latin typeface="Cambria" panose="02040503050406030204" pitchFamily="18" charset="0"/>
                <a:ea typeface="Cambria" panose="02040503050406030204" pitchFamily="18" charset="0"/>
              </a:rPr>
              <a:t> Pandas: </a:t>
            </a:r>
            <a:r>
              <a:rPr lang="en-US" sz="2500" b="1" i="1" spc="-55" dirty="0">
                <a:solidFill>
                  <a:srgbClr val="FF0000"/>
                </a:solidFill>
                <a:latin typeface="Cambria" panose="02040503050406030204" pitchFamily="18" charset="0"/>
                <a:ea typeface="Cambria" panose="02040503050406030204" pitchFamily="18" charset="0"/>
                <a:cs typeface="Segoe UI"/>
              </a:rPr>
              <a:t>import pandas as </a:t>
            </a:r>
            <a:r>
              <a:rPr lang="en-US" sz="2500" b="1" i="1" spc="-55" dirty="0" err="1">
                <a:solidFill>
                  <a:srgbClr val="FF0000"/>
                </a:solidFill>
                <a:latin typeface="Cambria" panose="02040503050406030204" pitchFamily="18" charset="0"/>
                <a:ea typeface="Cambria" panose="02040503050406030204" pitchFamily="18" charset="0"/>
                <a:cs typeface="Segoe UI"/>
              </a:rPr>
              <a:t>pd</a:t>
            </a:r>
            <a:endParaRPr lang="en-US" sz="2500" b="1" i="1" spc="-55" dirty="0">
              <a:solidFill>
                <a:srgbClr val="FF0000"/>
              </a:solidFill>
              <a:latin typeface="Cambria" panose="02040503050406030204" pitchFamily="18" charset="0"/>
              <a:ea typeface="Cambria" panose="02040503050406030204" pitchFamily="18" charset="0"/>
              <a:cs typeface="Segoe UI"/>
            </a:endParaRPr>
          </a:p>
        </p:txBody>
      </p:sp>
      <p:pic>
        <p:nvPicPr>
          <p:cNvPr id="6" name="Picture 5"/>
          <p:cNvPicPr>
            <a:picLocks noChangeAspect="1"/>
          </p:cNvPicPr>
          <p:nvPr/>
        </p:nvPicPr>
        <p:blipFill>
          <a:blip r:embed="rId2"/>
          <a:stretch>
            <a:fillRect/>
          </a:stretch>
        </p:blipFill>
        <p:spPr>
          <a:xfrm>
            <a:off x="8164197" y="3291119"/>
            <a:ext cx="3359535" cy="2654633"/>
          </a:xfrm>
          <a:prstGeom prst="rect">
            <a:avLst/>
          </a:prstGeom>
        </p:spPr>
      </p:pic>
    </p:spTree>
    <p:extLst>
      <p:ext uri="{BB962C8B-B14F-4D97-AF65-F5344CB8AC3E}">
        <p14:creationId xmlns:p14="http://schemas.microsoft.com/office/powerpoint/2010/main" val="30907538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PANDAS</a:t>
            </a:r>
          </a:p>
        </p:txBody>
      </p:sp>
      <p:sp>
        <p:nvSpPr>
          <p:cNvPr id="4" name="Rectangle 3"/>
          <p:cNvSpPr/>
          <p:nvPr/>
        </p:nvSpPr>
        <p:spPr>
          <a:xfrm>
            <a:off x="79512" y="726909"/>
            <a:ext cx="11884805" cy="3247043"/>
          </a:xfrm>
          <a:prstGeom prst="rect">
            <a:avLst/>
          </a:prstGeom>
        </p:spPr>
        <p:txBody>
          <a:bodyPr wrap="square">
            <a:spAutoFit/>
          </a:bodyPr>
          <a:lstStyle/>
          <a:p>
            <a:pPr marL="114300" lvl="1">
              <a:spcBef>
                <a:spcPts val="580"/>
              </a:spcBef>
              <a:buClr>
                <a:srgbClr val="FF5A33"/>
              </a:buClr>
              <a:tabLst>
                <a:tab pos="756920" algn="l"/>
              </a:tabLst>
            </a:pPr>
            <a:r>
              <a:rPr lang="vi-VN" sz="2500" b="1" i="1" spc="-55" dirty="0">
                <a:latin typeface="Cambria" panose="02040503050406030204" pitchFamily="18" charset="0"/>
                <a:ea typeface="Cambria" panose="02040503050406030204" pitchFamily="18" charset="0"/>
                <a:cs typeface="Segoe UI"/>
              </a:rPr>
              <a:t>Pandas làm việc với 3 cấu trúc dữ liệu sau :</a:t>
            </a:r>
          </a:p>
          <a:p>
            <a:pPr marL="857250" lvl="2" indent="-342900">
              <a:spcBef>
                <a:spcPts val="580"/>
              </a:spcBef>
              <a:buClr>
                <a:srgbClr val="FF5A33"/>
              </a:buClr>
              <a:buFont typeface="Wingdings" panose="05000000000000000000" pitchFamily="2" charset="2"/>
              <a:buChar char="§"/>
              <a:tabLst>
                <a:tab pos="756920" algn="l"/>
              </a:tabLst>
            </a:pPr>
            <a:r>
              <a:rPr lang="vi-VN" sz="2500" b="1" spc="-55" dirty="0">
                <a:latin typeface="Cambria" panose="02040503050406030204" pitchFamily="18" charset="0"/>
                <a:ea typeface="Cambria" panose="02040503050406030204" pitchFamily="18" charset="0"/>
                <a:cs typeface="Segoe UI"/>
              </a:rPr>
              <a:t>Series</a:t>
            </a:r>
          </a:p>
          <a:p>
            <a:pPr marL="857250" lvl="2" indent="-342900">
              <a:spcBef>
                <a:spcPts val="580"/>
              </a:spcBef>
              <a:buClr>
                <a:srgbClr val="FF5A33"/>
              </a:buClr>
              <a:buFont typeface="Wingdings" panose="05000000000000000000" pitchFamily="2" charset="2"/>
              <a:buChar char="§"/>
              <a:tabLst>
                <a:tab pos="756920" algn="l"/>
              </a:tabLst>
            </a:pPr>
            <a:r>
              <a:rPr lang="vi-VN" sz="2500" b="1" spc="-55" dirty="0">
                <a:latin typeface="Cambria" panose="02040503050406030204" pitchFamily="18" charset="0"/>
                <a:ea typeface="Cambria" panose="02040503050406030204" pitchFamily="18" charset="0"/>
                <a:cs typeface="Segoe UI"/>
              </a:rPr>
              <a:t>DataFrame</a:t>
            </a:r>
          </a:p>
          <a:p>
            <a:pPr marL="857250" lvl="2" indent="-342900">
              <a:spcBef>
                <a:spcPts val="580"/>
              </a:spcBef>
              <a:buClr>
                <a:srgbClr val="FF5A33"/>
              </a:buClr>
              <a:buFont typeface="Wingdings" panose="05000000000000000000" pitchFamily="2" charset="2"/>
              <a:buChar char="§"/>
              <a:tabLst>
                <a:tab pos="756920" algn="l"/>
              </a:tabLst>
            </a:pPr>
            <a:r>
              <a:rPr lang="vi-VN" sz="2500" spc="-55" dirty="0">
                <a:latin typeface="Cambria" panose="02040503050406030204" pitchFamily="18" charset="0"/>
                <a:ea typeface="Cambria" panose="02040503050406030204" pitchFamily="18" charset="0"/>
                <a:cs typeface="Segoe UI"/>
              </a:rPr>
              <a:t>Panel</a:t>
            </a:r>
          </a:p>
          <a:p>
            <a:pPr marL="114300" lvl="1" indent="0">
              <a:spcBef>
                <a:spcPts val="580"/>
              </a:spcBef>
              <a:buClr>
                <a:srgbClr val="FF5A33"/>
              </a:buClr>
              <a:buNone/>
              <a:tabLst>
                <a:tab pos="756920" algn="l"/>
              </a:tabLst>
            </a:pPr>
            <a:r>
              <a:rPr lang="vi-VN" sz="2500" spc="-55" dirty="0">
                <a:latin typeface="Cambria" panose="02040503050406030204" pitchFamily="18" charset="0"/>
                <a:ea typeface="Cambria" panose="02040503050406030204" pitchFamily="18" charset="0"/>
                <a:cs typeface="Segoe UI"/>
              </a:rPr>
              <a:t>Các cấu trúc dữ liệu này được xây dựng trên mảng Numpy, nên việc xử lý xảy ra rất nhanh.</a:t>
            </a:r>
            <a:endParaRPr lang="en-US" sz="2500" dirty="0">
              <a:solidFill>
                <a:srgbClr val="212529"/>
              </a:solidFill>
              <a:latin typeface="Cambria" panose="02040503050406030204" pitchFamily="18" charset="0"/>
              <a:ea typeface="Cambria" panose="02040503050406030204" pitchFamily="18" charset="0"/>
            </a:endParaRPr>
          </a:p>
          <a:p>
            <a:pPr marL="804863" lvl="1" indent="-347663">
              <a:spcBef>
                <a:spcPts val="580"/>
              </a:spcBef>
              <a:buClr>
                <a:srgbClr val="FF5A33"/>
              </a:buClr>
              <a:buFont typeface="Wingdings" panose="05000000000000000000" pitchFamily="2" charset="2"/>
              <a:buChar char="§"/>
              <a:tabLst>
                <a:tab pos="756920" algn="l"/>
              </a:tabLst>
            </a:pPr>
            <a:r>
              <a:rPr lang="en-US" sz="2500" dirty="0" err="1">
                <a:solidFill>
                  <a:srgbClr val="212529"/>
                </a:solidFill>
                <a:latin typeface="Cambria" panose="02040503050406030204" pitchFamily="18" charset="0"/>
                <a:ea typeface="Cambria" panose="02040503050406030204" pitchFamily="18" charset="0"/>
              </a:rPr>
              <a:t>DataFrame</a:t>
            </a:r>
            <a:r>
              <a:rPr lang="en-US" sz="2500" dirty="0">
                <a:solidFill>
                  <a:srgbClr val="212529"/>
                </a:solidFill>
                <a:latin typeface="Cambria" panose="02040503050406030204" pitchFamily="18" charset="0"/>
                <a:ea typeface="Cambria" panose="02040503050406030204" pitchFamily="18" charset="0"/>
              </a:rPr>
              <a:t> </a:t>
            </a:r>
            <a:r>
              <a:rPr lang="en-US" sz="2500" dirty="0" err="1">
                <a:solidFill>
                  <a:srgbClr val="212529"/>
                </a:solidFill>
                <a:latin typeface="Cambria" panose="02040503050406030204" pitchFamily="18" charset="0"/>
                <a:ea typeface="Cambria" panose="02040503050406030204" pitchFamily="18" charset="0"/>
              </a:rPr>
              <a:t>là</a:t>
            </a:r>
            <a:r>
              <a:rPr lang="en-US" sz="2500" dirty="0">
                <a:solidFill>
                  <a:srgbClr val="212529"/>
                </a:solidFill>
                <a:latin typeface="Cambria" panose="02040503050406030204" pitchFamily="18" charset="0"/>
                <a:ea typeface="Cambria" panose="02040503050406030204" pitchFamily="18" charset="0"/>
              </a:rPr>
              <a:t> </a:t>
            </a:r>
            <a:r>
              <a:rPr lang="en-US" sz="2500" dirty="0" err="1">
                <a:solidFill>
                  <a:srgbClr val="212529"/>
                </a:solidFill>
                <a:latin typeface="Cambria" panose="02040503050406030204" pitchFamily="18" charset="0"/>
                <a:ea typeface="Cambria" panose="02040503050406030204" pitchFamily="18" charset="0"/>
              </a:rPr>
              <a:t>vùng</a:t>
            </a:r>
            <a:r>
              <a:rPr lang="en-US" sz="2500" dirty="0">
                <a:solidFill>
                  <a:srgbClr val="212529"/>
                </a:solidFill>
                <a:latin typeface="Cambria" panose="02040503050406030204" pitchFamily="18" charset="0"/>
                <a:ea typeface="Cambria" panose="02040503050406030204" pitchFamily="18" charset="0"/>
              </a:rPr>
              <a:t> </a:t>
            </a:r>
            <a:r>
              <a:rPr lang="en-US" sz="2500" dirty="0" err="1">
                <a:solidFill>
                  <a:srgbClr val="212529"/>
                </a:solidFill>
                <a:latin typeface="Cambria" panose="02040503050406030204" pitchFamily="18" charset="0"/>
                <a:ea typeface="Cambria" panose="02040503050406030204" pitchFamily="18" charset="0"/>
              </a:rPr>
              <a:t>chứa</a:t>
            </a:r>
            <a:r>
              <a:rPr lang="en-US" sz="2500" dirty="0">
                <a:solidFill>
                  <a:srgbClr val="212529"/>
                </a:solidFill>
                <a:latin typeface="Cambria" panose="02040503050406030204" pitchFamily="18" charset="0"/>
                <a:ea typeface="Cambria" panose="02040503050406030204" pitchFamily="18" charset="0"/>
              </a:rPr>
              <a:t> </a:t>
            </a:r>
            <a:r>
              <a:rPr lang="en-US" sz="2500" dirty="0" err="1">
                <a:solidFill>
                  <a:srgbClr val="212529"/>
                </a:solidFill>
                <a:latin typeface="Cambria" panose="02040503050406030204" pitchFamily="18" charset="0"/>
                <a:ea typeface="Cambria" panose="02040503050406030204" pitchFamily="18" charset="0"/>
              </a:rPr>
              <a:t>của</a:t>
            </a:r>
            <a:r>
              <a:rPr lang="en-US" sz="2500" dirty="0">
                <a:solidFill>
                  <a:srgbClr val="212529"/>
                </a:solidFill>
                <a:latin typeface="Cambria" panose="02040503050406030204" pitchFamily="18" charset="0"/>
                <a:ea typeface="Cambria" panose="02040503050406030204" pitchFamily="18" charset="0"/>
              </a:rPr>
              <a:t> Series.</a:t>
            </a:r>
          </a:p>
          <a:p>
            <a:pPr marL="804863" lvl="1" indent="-347663">
              <a:spcBef>
                <a:spcPts val="580"/>
              </a:spcBef>
              <a:buClr>
                <a:srgbClr val="FF5A33"/>
              </a:buClr>
              <a:buFont typeface="Wingdings" panose="05000000000000000000" pitchFamily="2" charset="2"/>
              <a:buChar char="§"/>
              <a:tabLst>
                <a:tab pos="756920" algn="l"/>
              </a:tabLst>
            </a:pPr>
            <a:r>
              <a:rPr lang="en-US" sz="2500" dirty="0">
                <a:solidFill>
                  <a:srgbClr val="212529"/>
                </a:solidFill>
                <a:latin typeface="Cambria" panose="02040503050406030204" pitchFamily="18" charset="0"/>
                <a:ea typeface="Cambria" panose="02040503050406030204" pitchFamily="18" charset="0"/>
              </a:rPr>
              <a:t>Panel </a:t>
            </a:r>
            <a:r>
              <a:rPr lang="en-US" sz="2500" dirty="0" err="1">
                <a:solidFill>
                  <a:srgbClr val="212529"/>
                </a:solidFill>
                <a:latin typeface="Cambria" panose="02040503050406030204" pitchFamily="18" charset="0"/>
                <a:ea typeface="Cambria" panose="02040503050406030204" pitchFamily="18" charset="0"/>
              </a:rPr>
              <a:t>là</a:t>
            </a:r>
            <a:r>
              <a:rPr lang="en-US" sz="2500" dirty="0">
                <a:solidFill>
                  <a:srgbClr val="212529"/>
                </a:solidFill>
                <a:latin typeface="Cambria" panose="02040503050406030204" pitchFamily="18" charset="0"/>
                <a:ea typeface="Cambria" panose="02040503050406030204" pitchFamily="18" charset="0"/>
              </a:rPr>
              <a:t> </a:t>
            </a:r>
            <a:r>
              <a:rPr lang="en-US" sz="2500" dirty="0" err="1">
                <a:solidFill>
                  <a:srgbClr val="212529"/>
                </a:solidFill>
                <a:latin typeface="Cambria" panose="02040503050406030204" pitchFamily="18" charset="0"/>
                <a:ea typeface="Cambria" panose="02040503050406030204" pitchFamily="18" charset="0"/>
              </a:rPr>
              <a:t>vùng</a:t>
            </a:r>
            <a:r>
              <a:rPr lang="en-US" sz="2500" dirty="0">
                <a:solidFill>
                  <a:srgbClr val="212529"/>
                </a:solidFill>
                <a:latin typeface="Cambria" panose="02040503050406030204" pitchFamily="18" charset="0"/>
                <a:ea typeface="Cambria" panose="02040503050406030204" pitchFamily="18" charset="0"/>
              </a:rPr>
              <a:t> </a:t>
            </a:r>
            <a:r>
              <a:rPr lang="en-US" sz="2500" dirty="0" err="1">
                <a:solidFill>
                  <a:srgbClr val="212529"/>
                </a:solidFill>
                <a:latin typeface="Cambria" panose="02040503050406030204" pitchFamily="18" charset="0"/>
                <a:ea typeface="Cambria" panose="02040503050406030204" pitchFamily="18" charset="0"/>
              </a:rPr>
              <a:t>chứa</a:t>
            </a:r>
            <a:r>
              <a:rPr lang="en-US" sz="2500" dirty="0">
                <a:solidFill>
                  <a:srgbClr val="212529"/>
                </a:solidFill>
                <a:latin typeface="Cambria" panose="02040503050406030204" pitchFamily="18" charset="0"/>
                <a:ea typeface="Cambria" panose="02040503050406030204" pitchFamily="18" charset="0"/>
              </a:rPr>
              <a:t> </a:t>
            </a:r>
            <a:r>
              <a:rPr lang="en-US" sz="2500" dirty="0" err="1">
                <a:solidFill>
                  <a:srgbClr val="212529"/>
                </a:solidFill>
                <a:latin typeface="Cambria" panose="02040503050406030204" pitchFamily="18" charset="0"/>
                <a:ea typeface="Cambria" panose="02040503050406030204" pitchFamily="18" charset="0"/>
              </a:rPr>
              <a:t>của</a:t>
            </a:r>
            <a:r>
              <a:rPr lang="en-US" sz="2500" dirty="0">
                <a:solidFill>
                  <a:srgbClr val="212529"/>
                </a:solidFill>
                <a:latin typeface="Cambria" panose="02040503050406030204" pitchFamily="18" charset="0"/>
                <a:ea typeface="Cambria" panose="02040503050406030204" pitchFamily="18" charset="0"/>
              </a:rPr>
              <a:t> </a:t>
            </a:r>
            <a:r>
              <a:rPr lang="en-US" sz="2500" dirty="0" err="1">
                <a:solidFill>
                  <a:srgbClr val="212529"/>
                </a:solidFill>
                <a:latin typeface="Cambria" panose="02040503050406030204" pitchFamily="18" charset="0"/>
                <a:ea typeface="Cambria" panose="02040503050406030204" pitchFamily="18" charset="0"/>
              </a:rPr>
              <a:t>DataFrame</a:t>
            </a:r>
            <a:r>
              <a:rPr lang="en-US" sz="2500" dirty="0">
                <a:solidFill>
                  <a:srgbClr val="212529"/>
                </a:solidFill>
                <a:latin typeface="Cambria" panose="02040503050406030204" pitchFamily="18" charset="0"/>
                <a:ea typeface="Cambria" panose="02040503050406030204" pitchFamily="18" charset="0"/>
              </a:rPr>
              <a:t>.</a:t>
            </a:r>
          </a:p>
        </p:txBody>
      </p:sp>
      <p:sp>
        <p:nvSpPr>
          <p:cNvPr id="3" name="Rectangle 2"/>
          <p:cNvSpPr/>
          <p:nvPr/>
        </p:nvSpPr>
        <p:spPr>
          <a:xfrm>
            <a:off x="79512" y="4019708"/>
            <a:ext cx="11763620" cy="1862048"/>
          </a:xfrm>
          <a:prstGeom prst="rect">
            <a:avLst/>
          </a:prstGeom>
        </p:spPr>
        <p:txBody>
          <a:bodyPr wrap="square">
            <a:spAutoFit/>
          </a:bodyPr>
          <a:lstStyle/>
          <a:p>
            <a:pPr marL="114300" lvl="1">
              <a:spcBef>
                <a:spcPts val="580"/>
              </a:spcBef>
              <a:buClr>
                <a:srgbClr val="FF5A33"/>
              </a:buClr>
              <a:tabLst>
                <a:tab pos="756920" algn="l"/>
              </a:tabLst>
            </a:pPr>
            <a:r>
              <a:rPr lang="vi-VN" sz="2500" b="1" i="1" spc="-55" dirty="0">
                <a:latin typeface="Cambria" panose="02040503050406030204" pitchFamily="18" charset="0"/>
                <a:ea typeface="Cambria" panose="02040503050406030204" pitchFamily="18" charset="0"/>
                <a:cs typeface="Segoe UI"/>
              </a:rPr>
              <a:t>Pandas làm việc với 3 cấu trúc dữ liệu sau :</a:t>
            </a:r>
          </a:p>
          <a:p>
            <a:pPr marL="857250" lvl="2" indent="-342900">
              <a:spcBef>
                <a:spcPts val="580"/>
              </a:spcBef>
              <a:buClr>
                <a:srgbClr val="FF5A33"/>
              </a:buClr>
              <a:buFont typeface="Wingdings" panose="05000000000000000000" pitchFamily="2" charset="2"/>
              <a:buChar char="§"/>
              <a:tabLst>
                <a:tab pos="756920" algn="l"/>
              </a:tabLst>
            </a:pPr>
            <a:r>
              <a:rPr lang="vi-VN" sz="2500" b="1" spc="-55" dirty="0">
                <a:latin typeface="Cambria" panose="02040503050406030204" pitchFamily="18" charset="0"/>
                <a:ea typeface="Cambria" panose="02040503050406030204" pitchFamily="18" charset="0"/>
                <a:cs typeface="Segoe UI"/>
              </a:rPr>
              <a:t>Series</a:t>
            </a:r>
          </a:p>
          <a:p>
            <a:pPr marL="857250" lvl="2" indent="-342900">
              <a:spcBef>
                <a:spcPts val="580"/>
              </a:spcBef>
              <a:buClr>
                <a:srgbClr val="FF5A33"/>
              </a:buClr>
              <a:buFont typeface="Wingdings" panose="05000000000000000000" pitchFamily="2" charset="2"/>
              <a:buChar char="§"/>
              <a:tabLst>
                <a:tab pos="756920" algn="l"/>
              </a:tabLst>
            </a:pPr>
            <a:r>
              <a:rPr lang="vi-VN" sz="2500" b="1" spc="-55" dirty="0">
                <a:latin typeface="Cambria" panose="02040503050406030204" pitchFamily="18" charset="0"/>
                <a:ea typeface="Cambria" panose="02040503050406030204" pitchFamily="18" charset="0"/>
                <a:cs typeface="Segoe UI"/>
              </a:rPr>
              <a:t>DataFrame</a:t>
            </a:r>
          </a:p>
          <a:p>
            <a:pPr marL="857250" lvl="2" indent="-342900">
              <a:spcBef>
                <a:spcPts val="580"/>
              </a:spcBef>
              <a:buClr>
                <a:srgbClr val="FF5A33"/>
              </a:buClr>
              <a:buFont typeface="Wingdings" panose="05000000000000000000" pitchFamily="2" charset="2"/>
              <a:buChar char="§"/>
              <a:tabLst>
                <a:tab pos="756920" algn="l"/>
              </a:tabLst>
            </a:pPr>
            <a:r>
              <a:rPr lang="vi-VN" sz="2500" spc="-55" dirty="0">
                <a:latin typeface="Cambria" panose="02040503050406030204" pitchFamily="18" charset="0"/>
                <a:ea typeface="Cambria" panose="02040503050406030204" pitchFamily="18" charset="0"/>
                <a:cs typeface="Segoe UI"/>
              </a:rPr>
              <a:t>Panel</a:t>
            </a:r>
          </a:p>
        </p:txBody>
      </p:sp>
      <p:sp>
        <p:nvSpPr>
          <p:cNvPr id="10" name="Content Placeholder 7">
            <a:extLst>
              <a:ext uri="{FF2B5EF4-FFF2-40B4-BE49-F238E27FC236}">
                <a16:creationId xmlns:a16="http://schemas.microsoft.com/office/drawing/2014/main" id="{23E39DD2-52BD-6C4E-7456-91CA864B0046}"/>
              </a:ext>
            </a:extLst>
          </p:cNvPr>
          <p:cNvSpPr>
            <a:spLocks noGrp="1"/>
          </p:cNvSpPr>
          <p:nvPr>
            <p:ph idx="1"/>
          </p:nvPr>
        </p:nvSpPr>
        <p:spPr>
          <a:xfrm>
            <a:off x="3094720" y="4718596"/>
            <a:ext cx="8869597" cy="1163160"/>
          </a:xfrm>
        </p:spPr>
        <p:txBody>
          <a:bodyPr>
            <a:noAutofit/>
          </a:bodyPr>
          <a:lstStyle/>
          <a:p>
            <a:pPr marL="0" indent="0" algn="just">
              <a:lnSpc>
                <a:spcPct val="130000"/>
              </a:lnSpc>
              <a:spcBef>
                <a:spcPts val="0"/>
              </a:spcBef>
              <a:buClr>
                <a:srgbClr val="FF0000"/>
              </a:buClr>
              <a:buNone/>
            </a:pPr>
            <a:r>
              <a:rPr lang="en-US" sz="2000" b="1" i="1" kern="1200" dirty="0" err="1">
                <a:solidFill>
                  <a:srgbClr val="212529"/>
                </a:solidFill>
                <a:effectLst/>
                <a:latin typeface="Cambria" panose="02040503050406030204" pitchFamily="18" charset="0"/>
                <a:ea typeface="Cambria" panose="02040503050406030204" pitchFamily="18" charset="0"/>
              </a:rPr>
              <a:t>Lưu</a:t>
            </a:r>
            <a:r>
              <a:rPr lang="en-US" sz="2000" b="1" i="1" kern="1200" dirty="0">
                <a:solidFill>
                  <a:srgbClr val="212529"/>
                </a:solidFill>
                <a:effectLst/>
                <a:latin typeface="Cambria" panose="02040503050406030204" pitchFamily="18" charset="0"/>
                <a:ea typeface="Cambria" panose="02040503050406030204" pitchFamily="18" charset="0"/>
              </a:rPr>
              <a:t> ý </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1" i="1" kern="1200" dirty="0" err="1">
                <a:solidFill>
                  <a:srgbClr val="212529"/>
                </a:solidFill>
                <a:effectLst/>
                <a:latin typeface="Cambria" panose="02040503050406030204" pitchFamily="18" charset="0"/>
                <a:ea typeface="Cambria" panose="02040503050406030204" pitchFamily="18" charset="0"/>
              </a:rPr>
              <a:t>DataFrame</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0" i="1" kern="1200" dirty="0" err="1">
                <a:solidFill>
                  <a:srgbClr val="212529"/>
                </a:solidFill>
                <a:effectLst/>
                <a:latin typeface="Cambria" panose="02040503050406030204" pitchFamily="18" charset="0"/>
                <a:ea typeface="Cambria" panose="02040503050406030204" pitchFamily="18" charset="0"/>
              </a:rPr>
              <a:t>được</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0" i="1" kern="1200" dirty="0" err="1">
                <a:solidFill>
                  <a:srgbClr val="212529"/>
                </a:solidFill>
                <a:effectLst/>
                <a:latin typeface="Cambria" panose="02040503050406030204" pitchFamily="18" charset="0"/>
                <a:ea typeface="Cambria" panose="02040503050406030204" pitchFamily="18" charset="0"/>
              </a:rPr>
              <a:t>sử</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0" i="1" kern="1200" dirty="0" err="1">
                <a:solidFill>
                  <a:srgbClr val="212529"/>
                </a:solidFill>
                <a:effectLst/>
                <a:latin typeface="Cambria" panose="02040503050406030204" pitchFamily="18" charset="0"/>
                <a:ea typeface="Cambria" panose="02040503050406030204" pitchFamily="18" charset="0"/>
              </a:rPr>
              <a:t>dụng</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0" i="1" kern="1200" dirty="0" err="1">
                <a:solidFill>
                  <a:srgbClr val="212529"/>
                </a:solidFill>
                <a:effectLst/>
                <a:latin typeface="Cambria" panose="02040503050406030204" pitchFamily="18" charset="0"/>
                <a:ea typeface="Cambria" panose="02040503050406030204" pitchFamily="18" charset="0"/>
              </a:rPr>
              <a:t>rộng</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0" i="1" kern="1200" dirty="0" err="1">
                <a:solidFill>
                  <a:srgbClr val="212529"/>
                </a:solidFill>
                <a:effectLst/>
                <a:latin typeface="Cambria" panose="02040503050406030204" pitchFamily="18" charset="0"/>
                <a:ea typeface="Cambria" panose="02040503050406030204" pitchFamily="18" charset="0"/>
              </a:rPr>
              <a:t>rãi</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0" i="1" kern="1200" dirty="0" err="1">
                <a:solidFill>
                  <a:srgbClr val="212529"/>
                </a:solidFill>
                <a:effectLst/>
                <a:latin typeface="Cambria" panose="02040503050406030204" pitchFamily="18" charset="0"/>
                <a:ea typeface="Cambria" panose="02040503050406030204" pitchFamily="18" charset="0"/>
              </a:rPr>
              <a:t>và</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0" i="1" kern="1200" dirty="0" err="1">
                <a:solidFill>
                  <a:srgbClr val="212529"/>
                </a:solidFill>
                <a:effectLst/>
                <a:latin typeface="Cambria" panose="02040503050406030204" pitchFamily="18" charset="0"/>
                <a:ea typeface="Cambria" panose="02040503050406030204" pitchFamily="18" charset="0"/>
              </a:rPr>
              <a:t>là</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0" i="1" kern="1200" dirty="0" err="1">
                <a:solidFill>
                  <a:srgbClr val="212529"/>
                </a:solidFill>
                <a:effectLst/>
                <a:latin typeface="Cambria" panose="02040503050406030204" pitchFamily="18" charset="0"/>
                <a:ea typeface="Cambria" panose="02040503050406030204" pitchFamily="18" charset="0"/>
              </a:rPr>
              <a:t>một</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0" i="1" kern="1200" dirty="0" err="1">
                <a:solidFill>
                  <a:srgbClr val="212529"/>
                </a:solidFill>
                <a:effectLst/>
                <a:latin typeface="Cambria" panose="02040503050406030204" pitchFamily="18" charset="0"/>
                <a:ea typeface="Cambria" panose="02040503050406030204" pitchFamily="18" charset="0"/>
              </a:rPr>
              <a:t>trong</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0" i="1" kern="1200" dirty="0" err="1">
                <a:solidFill>
                  <a:srgbClr val="212529"/>
                </a:solidFill>
                <a:effectLst/>
                <a:latin typeface="Cambria" panose="02040503050406030204" pitchFamily="18" charset="0"/>
                <a:ea typeface="Cambria" panose="02040503050406030204" pitchFamily="18" charset="0"/>
              </a:rPr>
              <a:t>những</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0" i="1" kern="1200" dirty="0" err="1">
                <a:solidFill>
                  <a:srgbClr val="212529"/>
                </a:solidFill>
                <a:effectLst/>
                <a:latin typeface="Cambria" panose="02040503050406030204" pitchFamily="18" charset="0"/>
                <a:ea typeface="Cambria" panose="02040503050406030204" pitchFamily="18" charset="0"/>
              </a:rPr>
              <a:t>cấu</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0" i="1" kern="1200" dirty="0" err="1">
                <a:solidFill>
                  <a:srgbClr val="212529"/>
                </a:solidFill>
                <a:effectLst/>
                <a:latin typeface="Cambria" panose="02040503050406030204" pitchFamily="18" charset="0"/>
                <a:ea typeface="Cambria" panose="02040503050406030204" pitchFamily="18" charset="0"/>
              </a:rPr>
              <a:t>trúc</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0" i="1" kern="1200" dirty="0" err="1">
                <a:solidFill>
                  <a:srgbClr val="212529"/>
                </a:solidFill>
                <a:effectLst/>
                <a:latin typeface="Cambria" panose="02040503050406030204" pitchFamily="18" charset="0"/>
                <a:ea typeface="Cambria" panose="02040503050406030204" pitchFamily="18" charset="0"/>
              </a:rPr>
              <a:t>dữ</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0" i="1" kern="1200" dirty="0" err="1">
                <a:solidFill>
                  <a:srgbClr val="212529"/>
                </a:solidFill>
                <a:effectLst/>
                <a:latin typeface="Cambria" panose="02040503050406030204" pitchFamily="18" charset="0"/>
                <a:ea typeface="Cambria" panose="02040503050406030204" pitchFamily="18" charset="0"/>
              </a:rPr>
              <a:t>liệu</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0" i="1" kern="1200" dirty="0" err="1">
                <a:solidFill>
                  <a:srgbClr val="212529"/>
                </a:solidFill>
                <a:effectLst/>
                <a:latin typeface="Cambria" panose="02040503050406030204" pitchFamily="18" charset="0"/>
                <a:ea typeface="Cambria" panose="02040503050406030204" pitchFamily="18" charset="0"/>
              </a:rPr>
              <a:t>quan</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0" i="1" kern="1200" dirty="0" err="1">
                <a:solidFill>
                  <a:srgbClr val="212529"/>
                </a:solidFill>
                <a:effectLst/>
                <a:latin typeface="Cambria" panose="02040503050406030204" pitchFamily="18" charset="0"/>
                <a:ea typeface="Cambria" panose="02040503050406030204" pitchFamily="18" charset="0"/>
              </a:rPr>
              <a:t>trọng</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0" i="1" kern="1200" dirty="0" err="1">
                <a:solidFill>
                  <a:srgbClr val="212529"/>
                </a:solidFill>
                <a:effectLst/>
                <a:latin typeface="Cambria" panose="02040503050406030204" pitchFamily="18" charset="0"/>
                <a:ea typeface="Cambria" panose="02040503050406030204" pitchFamily="18" charset="0"/>
              </a:rPr>
              <a:t>nhất</a:t>
            </a:r>
            <a:r>
              <a:rPr lang="en-US" sz="2000" b="0" i="1" kern="1200" dirty="0">
                <a:solidFill>
                  <a:srgbClr val="212529"/>
                </a:solidFill>
                <a:effectLst/>
                <a:latin typeface="Cambria" panose="02040503050406030204" pitchFamily="18" charset="0"/>
                <a:ea typeface="Cambria" panose="02040503050406030204" pitchFamily="18" charset="0"/>
              </a:rPr>
              <a:t>. Panel </a:t>
            </a:r>
            <a:r>
              <a:rPr lang="en-US" sz="2000" b="0" i="1" kern="1200" dirty="0" err="1">
                <a:solidFill>
                  <a:srgbClr val="212529"/>
                </a:solidFill>
                <a:effectLst/>
                <a:latin typeface="Cambria" panose="02040503050406030204" pitchFamily="18" charset="0"/>
                <a:ea typeface="Cambria" panose="02040503050406030204" pitchFamily="18" charset="0"/>
              </a:rPr>
              <a:t>được</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0" i="1" kern="1200" dirty="0" err="1">
                <a:solidFill>
                  <a:srgbClr val="212529"/>
                </a:solidFill>
                <a:effectLst/>
                <a:latin typeface="Cambria" panose="02040503050406030204" pitchFamily="18" charset="0"/>
                <a:ea typeface="Cambria" panose="02040503050406030204" pitchFamily="18" charset="0"/>
              </a:rPr>
              <a:t>sử</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0" i="1" kern="1200" dirty="0" err="1">
                <a:solidFill>
                  <a:srgbClr val="212529"/>
                </a:solidFill>
                <a:effectLst/>
                <a:latin typeface="Cambria" panose="02040503050406030204" pitchFamily="18" charset="0"/>
                <a:ea typeface="Cambria" panose="02040503050406030204" pitchFamily="18" charset="0"/>
              </a:rPr>
              <a:t>dụng</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0" i="1" kern="1200" dirty="0" err="1">
                <a:solidFill>
                  <a:srgbClr val="212529"/>
                </a:solidFill>
                <a:effectLst/>
                <a:latin typeface="Cambria" panose="02040503050406030204" pitchFamily="18" charset="0"/>
                <a:ea typeface="Cambria" panose="02040503050406030204" pitchFamily="18" charset="0"/>
              </a:rPr>
              <a:t>ít</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0" i="1" kern="1200" dirty="0" err="1">
                <a:solidFill>
                  <a:srgbClr val="212529"/>
                </a:solidFill>
                <a:effectLst/>
                <a:latin typeface="Cambria" panose="02040503050406030204" pitchFamily="18" charset="0"/>
                <a:ea typeface="Cambria" panose="02040503050406030204" pitchFamily="18" charset="0"/>
              </a:rPr>
              <a:t>hơn</a:t>
            </a:r>
            <a:r>
              <a:rPr lang="en-US" sz="2000" b="0" i="1" kern="1200" dirty="0">
                <a:solidFill>
                  <a:srgbClr val="212529"/>
                </a:solidFill>
                <a:effectLst/>
                <a:latin typeface="Cambria" panose="02040503050406030204" pitchFamily="18" charset="0"/>
                <a:ea typeface="Cambria" panose="02040503050406030204" pitchFamily="18" charset="0"/>
              </a:rPr>
              <a:t> </a:t>
            </a:r>
            <a:r>
              <a:rPr lang="en-US" sz="2000" b="0" i="1" kern="1200" dirty="0" err="1">
                <a:solidFill>
                  <a:srgbClr val="212529"/>
                </a:solidFill>
                <a:effectLst/>
                <a:latin typeface="Cambria" panose="02040503050406030204" pitchFamily="18" charset="0"/>
                <a:ea typeface="Cambria" panose="02040503050406030204" pitchFamily="18" charset="0"/>
              </a:rPr>
              <a:t>nhiều</a:t>
            </a:r>
            <a:r>
              <a:rPr lang="en-US" sz="2000" b="0" i="1" kern="1200" dirty="0">
                <a:solidFill>
                  <a:srgbClr val="212529"/>
                </a:solidFill>
                <a:effectLst/>
                <a:latin typeface="Cambria" panose="02040503050406030204" pitchFamily="18" charset="0"/>
                <a:ea typeface="Cambria" panose="02040503050406030204" pitchFamily="18" charset="0"/>
              </a:rPr>
              <a:t>.</a:t>
            </a:r>
            <a:endParaRPr lang="en-US" sz="2000" b="0" i="1" kern="1200" dirty="0">
              <a:effectLst/>
              <a:latin typeface="Cambria" panose="02040503050406030204" pitchFamily="18" charset="0"/>
              <a:ea typeface="Cambria" panose="02040503050406030204" pitchFamily="18" charset="0"/>
            </a:endParaRPr>
          </a:p>
          <a:p>
            <a:pPr>
              <a:lnSpc>
                <a:spcPct val="130000"/>
              </a:lnSpc>
              <a:spcBef>
                <a:spcPts val="0"/>
              </a:spcBef>
              <a:buFont typeface="Wingdings" panose="05000000000000000000" pitchFamily="2" charset="2"/>
              <a:buChar char="§"/>
            </a:pPr>
            <a:endParaRPr lang="en-US" sz="2000" b="0" i="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0853319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PANDAS – SERIES</a:t>
            </a:r>
          </a:p>
        </p:txBody>
      </p:sp>
      <p:sp>
        <p:nvSpPr>
          <p:cNvPr id="5" name="Rectangle 4"/>
          <p:cNvSpPr/>
          <p:nvPr/>
        </p:nvSpPr>
        <p:spPr>
          <a:xfrm>
            <a:off x="79513" y="691585"/>
            <a:ext cx="12006470" cy="477054"/>
          </a:xfrm>
          <a:prstGeom prst="rect">
            <a:avLst/>
          </a:prstGeom>
        </p:spPr>
        <p:txBody>
          <a:bodyPr wrap="square">
            <a:spAutoFit/>
          </a:bodyPr>
          <a:lstStyle/>
          <a:p>
            <a:r>
              <a:rPr lang="en-US" sz="2500" b="1" dirty="0" err="1">
                <a:solidFill>
                  <a:srgbClr val="FF0000"/>
                </a:solidFill>
                <a:latin typeface="Cambria" panose="02040503050406030204" pitchFamily="18" charset="0"/>
                <a:ea typeface="Cambria" panose="02040503050406030204" pitchFamily="18" charset="0"/>
              </a:rPr>
              <a:t>Cấu</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trúc</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dữ</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liệu</a:t>
            </a:r>
            <a:r>
              <a:rPr lang="en-US" sz="2500" b="1" dirty="0">
                <a:solidFill>
                  <a:srgbClr val="FF0000"/>
                </a:solidFill>
                <a:latin typeface="Cambria" panose="02040503050406030204" pitchFamily="18" charset="0"/>
                <a:ea typeface="Cambria" panose="02040503050406030204" pitchFamily="18" charset="0"/>
              </a:rPr>
              <a:t> Series: </a:t>
            </a:r>
            <a:r>
              <a:rPr lang="en-US" sz="2500" b="1" dirty="0">
                <a:solidFill>
                  <a:srgbClr val="000000"/>
                </a:solidFill>
                <a:latin typeface="Cambria" panose="02040503050406030204" pitchFamily="18" charset="0"/>
                <a:ea typeface="Cambria" panose="02040503050406030204" pitchFamily="18" charset="0"/>
              </a:rPr>
              <a:t>pandas.</a:t>
            </a:r>
            <a:r>
              <a:rPr lang="vi-VN" sz="2500" b="1" dirty="0">
                <a:solidFill>
                  <a:srgbClr val="000000"/>
                </a:solidFill>
                <a:latin typeface="Cambria" panose="02040503050406030204" pitchFamily="18" charset="0"/>
                <a:ea typeface="Cambria" panose="02040503050406030204" pitchFamily="18" charset="0"/>
              </a:rPr>
              <a:t>Series([data, index, dtype,copy)]</a:t>
            </a:r>
            <a:endParaRPr lang="en-US" sz="2500" b="1" dirty="0">
              <a:solidFill>
                <a:srgbClr val="000000"/>
              </a:solidFill>
              <a:latin typeface="Cambria" panose="02040503050406030204" pitchFamily="18" charset="0"/>
              <a:ea typeface="Cambria" panose="02040503050406030204" pitchFamily="18" charset="0"/>
            </a:endParaRPr>
          </a:p>
        </p:txBody>
      </p:sp>
      <p:sp>
        <p:nvSpPr>
          <p:cNvPr id="2" name="Rectangle 1"/>
          <p:cNvSpPr/>
          <p:nvPr/>
        </p:nvSpPr>
        <p:spPr>
          <a:xfrm>
            <a:off x="255104" y="1204242"/>
            <a:ext cx="11751366" cy="4593565"/>
          </a:xfrm>
          <a:prstGeom prst="rect">
            <a:avLst/>
          </a:prstGeom>
        </p:spPr>
        <p:txBody>
          <a:bodyPr wrap="square">
            <a:spAutoFit/>
          </a:bodyPr>
          <a:lstStyle/>
          <a:p>
            <a:pPr marL="571500" lvl="1" indent="-457200">
              <a:lnSpc>
                <a:spcPct val="130000"/>
              </a:lnSpc>
              <a:buClr>
                <a:schemeClr val="tx1"/>
              </a:buClr>
              <a:buAutoNum type="arabicPeriod"/>
              <a:tabLst>
                <a:tab pos="756920" algn="l"/>
              </a:tabLst>
            </a:pPr>
            <a:r>
              <a:rPr lang="vi-VN" sz="2500" b="1" i="1" spc="-55" dirty="0">
                <a:latin typeface="Cambria" panose="02040503050406030204" pitchFamily="18" charset="0"/>
                <a:ea typeface="Cambria" panose="02040503050406030204" pitchFamily="18" charset="0"/>
                <a:cs typeface="Segoe UI"/>
              </a:rPr>
              <a:t>data</a:t>
            </a:r>
            <a:r>
              <a:rPr lang="en-US" sz="2500" i="1" spc="-55" dirty="0">
                <a:latin typeface="Cambria" panose="02040503050406030204" pitchFamily="18" charset="0"/>
                <a:ea typeface="Cambria" panose="02040503050406030204" pitchFamily="18" charset="0"/>
                <a:cs typeface="Segoe UI"/>
              </a:rPr>
              <a:t>:</a:t>
            </a:r>
            <a:r>
              <a:rPr lang="vi-VN"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có</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thể</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là</a:t>
            </a:r>
            <a:r>
              <a:rPr lang="en-US" sz="2500" spc="-55" dirty="0">
                <a:latin typeface="Cambria" panose="02040503050406030204" pitchFamily="18" charset="0"/>
                <a:ea typeface="Cambria" panose="02040503050406030204" pitchFamily="18" charset="0"/>
                <a:cs typeface="Segoe UI"/>
              </a:rPr>
              <a:t> list, dictionary </a:t>
            </a:r>
            <a:r>
              <a:rPr lang="en-US" sz="2500" spc="-55" dirty="0" err="1">
                <a:latin typeface="Cambria" panose="02040503050406030204" pitchFamily="18" charset="0"/>
                <a:ea typeface="Cambria" panose="02040503050406030204" pitchFamily="18" charset="0"/>
                <a:cs typeface="Segoe UI"/>
              </a:rPr>
              <a:t>hoặc</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hằng</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số</a:t>
            </a:r>
            <a:r>
              <a:rPr lang="en-US" sz="2500" spc="-55" dirty="0">
                <a:latin typeface="Cambria" panose="02040503050406030204" pitchFamily="18" charset="0"/>
                <a:ea typeface="Cambria" panose="02040503050406030204" pitchFamily="18" charset="0"/>
                <a:cs typeface="Segoe UI"/>
              </a:rPr>
              <a:t>. </a:t>
            </a:r>
          </a:p>
          <a:p>
            <a:pPr marL="571500" lvl="1" indent="-457200">
              <a:lnSpc>
                <a:spcPct val="130000"/>
              </a:lnSpc>
              <a:buClr>
                <a:schemeClr val="tx1"/>
              </a:buClr>
              <a:buAutoNum type="arabicPeriod"/>
              <a:tabLst>
                <a:tab pos="756920" algn="l"/>
              </a:tabLst>
            </a:pPr>
            <a:r>
              <a:rPr lang="en-US" sz="2500" b="1" spc="-55" dirty="0" err="1">
                <a:latin typeface="Cambria" panose="02040503050406030204" pitchFamily="18" charset="0"/>
                <a:ea typeface="Cambria" panose="02040503050406030204" pitchFamily="18" charset="0"/>
                <a:cs typeface="Segoe UI"/>
              </a:rPr>
              <a:t>i</a:t>
            </a:r>
            <a:r>
              <a:rPr lang="vi-VN" sz="2500" b="1" i="1" spc="-55" dirty="0">
                <a:latin typeface="Cambria" panose="02040503050406030204" pitchFamily="18" charset="0"/>
                <a:ea typeface="Cambria" panose="02040503050406030204" pitchFamily="18" charset="0"/>
                <a:cs typeface="Segoe UI"/>
              </a:rPr>
              <a:t>ndex</a:t>
            </a:r>
            <a:r>
              <a:rPr lang="vi-VN" sz="2500" spc="-55" dirty="0">
                <a:latin typeface="Cambria" panose="02040503050406030204" pitchFamily="18" charset="0"/>
                <a:ea typeface="Cambria" panose="02040503050406030204" pitchFamily="18" charset="0"/>
                <a:cs typeface="Segoe UI"/>
              </a:rPr>
              <a:t>: Giá trị index phải là duy nhất có thể </a:t>
            </a:r>
            <a:r>
              <a:rPr lang="en-US" sz="2500" spc="-55" dirty="0" err="1">
                <a:latin typeface="Cambria" panose="02040503050406030204" pitchFamily="18" charset="0"/>
                <a:ea typeface="Cambria" panose="02040503050406030204" pitchFamily="18" charset="0"/>
                <a:cs typeface="Segoe UI"/>
              </a:rPr>
              <a:t>băm</a:t>
            </a:r>
            <a:r>
              <a:rPr lang="vi-VN" sz="2500" spc="-55" dirty="0">
                <a:latin typeface="Cambria" panose="02040503050406030204" pitchFamily="18" charset="0"/>
                <a:ea typeface="Cambria" panose="02040503050406030204" pitchFamily="18" charset="0"/>
                <a:cs typeface="Segoe UI"/>
              </a:rPr>
              <a:t>, cùng độ dài với dữ liệu. Mặc định </a:t>
            </a:r>
            <a:r>
              <a:rPr lang="vi-VN" sz="2500" b="1" spc="-55" dirty="0">
                <a:latin typeface="Cambria" panose="02040503050406030204" pitchFamily="18" charset="0"/>
                <a:ea typeface="Cambria" panose="02040503050406030204" pitchFamily="18" charset="0"/>
                <a:cs typeface="Segoe UI"/>
              </a:rPr>
              <a:t>np.arange (n).</a:t>
            </a:r>
            <a:endParaRPr lang="en-US" sz="2500" b="1" spc="-55" dirty="0">
              <a:latin typeface="Cambria" panose="02040503050406030204" pitchFamily="18" charset="0"/>
              <a:ea typeface="Cambria" panose="02040503050406030204" pitchFamily="18" charset="0"/>
              <a:cs typeface="Segoe UI"/>
            </a:endParaRPr>
          </a:p>
          <a:p>
            <a:pPr marL="571500" lvl="1" indent="-457200">
              <a:lnSpc>
                <a:spcPct val="130000"/>
              </a:lnSpc>
              <a:buClr>
                <a:schemeClr val="tx1"/>
              </a:buClr>
              <a:buAutoNum type="arabicPeriod"/>
              <a:tabLst>
                <a:tab pos="756920" algn="l"/>
              </a:tabLst>
            </a:pPr>
            <a:r>
              <a:rPr lang="vi-VN" sz="2500" b="1" i="1" spc="-55" dirty="0">
                <a:latin typeface="Cambria" panose="02040503050406030204" pitchFamily="18" charset="0"/>
                <a:ea typeface="Cambria" panose="02040503050406030204" pitchFamily="18" charset="0"/>
                <a:cs typeface="Segoe UI"/>
              </a:rPr>
              <a:t>dtype</a:t>
            </a:r>
            <a:r>
              <a:rPr lang="vi-VN" sz="2500" spc="-55" dirty="0">
                <a:latin typeface="Cambria" panose="02040503050406030204" pitchFamily="18" charset="0"/>
                <a:ea typeface="Cambria" panose="02040503050406030204" pitchFamily="18" charset="0"/>
                <a:cs typeface="Segoe UI"/>
              </a:rPr>
              <a:t>: kiểu dữ liệu</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cùng</a:t>
            </a:r>
            <a:r>
              <a:rPr lang="en-US" sz="2500" spc="-55" dirty="0">
                <a:latin typeface="Cambria" panose="02040503050406030204" pitchFamily="18" charset="0"/>
                <a:ea typeface="Cambria" panose="02040503050406030204" pitchFamily="18" charset="0"/>
                <a:cs typeface="Segoe UI"/>
              </a:rPr>
              <a:t> data</a:t>
            </a:r>
            <a:r>
              <a:rPr lang="vi-VN" sz="2500" spc="-55" dirty="0">
                <a:latin typeface="Cambria" panose="02040503050406030204" pitchFamily="18" charset="0"/>
                <a:ea typeface="Cambria" panose="02040503050406030204" pitchFamily="18" charset="0"/>
                <a:cs typeface="Segoe UI"/>
              </a:rPr>
              <a:t>. Nếu Không, kiểu dữ liệu sẽ được tự suy ra</a:t>
            </a:r>
            <a:endParaRPr lang="en-US" sz="2500" spc="-55" dirty="0">
              <a:latin typeface="Cambria" panose="02040503050406030204" pitchFamily="18" charset="0"/>
              <a:ea typeface="Cambria" panose="02040503050406030204" pitchFamily="18" charset="0"/>
              <a:cs typeface="Segoe UI"/>
            </a:endParaRPr>
          </a:p>
          <a:p>
            <a:pPr marL="571500" lvl="1" indent="-457200">
              <a:lnSpc>
                <a:spcPct val="130000"/>
              </a:lnSpc>
              <a:buClr>
                <a:schemeClr val="tx1"/>
              </a:buClr>
              <a:buAutoNum type="arabicPeriod"/>
              <a:tabLst>
                <a:tab pos="756920" algn="l"/>
              </a:tabLst>
            </a:pPr>
            <a:r>
              <a:rPr lang="vi-VN" sz="2500" b="1" i="1" spc="-55" dirty="0">
                <a:latin typeface="Cambria" panose="02040503050406030204" pitchFamily="18" charset="0"/>
                <a:ea typeface="Cambria" panose="02040503050406030204" pitchFamily="18" charset="0"/>
                <a:cs typeface="Segoe UI"/>
              </a:rPr>
              <a:t>copy</a:t>
            </a:r>
            <a:r>
              <a:rPr lang="vi-VN" sz="2500" spc="-55" dirty="0">
                <a:latin typeface="Cambria" panose="02040503050406030204" pitchFamily="18" charset="0"/>
                <a:ea typeface="Cambria" panose="02040503050406030204" pitchFamily="18" charset="0"/>
                <a:cs typeface="Segoe UI"/>
              </a:rPr>
              <a:t>: </a:t>
            </a:r>
            <a:r>
              <a:rPr lang="en-US" sz="2500" i="1" spc="-55" dirty="0" err="1">
                <a:latin typeface="Cambria" panose="02040503050406030204" pitchFamily="18" charset="0"/>
                <a:ea typeface="Cambria" panose="02040503050406030204" pitchFamily="18" charset="0"/>
                <a:cs typeface="Segoe UI"/>
              </a:rPr>
              <a:t>có</a:t>
            </a:r>
            <a:r>
              <a:rPr lang="en-US" sz="2500" i="1" spc="-55" dirty="0">
                <a:latin typeface="Cambria" panose="02040503050406030204" pitchFamily="18" charset="0"/>
                <a:ea typeface="Cambria" panose="02040503050406030204" pitchFamily="18" charset="0"/>
                <a:cs typeface="Segoe UI"/>
              </a:rPr>
              <a:t> </a:t>
            </a:r>
            <a:r>
              <a:rPr lang="en-US" sz="2500" i="1" spc="-55" dirty="0" err="1">
                <a:latin typeface="Cambria" panose="02040503050406030204" pitchFamily="18" charset="0"/>
                <a:ea typeface="Cambria" panose="02040503050406030204" pitchFamily="18" charset="0"/>
                <a:cs typeface="Segoe UI"/>
              </a:rPr>
              <a:t>giá</a:t>
            </a:r>
            <a:r>
              <a:rPr lang="en-US" sz="2500" i="1" spc="-55" dirty="0">
                <a:latin typeface="Cambria" panose="02040503050406030204" pitchFamily="18" charset="0"/>
                <a:ea typeface="Cambria" panose="02040503050406030204" pitchFamily="18" charset="0"/>
                <a:cs typeface="Segoe UI"/>
              </a:rPr>
              <a:t> </a:t>
            </a:r>
            <a:r>
              <a:rPr lang="en-US" sz="2500" i="1" spc="-55" dirty="0" err="1">
                <a:latin typeface="Cambria" panose="02040503050406030204" pitchFamily="18" charset="0"/>
                <a:ea typeface="Cambria" panose="02040503050406030204" pitchFamily="18" charset="0"/>
                <a:cs typeface="Segoe UI"/>
              </a:rPr>
              <a:t>trị</a:t>
            </a:r>
            <a:r>
              <a:rPr lang="en-US" sz="2500" i="1" spc="-55" dirty="0">
                <a:latin typeface="Cambria" panose="02040503050406030204" pitchFamily="18" charset="0"/>
                <a:ea typeface="Cambria" panose="02040503050406030204" pitchFamily="18" charset="0"/>
                <a:cs typeface="Segoe UI"/>
              </a:rPr>
              <a:t> True/False, </a:t>
            </a:r>
            <a:r>
              <a:rPr lang="en-US" sz="2500" i="1" spc="-55" dirty="0" err="1">
                <a:latin typeface="Cambria" panose="02040503050406030204" pitchFamily="18" charset="0"/>
                <a:ea typeface="Cambria" panose="02040503050406030204" pitchFamily="18" charset="0"/>
                <a:cs typeface="Segoe UI"/>
              </a:rPr>
              <a:t>mặc</a:t>
            </a:r>
            <a:r>
              <a:rPr lang="en-US" sz="2500" i="1" spc="-55" dirty="0">
                <a:latin typeface="Cambria" panose="02040503050406030204" pitchFamily="18" charset="0"/>
                <a:ea typeface="Cambria" panose="02040503050406030204" pitchFamily="18" charset="0"/>
                <a:cs typeface="Segoe UI"/>
              </a:rPr>
              <a:t> </a:t>
            </a:r>
            <a:r>
              <a:rPr lang="en-US" sz="2500" i="1" spc="-55" dirty="0" err="1">
                <a:latin typeface="Cambria" panose="02040503050406030204" pitchFamily="18" charset="0"/>
                <a:ea typeface="Cambria" panose="02040503050406030204" pitchFamily="18" charset="0"/>
                <a:cs typeface="Segoe UI"/>
              </a:rPr>
              <a:t>định</a:t>
            </a:r>
            <a:r>
              <a:rPr lang="en-US" sz="2500" i="1" spc="-55" dirty="0">
                <a:latin typeface="Cambria" panose="02040503050406030204" pitchFamily="18" charset="0"/>
                <a:ea typeface="Cambria" panose="02040503050406030204" pitchFamily="18" charset="0"/>
                <a:cs typeface="Segoe UI"/>
              </a:rPr>
              <a:t> </a:t>
            </a:r>
            <a:r>
              <a:rPr lang="en-US" sz="2500" i="1" spc="-55" dirty="0" err="1">
                <a:latin typeface="Cambria" panose="02040503050406030204" pitchFamily="18" charset="0"/>
                <a:ea typeface="Cambria" panose="02040503050406030204" pitchFamily="18" charset="0"/>
                <a:cs typeface="Segoe UI"/>
              </a:rPr>
              <a:t>là</a:t>
            </a:r>
            <a:r>
              <a:rPr lang="en-US" sz="2500" i="1" spc="-55" dirty="0">
                <a:latin typeface="Cambria" panose="02040503050406030204" pitchFamily="18" charset="0"/>
                <a:ea typeface="Cambria" panose="02040503050406030204" pitchFamily="18" charset="0"/>
                <a:cs typeface="Segoe UI"/>
              </a:rPr>
              <a:t> False </a:t>
            </a:r>
          </a:p>
          <a:p>
            <a:pPr marL="114300" lvl="1" indent="0">
              <a:lnSpc>
                <a:spcPct val="130000"/>
              </a:lnSpc>
              <a:buClr>
                <a:srgbClr val="FF5A33"/>
              </a:buClr>
              <a:buNone/>
              <a:tabLst>
                <a:tab pos="756920" algn="l"/>
              </a:tabLst>
            </a:pPr>
            <a:r>
              <a:rPr lang="vi-VN" sz="2500" b="1" i="1" spc="-55" dirty="0">
                <a:latin typeface="Cambria" panose="02040503050406030204" pitchFamily="18" charset="0"/>
                <a:ea typeface="Cambria" panose="02040503050406030204" pitchFamily="18" charset="0"/>
                <a:cs typeface="Segoe UI"/>
              </a:rPr>
              <a:t>Một series có thể được tạo bằng các đầu vào khác nhau như:</a:t>
            </a:r>
          </a:p>
          <a:p>
            <a:pPr lvl="1" indent="-342900">
              <a:lnSpc>
                <a:spcPct val="130000"/>
              </a:lnSpc>
              <a:buClr>
                <a:srgbClr val="FF5A33"/>
              </a:buClr>
              <a:buFont typeface="Wingdings" panose="05000000000000000000" pitchFamily="2" charset="2"/>
              <a:buChar char="§"/>
              <a:tabLst>
                <a:tab pos="756920" algn="l"/>
              </a:tabLst>
            </a:pPr>
            <a:r>
              <a:rPr lang="en-US" sz="2500" spc="-55" dirty="0" err="1">
                <a:latin typeface="Cambria" panose="02040503050406030204" pitchFamily="18" charset="0"/>
                <a:ea typeface="Cambria" panose="02040503050406030204" pitchFamily="18" charset="0"/>
                <a:cs typeface="Segoe UI"/>
              </a:rPr>
              <a:t>Mảng</a:t>
            </a:r>
            <a:endParaRPr lang="vi-VN" sz="2500" spc="-55" dirty="0">
              <a:latin typeface="Cambria" panose="02040503050406030204" pitchFamily="18" charset="0"/>
              <a:ea typeface="Cambria" panose="02040503050406030204" pitchFamily="18" charset="0"/>
              <a:cs typeface="Segoe UI"/>
            </a:endParaRPr>
          </a:p>
          <a:p>
            <a:pPr lvl="1" indent="-342900">
              <a:lnSpc>
                <a:spcPct val="130000"/>
              </a:lnSpc>
              <a:buClr>
                <a:srgbClr val="FF5A33"/>
              </a:buClr>
              <a:buFont typeface="Wingdings" panose="05000000000000000000" pitchFamily="2" charset="2"/>
              <a:buChar char="§"/>
              <a:tabLst>
                <a:tab pos="756920" algn="l"/>
              </a:tabLst>
            </a:pPr>
            <a:r>
              <a:rPr lang="vi-VN" sz="2500" spc="-55" dirty="0">
                <a:latin typeface="Cambria" panose="02040503050406030204" pitchFamily="18" charset="0"/>
                <a:ea typeface="Cambria" panose="02040503050406030204" pitchFamily="18" charset="0"/>
                <a:cs typeface="Segoe UI"/>
              </a:rPr>
              <a:t>Dict</a:t>
            </a:r>
          </a:p>
          <a:p>
            <a:pPr lvl="1" indent="-342900">
              <a:lnSpc>
                <a:spcPct val="130000"/>
              </a:lnSpc>
              <a:buClr>
                <a:srgbClr val="FF5A33"/>
              </a:buClr>
              <a:buFont typeface="Wingdings" panose="05000000000000000000" pitchFamily="2" charset="2"/>
              <a:buChar char="§"/>
              <a:tabLst>
                <a:tab pos="756920" algn="l"/>
              </a:tabLst>
            </a:pPr>
            <a:r>
              <a:rPr lang="vi-VN" sz="2500" spc="-55" dirty="0">
                <a:latin typeface="Cambria" panose="02040503050406030204" pitchFamily="18" charset="0"/>
                <a:ea typeface="Cambria" panose="02040503050406030204" pitchFamily="18" charset="0"/>
                <a:cs typeface="Segoe UI"/>
              </a:rPr>
              <a:t>Giá trị vô hướng hoặc hằng số</a:t>
            </a:r>
            <a:r>
              <a:rPr lang="vi-VN" sz="2500" dirty="0">
                <a:solidFill>
                  <a:srgbClr val="FFFFFF"/>
                </a:solidFill>
                <a:latin typeface="Cambria" panose="02040503050406030204" pitchFamily="18" charset="0"/>
                <a:ea typeface="Cambria" panose="02040503050406030204" pitchFamily="18" charset="0"/>
              </a:rPr>
              <a:t>7</a:t>
            </a:r>
            <a:endParaRPr lang="en-US" sz="2500" dirty="0">
              <a:solidFill>
                <a:srgbClr val="FFFFFF"/>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979152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1077218"/>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PANDAS – SERIES</a:t>
            </a:r>
          </a:p>
          <a:p>
            <a:endParaRPr lang="en-US" sz="3200" b="1" dirty="0">
              <a:solidFill>
                <a:schemeClr val="bg1"/>
              </a:solidFill>
              <a:latin typeface="Cambria" panose="02040503050406030204" pitchFamily="18" charset="0"/>
            </a:endParaRP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271669" y="1270775"/>
            <a:ext cx="8686800" cy="1905000"/>
          </a:xfrm>
        </p:spPr>
        <p:txBody>
          <a:bodyPr>
            <a:noAutofit/>
          </a:bodyPr>
          <a:lstStyle/>
          <a:p>
            <a:pPr marL="114300" lvl="1" indent="0">
              <a:spcBef>
                <a:spcPts val="580"/>
              </a:spcBef>
              <a:buClr>
                <a:srgbClr val="FF5A33"/>
              </a:buClr>
              <a:buNone/>
              <a:tabLst>
                <a:tab pos="756920" algn="l"/>
              </a:tabLst>
            </a:pPr>
            <a:r>
              <a:rPr lang="en-US" sz="2500" b="0" spc="-55" dirty="0" err="1">
                <a:latin typeface="Cambria" panose="02040503050406030204" pitchFamily="18" charset="0"/>
                <a:ea typeface="Cambria" panose="02040503050406030204" pitchFamily="18" charset="0"/>
                <a:cs typeface="Segoe UI"/>
              </a:rPr>
              <a:t>Ví</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dụ</a:t>
            </a:r>
            <a:r>
              <a:rPr lang="en-US" sz="2500" b="0" spc="-55" dirty="0">
                <a:latin typeface="Cambria" panose="02040503050406030204" pitchFamily="18" charset="0"/>
                <a:ea typeface="Cambria" panose="02040503050406030204" pitchFamily="18" charset="0"/>
                <a:cs typeface="Segoe UI"/>
              </a:rPr>
              <a:t> 1</a:t>
            </a:r>
            <a:r>
              <a:rPr lang="vi-VN" sz="2500" b="0" spc="-55" dirty="0">
                <a:latin typeface="Cambria" panose="02040503050406030204" pitchFamily="18" charset="0"/>
                <a:ea typeface="Cambria" panose="02040503050406030204" pitchFamily="18" charset="0"/>
                <a:cs typeface="Segoe UI"/>
              </a:rPr>
              <a:t> :</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Tạo</a:t>
            </a:r>
            <a:r>
              <a:rPr lang="en-US" sz="2500" b="0" spc="-55" dirty="0">
                <a:latin typeface="Cambria" panose="02040503050406030204" pitchFamily="18" charset="0"/>
                <a:ea typeface="Cambria" panose="02040503050406030204" pitchFamily="18" charset="0"/>
                <a:cs typeface="Segoe UI"/>
              </a:rPr>
              <a:t> Series </a:t>
            </a:r>
            <a:r>
              <a:rPr lang="en-US" sz="2500" b="0" spc="-55" dirty="0" err="1">
                <a:latin typeface="Cambria" panose="02040503050406030204" pitchFamily="18" charset="0"/>
                <a:ea typeface="Cambria" panose="02040503050406030204" pitchFamily="18" charset="0"/>
                <a:cs typeface="Segoe UI"/>
              </a:rPr>
              <a:t>rỗng</a:t>
            </a:r>
            <a:endParaRPr lang="en-US" sz="2500" b="0" spc="-55" dirty="0">
              <a:latin typeface="Cambria" panose="02040503050406030204" pitchFamily="18" charset="0"/>
              <a:ea typeface="Cambria" panose="02040503050406030204" pitchFamily="18" charset="0"/>
              <a:cs typeface="Segoe UI"/>
            </a:endParaRPr>
          </a:p>
          <a:p>
            <a:pPr marL="1428750" lvl="4" indent="0">
              <a:spcBef>
                <a:spcPts val="580"/>
              </a:spcBef>
              <a:buClr>
                <a:srgbClr val="FF5A33"/>
              </a:buClr>
              <a:buNone/>
              <a:tabLst>
                <a:tab pos="756920" algn="l"/>
              </a:tabLst>
            </a:pPr>
            <a:r>
              <a:rPr lang="vi-VN" sz="2500" b="0" spc="-55" dirty="0">
                <a:solidFill>
                  <a:srgbClr val="009900"/>
                </a:solidFill>
                <a:latin typeface="Cambria" panose="02040503050406030204" pitchFamily="18" charset="0"/>
                <a:ea typeface="Cambria" panose="02040503050406030204" pitchFamily="18" charset="0"/>
                <a:cs typeface="Segoe UI"/>
              </a:rPr>
              <a:t>import pandas as pd</a:t>
            </a:r>
          </a:p>
          <a:p>
            <a:pPr marL="1428750" lvl="4" indent="0">
              <a:spcBef>
                <a:spcPts val="580"/>
              </a:spcBef>
              <a:buClr>
                <a:srgbClr val="FF5A33"/>
              </a:buClr>
              <a:buNone/>
              <a:tabLst>
                <a:tab pos="756920" algn="l"/>
              </a:tabLst>
            </a:pPr>
            <a:r>
              <a:rPr lang="vi-VN" sz="2500" b="0" spc="-55" dirty="0">
                <a:solidFill>
                  <a:srgbClr val="009900"/>
                </a:solidFill>
                <a:latin typeface="Cambria" panose="02040503050406030204" pitchFamily="18" charset="0"/>
                <a:ea typeface="Cambria" panose="02040503050406030204" pitchFamily="18" charset="0"/>
                <a:cs typeface="Segoe UI"/>
              </a:rPr>
              <a:t>s = pd.Series()</a:t>
            </a:r>
            <a:r>
              <a:rPr lang="en-US" sz="2500" b="0" spc="-55" dirty="0">
                <a:solidFill>
                  <a:srgbClr val="009900"/>
                </a:solidFill>
                <a:latin typeface="Cambria" panose="02040503050406030204" pitchFamily="18" charset="0"/>
                <a:ea typeface="Cambria" panose="02040503050406030204" pitchFamily="18" charset="0"/>
                <a:cs typeface="Segoe UI"/>
              </a:rPr>
              <a:t> # </a:t>
            </a:r>
            <a:r>
              <a:rPr lang="en-US" sz="2500" b="0" i="1" spc="-55" dirty="0">
                <a:solidFill>
                  <a:srgbClr val="009900"/>
                </a:solidFill>
                <a:latin typeface="Cambria" panose="02040503050406030204" pitchFamily="18" charset="0"/>
                <a:ea typeface="Cambria" panose="02040503050406030204" pitchFamily="18" charset="0"/>
                <a:cs typeface="Segoe UI"/>
              </a:rPr>
              <a:t>Series </a:t>
            </a:r>
            <a:r>
              <a:rPr lang="en-US" sz="2500" b="0" i="1" spc="-55" dirty="0" err="1">
                <a:solidFill>
                  <a:srgbClr val="009900"/>
                </a:solidFill>
                <a:latin typeface="Cambria" panose="02040503050406030204" pitchFamily="18" charset="0"/>
                <a:ea typeface="Cambria" panose="02040503050406030204" pitchFamily="18" charset="0"/>
                <a:cs typeface="Segoe UI"/>
              </a:rPr>
              <a:t>rỗng</a:t>
            </a:r>
            <a:endParaRPr lang="vi-VN" sz="2500" b="0" i="1" spc="-55" dirty="0">
              <a:solidFill>
                <a:srgbClr val="009900"/>
              </a:solidFill>
              <a:latin typeface="Cambria" panose="02040503050406030204" pitchFamily="18" charset="0"/>
              <a:ea typeface="Cambria" panose="02040503050406030204" pitchFamily="18" charset="0"/>
              <a:cs typeface="Segoe UI"/>
            </a:endParaRPr>
          </a:p>
          <a:p>
            <a:pPr marL="1428750" lvl="4" indent="0">
              <a:spcBef>
                <a:spcPts val="580"/>
              </a:spcBef>
              <a:buClr>
                <a:srgbClr val="FF5A33"/>
              </a:buClr>
              <a:buNone/>
              <a:tabLst>
                <a:tab pos="756920" algn="l"/>
              </a:tabLst>
            </a:pPr>
            <a:r>
              <a:rPr lang="vi-VN" sz="2500" b="0" spc="-55" dirty="0">
                <a:solidFill>
                  <a:srgbClr val="009900"/>
                </a:solidFill>
                <a:latin typeface="Cambria" panose="02040503050406030204" pitchFamily="18" charset="0"/>
                <a:ea typeface="Cambria" panose="02040503050406030204" pitchFamily="18" charset="0"/>
                <a:cs typeface="Segoe UI"/>
              </a:rPr>
              <a:t>print </a:t>
            </a:r>
            <a:r>
              <a:rPr lang="en-US" sz="2500" b="0" spc="-55" dirty="0">
                <a:solidFill>
                  <a:srgbClr val="009900"/>
                </a:solidFill>
                <a:latin typeface="Cambria" panose="02040503050406030204" pitchFamily="18" charset="0"/>
                <a:ea typeface="Cambria" panose="02040503050406030204" pitchFamily="18" charset="0"/>
                <a:cs typeface="Segoe UI"/>
              </a:rPr>
              <a:t>(</a:t>
            </a:r>
            <a:r>
              <a:rPr lang="vi-VN" sz="2500" b="0" spc="-55" dirty="0">
                <a:solidFill>
                  <a:srgbClr val="009900"/>
                </a:solidFill>
                <a:latin typeface="Cambria" panose="02040503050406030204" pitchFamily="18" charset="0"/>
                <a:ea typeface="Cambria" panose="02040503050406030204" pitchFamily="18" charset="0"/>
                <a:cs typeface="Segoe UI"/>
              </a:rPr>
              <a:t>s</a:t>
            </a:r>
            <a:r>
              <a:rPr lang="en-US" sz="2500" b="0" spc="-55" dirty="0">
                <a:solidFill>
                  <a:srgbClr val="009900"/>
                </a:solidFill>
                <a:latin typeface="Cambria" panose="02040503050406030204" pitchFamily="18" charset="0"/>
                <a:ea typeface="Cambria" panose="02040503050406030204" pitchFamily="18" charset="0"/>
                <a:cs typeface="Segoe UI"/>
              </a:rPr>
              <a:t>)</a:t>
            </a:r>
            <a:endParaRPr lang="vi-VN" sz="2500" b="0" spc="-55" dirty="0">
              <a:solidFill>
                <a:srgbClr val="009900"/>
              </a:solidFill>
              <a:latin typeface="Cambria" panose="02040503050406030204" pitchFamily="18" charset="0"/>
              <a:ea typeface="Cambria" panose="02040503050406030204" pitchFamily="18" charset="0"/>
              <a:cs typeface="Segoe UI"/>
            </a:endParaRPr>
          </a:p>
          <a:p>
            <a:pPr marL="114300" lvl="1" indent="0">
              <a:spcBef>
                <a:spcPts val="580"/>
              </a:spcBef>
              <a:buClr>
                <a:srgbClr val="FF5A33"/>
              </a:buClr>
              <a:buNone/>
              <a:tabLst>
                <a:tab pos="756920" algn="l"/>
              </a:tabLst>
            </a:pPr>
            <a:endParaRPr lang="vi-VN" sz="2500" b="0" spc="-55" dirty="0">
              <a:latin typeface="Cambria" panose="02040503050406030204" pitchFamily="18" charset="0"/>
              <a:ea typeface="Cambria" panose="02040503050406030204" pitchFamily="18" charset="0"/>
              <a:cs typeface="Segoe UI"/>
            </a:endParaRPr>
          </a:p>
        </p:txBody>
      </p:sp>
      <p:sp>
        <p:nvSpPr>
          <p:cNvPr id="11" name="Content Placeholder 2">
            <a:extLst>
              <a:ext uri="{FF2B5EF4-FFF2-40B4-BE49-F238E27FC236}">
                <a16:creationId xmlns:a16="http://schemas.microsoft.com/office/drawing/2014/main" id="{8AE49E74-8813-CF74-4E44-1BCDE4B59D2F}"/>
              </a:ext>
            </a:extLst>
          </p:cNvPr>
          <p:cNvSpPr txBox="1">
            <a:spLocks/>
          </p:cNvSpPr>
          <p:nvPr/>
        </p:nvSpPr>
        <p:spPr>
          <a:xfrm>
            <a:off x="271669" y="3277911"/>
            <a:ext cx="8686800" cy="294163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b="1"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lvl="1" indent="0">
              <a:spcBef>
                <a:spcPts val="580"/>
              </a:spcBef>
              <a:buClr>
                <a:srgbClr val="FF5A33"/>
              </a:buClr>
              <a:buNone/>
              <a:tabLst>
                <a:tab pos="756920" algn="l"/>
              </a:tabLst>
            </a:pPr>
            <a:r>
              <a:rPr lang="en-US" sz="2500" b="0" spc="-55" dirty="0" err="1">
                <a:latin typeface="Cambria" panose="02040503050406030204" pitchFamily="18" charset="0"/>
                <a:ea typeface="Cambria" panose="02040503050406030204" pitchFamily="18" charset="0"/>
                <a:cs typeface="Segoe UI"/>
              </a:rPr>
              <a:t>Ví</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dụ</a:t>
            </a:r>
            <a:r>
              <a:rPr lang="en-US" sz="2500" b="0" spc="-55" dirty="0">
                <a:latin typeface="Cambria" panose="02040503050406030204" pitchFamily="18" charset="0"/>
                <a:ea typeface="Cambria" panose="02040503050406030204" pitchFamily="18" charset="0"/>
                <a:cs typeface="Segoe UI"/>
              </a:rPr>
              <a:t> 2</a:t>
            </a:r>
            <a:r>
              <a:rPr lang="vi-VN" sz="2500" b="0" spc="-55" dirty="0">
                <a:latin typeface="Cambria" panose="02040503050406030204" pitchFamily="18" charset="0"/>
                <a:ea typeface="Cambria" panose="02040503050406030204" pitchFamily="18" charset="0"/>
                <a:cs typeface="Segoe UI"/>
              </a:rPr>
              <a:t> :</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Tạo</a:t>
            </a:r>
            <a:r>
              <a:rPr lang="en-US" sz="2500" b="0" spc="-55" dirty="0">
                <a:latin typeface="Cambria" panose="02040503050406030204" pitchFamily="18" charset="0"/>
                <a:ea typeface="Cambria" panose="02040503050406030204" pitchFamily="18" charset="0"/>
                <a:cs typeface="Segoe UI"/>
              </a:rPr>
              <a:t> Series </a:t>
            </a:r>
            <a:r>
              <a:rPr lang="en-US" sz="2500" b="0" spc="-55" dirty="0" err="1">
                <a:latin typeface="Cambria" panose="02040503050406030204" pitchFamily="18" charset="0"/>
                <a:ea typeface="Cambria" panose="02040503050406030204" pitchFamily="18" charset="0"/>
                <a:cs typeface="Segoe UI"/>
              </a:rPr>
              <a:t>từ</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mảng</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của</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Numpy</a:t>
            </a:r>
            <a:endParaRPr lang="en-US" sz="2500" b="0" spc="-55" dirty="0">
              <a:latin typeface="Cambria" panose="02040503050406030204" pitchFamily="18" charset="0"/>
              <a:ea typeface="Cambria" panose="02040503050406030204" pitchFamily="18" charset="0"/>
              <a:cs typeface="Segoe UI"/>
            </a:endParaRPr>
          </a:p>
          <a:p>
            <a:pPr marL="1428750" lvl="4" indent="0">
              <a:spcBef>
                <a:spcPts val="580"/>
              </a:spcBef>
              <a:buClr>
                <a:srgbClr val="FF5A33"/>
              </a:buClr>
              <a:buFont typeface="Arial" pitchFamily="34" charset="0"/>
              <a:buNone/>
              <a:tabLst>
                <a:tab pos="756920" algn="l"/>
              </a:tabLst>
            </a:pPr>
            <a:r>
              <a:rPr lang="en-US" sz="2500" spc="-55" dirty="0">
                <a:solidFill>
                  <a:srgbClr val="009900"/>
                </a:solidFill>
                <a:latin typeface="Cambria" panose="02040503050406030204" pitchFamily="18" charset="0"/>
                <a:ea typeface="Cambria" panose="02040503050406030204" pitchFamily="18" charset="0"/>
                <a:cs typeface="Segoe UI"/>
              </a:rPr>
              <a:t>import pandas as </a:t>
            </a:r>
            <a:r>
              <a:rPr lang="en-US" sz="2500" spc="-55" dirty="0" err="1">
                <a:solidFill>
                  <a:srgbClr val="009900"/>
                </a:solidFill>
                <a:latin typeface="Cambria" panose="02040503050406030204" pitchFamily="18" charset="0"/>
                <a:ea typeface="Cambria" panose="02040503050406030204" pitchFamily="18" charset="0"/>
                <a:cs typeface="Segoe UI"/>
              </a:rPr>
              <a:t>pd</a:t>
            </a:r>
            <a:endParaRPr lang="en-US" sz="2500" spc="-55" dirty="0">
              <a:solidFill>
                <a:srgbClr val="009900"/>
              </a:solidFill>
              <a:latin typeface="Cambria" panose="02040503050406030204" pitchFamily="18" charset="0"/>
              <a:ea typeface="Cambria" panose="02040503050406030204" pitchFamily="18" charset="0"/>
              <a:cs typeface="Segoe UI"/>
            </a:endParaRPr>
          </a:p>
          <a:p>
            <a:pPr marL="1428750" lvl="4" indent="0">
              <a:spcBef>
                <a:spcPts val="580"/>
              </a:spcBef>
              <a:buClr>
                <a:srgbClr val="FF5A33"/>
              </a:buClr>
              <a:buFont typeface="Arial" pitchFamily="34" charset="0"/>
              <a:buNone/>
              <a:tabLst>
                <a:tab pos="756920" algn="l"/>
              </a:tabLst>
            </a:pPr>
            <a:r>
              <a:rPr lang="en-US" sz="2500" spc="-55" dirty="0">
                <a:solidFill>
                  <a:srgbClr val="009900"/>
                </a:solidFill>
                <a:latin typeface="Cambria" panose="02040503050406030204" pitchFamily="18" charset="0"/>
                <a:ea typeface="Cambria" panose="02040503050406030204" pitchFamily="18" charset="0"/>
                <a:cs typeface="Segoe UI"/>
              </a:rPr>
              <a:t>import </a:t>
            </a:r>
            <a:r>
              <a:rPr lang="en-US" sz="2500" spc="-55" dirty="0" err="1">
                <a:solidFill>
                  <a:srgbClr val="009900"/>
                </a:solidFill>
                <a:latin typeface="Cambria" panose="02040503050406030204" pitchFamily="18" charset="0"/>
                <a:ea typeface="Cambria" panose="02040503050406030204" pitchFamily="18" charset="0"/>
                <a:cs typeface="Segoe UI"/>
              </a:rPr>
              <a:t>numpy</a:t>
            </a:r>
            <a:r>
              <a:rPr lang="en-US" sz="2500" spc="-55" dirty="0">
                <a:solidFill>
                  <a:srgbClr val="009900"/>
                </a:solidFill>
                <a:latin typeface="Cambria" panose="02040503050406030204" pitchFamily="18" charset="0"/>
                <a:ea typeface="Cambria" panose="02040503050406030204" pitchFamily="18" charset="0"/>
                <a:cs typeface="Segoe UI"/>
              </a:rPr>
              <a:t> as np</a:t>
            </a:r>
          </a:p>
          <a:p>
            <a:pPr marL="1428750" lvl="4" indent="0">
              <a:spcBef>
                <a:spcPts val="580"/>
              </a:spcBef>
              <a:buClr>
                <a:srgbClr val="FF5A33"/>
              </a:buClr>
              <a:buFont typeface="Arial" pitchFamily="34" charset="0"/>
              <a:buNone/>
              <a:tabLst>
                <a:tab pos="756920" algn="l"/>
              </a:tabLst>
            </a:pPr>
            <a:r>
              <a:rPr lang="en-US" sz="2500" spc="-55" dirty="0">
                <a:solidFill>
                  <a:srgbClr val="009900"/>
                </a:solidFill>
                <a:latin typeface="Cambria" panose="02040503050406030204" pitchFamily="18" charset="0"/>
                <a:ea typeface="Cambria" panose="02040503050406030204" pitchFamily="18" charset="0"/>
                <a:cs typeface="Segoe UI"/>
              </a:rPr>
              <a:t>data = </a:t>
            </a:r>
            <a:r>
              <a:rPr lang="en-US" sz="2500" spc="-55" dirty="0" err="1">
                <a:solidFill>
                  <a:srgbClr val="009900"/>
                </a:solidFill>
                <a:latin typeface="Cambria" panose="02040503050406030204" pitchFamily="18" charset="0"/>
                <a:ea typeface="Cambria" panose="02040503050406030204" pitchFamily="18" charset="0"/>
                <a:cs typeface="Segoe UI"/>
              </a:rPr>
              <a:t>np.array</a:t>
            </a:r>
            <a:r>
              <a:rPr lang="en-US" sz="2500" spc="-55" dirty="0">
                <a:solidFill>
                  <a:srgbClr val="009900"/>
                </a:solidFill>
                <a:latin typeface="Cambria" panose="02040503050406030204" pitchFamily="18" charset="0"/>
                <a:ea typeface="Cambria" panose="02040503050406030204" pitchFamily="18" charset="0"/>
                <a:cs typeface="Segoe UI"/>
              </a:rPr>
              <a:t>([‘</a:t>
            </a:r>
            <a:r>
              <a:rPr lang="en-US" sz="2500" spc="-55" dirty="0" err="1">
                <a:solidFill>
                  <a:srgbClr val="009900"/>
                </a:solidFill>
                <a:latin typeface="Cambria" panose="02040503050406030204" pitchFamily="18" charset="0"/>
                <a:ea typeface="Cambria" panose="02040503050406030204" pitchFamily="18" charset="0"/>
                <a:cs typeface="Segoe UI"/>
              </a:rPr>
              <a:t>lan</a:t>
            </a:r>
            <a:r>
              <a:rPr lang="en-US" sz="2500" spc="-55" dirty="0">
                <a:solidFill>
                  <a:srgbClr val="009900"/>
                </a:solidFill>
                <a:latin typeface="Cambria" panose="02040503050406030204" pitchFamily="18" charset="0"/>
                <a:ea typeface="Cambria" panose="02040503050406030204" pitchFamily="18" charset="0"/>
                <a:cs typeface="Segoe UI"/>
              </a:rPr>
              <a:t>’,’</a:t>
            </a:r>
            <a:r>
              <a:rPr lang="en-US" sz="2500" spc="-55" dirty="0" err="1">
                <a:solidFill>
                  <a:srgbClr val="009900"/>
                </a:solidFill>
                <a:latin typeface="Cambria" panose="02040503050406030204" pitchFamily="18" charset="0"/>
                <a:ea typeface="Cambria" panose="02040503050406030204" pitchFamily="18" charset="0"/>
                <a:cs typeface="Segoe UI"/>
              </a:rPr>
              <a:t>hong</a:t>
            </a:r>
            <a:r>
              <a:rPr lang="en-US" sz="2500" spc="-55" dirty="0">
                <a:solidFill>
                  <a:srgbClr val="009900"/>
                </a:solidFill>
                <a:latin typeface="Cambria" panose="02040503050406030204" pitchFamily="18" charset="0"/>
                <a:ea typeface="Cambria" panose="02040503050406030204" pitchFamily="18" charset="0"/>
                <a:cs typeface="Segoe UI"/>
              </a:rPr>
              <a:t>’,’</a:t>
            </a:r>
            <a:r>
              <a:rPr lang="en-US" sz="2500" spc="-55" dirty="0" err="1">
                <a:solidFill>
                  <a:srgbClr val="009900"/>
                </a:solidFill>
                <a:latin typeface="Cambria" panose="02040503050406030204" pitchFamily="18" charset="0"/>
                <a:ea typeface="Cambria" panose="02040503050406030204" pitchFamily="18" charset="0"/>
                <a:cs typeface="Segoe UI"/>
              </a:rPr>
              <a:t>mai</a:t>
            </a:r>
            <a:r>
              <a:rPr lang="en-US" sz="2500" spc="-55" dirty="0">
                <a:solidFill>
                  <a:srgbClr val="009900"/>
                </a:solidFill>
                <a:latin typeface="Cambria" panose="02040503050406030204" pitchFamily="18" charset="0"/>
                <a:ea typeface="Cambria" panose="02040503050406030204" pitchFamily="18" charset="0"/>
                <a:cs typeface="Segoe UI"/>
              </a:rPr>
              <a:t>’,’</a:t>
            </a:r>
            <a:r>
              <a:rPr lang="en-US" sz="2500" spc="-55" dirty="0" err="1">
                <a:solidFill>
                  <a:srgbClr val="009900"/>
                </a:solidFill>
                <a:latin typeface="Cambria" panose="02040503050406030204" pitchFamily="18" charset="0"/>
                <a:ea typeface="Cambria" panose="02040503050406030204" pitchFamily="18" charset="0"/>
                <a:cs typeface="Segoe UI"/>
              </a:rPr>
              <a:t>dao</a:t>
            </a:r>
            <a:r>
              <a:rPr lang="en-US" sz="2500" spc="-55" dirty="0">
                <a:solidFill>
                  <a:srgbClr val="009900"/>
                </a:solidFill>
                <a:latin typeface="Cambria" panose="02040503050406030204" pitchFamily="18" charset="0"/>
                <a:ea typeface="Cambria" panose="02040503050406030204" pitchFamily="18" charset="0"/>
                <a:cs typeface="Segoe UI"/>
              </a:rPr>
              <a:t>'])</a:t>
            </a:r>
          </a:p>
          <a:p>
            <a:pPr marL="1428750" lvl="4" indent="0">
              <a:spcBef>
                <a:spcPts val="580"/>
              </a:spcBef>
              <a:buClr>
                <a:srgbClr val="FF5A33"/>
              </a:buClr>
              <a:buFont typeface="Arial" pitchFamily="34" charset="0"/>
              <a:buNone/>
              <a:tabLst>
                <a:tab pos="756920" algn="l"/>
              </a:tabLst>
            </a:pPr>
            <a:r>
              <a:rPr lang="en-US" sz="2500" spc="-55" dirty="0">
                <a:solidFill>
                  <a:srgbClr val="009900"/>
                </a:solidFill>
                <a:latin typeface="Cambria" panose="02040503050406030204" pitchFamily="18" charset="0"/>
                <a:ea typeface="Cambria" panose="02040503050406030204" pitchFamily="18" charset="0"/>
                <a:cs typeface="Segoe UI"/>
              </a:rPr>
              <a:t>s = </a:t>
            </a:r>
            <a:r>
              <a:rPr lang="en-US" sz="2500" spc="-55" dirty="0" err="1">
                <a:solidFill>
                  <a:srgbClr val="009900"/>
                </a:solidFill>
                <a:latin typeface="Cambria" panose="02040503050406030204" pitchFamily="18" charset="0"/>
                <a:ea typeface="Cambria" panose="02040503050406030204" pitchFamily="18" charset="0"/>
                <a:cs typeface="Segoe UI"/>
              </a:rPr>
              <a:t>pd.Series</a:t>
            </a:r>
            <a:r>
              <a:rPr lang="en-US" sz="2500" spc="-55" dirty="0">
                <a:solidFill>
                  <a:srgbClr val="009900"/>
                </a:solidFill>
                <a:latin typeface="Cambria" panose="02040503050406030204" pitchFamily="18" charset="0"/>
                <a:ea typeface="Cambria" panose="02040503050406030204" pitchFamily="18" charset="0"/>
                <a:cs typeface="Segoe UI"/>
              </a:rPr>
              <a:t>(data)</a:t>
            </a:r>
          </a:p>
          <a:p>
            <a:pPr marL="1428750" lvl="4" indent="0">
              <a:spcBef>
                <a:spcPts val="580"/>
              </a:spcBef>
              <a:buClr>
                <a:srgbClr val="FF5A33"/>
              </a:buClr>
              <a:buFont typeface="Arial" pitchFamily="34" charset="0"/>
              <a:buNone/>
              <a:tabLst>
                <a:tab pos="756920" algn="l"/>
              </a:tabLst>
            </a:pPr>
            <a:r>
              <a:rPr lang="en-US" sz="2500" spc="-55" dirty="0">
                <a:solidFill>
                  <a:srgbClr val="009900"/>
                </a:solidFill>
                <a:latin typeface="Cambria" panose="02040503050406030204" pitchFamily="18" charset="0"/>
                <a:ea typeface="Cambria" panose="02040503050406030204" pitchFamily="18" charset="0"/>
                <a:cs typeface="Segoe UI"/>
              </a:rPr>
              <a:t>print (s)</a:t>
            </a:r>
          </a:p>
          <a:p>
            <a:pPr marL="114300" lvl="1" indent="0">
              <a:spcBef>
                <a:spcPts val="580"/>
              </a:spcBef>
              <a:buClr>
                <a:srgbClr val="FF5A33"/>
              </a:buClr>
              <a:buFont typeface="Arial" pitchFamily="34" charset="0"/>
              <a:buNone/>
              <a:tabLst>
                <a:tab pos="756920" algn="l"/>
              </a:tabLst>
            </a:pPr>
            <a:endParaRPr lang="vi-VN" sz="2500" b="0" spc="-55" dirty="0">
              <a:latin typeface="Cambria" panose="02040503050406030204" pitchFamily="18" charset="0"/>
              <a:ea typeface="Cambria" panose="02040503050406030204" pitchFamily="18" charset="0"/>
              <a:cs typeface="Segoe UI"/>
            </a:endParaRPr>
          </a:p>
        </p:txBody>
      </p:sp>
      <p:sp>
        <p:nvSpPr>
          <p:cNvPr id="12" name="Rectangle 11"/>
          <p:cNvSpPr/>
          <p:nvPr/>
        </p:nvSpPr>
        <p:spPr>
          <a:xfrm>
            <a:off x="79513" y="691585"/>
            <a:ext cx="12006470" cy="477054"/>
          </a:xfrm>
          <a:prstGeom prst="rect">
            <a:avLst/>
          </a:prstGeom>
        </p:spPr>
        <p:txBody>
          <a:bodyPr wrap="square">
            <a:spAutoFit/>
          </a:bodyPr>
          <a:lstStyle/>
          <a:p>
            <a:r>
              <a:rPr lang="en-US" sz="2500" b="1" dirty="0" err="1">
                <a:solidFill>
                  <a:srgbClr val="FF0000"/>
                </a:solidFill>
                <a:latin typeface="Cambria" panose="02040503050406030204" pitchFamily="18" charset="0"/>
                <a:ea typeface="Cambria" panose="02040503050406030204" pitchFamily="18" charset="0"/>
              </a:rPr>
              <a:t>Cấu</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trúc</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dữ</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liệu</a:t>
            </a:r>
            <a:r>
              <a:rPr lang="en-US" sz="2500" b="1" dirty="0">
                <a:solidFill>
                  <a:srgbClr val="FF0000"/>
                </a:solidFill>
                <a:latin typeface="Cambria" panose="02040503050406030204" pitchFamily="18" charset="0"/>
                <a:ea typeface="Cambria" panose="02040503050406030204" pitchFamily="18" charset="0"/>
              </a:rPr>
              <a:t> Series: </a:t>
            </a:r>
            <a:r>
              <a:rPr lang="en-US" sz="2500" b="1" dirty="0">
                <a:solidFill>
                  <a:srgbClr val="000000"/>
                </a:solidFill>
                <a:latin typeface="Cambria" panose="02040503050406030204" pitchFamily="18" charset="0"/>
                <a:ea typeface="Cambria" panose="02040503050406030204" pitchFamily="18" charset="0"/>
              </a:rPr>
              <a:t>pandas.</a:t>
            </a:r>
            <a:r>
              <a:rPr lang="vi-VN" sz="2500" b="1" dirty="0">
                <a:solidFill>
                  <a:srgbClr val="000000"/>
                </a:solidFill>
                <a:latin typeface="Cambria" panose="02040503050406030204" pitchFamily="18" charset="0"/>
                <a:ea typeface="Cambria" panose="02040503050406030204" pitchFamily="18" charset="0"/>
              </a:rPr>
              <a:t>Series([data, index, dtype,copy)]</a:t>
            </a:r>
            <a:endParaRPr lang="en-US" sz="2500" b="1" dirty="0">
              <a:solidFill>
                <a:srgbClr val="00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293937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1077218"/>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PANDAS – SERIES</a:t>
            </a:r>
          </a:p>
          <a:p>
            <a:endParaRPr lang="en-US" sz="3200" b="1" dirty="0">
              <a:solidFill>
                <a:schemeClr val="bg1"/>
              </a:solidFill>
              <a:latin typeface="Cambria" panose="02040503050406030204" pitchFamily="18" charset="0"/>
            </a:endParaRP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79513" y="1174400"/>
            <a:ext cx="8686800" cy="2667000"/>
          </a:xfrm>
        </p:spPr>
        <p:txBody>
          <a:bodyPr>
            <a:noAutofit/>
          </a:bodyPr>
          <a:lstStyle/>
          <a:p>
            <a:pPr marL="114300" lvl="1" indent="0">
              <a:spcBef>
                <a:spcPts val="580"/>
              </a:spcBef>
              <a:buClr>
                <a:srgbClr val="FF5A33"/>
              </a:buClr>
              <a:buNone/>
              <a:tabLst>
                <a:tab pos="756920" algn="l"/>
              </a:tabLst>
            </a:pPr>
            <a:r>
              <a:rPr lang="en-US" sz="2500" b="0" spc="-55" dirty="0" err="1">
                <a:latin typeface="Cambria" panose="02040503050406030204" pitchFamily="18" charset="0"/>
                <a:ea typeface="Cambria" panose="02040503050406030204" pitchFamily="18" charset="0"/>
                <a:cs typeface="Segoe UI"/>
              </a:rPr>
              <a:t>Ví</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dụ</a:t>
            </a:r>
            <a:r>
              <a:rPr lang="en-US" sz="2500" b="0" spc="-55" dirty="0">
                <a:latin typeface="Cambria" panose="02040503050406030204" pitchFamily="18" charset="0"/>
                <a:ea typeface="Cambria" panose="02040503050406030204" pitchFamily="18" charset="0"/>
                <a:cs typeface="Segoe UI"/>
              </a:rPr>
              <a:t> 3</a:t>
            </a:r>
            <a:r>
              <a:rPr lang="vi-VN" sz="2500" b="0" spc="-55" dirty="0">
                <a:latin typeface="Cambria" panose="02040503050406030204" pitchFamily="18" charset="0"/>
                <a:ea typeface="Cambria" panose="02040503050406030204" pitchFamily="18" charset="0"/>
                <a:cs typeface="Segoe UI"/>
              </a:rPr>
              <a:t> :</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Tạo</a:t>
            </a:r>
            <a:r>
              <a:rPr lang="en-US" sz="2500" b="0" spc="-55" dirty="0">
                <a:latin typeface="Cambria" panose="02040503050406030204" pitchFamily="18" charset="0"/>
                <a:ea typeface="Cambria" panose="02040503050406030204" pitchFamily="18" charset="0"/>
                <a:cs typeface="Segoe UI"/>
              </a:rPr>
              <a:t> Series </a:t>
            </a:r>
            <a:r>
              <a:rPr lang="en-US" sz="2500" b="0" spc="-55" dirty="0" err="1">
                <a:latin typeface="Cambria" panose="02040503050406030204" pitchFamily="18" charset="0"/>
                <a:ea typeface="Cambria" panose="02040503050406030204" pitchFamily="18" charset="0"/>
                <a:cs typeface="Segoe UI"/>
              </a:rPr>
              <a:t>từ</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dict</a:t>
            </a:r>
            <a:endParaRPr lang="en-US" sz="2500" b="0" spc="-55" dirty="0">
              <a:latin typeface="Cambria" panose="02040503050406030204" pitchFamily="18" charset="0"/>
              <a:ea typeface="Cambria" panose="02040503050406030204" pitchFamily="18" charset="0"/>
              <a:cs typeface="Segoe UI"/>
            </a:endParaRPr>
          </a:p>
          <a:p>
            <a:pPr marL="1428750" lvl="4" indent="0">
              <a:spcBef>
                <a:spcPts val="580"/>
              </a:spcBef>
              <a:buClr>
                <a:srgbClr val="FF5A33"/>
              </a:buClr>
              <a:buNone/>
              <a:tabLst>
                <a:tab pos="756920" algn="l"/>
              </a:tabLst>
            </a:pPr>
            <a:r>
              <a:rPr lang="vi-VN" sz="2500" b="0" spc="-55" dirty="0">
                <a:solidFill>
                  <a:srgbClr val="009900"/>
                </a:solidFill>
                <a:latin typeface="Cambria" panose="02040503050406030204" pitchFamily="18" charset="0"/>
                <a:ea typeface="Cambria" panose="02040503050406030204" pitchFamily="18" charset="0"/>
                <a:cs typeface="Segoe UI"/>
              </a:rPr>
              <a:t>import pandas as pd</a:t>
            </a:r>
          </a:p>
          <a:p>
            <a:pPr marL="1428750" lvl="4" indent="0">
              <a:spcBef>
                <a:spcPts val="580"/>
              </a:spcBef>
              <a:buClr>
                <a:srgbClr val="FF5A33"/>
              </a:buClr>
              <a:buNone/>
              <a:tabLst>
                <a:tab pos="756920" algn="l"/>
              </a:tabLst>
            </a:pPr>
            <a:r>
              <a:rPr lang="vi-VN" sz="2500" b="0" spc="-55" dirty="0">
                <a:solidFill>
                  <a:srgbClr val="009900"/>
                </a:solidFill>
                <a:latin typeface="Cambria" panose="02040503050406030204" pitchFamily="18" charset="0"/>
                <a:ea typeface="Cambria" panose="02040503050406030204" pitchFamily="18" charset="0"/>
                <a:cs typeface="Segoe UI"/>
              </a:rPr>
              <a:t>import numpy as np</a:t>
            </a:r>
          </a:p>
          <a:p>
            <a:pPr marL="1428750" lvl="4" indent="0">
              <a:spcBef>
                <a:spcPts val="580"/>
              </a:spcBef>
              <a:buClr>
                <a:srgbClr val="FF5A33"/>
              </a:buClr>
              <a:buNone/>
              <a:tabLst>
                <a:tab pos="756920" algn="l"/>
              </a:tabLst>
            </a:pPr>
            <a:r>
              <a:rPr lang="vi-VN" sz="2500" b="0" spc="-55" dirty="0">
                <a:solidFill>
                  <a:srgbClr val="009900"/>
                </a:solidFill>
                <a:latin typeface="Cambria" panose="02040503050406030204" pitchFamily="18" charset="0"/>
                <a:ea typeface="Cambria" panose="02040503050406030204" pitchFamily="18" charset="0"/>
                <a:cs typeface="Segoe UI"/>
              </a:rPr>
              <a:t>data = {‘</a:t>
            </a:r>
            <a:r>
              <a:rPr lang="en-US" sz="2500" b="0" spc="-55" dirty="0">
                <a:solidFill>
                  <a:srgbClr val="009900"/>
                </a:solidFill>
                <a:latin typeface="Cambria" panose="02040503050406030204" pitchFamily="18" charset="0"/>
                <a:ea typeface="Cambria" panose="02040503050406030204" pitchFamily="18" charset="0"/>
                <a:cs typeface="Segoe UI"/>
              </a:rPr>
              <a:t>A</a:t>
            </a:r>
            <a:r>
              <a:rPr lang="vi-VN" sz="2500" b="0" spc="-55" dirty="0">
                <a:solidFill>
                  <a:srgbClr val="009900"/>
                </a:solidFill>
                <a:latin typeface="Cambria" panose="02040503050406030204" pitchFamily="18" charset="0"/>
                <a:ea typeface="Cambria" panose="02040503050406030204" pitchFamily="18" charset="0"/>
                <a:cs typeface="Segoe UI"/>
              </a:rPr>
              <a:t>' : 0., ‘</a:t>
            </a:r>
            <a:r>
              <a:rPr lang="en-US" sz="2500" b="0" spc="-55" dirty="0">
                <a:solidFill>
                  <a:srgbClr val="009900"/>
                </a:solidFill>
                <a:latin typeface="Cambria" panose="02040503050406030204" pitchFamily="18" charset="0"/>
                <a:ea typeface="Cambria" panose="02040503050406030204" pitchFamily="18" charset="0"/>
                <a:cs typeface="Segoe UI"/>
              </a:rPr>
              <a:t>B</a:t>
            </a:r>
            <a:r>
              <a:rPr lang="vi-VN" sz="2500" b="0" spc="-55" dirty="0">
                <a:solidFill>
                  <a:srgbClr val="009900"/>
                </a:solidFill>
                <a:latin typeface="Cambria" panose="02040503050406030204" pitchFamily="18" charset="0"/>
                <a:ea typeface="Cambria" panose="02040503050406030204" pitchFamily="18" charset="0"/>
                <a:cs typeface="Segoe UI"/>
              </a:rPr>
              <a:t>' : 1., ‘</a:t>
            </a:r>
            <a:r>
              <a:rPr lang="en-US" sz="2500" b="0" spc="-55" dirty="0">
                <a:solidFill>
                  <a:srgbClr val="009900"/>
                </a:solidFill>
                <a:latin typeface="Cambria" panose="02040503050406030204" pitchFamily="18" charset="0"/>
                <a:ea typeface="Cambria" panose="02040503050406030204" pitchFamily="18" charset="0"/>
                <a:cs typeface="Segoe UI"/>
              </a:rPr>
              <a:t>C</a:t>
            </a:r>
            <a:r>
              <a:rPr lang="vi-VN" sz="2500" b="0" spc="-55" dirty="0">
                <a:solidFill>
                  <a:srgbClr val="009900"/>
                </a:solidFill>
                <a:latin typeface="Cambria" panose="02040503050406030204" pitchFamily="18" charset="0"/>
                <a:ea typeface="Cambria" panose="02040503050406030204" pitchFamily="18" charset="0"/>
                <a:cs typeface="Segoe UI"/>
              </a:rPr>
              <a:t>' : 2.}</a:t>
            </a:r>
          </a:p>
          <a:p>
            <a:pPr marL="1428750" lvl="4" indent="0">
              <a:spcBef>
                <a:spcPts val="580"/>
              </a:spcBef>
              <a:buClr>
                <a:srgbClr val="FF5A33"/>
              </a:buClr>
              <a:buNone/>
              <a:tabLst>
                <a:tab pos="756920" algn="l"/>
              </a:tabLst>
            </a:pPr>
            <a:r>
              <a:rPr lang="vi-VN" sz="2500" b="0" spc="-55" dirty="0">
                <a:solidFill>
                  <a:srgbClr val="009900"/>
                </a:solidFill>
                <a:latin typeface="Cambria" panose="02040503050406030204" pitchFamily="18" charset="0"/>
                <a:ea typeface="Cambria" panose="02040503050406030204" pitchFamily="18" charset="0"/>
                <a:cs typeface="Segoe UI"/>
              </a:rPr>
              <a:t>s = pd.Series(data)</a:t>
            </a:r>
          </a:p>
          <a:p>
            <a:pPr marL="1428750" lvl="4" indent="0">
              <a:spcBef>
                <a:spcPts val="580"/>
              </a:spcBef>
              <a:buClr>
                <a:srgbClr val="FF5A33"/>
              </a:buClr>
              <a:buNone/>
              <a:tabLst>
                <a:tab pos="756920" algn="l"/>
              </a:tabLst>
            </a:pPr>
            <a:r>
              <a:rPr lang="vi-VN" sz="2500" b="0" spc="-55" dirty="0">
                <a:solidFill>
                  <a:srgbClr val="009900"/>
                </a:solidFill>
                <a:latin typeface="Cambria" panose="02040503050406030204" pitchFamily="18" charset="0"/>
                <a:ea typeface="Cambria" panose="02040503050406030204" pitchFamily="18" charset="0"/>
                <a:cs typeface="Segoe UI"/>
              </a:rPr>
              <a:t>print </a:t>
            </a:r>
            <a:r>
              <a:rPr lang="en-US" sz="2500" b="0" spc="-55" dirty="0">
                <a:solidFill>
                  <a:srgbClr val="009900"/>
                </a:solidFill>
                <a:latin typeface="Cambria" panose="02040503050406030204" pitchFamily="18" charset="0"/>
                <a:ea typeface="Cambria" panose="02040503050406030204" pitchFamily="18" charset="0"/>
                <a:cs typeface="Segoe UI"/>
              </a:rPr>
              <a:t>(</a:t>
            </a:r>
            <a:r>
              <a:rPr lang="vi-VN" sz="2500" b="0" spc="-55" dirty="0">
                <a:solidFill>
                  <a:srgbClr val="009900"/>
                </a:solidFill>
                <a:latin typeface="Cambria" panose="02040503050406030204" pitchFamily="18" charset="0"/>
                <a:ea typeface="Cambria" panose="02040503050406030204" pitchFamily="18" charset="0"/>
                <a:cs typeface="Segoe UI"/>
              </a:rPr>
              <a:t>s</a:t>
            </a:r>
            <a:r>
              <a:rPr lang="en-US" sz="2500" b="0" spc="-55" dirty="0">
                <a:solidFill>
                  <a:srgbClr val="009900"/>
                </a:solidFill>
                <a:latin typeface="Cambria" panose="02040503050406030204" pitchFamily="18" charset="0"/>
                <a:ea typeface="Cambria" panose="02040503050406030204" pitchFamily="18" charset="0"/>
                <a:cs typeface="Segoe UI"/>
              </a:rPr>
              <a:t>)</a:t>
            </a:r>
            <a:endParaRPr lang="vi-VN" sz="2500" b="0" spc="-55" dirty="0">
              <a:solidFill>
                <a:srgbClr val="009900"/>
              </a:solidFill>
              <a:latin typeface="Cambria" panose="02040503050406030204" pitchFamily="18" charset="0"/>
              <a:ea typeface="Cambria" panose="02040503050406030204" pitchFamily="18" charset="0"/>
              <a:cs typeface="Segoe UI"/>
            </a:endParaRPr>
          </a:p>
          <a:p>
            <a:pPr marL="114300" lvl="1" indent="0">
              <a:spcBef>
                <a:spcPts val="580"/>
              </a:spcBef>
              <a:buClr>
                <a:srgbClr val="FF5A33"/>
              </a:buClr>
              <a:buNone/>
              <a:tabLst>
                <a:tab pos="756920" algn="l"/>
              </a:tabLst>
            </a:pPr>
            <a:endParaRPr lang="vi-VN" sz="2500" b="0" spc="-55" dirty="0">
              <a:latin typeface="Cambria" panose="02040503050406030204" pitchFamily="18" charset="0"/>
              <a:ea typeface="Cambria" panose="02040503050406030204" pitchFamily="18" charset="0"/>
              <a:cs typeface="Segoe UI"/>
            </a:endParaRPr>
          </a:p>
        </p:txBody>
      </p:sp>
      <p:sp>
        <p:nvSpPr>
          <p:cNvPr id="11" name="Content Placeholder 2">
            <a:extLst>
              <a:ext uri="{FF2B5EF4-FFF2-40B4-BE49-F238E27FC236}">
                <a16:creationId xmlns:a16="http://schemas.microsoft.com/office/drawing/2014/main" id="{8AE49E74-8813-CF74-4E44-1BCDE4B59D2F}"/>
              </a:ext>
            </a:extLst>
          </p:cNvPr>
          <p:cNvSpPr txBox="1">
            <a:spLocks/>
          </p:cNvSpPr>
          <p:nvPr/>
        </p:nvSpPr>
        <p:spPr>
          <a:xfrm>
            <a:off x="0" y="3767676"/>
            <a:ext cx="8686800" cy="275827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b="1"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lvl="1" indent="0">
              <a:spcBef>
                <a:spcPts val="0"/>
              </a:spcBef>
              <a:buClr>
                <a:srgbClr val="FF5A33"/>
              </a:buClr>
              <a:buNone/>
              <a:tabLst>
                <a:tab pos="756920" algn="l"/>
              </a:tabLst>
            </a:pPr>
            <a:r>
              <a:rPr lang="en-US" sz="2500" b="0" spc="-55" dirty="0" err="1">
                <a:latin typeface="Cambria" panose="02040503050406030204" pitchFamily="18" charset="0"/>
                <a:ea typeface="Cambria" panose="02040503050406030204" pitchFamily="18" charset="0"/>
                <a:cs typeface="Segoe UI"/>
              </a:rPr>
              <a:t>Ví</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dụ</a:t>
            </a:r>
            <a:r>
              <a:rPr lang="en-US" sz="2500" b="0" spc="-55" dirty="0">
                <a:latin typeface="Cambria" panose="02040503050406030204" pitchFamily="18" charset="0"/>
                <a:ea typeface="Cambria" panose="02040503050406030204" pitchFamily="18" charset="0"/>
                <a:cs typeface="Segoe UI"/>
              </a:rPr>
              <a:t> 4</a:t>
            </a:r>
            <a:r>
              <a:rPr lang="vi-VN" sz="2500" b="0" spc="-55" dirty="0">
                <a:latin typeface="Cambria" panose="02040503050406030204" pitchFamily="18" charset="0"/>
                <a:ea typeface="Cambria" panose="02040503050406030204" pitchFamily="18" charset="0"/>
                <a:cs typeface="Segoe UI"/>
              </a:rPr>
              <a:t> :</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Tạo</a:t>
            </a:r>
            <a:r>
              <a:rPr lang="en-US" sz="2500" b="0" spc="-55" dirty="0">
                <a:latin typeface="Cambria" panose="02040503050406030204" pitchFamily="18" charset="0"/>
                <a:ea typeface="Cambria" panose="02040503050406030204" pitchFamily="18" charset="0"/>
                <a:cs typeface="Segoe UI"/>
              </a:rPr>
              <a:t> Series </a:t>
            </a:r>
            <a:r>
              <a:rPr lang="en-US" sz="2500" b="0" spc="-55" dirty="0" err="1">
                <a:latin typeface="Cambria" panose="02040503050406030204" pitchFamily="18" charset="0"/>
                <a:ea typeface="Cambria" panose="02040503050406030204" pitchFamily="18" charset="0"/>
                <a:cs typeface="Segoe UI"/>
              </a:rPr>
              <a:t>từ</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dict</a:t>
            </a:r>
            <a:endParaRPr lang="en-US" sz="2500" b="0" spc="-55" dirty="0">
              <a:latin typeface="Cambria" panose="02040503050406030204" pitchFamily="18" charset="0"/>
              <a:ea typeface="Cambria" panose="02040503050406030204" pitchFamily="18" charset="0"/>
              <a:cs typeface="Segoe UI"/>
            </a:endParaRPr>
          </a:p>
          <a:p>
            <a:pPr marL="1428750" lvl="4" indent="0">
              <a:spcBef>
                <a:spcPts val="0"/>
              </a:spcBef>
              <a:buClr>
                <a:srgbClr val="FF5A33"/>
              </a:buClr>
              <a:buFont typeface="Arial" pitchFamily="34" charset="0"/>
              <a:buNone/>
              <a:tabLst>
                <a:tab pos="756920" algn="l"/>
              </a:tabLst>
            </a:pPr>
            <a:r>
              <a:rPr lang="en-US" sz="2500" spc="-55" dirty="0">
                <a:solidFill>
                  <a:srgbClr val="009900"/>
                </a:solidFill>
                <a:latin typeface="Cambria" panose="02040503050406030204" pitchFamily="18" charset="0"/>
                <a:ea typeface="Cambria" panose="02040503050406030204" pitchFamily="18" charset="0"/>
                <a:cs typeface="Segoe UI"/>
              </a:rPr>
              <a:t>import pandas as </a:t>
            </a:r>
            <a:r>
              <a:rPr lang="en-US" sz="2500" spc="-55" dirty="0" err="1">
                <a:solidFill>
                  <a:srgbClr val="009900"/>
                </a:solidFill>
                <a:latin typeface="Cambria" panose="02040503050406030204" pitchFamily="18" charset="0"/>
                <a:ea typeface="Cambria" panose="02040503050406030204" pitchFamily="18" charset="0"/>
                <a:cs typeface="Segoe UI"/>
              </a:rPr>
              <a:t>pd</a:t>
            </a:r>
            <a:endParaRPr lang="en-US" sz="2500" spc="-55" dirty="0">
              <a:solidFill>
                <a:srgbClr val="009900"/>
              </a:solidFill>
              <a:latin typeface="Cambria" panose="02040503050406030204" pitchFamily="18" charset="0"/>
              <a:ea typeface="Cambria" panose="02040503050406030204" pitchFamily="18" charset="0"/>
              <a:cs typeface="Segoe UI"/>
            </a:endParaRPr>
          </a:p>
          <a:p>
            <a:pPr marL="1428750" lvl="4" indent="0">
              <a:spcBef>
                <a:spcPts val="0"/>
              </a:spcBef>
              <a:buClr>
                <a:srgbClr val="FF5A33"/>
              </a:buClr>
              <a:buFont typeface="Arial" pitchFamily="34" charset="0"/>
              <a:buNone/>
              <a:tabLst>
                <a:tab pos="756920" algn="l"/>
              </a:tabLst>
            </a:pPr>
            <a:r>
              <a:rPr lang="en-US" sz="2500" spc="-55" dirty="0">
                <a:solidFill>
                  <a:srgbClr val="009900"/>
                </a:solidFill>
                <a:latin typeface="Cambria" panose="02040503050406030204" pitchFamily="18" charset="0"/>
                <a:ea typeface="Cambria" panose="02040503050406030204" pitchFamily="18" charset="0"/>
                <a:cs typeface="Segoe UI"/>
              </a:rPr>
              <a:t>import </a:t>
            </a:r>
            <a:r>
              <a:rPr lang="en-US" sz="2500" spc="-55" dirty="0" err="1">
                <a:solidFill>
                  <a:srgbClr val="009900"/>
                </a:solidFill>
                <a:latin typeface="Cambria" panose="02040503050406030204" pitchFamily="18" charset="0"/>
                <a:ea typeface="Cambria" panose="02040503050406030204" pitchFamily="18" charset="0"/>
                <a:cs typeface="Segoe UI"/>
              </a:rPr>
              <a:t>numpy</a:t>
            </a:r>
            <a:r>
              <a:rPr lang="en-US" sz="2500" spc="-55" dirty="0">
                <a:solidFill>
                  <a:srgbClr val="009900"/>
                </a:solidFill>
                <a:latin typeface="Cambria" panose="02040503050406030204" pitchFamily="18" charset="0"/>
                <a:ea typeface="Cambria" panose="02040503050406030204" pitchFamily="18" charset="0"/>
                <a:cs typeface="Segoe UI"/>
              </a:rPr>
              <a:t> as np</a:t>
            </a:r>
          </a:p>
          <a:p>
            <a:pPr marL="1428750" lvl="4" indent="0">
              <a:spcBef>
                <a:spcPts val="0"/>
              </a:spcBef>
              <a:buClr>
                <a:srgbClr val="FF5A33"/>
              </a:buClr>
              <a:buFont typeface="Arial" pitchFamily="34" charset="0"/>
              <a:buNone/>
              <a:tabLst>
                <a:tab pos="756920" algn="l"/>
              </a:tabLst>
            </a:pPr>
            <a:r>
              <a:rPr lang="en-US" sz="2500" spc="-55" dirty="0">
                <a:solidFill>
                  <a:srgbClr val="009900"/>
                </a:solidFill>
                <a:latin typeface="Cambria" panose="02040503050406030204" pitchFamily="18" charset="0"/>
                <a:ea typeface="Cambria" panose="02040503050406030204" pitchFamily="18" charset="0"/>
                <a:cs typeface="Segoe UI"/>
              </a:rPr>
              <a:t>data = {'A' : 0, 'B' : 1, 'C' : 2}</a:t>
            </a:r>
          </a:p>
          <a:p>
            <a:pPr marL="1428750" lvl="4" indent="0">
              <a:spcBef>
                <a:spcPts val="0"/>
              </a:spcBef>
              <a:buClr>
                <a:srgbClr val="FF5A33"/>
              </a:buClr>
              <a:buFont typeface="Arial" pitchFamily="34" charset="0"/>
              <a:buNone/>
              <a:tabLst>
                <a:tab pos="756920" algn="l"/>
              </a:tabLst>
            </a:pPr>
            <a:r>
              <a:rPr lang="en-US" sz="2500" spc="-55" dirty="0">
                <a:solidFill>
                  <a:srgbClr val="009900"/>
                </a:solidFill>
                <a:latin typeface="Cambria" panose="02040503050406030204" pitchFamily="18" charset="0"/>
                <a:ea typeface="Cambria" panose="02040503050406030204" pitchFamily="18" charset="0"/>
                <a:cs typeface="Segoe UI"/>
              </a:rPr>
              <a:t>s = </a:t>
            </a:r>
            <a:r>
              <a:rPr lang="en-US" sz="2500" spc="-55" dirty="0" err="1">
                <a:solidFill>
                  <a:srgbClr val="009900"/>
                </a:solidFill>
                <a:latin typeface="Cambria" panose="02040503050406030204" pitchFamily="18" charset="0"/>
                <a:ea typeface="Cambria" panose="02040503050406030204" pitchFamily="18" charset="0"/>
                <a:cs typeface="Segoe UI"/>
              </a:rPr>
              <a:t>pd.Series</a:t>
            </a:r>
            <a:r>
              <a:rPr lang="en-US" sz="2500" spc="-55" dirty="0">
                <a:solidFill>
                  <a:srgbClr val="009900"/>
                </a:solidFill>
                <a:latin typeface="Cambria" panose="02040503050406030204" pitchFamily="18" charset="0"/>
                <a:ea typeface="Cambria" panose="02040503050406030204" pitchFamily="18" charset="0"/>
                <a:cs typeface="Segoe UI"/>
              </a:rPr>
              <a:t>(</a:t>
            </a:r>
            <a:r>
              <a:rPr lang="en-US" sz="2500" spc="-55" dirty="0" err="1">
                <a:solidFill>
                  <a:srgbClr val="009900"/>
                </a:solidFill>
                <a:latin typeface="Cambria" panose="02040503050406030204" pitchFamily="18" charset="0"/>
                <a:ea typeface="Cambria" panose="02040503050406030204" pitchFamily="18" charset="0"/>
                <a:cs typeface="Segoe UI"/>
              </a:rPr>
              <a:t>data,index</a:t>
            </a:r>
            <a:r>
              <a:rPr lang="en-US" sz="2500" spc="-55" dirty="0">
                <a:solidFill>
                  <a:srgbClr val="009900"/>
                </a:solidFill>
                <a:latin typeface="Cambria" panose="02040503050406030204" pitchFamily="18" charset="0"/>
                <a:ea typeface="Cambria" panose="02040503050406030204" pitchFamily="18" charset="0"/>
                <a:cs typeface="Segoe UI"/>
              </a:rPr>
              <a:t>=['A','C','D','A'])</a:t>
            </a:r>
          </a:p>
          <a:p>
            <a:pPr marL="1428750" lvl="4" indent="0">
              <a:spcBef>
                <a:spcPts val="0"/>
              </a:spcBef>
              <a:buClr>
                <a:srgbClr val="FF5A33"/>
              </a:buClr>
              <a:buFont typeface="Arial" pitchFamily="34" charset="0"/>
              <a:buNone/>
              <a:tabLst>
                <a:tab pos="756920" algn="l"/>
              </a:tabLst>
            </a:pPr>
            <a:r>
              <a:rPr lang="en-US" sz="2500" spc="-55" dirty="0">
                <a:solidFill>
                  <a:srgbClr val="009900"/>
                </a:solidFill>
                <a:latin typeface="Cambria" panose="02040503050406030204" pitchFamily="18" charset="0"/>
                <a:ea typeface="Cambria" panose="02040503050406030204" pitchFamily="18" charset="0"/>
                <a:cs typeface="Segoe UI"/>
              </a:rPr>
              <a:t>print (s)</a:t>
            </a:r>
            <a:endParaRPr lang="vi-VN" sz="2500" b="0" spc="-55" dirty="0">
              <a:latin typeface="Cambria" panose="02040503050406030204" pitchFamily="18" charset="0"/>
              <a:ea typeface="Cambria" panose="02040503050406030204" pitchFamily="18" charset="0"/>
              <a:cs typeface="Segoe UI"/>
            </a:endParaRPr>
          </a:p>
        </p:txBody>
      </p:sp>
      <p:sp>
        <p:nvSpPr>
          <p:cNvPr id="12" name="Rectangle 1">
            <a:extLst>
              <a:ext uri="{FF2B5EF4-FFF2-40B4-BE49-F238E27FC236}">
                <a16:creationId xmlns:a16="http://schemas.microsoft.com/office/drawing/2014/main" id="{2009AEA2-27D0-D4CB-A748-67750F70458C}"/>
              </a:ext>
            </a:extLst>
          </p:cNvPr>
          <p:cNvSpPr>
            <a:spLocks noChangeArrowheads="1"/>
          </p:cNvSpPr>
          <p:nvPr/>
        </p:nvSpPr>
        <p:spPr bwMode="auto">
          <a:xfrm>
            <a:off x="6995022" y="4062368"/>
            <a:ext cx="1453551" cy="1585049"/>
          </a:xfrm>
          <a:prstGeom prst="rect">
            <a:avLst/>
          </a:prstGeom>
          <a:solidFill>
            <a:srgbClr val="F0F0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rgbClr val="444444"/>
                </a:solidFill>
                <a:effectLst/>
                <a:latin typeface="Cambria" panose="02040503050406030204" pitchFamily="18" charset="0"/>
                <a:ea typeface="Cambria" panose="02040503050406030204" pitchFamily="18" charset="0"/>
                <a:cs typeface="Courier New" panose="02070309020205020404" pitchFamily="49" charset="0"/>
              </a:rPr>
              <a:t>A </a:t>
            </a:r>
            <a:r>
              <a:rPr kumimoji="0" lang="en-US" altLang="en-US" sz="2500" b="0" i="0" u="none" strike="noStrike" cap="none" normalizeH="0" baseline="0" dirty="0">
                <a:ln>
                  <a:noFill/>
                </a:ln>
                <a:solidFill>
                  <a:srgbClr val="880000"/>
                </a:solidFill>
                <a:effectLst/>
                <a:latin typeface="Cambria" panose="02040503050406030204" pitchFamily="18" charset="0"/>
                <a:ea typeface="Cambria" panose="02040503050406030204" pitchFamily="18" charset="0"/>
                <a:cs typeface="Courier New" panose="02070309020205020404" pitchFamily="49" charset="0"/>
              </a:rPr>
              <a:t>1.0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rgbClr val="444444"/>
                </a:solidFill>
                <a:effectLst/>
                <a:latin typeface="Cambria" panose="02040503050406030204" pitchFamily="18" charset="0"/>
                <a:ea typeface="Cambria" panose="02040503050406030204" pitchFamily="18" charset="0"/>
                <a:cs typeface="Courier New" panose="02070309020205020404" pitchFamily="49" charset="0"/>
              </a:rPr>
              <a:t>C </a:t>
            </a:r>
            <a:r>
              <a:rPr kumimoji="0" lang="en-US" altLang="en-US" sz="2500" b="0" i="0" u="none" strike="noStrike" cap="none" normalizeH="0" baseline="0" dirty="0">
                <a:ln>
                  <a:noFill/>
                </a:ln>
                <a:solidFill>
                  <a:srgbClr val="880000"/>
                </a:solidFill>
                <a:effectLst/>
                <a:latin typeface="Cambria" panose="02040503050406030204" pitchFamily="18" charset="0"/>
                <a:ea typeface="Cambria" panose="02040503050406030204" pitchFamily="18" charset="0"/>
                <a:cs typeface="Courier New" panose="02070309020205020404" pitchFamily="49" charset="0"/>
              </a:rPr>
              <a:t>2.0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rgbClr val="444444"/>
                </a:solidFill>
                <a:effectLst/>
                <a:latin typeface="Cambria" panose="02040503050406030204" pitchFamily="18" charset="0"/>
                <a:ea typeface="Cambria" panose="02040503050406030204" pitchFamily="18" charset="0"/>
                <a:cs typeface="Courier New" panose="02070309020205020404" pitchFamily="49" charset="0"/>
              </a:rPr>
              <a:t>D </a:t>
            </a:r>
            <a:r>
              <a:rPr kumimoji="0" lang="en-US" altLang="en-US" sz="2500" b="0" i="0" u="none" strike="noStrike" cap="none" normalizeH="0" baseline="0" dirty="0" err="1">
                <a:ln>
                  <a:noFill/>
                </a:ln>
                <a:solidFill>
                  <a:srgbClr val="880000"/>
                </a:solidFill>
                <a:effectLst/>
                <a:latin typeface="Cambria" panose="02040503050406030204" pitchFamily="18" charset="0"/>
                <a:ea typeface="Cambria" panose="02040503050406030204" pitchFamily="18" charset="0"/>
                <a:cs typeface="Courier New" panose="02070309020205020404" pitchFamily="49" charset="0"/>
              </a:rPr>
              <a:t>NaN</a:t>
            </a:r>
            <a:endParaRPr kumimoji="0" lang="en-US" altLang="en-US" sz="2500" b="0" i="0" u="none" strike="noStrike" cap="none" normalizeH="0" baseline="0" dirty="0">
              <a:ln>
                <a:noFill/>
              </a:ln>
              <a:solidFill>
                <a:srgbClr val="880000"/>
              </a:solidFill>
              <a:effectLst/>
              <a:latin typeface="Cambria" panose="02040503050406030204" pitchFamily="18" charset="0"/>
              <a:ea typeface="Cambria" panose="02040503050406030204" pitchFamily="18"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rgbClr val="444444"/>
                </a:solidFill>
                <a:effectLst/>
                <a:latin typeface="Cambria" panose="02040503050406030204" pitchFamily="18" charset="0"/>
                <a:ea typeface="Cambria" panose="02040503050406030204" pitchFamily="18" charset="0"/>
                <a:cs typeface="Courier New" panose="02070309020205020404" pitchFamily="49" charset="0"/>
              </a:rPr>
              <a:t>A </a:t>
            </a:r>
            <a:r>
              <a:rPr kumimoji="0" lang="en-US" altLang="en-US" sz="2500" b="0" i="0" u="none" strike="noStrike" cap="none" normalizeH="0" baseline="0" dirty="0">
                <a:ln>
                  <a:noFill/>
                </a:ln>
                <a:solidFill>
                  <a:srgbClr val="880000"/>
                </a:solidFill>
                <a:effectLst/>
                <a:latin typeface="Cambria" panose="02040503050406030204" pitchFamily="18" charset="0"/>
                <a:ea typeface="Cambria" panose="02040503050406030204" pitchFamily="18" charset="0"/>
                <a:cs typeface="Courier New" panose="02070309020205020404" pitchFamily="49" charset="0"/>
              </a:rPr>
              <a:t>0.0</a:t>
            </a:r>
          </a:p>
        </p:txBody>
      </p:sp>
      <p:sp>
        <p:nvSpPr>
          <p:cNvPr id="13" name="Rectangle 2">
            <a:extLst>
              <a:ext uri="{FF2B5EF4-FFF2-40B4-BE49-F238E27FC236}">
                <a16:creationId xmlns:a16="http://schemas.microsoft.com/office/drawing/2014/main" id="{62E5A5CD-2137-D85E-C9B5-7BD5B109A5BF}"/>
              </a:ext>
            </a:extLst>
          </p:cNvPr>
          <p:cNvSpPr>
            <a:spLocks noChangeArrowheads="1"/>
          </p:cNvSpPr>
          <p:nvPr/>
        </p:nvSpPr>
        <p:spPr bwMode="auto">
          <a:xfrm>
            <a:off x="6995023" y="1268047"/>
            <a:ext cx="1453551" cy="1200329"/>
          </a:xfrm>
          <a:prstGeom prst="rect">
            <a:avLst/>
          </a:prstGeom>
          <a:solidFill>
            <a:srgbClr val="F0F0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rgbClr val="880000"/>
                </a:solidFill>
                <a:effectLst/>
                <a:latin typeface="Cambria" panose="02040503050406030204" pitchFamily="18" charset="0"/>
                <a:ea typeface="Cambria" panose="02040503050406030204" pitchFamily="18" charset="0"/>
                <a:cs typeface="Courier New" panose="02070309020205020404" pitchFamily="49" charset="0"/>
              </a:rPr>
              <a:t>A</a:t>
            </a:r>
            <a:r>
              <a:rPr kumimoji="0" lang="en-US" altLang="en-US" sz="2500" b="0" i="0" u="none" strike="noStrike" cap="none" normalizeH="0" baseline="0" dirty="0">
                <a:ln>
                  <a:noFill/>
                </a:ln>
                <a:solidFill>
                  <a:srgbClr val="444444"/>
                </a:solidFill>
                <a:effectLst/>
                <a:latin typeface="Cambria" panose="02040503050406030204" pitchFamily="18" charset="0"/>
                <a:ea typeface="Cambria" panose="02040503050406030204" pitchFamily="18" charset="0"/>
                <a:cs typeface="Courier New" panose="02070309020205020404" pitchFamily="49" charset="0"/>
              </a:rPr>
              <a:t> </a:t>
            </a:r>
            <a:r>
              <a:rPr kumimoji="0" lang="en-US" altLang="en-US" sz="2500" b="0" i="0" u="none" strike="noStrike" cap="none" normalizeH="0" baseline="0" dirty="0">
                <a:ln>
                  <a:noFill/>
                </a:ln>
                <a:solidFill>
                  <a:srgbClr val="880000"/>
                </a:solidFill>
                <a:effectLst/>
                <a:latin typeface="Cambria" panose="02040503050406030204" pitchFamily="18" charset="0"/>
                <a:ea typeface="Cambria" panose="02040503050406030204" pitchFamily="18" charset="0"/>
                <a:cs typeface="Courier New" panose="02070309020205020404" pitchFamily="49" charset="0"/>
              </a:rPr>
              <a:t>0.0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rgbClr val="880000"/>
                </a:solidFill>
                <a:effectLst/>
                <a:latin typeface="Cambria" panose="02040503050406030204" pitchFamily="18" charset="0"/>
                <a:ea typeface="Cambria" panose="02040503050406030204" pitchFamily="18" charset="0"/>
                <a:cs typeface="Courier New" panose="02070309020205020404" pitchFamily="49" charset="0"/>
              </a:rPr>
              <a:t>B</a:t>
            </a:r>
            <a:r>
              <a:rPr kumimoji="0" lang="en-US" altLang="en-US" sz="2500" b="0" i="0" u="none" strike="noStrike" cap="none" normalizeH="0" baseline="0" dirty="0">
                <a:ln>
                  <a:noFill/>
                </a:ln>
                <a:solidFill>
                  <a:srgbClr val="444444"/>
                </a:solidFill>
                <a:effectLst/>
                <a:latin typeface="Cambria" panose="02040503050406030204" pitchFamily="18" charset="0"/>
                <a:ea typeface="Cambria" panose="02040503050406030204" pitchFamily="18" charset="0"/>
                <a:cs typeface="Courier New" panose="02070309020205020404" pitchFamily="49" charset="0"/>
              </a:rPr>
              <a:t> </a:t>
            </a:r>
            <a:r>
              <a:rPr kumimoji="0" lang="en-US" altLang="en-US" sz="2500" b="0" i="0" u="none" strike="noStrike" cap="none" normalizeH="0" baseline="0" dirty="0">
                <a:ln>
                  <a:noFill/>
                </a:ln>
                <a:solidFill>
                  <a:srgbClr val="880000"/>
                </a:solidFill>
                <a:effectLst/>
                <a:latin typeface="Cambria" panose="02040503050406030204" pitchFamily="18" charset="0"/>
                <a:ea typeface="Cambria" panose="02040503050406030204" pitchFamily="18" charset="0"/>
                <a:cs typeface="Courier New" panose="02070309020205020404" pitchFamily="49" charset="0"/>
              </a:rPr>
              <a:t>1.0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500" b="0" i="0" u="none" strike="noStrike" cap="none" normalizeH="0" baseline="0" dirty="0">
                <a:ln>
                  <a:noFill/>
                </a:ln>
                <a:solidFill>
                  <a:srgbClr val="880000"/>
                </a:solidFill>
                <a:effectLst/>
                <a:latin typeface="Cambria" panose="02040503050406030204" pitchFamily="18" charset="0"/>
                <a:ea typeface="Cambria" panose="02040503050406030204" pitchFamily="18" charset="0"/>
                <a:cs typeface="Courier New" panose="02070309020205020404" pitchFamily="49" charset="0"/>
              </a:rPr>
              <a:t>C</a:t>
            </a:r>
            <a:r>
              <a:rPr kumimoji="0" lang="en-US" altLang="en-US" sz="2500" b="0" i="0" u="none" strike="noStrike" cap="none" normalizeH="0" baseline="0" dirty="0">
                <a:ln>
                  <a:noFill/>
                </a:ln>
                <a:solidFill>
                  <a:srgbClr val="444444"/>
                </a:solidFill>
                <a:effectLst/>
                <a:latin typeface="Cambria" panose="02040503050406030204" pitchFamily="18" charset="0"/>
                <a:ea typeface="Cambria" panose="02040503050406030204" pitchFamily="18" charset="0"/>
                <a:cs typeface="Courier New" panose="02070309020205020404" pitchFamily="49" charset="0"/>
              </a:rPr>
              <a:t> </a:t>
            </a:r>
            <a:r>
              <a:rPr kumimoji="0" lang="en-US" altLang="en-US" sz="2500" b="0" i="0" u="none" strike="noStrike" cap="none" normalizeH="0" baseline="0" dirty="0">
                <a:ln>
                  <a:noFill/>
                </a:ln>
                <a:solidFill>
                  <a:srgbClr val="880000"/>
                </a:solidFill>
                <a:effectLst/>
                <a:latin typeface="Cambria" panose="02040503050406030204" pitchFamily="18" charset="0"/>
                <a:ea typeface="Cambria" panose="02040503050406030204" pitchFamily="18" charset="0"/>
                <a:cs typeface="Courier New" panose="02070309020205020404" pitchFamily="49" charset="0"/>
              </a:rPr>
              <a:t>2.0</a:t>
            </a:r>
            <a:r>
              <a:rPr kumimoji="0" lang="en-US" altLang="en-US" sz="25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 </a:t>
            </a:r>
          </a:p>
        </p:txBody>
      </p:sp>
      <p:sp>
        <p:nvSpPr>
          <p:cNvPr id="14" name="Rectangle 13"/>
          <p:cNvSpPr/>
          <p:nvPr/>
        </p:nvSpPr>
        <p:spPr>
          <a:xfrm>
            <a:off x="79513" y="691585"/>
            <a:ext cx="12006470" cy="477054"/>
          </a:xfrm>
          <a:prstGeom prst="rect">
            <a:avLst/>
          </a:prstGeom>
        </p:spPr>
        <p:txBody>
          <a:bodyPr wrap="square">
            <a:spAutoFit/>
          </a:bodyPr>
          <a:lstStyle/>
          <a:p>
            <a:r>
              <a:rPr lang="en-US" sz="2500" b="1" dirty="0" err="1">
                <a:solidFill>
                  <a:srgbClr val="FF0000"/>
                </a:solidFill>
                <a:latin typeface="Cambria" panose="02040503050406030204" pitchFamily="18" charset="0"/>
                <a:ea typeface="Cambria" panose="02040503050406030204" pitchFamily="18" charset="0"/>
              </a:rPr>
              <a:t>Cấu</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trúc</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dữ</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liệu</a:t>
            </a:r>
            <a:r>
              <a:rPr lang="en-US" sz="2500" b="1" dirty="0">
                <a:solidFill>
                  <a:srgbClr val="FF0000"/>
                </a:solidFill>
                <a:latin typeface="Cambria" panose="02040503050406030204" pitchFamily="18" charset="0"/>
                <a:ea typeface="Cambria" panose="02040503050406030204" pitchFamily="18" charset="0"/>
              </a:rPr>
              <a:t> Series: </a:t>
            </a:r>
            <a:r>
              <a:rPr lang="en-US" sz="2500" b="1" dirty="0">
                <a:solidFill>
                  <a:srgbClr val="000000"/>
                </a:solidFill>
                <a:latin typeface="Cambria" panose="02040503050406030204" pitchFamily="18" charset="0"/>
                <a:ea typeface="Cambria" panose="02040503050406030204" pitchFamily="18" charset="0"/>
              </a:rPr>
              <a:t>pandas.</a:t>
            </a:r>
            <a:r>
              <a:rPr lang="vi-VN" sz="2500" b="1" dirty="0">
                <a:solidFill>
                  <a:srgbClr val="000000"/>
                </a:solidFill>
                <a:latin typeface="Cambria" panose="02040503050406030204" pitchFamily="18" charset="0"/>
                <a:ea typeface="Cambria" panose="02040503050406030204" pitchFamily="18" charset="0"/>
              </a:rPr>
              <a:t>Series([data, index, dtype,copy)]</a:t>
            </a:r>
            <a:endParaRPr lang="en-US" sz="2500" b="1" dirty="0">
              <a:solidFill>
                <a:srgbClr val="00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881675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PANDAS – SERIES</a:t>
            </a: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134085" y="1207869"/>
            <a:ext cx="8686800" cy="2057400"/>
          </a:xfrm>
        </p:spPr>
        <p:txBody>
          <a:bodyPr>
            <a:noAutofit/>
          </a:bodyPr>
          <a:lstStyle/>
          <a:p>
            <a:pPr marL="114300" lvl="1" indent="0">
              <a:spcBef>
                <a:spcPts val="580"/>
              </a:spcBef>
              <a:buClr>
                <a:srgbClr val="FF5A33"/>
              </a:buClr>
              <a:buNone/>
              <a:tabLst>
                <a:tab pos="756920" algn="l"/>
              </a:tabLst>
            </a:pPr>
            <a:r>
              <a:rPr lang="en-US" sz="2500" b="0" spc="-55" dirty="0" err="1">
                <a:latin typeface="Cambria" panose="02040503050406030204" pitchFamily="18" charset="0"/>
                <a:ea typeface="Cambria" panose="02040503050406030204" pitchFamily="18" charset="0"/>
                <a:cs typeface="Segoe UI"/>
              </a:rPr>
              <a:t>Ví</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dụ</a:t>
            </a:r>
            <a:r>
              <a:rPr lang="en-US" sz="2500" b="0" spc="-55" dirty="0">
                <a:latin typeface="Cambria" panose="02040503050406030204" pitchFamily="18" charset="0"/>
                <a:ea typeface="Cambria" panose="02040503050406030204" pitchFamily="18" charset="0"/>
                <a:cs typeface="Segoe UI"/>
              </a:rPr>
              <a:t> 5</a:t>
            </a:r>
            <a:r>
              <a:rPr lang="vi-VN" sz="2500" b="0" spc="-55" dirty="0">
                <a:latin typeface="Cambria" panose="02040503050406030204" pitchFamily="18" charset="0"/>
                <a:ea typeface="Cambria" panose="02040503050406030204" pitchFamily="18" charset="0"/>
                <a:cs typeface="Segoe UI"/>
              </a:rPr>
              <a:t> :</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Truy</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xuất</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dữ</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liệu</a:t>
            </a:r>
            <a:r>
              <a:rPr lang="en-US" sz="2500" b="0" spc="-55" dirty="0">
                <a:latin typeface="Cambria" panose="02040503050406030204" pitchFamily="18" charset="0"/>
                <a:ea typeface="Cambria" panose="02040503050406030204" pitchFamily="18" charset="0"/>
                <a:cs typeface="Segoe UI"/>
              </a:rPr>
              <a:t> qua index</a:t>
            </a:r>
          </a:p>
          <a:p>
            <a:pPr marL="1428750" lvl="4" indent="0">
              <a:spcBef>
                <a:spcPts val="580"/>
              </a:spcBef>
              <a:buClr>
                <a:srgbClr val="FF5A33"/>
              </a:buClr>
              <a:buNone/>
              <a:tabLst>
                <a:tab pos="756920" algn="l"/>
              </a:tabLst>
            </a:pPr>
            <a:r>
              <a:rPr lang="vi-VN" sz="2500" b="0" spc="-55" dirty="0">
                <a:solidFill>
                  <a:srgbClr val="009900"/>
                </a:solidFill>
                <a:latin typeface="Cambria" panose="02040503050406030204" pitchFamily="18" charset="0"/>
                <a:ea typeface="Cambria" panose="02040503050406030204" pitchFamily="18" charset="0"/>
                <a:cs typeface="Segoe UI"/>
              </a:rPr>
              <a:t>import pandas as pd</a:t>
            </a:r>
          </a:p>
          <a:p>
            <a:pPr marL="1428750" lvl="4" indent="0">
              <a:spcBef>
                <a:spcPts val="580"/>
              </a:spcBef>
              <a:buClr>
                <a:srgbClr val="FF5A33"/>
              </a:buClr>
              <a:buNone/>
              <a:tabLst>
                <a:tab pos="756920" algn="l"/>
              </a:tabLst>
            </a:pPr>
            <a:r>
              <a:rPr lang="vi-VN" sz="2500" b="0" spc="-55" dirty="0">
                <a:solidFill>
                  <a:srgbClr val="009900"/>
                </a:solidFill>
                <a:latin typeface="Cambria" panose="02040503050406030204" pitchFamily="18" charset="0"/>
                <a:ea typeface="Cambria" panose="02040503050406030204" pitchFamily="18" charset="0"/>
                <a:cs typeface="Segoe UI"/>
              </a:rPr>
              <a:t>s = pd.Series([1,2,3,4,5],</a:t>
            </a:r>
            <a:r>
              <a:rPr lang="en-US" sz="2500" b="0" spc="-55" dirty="0">
                <a:solidFill>
                  <a:srgbClr val="009900"/>
                </a:solidFill>
                <a:latin typeface="Cambria" panose="02040503050406030204" pitchFamily="18" charset="0"/>
                <a:ea typeface="Cambria" panose="02040503050406030204" pitchFamily="18" charset="0"/>
                <a:cs typeface="Segoe UI"/>
              </a:rPr>
              <a:t> </a:t>
            </a:r>
            <a:r>
              <a:rPr lang="vi-VN" sz="2500" b="0" spc="-55" dirty="0">
                <a:solidFill>
                  <a:srgbClr val="009900"/>
                </a:solidFill>
                <a:latin typeface="Cambria" panose="02040503050406030204" pitchFamily="18" charset="0"/>
                <a:ea typeface="Cambria" panose="02040503050406030204" pitchFamily="18" charset="0"/>
                <a:cs typeface="Segoe UI"/>
              </a:rPr>
              <a:t>index = ['a','b','c','d','e'])</a:t>
            </a:r>
          </a:p>
          <a:p>
            <a:pPr marL="1428750" lvl="4" indent="0">
              <a:spcBef>
                <a:spcPts val="580"/>
              </a:spcBef>
              <a:buClr>
                <a:srgbClr val="FF5A33"/>
              </a:buClr>
              <a:buNone/>
              <a:tabLst>
                <a:tab pos="756920" algn="l"/>
              </a:tabLst>
            </a:pPr>
            <a:r>
              <a:rPr lang="vi-VN" sz="2500" b="0" spc="-55" dirty="0">
                <a:solidFill>
                  <a:srgbClr val="009900"/>
                </a:solidFill>
                <a:latin typeface="Cambria" panose="02040503050406030204" pitchFamily="18" charset="0"/>
                <a:ea typeface="Cambria" panose="02040503050406030204" pitchFamily="18" charset="0"/>
                <a:cs typeface="Segoe UI"/>
              </a:rPr>
              <a:t>print </a:t>
            </a:r>
            <a:r>
              <a:rPr lang="en-US" sz="2500" b="0" spc="-55" dirty="0">
                <a:solidFill>
                  <a:srgbClr val="009900"/>
                </a:solidFill>
                <a:latin typeface="Cambria" panose="02040503050406030204" pitchFamily="18" charset="0"/>
                <a:ea typeface="Cambria" panose="02040503050406030204" pitchFamily="18" charset="0"/>
                <a:cs typeface="Segoe UI"/>
              </a:rPr>
              <a:t>(</a:t>
            </a:r>
            <a:r>
              <a:rPr lang="vi-VN" sz="2500" b="0" spc="-55" dirty="0">
                <a:solidFill>
                  <a:srgbClr val="009900"/>
                </a:solidFill>
                <a:latin typeface="Cambria" panose="02040503050406030204" pitchFamily="18" charset="0"/>
                <a:ea typeface="Cambria" panose="02040503050406030204" pitchFamily="18" charset="0"/>
                <a:cs typeface="Segoe UI"/>
              </a:rPr>
              <a:t>s[['a','c','d’]]</a:t>
            </a:r>
            <a:r>
              <a:rPr lang="en-US" sz="2500" b="0" spc="-55" dirty="0">
                <a:solidFill>
                  <a:srgbClr val="009900"/>
                </a:solidFill>
                <a:latin typeface="Cambria" panose="02040503050406030204" pitchFamily="18" charset="0"/>
                <a:ea typeface="Cambria" panose="02040503050406030204" pitchFamily="18" charset="0"/>
                <a:cs typeface="Segoe UI"/>
              </a:rPr>
              <a:t>)</a:t>
            </a:r>
            <a:endParaRPr lang="vi-VN" sz="2500" b="0" spc="-55" dirty="0">
              <a:solidFill>
                <a:srgbClr val="009900"/>
              </a:solidFill>
              <a:latin typeface="Cambria" panose="02040503050406030204" pitchFamily="18" charset="0"/>
              <a:ea typeface="Cambria" panose="02040503050406030204" pitchFamily="18" charset="0"/>
              <a:cs typeface="Segoe UI"/>
            </a:endParaRPr>
          </a:p>
          <a:p>
            <a:pPr marL="114300" lvl="1" indent="0">
              <a:spcBef>
                <a:spcPts val="580"/>
              </a:spcBef>
              <a:buClr>
                <a:srgbClr val="FF5A33"/>
              </a:buClr>
              <a:buNone/>
              <a:tabLst>
                <a:tab pos="756920" algn="l"/>
              </a:tabLst>
            </a:pPr>
            <a:endParaRPr lang="vi-VN" sz="2500" b="0" spc="-55" dirty="0">
              <a:latin typeface="Cambria" panose="02040503050406030204" pitchFamily="18" charset="0"/>
              <a:ea typeface="Cambria" panose="02040503050406030204" pitchFamily="18" charset="0"/>
              <a:cs typeface="Segoe UI"/>
            </a:endParaRPr>
          </a:p>
        </p:txBody>
      </p:sp>
      <p:sp>
        <p:nvSpPr>
          <p:cNvPr id="11" name="Content Placeholder 2">
            <a:extLst>
              <a:ext uri="{FF2B5EF4-FFF2-40B4-BE49-F238E27FC236}">
                <a16:creationId xmlns:a16="http://schemas.microsoft.com/office/drawing/2014/main" id="{8AE49E74-8813-CF74-4E44-1BCDE4B59D2F}"/>
              </a:ext>
            </a:extLst>
          </p:cNvPr>
          <p:cNvSpPr txBox="1">
            <a:spLocks/>
          </p:cNvSpPr>
          <p:nvPr/>
        </p:nvSpPr>
        <p:spPr>
          <a:xfrm>
            <a:off x="79513" y="3458867"/>
            <a:ext cx="8686800" cy="275827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b="1"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lvl="1" indent="0">
              <a:spcBef>
                <a:spcPts val="580"/>
              </a:spcBef>
              <a:buClr>
                <a:srgbClr val="FF5A33"/>
              </a:buClr>
              <a:buNone/>
              <a:tabLst>
                <a:tab pos="756920" algn="l"/>
              </a:tabLst>
            </a:pPr>
            <a:r>
              <a:rPr lang="en-US" sz="2500" b="0" spc="-55" dirty="0" err="1">
                <a:latin typeface="Cambria" panose="02040503050406030204" pitchFamily="18" charset="0"/>
                <a:ea typeface="Cambria" panose="02040503050406030204" pitchFamily="18" charset="0"/>
                <a:cs typeface="Segoe UI"/>
              </a:rPr>
              <a:t>Ví</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dụ</a:t>
            </a:r>
            <a:r>
              <a:rPr lang="en-US" sz="2500" b="0" spc="-55" dirty="0">
                <a:latin typeface="Cambria" panose="02040503050406030204" pitchFamily="18" charset="0"/>
                <a:ea typeface="Cambria" panose="02040503050406030204" pitchFamily="18" charset="0"/>
                <a:cs typeface="Segoe UI"/>
              </a:rPr>
              <a:t> 6</a:t>
            </a:r>
            <a:r>
              <a:rPr lang="vi-VN" sz="2500" b="0" spc="-55" dirty="0">
                <a:latin typeface="Cambria" panose="02040503050406030204" pitchFamily="18" charset="0"/>
                <a:ea typeface="Cambria" panose="02040503050406030204" pitchFamily="18" charset="0"/>
                <a:cs typeface="Segoe UI"/>
              </a:rPr>
              <a:t> :</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Truy</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xuất</a:t>
            </a:r>
            <a:r>
              <a:rPr lang="en-US" sz="2500" b="0" spc="-55" dirty="0">
                <a:latin typeface="Cambria" panose="02040503050406030204" pitchFamily="18" charset="0"/>
                <a:ea typeface="Cambria" panose="02040503050406030204" pitchFamily="18" charset="0"/>
                <a:cs typeface="Segoe UI"/>
              </a:rPr>
              <a:t> 3 </a:t>
            </a:r>
            <a:r>
              <a:rPr lang="en-US" sz="2500" b="0" spc="-55" dirty="0" err="1">
                <a:latin typeface="Cambria" panose="02040503050406030204" pitchFamily="18" charset="0"/>
                <a:ea typeface="Cambria" panose="02040503050406030204" pitchFamily="18" charset="0"/>
                <a:cs typeface="Segoe UI"/>
              </a:rPr>
              <a:t>phần</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tử</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cuối</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cùng</a:t>
            </a:r>
            <a:endParaRPr lang="en-US" sz="2500" b="0" spc="-55" dirty="0">
              <a:latin typeface="Cambria" panose="02040503050406030204" pitchFamily="18" charset="0"/>
              <a:ea typeface="Cambria" panose="02040503050406030204" pitchFamily="18" charset="0"/>
              <a:cs typeface="Segoe UI"/>
            </a:endParaRPr>
          </a:p>
          <a:p>
            <a:pPr marL="1428750" lvl="4" indent="0">
              <a:spcBef>
                <a:spcPts val="580"/>
              </a:spcBef>
              <a:buClr>
                <a:srgbClr val="FF5A33"/>
              </a:buClr>
              <a:buFont typeface="Arial" pitchFamily="34" charset="0"/>
              <a:buNone/>
              <a:tabLst>
                <a:tab pos="756920" algn="l"/>
              </a:tabLst>
            </a:pPr>
            <a:r>
              <a:rPr lang="en-US" sz="2500" spc="-55" dirty="0">
                <a:solidFill>
                  <a:srgbClr val="009900"/>
                </a:solidFill>
                <a:latin typeface="Cambria" panose="02040503050406030204" pitchFamily="18" charset="0"/>
                <a:ea typeface="Cambria" panose="02040503050406030204" pitchFamily="18" charset="0"/>
                <a:cs typeface="Segoe UI"/>
              </a:rPr>
              <a:t>import pandas as </a:t>
            </a:r>
            <a:r>
              <a:rPr lang="en-US" sz="2500" spc="-55" dirty="0" err="1">
                <a:solidFill>
                  <a:srgbClr val="009900"/>
                </a:solidFill>
                <a:latin typeface="Cambria" panose="02040503050406030204" pitchFamily="18" charset="0"/>
                <a:ea typeface="Cambria" panose="02040503050406030204" pitchFamily="18" charset="0"/>
                <a:cs typeface="Segoe UI"/>
              </a:rPr>
              <a:t>pd</a:t>
            </a:r>
            <a:endParaRPr lang="en-US" sz="2500" spc="-55" dirty="0">
              <a:solidFill>
                <a:srgbClr val="009900"/>
              </a:solidFill>
              <a:latin typeface="Cambria" panose="02040503050406030204" pitchFamily="18" charset="0"/>
              <a:ea typeface="Cambria" panose="02040503050406030204" pitchFamily="18" charset="0"/>
              <a:cs typeface="Segoe UI"/>
            </a:endParaRPr>
          </a:p>
          <a:p>
            <a:pPr marL="1428750" lvl="4" indent="0">
              <a:spcBef>
                <a:spcPts val="580"/>
              </a:spcBef>
              <a:buClr>
                <a:srgbClr val="FF5A33"/>
              </a:buClr>
              <a:buFont typeface="Arial" pitchFamily="34" charset="0"/>
              <a:buNone/>
              <a:tabLst>
                <a:tab pos="756920" algn="l"/>
              </a:tabLst>
            </a:pPr>
            <a:r>
              <a:rPr lang="en-US" sz="2500" spc="-55" dirty="0">
                <a:solidFill>
                  <a:srgbClr val="009900"/>
                </a:solidFill>
                <a:latin typeface="Cambria" panose="02040503050406030204" pitchFamily="18" charset="0"/>
                <a:ea typeface="Cambria" panose="02040503050406030204" pitchFamily="18" charset="0"/>
                <a:cs typeface="Segoe UI"/>
              </a:rPr>
              <a:t>s = </a:t>
            </a:r>
            <a:r>
              <a:rPr lang="en-US" sz="2500" spc="-55" dirty="0" err="1">
                <a:solidFill>
                  <a:srgbClr val="009900"/>
                </a:solidFill>
                <a:latin typeface="Cambria" panose="02040503050406030204" pitchFamily="18" charset="0"/>
                <a:ea typeface="Cambria" panose="02040503050406030204" pitchFamily="18" charset="0"/>
                <a:cs typeface="Segoe UI"/>
              </a:rPr>
              <a:t>pd.Series</a:t>
            </a:r>
            <a:r>
              <a:rPr lang="en-US" sz="2500" spc="-55" dirty="0">
                <a:solidFill>
                  <a:srgbClr val="009900"/>
                </a:solidFill>
                <a:latin typeface="Cambria" panose="02040503050406030204" pitchFamily="18" charset="0"/>
                <a:ea typeface="Cambria" panose="02040503050406030204" pitchFamily="18" charset="0"/>
                <a:cs typeface="Segoe UI"/>
              </a:rPr>
              <a:t>([1,2,3,4,5],index = ['</a:t>
            </a:r>
            <a:r>
              <a:rPr lang="en-US" sz="2500" spc="-55" dirty="0" err="1">
                <a:solidFill>
                  <a:srgbClr val="009900"/>
                </a:solidFill>
                <a:latin typeface="Cambria" panose="02040503050406030204" pitchFamily="18" charset="0"/>
                <a:ea typeface="Cambria" panose="02040503050406030204" pitchFamily="18" charset="0"/>
                <a:cs typeface="Segoe UI"/>
              </a:rPr>
              <a:t>a','b','c','d','e</a:t>
            </a:r>
            <a:r>
              <a:rPr lang="en-US" sz="2500" spc="-55" dirty="0">
                <a:solidFill>
                  <a:srgbClr val="009900"/>
                </a:solidFill>
                <a:latin typeface="Cambria" panose="02040503050406030204" pitchFamily="18" charset="0"/>
                <a:ea typeface="Cambria" panose="02040503050406030204" pitchFamily="18" charset="0"/>
                <a:cs typeface="Segoe UI"/>
              </a:rPr>
              <a:t>'])</a:t>
            </a:r>
          </a:p>
          <a:p>
            <a:pPr marL="1428750" lvl="4" indent="0">
              <a:spcBef>
                <a:spcPts val="580"/>
              </a:spcBef>
              <a:buClr>
                <a:srgbClr val="FF5A33"/>
              </a:buClr>
              <a:buFont typeface="Arial" pitchFamily="34" charset="0"/>
              <a:buNone/>
              <a:tabLst>
                <a:tab pos="756920" algn="l"/>
              </a:tabLst>
            </a:pPr>
            <a:r>
              <a:rPr lang="en-US" sz="2500" spc="-55" dirty="0">
                <a:solidFill>
                  <a:srgbClr val="009900"/>
                </a:solidFill>
                <a:latin typeface="Cambria" panose="02040503050406030204" pitchFamily="18" charset="0"/>
                <a:ea typeface="Cambria" panose="02040503050406030204" pitchFamily="18" charset="0"/>
                <a:cs typeface="Segoe UI"/>
              </a:rPr>
              <a:t>print(s[-3:])</a:t>
            </a:r>
            <a:endParaRPr lang="vi-VN" sz="2500" b="0" spc="-55" dirty="0">
              <a:latin typeface="Cambria" panose="02040503050406030204" pitchFamily="18" charset="0"/>
              <a:ea typeface="Cambria" panose="02040503050406030204" pitchFamily="18" charset="0"/>
              <a:cs typeface="Segoe UI"/>
            </a:endParaRPr>
          </a:p>
        </p:txBody>
      </p:sp>
      <p:sp>
        <p:nvSpPr>
          <p:cNvPr id="12" name="Rectangle 11"/>
          <p:cNvSpPr/>
          <p:nvPr/>
        </p:nvSpPr>
        <p:spPr>
          <a:xfrm>
            <a:off x="79513" y="691585"/>
            <a:ext cx="12006470" cy="477054"/>
          </a:xfrm>
          <a:prstGeom prst="rect">
            <a:avLst/>
          </a:prstGeom>
        </p:spPr>
        <p:txBody>
          <a:bodyPr wrap="square">
            <a:spAutoFit/>
          </a:bodyPr>
          <a:lstStyle/>
          <a:p>
            <a:r>
              <a:rPr lang="en-US" sz="2500" b="1" dirty="0" err="1">
                <a:solidFill>
                  <a:srgbClr val="FF0000"/>
                </a:solidFill>
                <a:latin typeface="Cambria" panose="02040503050406030204" pitchFamily="18" charset="0"/>
                <a:ea typeface="Cambria" panose="02040503050406030204" pitchFamily="18" charset="0"/>
              </a:rPr>
              <a:t>Cấu</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trúc</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dữ</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liệu</a:t>
            </a:r>
            <a:r>
              <a:rPr lang="en-US" sz="2500" b="1" dirty="0">
                <a:solidFill>
                  <a:srgbClr val="FF0000"/>
                </a:solidFill>
                <a:latin typeface="Cambria" panose="02040503050406030204" pitchFamily="18" charset="0"/>
                <a:ea typeface="Cambria" panose="02040503050406030204" pitchFamily="18" charset="0"/>
              </a:rPr>
              <a:t> Series: </a:t>
            </a:r>
            <a:r>
              <a:rPr lang="en-US" sz="2500" b="1" dirty="0">
                <a:solidFill>
                  <a:srgbClr val="000000"/>
                </a:solidFill>
                <a:latin typeface="Cambria" panose="02040503050406030204" pitchFamily="18" charset="0"/>
                <a:ea typeface="Cambria" panose="02040503050406030204" pitchFamily="18" charset="0"/>
              </a:rPr>
              <a:t>pandas.</a:t>
            </a:r>
            <a:r>
              <a:rPr lang="vi-VN" sz="2500" b="1" dirty="0">
                <a:solidFill>
                  <a:srgbClr val="000000"/>
                </a:solidFill>
                <a:latin typeface="Cambria" panose="02040503050406030204" pitchFamily="18" charset="0"/>
                <a:ea typeface="Cambria" panose="02040503050406030204" pitchFamily="18" charset="0"/>
              </a:rPr>
              <a:t>Series([data, index, dtype,copy)]</a:t>
            </a:r>
            <a:endParaRPr lang="en-US" sz="2500" b="1" dirty="0">
              <a:solidFill>
                <a:srgbClr val="00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109211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PANDAS – SERIE</a:t>
            </a:r>
          </a:p>
        </p:txBody>
      </p:sp>
      <p:sp>
        <p:nvSpPr>
          <p:cNvPr id="5" name="Rectangle 4"/>
          <p:cNvSpPr/>
          <p:nvPr/>
        </p:nvSpPr>
        <p:spPr>
          <a:xfrm>
            <a:off x="79513" y="691585"/>
            <a:ext cx="8138491" cy="477054"/>
          </a:xfrm>
          <a:prstGeom prst="rect">
            <a:avLst/>
          </a:prstGeom>
        </p:spPr>
        <p:txBody>
          <a:bodyPr wrap="square">
            <a:spAutoFit/>
          </a:bodyPr>
          <a:lstStyle/>
          <a:p>
            <a:pPr marL="114300" lvl="1">
              <a:spcBef>
                <a:spcPts val="580"/>
              </a:spcBef>
              <a:buClr>
                <a:srgbClr val="FF5A33"/>
              </a:buClr>
              <a:tabLst>
                <a:tab pos="756920" algn="l"/>
              </a:tabLst>
            </a:pPr>
            <a:r>
              <a:rPr lang="en-US" sz="2500" b="1" spc="-55" dirty="0" err="1">
                <a:solidFill>
                  <a:srgbClr val="FF0000"/>
                </a:solidFill>
                <a:latin typeface="Cambria" panose="02040503050406030204" pitchFamily="18" charset="0"/>
                <a:ea typeface="Cambria" panose="02040503050406030204" pitchFamily="18" charset="0"/>
                <a:cs typeface="Segoe UI"/>
              </a:rPr>
              <a:t>Các</a:t>
            </a:r>
            <a:r>
              <a:rPr lang="en-US" sz="2500" b="1" spc="-55" dirty="0">
                <a:solidFill>
                  <a:srgbClr val="FF0000"/>
                </a:solidFill>
                <a:latin typeface="Cambria" panose="02040503050406030204" pitchFamily="18" charset="0"/>
                <a:ea typeface="Cambria" panose="02040503050406030204" pitchFamily="18" charset="0"/>
                <a:cs typeface="Segoe UI"/>
              </a:rPr>
              <a:t> </a:t>
            </a:r>
            <a:r>
              <a:rPr lang="en-US" sz="2500" b="1" spc="-55" dirty="0" err="1">
                <a:solidFill>
                  <a:srgbClr val="FF0000"/>
                </a:solidFill>
                <a:latin typeface="Cambria" panose="02040503050406030204" pitchFamily="18" charset="0"/>
                <a:ea typeface="Cambria" panose="02040503050406030204" pitchFamily="18" charset="0"/>
                <a:cs typeface="Segoe UI"/>
              </a:rPr>
              <a:t>thuộc</a:t>
            </a:r>
            <a:r>
              <a:rPr lang="en-US" sz="2500" b="1" spc="-55" dirty="0">
                <a:solidFill>
                  <a:srgbClr val="FF0000"/>
                </a:solidFill>
                <a:latin typeface="Cambria" panose="02040503050406030204" pitchFamily="18" charset="0"/>
                <a:ea typeface="Cambria" panose="02040503050406030204" pitchFamily="18" charset="0"/>
                <a:cs typeface="Segoe UI"/>
              </a:rPr>
              <a:t> </a:t>
            </a:r>
            <a:r>
              <a:rPr lang="en-US" sz="2500" b="1" spc="-55" dirty="0" err="1">
                <a:solidFill>
                  <a:srgbClr val="FF0000"/>
                </a:solidFill>
                <a:latin typeface="Cambria" panose="02040503050406030204" pitchFamily="18" charset="0"/>
                <a:ea typeface="Cambria" panose="02040503050406030204" pitchFamily="18" charset="0"/>
                <a:cs typeface="Segoe UI"/>
              </a:rPr>
              <a:t>tính</a:t>
            </a:r>
            <a:r>
              <a:rPr lang="en-US" sz="2500" b="1" spc="-55" dirty="0">
                <a:solidFill>
                  <a:srgbClr val="FF0000"/>
                </a:solidFill>
                <a:latin typeface="Cambria" panose="02040503050406030204" pitchFamily="18" charset="0"/>
                <a:ea typeface="Cambria" panose="02040503050406030204" pitchFamily="18" charset="0"/>
                <a:cs typeface="Segoe UI"/>
              </a:rPr>
              <a:t> </a:t>
            </a:r>
            <a:r>
              <a:rPr lang="en-US" sz="2500" b="1" spc="-55" dirty="0" err="1">
                <a:solidFill>
                  <a:srgbClr val="FF0000"/>
                </a:solidFill>
                <a:latin typeface="Cambria" panose="02040503050406030204" pitchFamily="18" charset="0"/>
                <a:ea typeface="Cambria" panose="02040503050406030204" pitchFamily="18" charset="0"/>
                <a:cs typeface="Segoe UI"/>
              </a:rPr>
              <a:t>và</a:t>
            </a:r>
            <a:r>
              <a:rPr lang="en-US" sz="2500" b="1" spc="-55" dirty="0">
                <a:solidFill>
                  <a:srgbClr val="FF0000"/>
                </a:solidFill>
                <a:latin typeface="Cambria" panose="02040503050406030204" pitchFamily="18" charset="0"/>
                <a:ea typeface="Cambria" panose="02040503050406030204" pitchFamily="18" charset="0"/>
                <a:cs typeface="Segoe UI"/>
              </a:rPr>
              <a:t> </a:t>
            </a:r>
            <a:r>
              <a:rPr lang="en-US" sz="2500" b="1" spc="-55" dirty="0" err="1">
                <a:solidFill>
                  <a:srgbClr val="FF0000"/>
                </a:solidFill>
                <a:latin typeface="Cambria" panose="02040503050406030204" pitchFamily="18" charset="0"/>
                <a:ea typeface="Cambria" panose="02040503050406030204" pitchFamily="18" charset="0"/>
                <a:cs typeface="Segoe UI"/>
              </a:rPr>
              <a:t>phương</a:t>
            </a:r>
            <a:r>
              <a:rPr lang="en-US" sz="2500" b="1" spc="-55" dirty="0">
                <a:solidFill>
                  <a:srgbClr val="FF0000"/>
                </a:solidFill>
                <a:latin typeface="Cambria" panose="02040503050406030204" pitchFamily="18" charset="0"/>
                <a:ea typeface="Cambria" panose="02040503050406030204" pitchFamily="18" charset="0"/>
                <a:cs typeface="Segoe UI"/>
              </a:rPr>
              <a:t> </a:t>
            </a:r>
            <a:r>
              <a:rPr lang="en-US" sz="2500" b="1" spc="-55" dirty="0" err="1">
                <a:solidFill>
                  <a:srgbClr val="FF0000"/>
                </a:solidFill>
                <a:latin typeface="Cambria" panose="02040503050406030204" pitchFamily="18" charset="0"/>
                <a:ea typeface="Cambria" panose="02040503050406030204" pitchFamily="18" charset="0"/>
                <a:cs typeface="Segoe UI"/>
              </a:rPr>
              <a:t>thức</a:t>
            </a:r>
            <a:r>
              <a:rPr lang="en-US" sz="2500" b="1" spc="-55" dirty="0">
                <a:solidFill>
                  <a:srgbClr val="FF0000"/>
                </a:solidFill>
                <a:latin typeface="Cambria" panose="02040503050406030204" pitchFamily="18" charset="0"/>
                <a:ea typeface="Cambria" panose="02040503050406030204" pitchFamily="18" charset="0"/>
                <a:cs typeface="Segoe UI"/>
              </a:rPr>
              <a:t> </a:t>
            </a:r>
            <a:r>
              <a:rPr lang="en-US" sz="2500" b="1" spc="-55" dirty="0" err="1">
                <a:solidFill>
                  <a:srgbClr val="FF0000"/>
                </a:solidFill>
                <a:latin typeface="Cambria" panose="02040503050406030204" pitchFamily="18" charset="0"/>
                <a:ea typeface="Cambria" panose="02040503050406030204" pitchFamily="18" charset="0"/>
                <a:cs typeface="Segoe UI"/>
              </a:rPr>
              <a:t>của</a:t>
            </a:r>
            <a:r>
              <a:rPr lang="en-US" sz="2500" b="1" spc="-55" dirty="0">
                <a:solidFill>
                  <a:srgbClr val="FF0000"/>
                </a:solidFill>
                <a:latin typeface="Cambria" panose="02040503050406030204" pitchFamily="18" charset="0"/>
                <a:ea typeface="Cambria" panose="02040503050406030204" pitchFamily="18" charset="0"/>
                <a:cs typeface="Segoe UI"/>
              </a:rPr>
              <a:t> Series</a:t>
            </a:r>
          </a:p>
        </p:txBody>
      </p:sp>
      <p:sp>
        <p:nvSpPr>
          <p:cNvPr id="12" name="TextBox 11">
            <a:extLst>
              <a:ext uri="{FF2B5EF4-FFF2-40B4-BE49-F238E27FC236}">
                <a16:creationId xmlns:a16="http://schemas.microsoft.com/office/drawing/2014/main" id="{7B507563-0C87-E170-E053-02A1300BC373}"/>
              </a:ext>
            </a:extLst>
          </p:cNvPr>
          <p:cNvSpPr txBox="1"/>
          <p:nvPr/>
        </p:nvSpPr>
        <p:spPr>
          <a:xfrm>
            <a:off x="258418" y="1216110"/>
            <a:ext cx="5216966" cy="4339650"/>
          </a:xfrm>
          <a:prstGeom prst="rect">
            <a:avLst/>
          </a:prstGeom>
          <a:noFill/>
        </p:spPr>
        <p:txBody>
          <a:bodyPr wrap="square">
            <a:spAutoFit/>
          </a:bodyPr>
          <a:lstStyle/>
          <a:p>
            <a:pPr algn="l">
              <a:lnSpc>
                <a:spcPct val="150000"/>
              </a:lnSpc>
              <a:buFont typeface="+mj-lt"/>
              <a:buAutoNum type="arabicPeriod"/>
            </a:pPr>
            <a:r>
              <a:rPr lang="vi-VN" sz="2300" b="1" i="0" dirty="0">
                <a:solidFill>
                  <a:srgbClr val="444444"/>
                </a:solidFill>
                <a:effectLst/>
                <a:latin typeface="Cambria" panose="02040503050406030204" pitchFamily="18" charset="0"/>
                <a:ea typeface="Cambria" panose="02040503050406030204" pitchFamily="18" charset="0"/>
              </a:rPr>
              <a:t>axes : </a:t>
            </a:r>
            <a:r>
              <a:rPr lang="vi-VN" sz="2300" b="0" i="0" dirty="0">
                <a:solidFill>
                  <a:srgbClr val="444444"/>
                </a:solidFill>
                <a:effectLst/>
                <a:latin typeface="Cambria" panose="02040503050406030204" pitchFamily="18" charset="0"/>
                <a:ea typeface="Cambria" panose="02040503050406030204" pitchFamily="18" charset="0"/>
              </a:rPr>
              <a:t>Trả về danh sách các trục hàng</a:t>
            </a:r>
            <a:r>
              <a:rPr lang="en-US" sz="2300" b="0" i="0" dirty="0">
                <a:solidFill>
                  <a:srgbClr val="444444"/>
                </a:solidFill>
                <a:effectLst/>
                <a:latin typeface="Cambria" panose="02040503050406030204" pitchFamily="18" charset="0"/>
                <a:ea typeface="Cambria" panose="02040503050406030204" pitchFamily="18" charset="0"/>
              </a:rPr>
              <a:t> </a:t>
            </a:r>
            <a:endParaRPr lang="vi-VN" sz="2300" b="0" i="0" dirty="0">
              <a:solidFill>
                <a:srgbClr val="444444"/>
              </a:solidFill>
              <a:effectLst/>
              <a:latin typeface="Cambria" panose="02040503050406030204" pitchFamily="18" charset="0"/>
              <a:ea typeface="Cambria" panose="02040503050406030204" pitchFamily="18" charset="0"/>
            </a:endParaRPr>
          </a:p>
          <a:p>
            <a:pPr algn="l">
              <a:lnSpc>
                <a:spcPct val="150000"/>
              </a:lnSpc>
              <a:buFont typeface="+mj-lt"/>
              <a:buAutoNum type="arabicPeriod"/>
            </a:pPr>
            <a:r>
              <a:rPr lang="vi-VN" sz="2300" b="1" i="0" dirty="0">
                <a:solidFill>
                  <a:srgbClr val="444444"/>
                </a:solidFill>
                <a:effectLst/>
                <a:latin typeface="Cambria" panose="02040503050406030204" pitchFamily="18" charset="0"/>
                <a:ea typeface="Cambria" panose="02040503050406030204" pitchFamily="18" charset="0"/>
              </a:rPr>
              <a:t>dtype : </a:t>
            </a:r>
            <a:r>
              <a:rPr lang="vi-VN" sz="2300" b="0" i="0" dirty="0">
                <a:solidFill>
                  <a:srgbClr val="444444"/>
                </a:solidFill>
                <a:effectLst/>
                <a:latin typeface="Cambria" panose="02040503050406030204" pitchFamily="18" charset="0"/>
                <a:ea typeface="Cambria" panose="02040503050406030204" pitchFamily="18" charset="0"/>
              </a:rPr>
              <a:t>Trả về object</a:t>
            </a:r>
          </a:p>
          <a:p>
            <a:pPr algn="l">
              <a:lnSpc>
                <a:spcPct val="150000"/>
              </a:lnSpc>
              <a:buFont typeface="+mj-lt"/>
              <a:buAutoNum type="arabicPeriod"/>
            </a:pPr>
            <a:r>
              <a:rPr lang="vi-VN" sz="2300" b="1" i="0" dirty="0">
                <a:solidFill>
                  <a:srgbClr val="444444"/>
                </a:solidFill>
                <a:effectLst/>
                <a:latin typeface="Cambria" panose="02040503050406030204" pitchFamily="18" charset="0"/>
                <a:ea typeface="Cambria" panose="02040503050406030204" pitchFamily="18" charset="0"/>
              </a:rPr>
              <a:t>empty :</a:t>
            </a:r>
            <a:r>
              <a:rPr lang="vi-VN" sz="2300" b="0" i="0" dirty="0">
                <a:solidFill>
                  <a:srgbClr val="444444"/>
                </a:solidFill>
                <a:effectLst/>
                <a:latin typeface="Cambria" panose="02040503050406030204" pitchFamily="18" charset="0"/>
                <a:ea typeface="Cambria" panose="02040503050406030204" pitchFamily="18" charset="0"/>
              </a:rPr>
              <a:t>Trả về True nếu series rỗng</a:t>
            </a:r>
          </a:p>
          <a:p>
            <a:pPr algn="l">
              <a:lnSpc>
                <a:spcPct val="150000"/>
              </a:lnSpc>
              <a:buFont typeface="+mj-lt"/>
              <a:buAutoNum type="arabicPeriod"/>
            </a:pPr>
            <a:r>
              <a:rPr lang="vi-VN" sz="2300" b="1" i="0" dirty="0">
                <a:solidFill>
                  <a:srgbClr val="444444"/>
                </a:solidFill>
                <a:effectLst/>
                <a:latin typeface="Cambria" panose="02040503050406030204" pitchFamily="18" charset="0"/>
                <a:ea typeface="Cambria" panose="02040503050406030204" pitchFamily="18" charset="0"/>
              </a:rPr>
              <a:t>ndim : </a:t>
            </a:r>
            <a:r>
              <a:rPr lang="vi-VN" sz="2300" b="0" i="0" dirty="0">
                <a:solidFill>
                  <a:srgbClr val="444444"/>
                </a:solidFill>
                <a:effectLst/>
                <a:latin typeface="Cambria" panose="02040503050406030204" pitchFamily="18" charset="0"/>
                <a:ea typeface="Cambria" panose="02040503050406030204" pitchFamily="18" charset="0"/>
              </a:rPr>
              <a:t>Trả về số chiều,mặc định là 1.</a:t>
            </a:r>
          </a:p>
          <a:p>
            <a:pPr algn="l">
              <a:lnSpc>
                <a:spcPct val="150000"/>
              </a:lnSpc>
              <a:buFont typeface="+mj-lt"/>
              <a:buAutoNum type="arabicPeriod"/>
            </a:pPr>
            <a:r>
              <a:rPr lang="vi-VN" sz="2300" b="1" i="0" dirty="0">
                <a:solidFill>
                  <a:srgbClr val="444444"/>
                </a:solidFill>
                <a:effectLst/>
                <a:latin typeface="Cambria" panose="02040503050406030204" pitchFamily="18" charset="0"/>
                <a:ea typeface="Cambria" panose="02040503050406030204" pitchFamily="18" charset="0"/>
              </a:rPr>
              <a:t>size : </a:t>
            </a:r>
            <a:r>
              <a:rPr lang="vi-VN" sz="2300" b="0" i="0" dirty="0">
                <a:solidFill>
                  <a:srgbClr val="444444"/>
                </a:solidFill>
                <a:effectLst/>
                <a:latin typeface="Cambria" panose="02040503050406030204" pitchFamily="18" charset="0"/>
                <a:ea typeface="Cambria" panose="02040503050406030204" pitchFamily="18" charset="0"/>
              </a:rPr>
              <a:t>Trả về số phần tử trong dữ liệu</a:t>
            </a:r>
          </a:p>
          <a:p>
            <a:pPr algn="l">
              <a:lnSpc>
                <a:spcPct val="150000"/>
              </a:lnSpc>
              <a:buFont typeface="+mj-lt"/>
              <a:buAutoNum type="arabicPeriod"/>
            </a:pPr>
            <a:r>
              <a:rPr lang="vi-VN" sz="2300" b="1" i="0" dirty="0">
                <a:solidFill>
                  <a:srgbClr val="444444"/>
                </a:solidFill>
                <a:effectLst/>
                <a:latin typeface="Cambria" panose="02040503050406030204" pitchFamily="18" charset="0"/>
                <a:ea typeface="Cambria" panose="02040503050406030204" pitchFamily="18" charset="0"/>
              </a:rPr>
              <a:t>values : </a:t>
            </a:r>
            <a:r>
              <a:rPr lang="vi-VN" sz="2300" b="0" i="0" dirty="0">
                <a:solidFill>
                  <a:srgbClr val="444444"/>
                </a:solidFill>
                <a:effectLst/>
                <a:latin typeface="Cambria" panose="02040503050406030204" pitchFamily="18" charset="0"/>
                <a:ea typeface="Cambria" panose="02040503050406030204" pitchFamily="18" charset="0"/>
              </a:rPr>
              <a:t>Trả về series như ndarray</a:t>
            </a:r>
          </a:p>
          <a:p>
            <a:pPr algn="l">
              <a:lnSpc>
                <a:spcPct val="150000"/>
              </a:lnSpc>
              <a:buFont typeface="+mj-lt"/>
              <a:buAutoNum type="arabicPeriod"/>
            </a:pPr>
            <a:r>
              <a:rPr lang="vi-VN" sz="2300" b="1" i="0" dirty="0">
                <a:effectLst/>
                <a:latin typeface="Cambria" panose="02040503050406030204" pitchFamily="18" charset="0"/>
                <a:ea typeface="Cambria" panose="02040503050406030204" pitchFamily="18" charset="0"/>
              </a:rPr>
              <a:t>head(</a:t>
            </a:r>
            <a:r>
              <a:rPr lang="en-US" sz="2300" b="1" i="0" dirty="0">
                <a:effectLst/>
                <a:latin typeface="Cambria" panose="02040503050406030204" pitchFamily="18" charset="0"/>
                <a:ea typeface="Cambria" panose="02040503050406030204" pitchFamily="18" charset="0"/>
              </a:rPr>
              <a:t>n</a:t>
            </a:r>
            <a:r>
              <a:rPr lang="vi-VN" sz="2300" b="1" i="0" dirty="0">
                <a:effectLst/>
                <a:latin typeface="Cambria" panose="02040503050406030204" pitchFamily="18" charset="0"/>
                <a:ea typeface="Cambria" panose="02040503050406030204" pitchFamily="18" charset="0"/>
              </a:rPr>
              <a:t>) : </a:t>
            </a:r>
            <a:r>
              <a:rPr lang="vi-VN" sz="2300" b="0" i="0" dirty="0">
                <a:effectLst/>
                <a:latin typeface="Cambria" panose="02040503050406030204" pitchFamily="18" charset="0"/>
                <a:ea typeface="Cambria" panose="02040503050406030204" pitchFamily="18" charset="0"/>
              </a:rPr>
              <a:t>Trả về n dòng đầu</a:t>
            </a:r>
          </a:p>
          <a:p>
            <a:pPr algn="l">
              <a:lnSpc>
                <a:spcPct val="150000"/>
              </a:lnSpc>
              <a:buFont typeface="+mj-lt"/>
              <a:buAutoNum type="arabicPeriod"/>
            </a:pPr>
            <a:r>
              <a:rPr lang="vi-VN" sz="2300" b="1" i="0" dirty="0">
                <a:effectLst/>
                <a:latin typeface="Cambria" panose="02040503050406030204" pitchFamily="18" charset="0"/>
                <a:ea typeface="Cambria" panose="02040503050406030204" pitchFamily="18" charset="0"/>
              </a:rPr>
              <a:t>tail(</a:t>
            </a:r>
            <a:r>
              <a:rPr lang="en-US" sz="2300" b="1" i="0" dirty="0">
                <a:effectLst/>
                <a:latin typeface="Cambria" panose="02040503050406030204" pitchFamily="18" charset="0"/>
                <a:ea typeface="Cambria" panose="02040503050406030204" pitchFamily="18" charset="0"/>
              </a:rPr>
              <a:t>n</a:t>
            </a:r>
            <a:r>
              <a:rPr lang="vi-VN" sz="2300" b="1" i="0" dirty="0">
                <a:effectLst/>
                <a:latin typeface="Cambria" panose="02040503050406030204" pitchFamily="18" charset="0"/>
                <a:ea typeface="Cambria" panose="02040503050406030204" pitchFamily="18" charset="0"/>
              </a:rPr>
              <a:t>) : </a:t>
            </a:r>
            <a:r>
              <a:rPr lang="vi-VN" sz="2300" b="0" i="0" dirty="0">
                <a:effectLst/>
                <a:latin typeface="Cambria" panose="02040503050406030204" pitchFamily="18" charset="0"/>
                <a:ea typeface="Cambria" panose="02040503050406030204" pitchFamily="18" charset="0"/>
              </a:rPr>
              <a:t>Trả về n dòng cuối</a:t>
            </a:r>
          </a:p>
        </p:txBody>
      </p:sp>
      <p:sp>
        <p:nvSpPr>
          <p:cNvPr id="13" name="Rectangle 1">
            <a:extLst>
              <a:ext uri="{FF2B5EF4-FFF2-40B4-BE49-F238E27FC236}">
                <a16:creationId xmlns:a16="http://schemas.microsoft.com/office/drawing/2014/main" id="{69D53B2A-E383-1213-CF13-21BA92023688}"/>
              </a:ext>
            </a:extLst>
          </p:cNvPr>
          <p:cNvSpPr>
            <a:spLocks noChangeArrowheads="1"/>
          </p:cNvSpPr>
          <p:nvPr/>
        </p:nvSpPr>
        <p:spPr bwMode="auto">
          <a:xfrm>
            <a:off x="5334520" y="1473616"/>
            <a:ext cx="6684882" cy="378565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000" b="0" i="0" u="none" strike="noStrike" cap="none" normalizeH="0" baseline="0" dirty="0">
                <a:ln>
                  <a:noFill/>
                </a:ln>
                <a:solidFill>
                  <a:srgbClr val="000000"/>
                </a:solidFill>
                <a:effectLst/>
                <a:latin typeface="Consolas" panose="020B0609020204030204" pitchFamily="49" charset="0"/>
              </a:rPr>
              <a:t>s = </a:t>
            </a:r>
            <a:r>
              <a:rPr kumimoji="0" lang="en-US" altLang="en-US" sz="2000" b="0" i="0" u="none" strike="noStrike" cap="none" normalizeH="0" baseline="0" dirty="0" err="1">
                <a:ln>
                  <a:noFill/>
                </a:ln>
                <a:solidFill>
                  <a:srgbClr val="000000"/>
                </a:solidFill>
                <a:effectLst/>
                <a:latin typeface="Consolas" panose="020B0609020204030204" pitchFamily="49" charset="0"/>
              </a:rPr>
              <a:t>pd.Series</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baseline="0" dirty="0" err="1">
                <a:ln>
                  <a:noFill/>
                </a:ln>
                <a:solidFill>
                  <a:srgbClr val="000000"/>
                </a:solidFill>
                <a:effectLst/>
                <a:latin typeface="Consolas" panose="020B0609020204030204" pitchFamily="49" charset="0"/>
              </a:rPr>
              <a:t>np.random.randn</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baseline="0" dirty="0">
                <a:ln>
                  <a:noFill/>
                </a:ln>
                <a:solidFill>
                  <a:srgbClr val="0000FF"/>
                </a:solidFill>
                <a:effectLst/>
                <a:latin typeface="Consolas" panose="020B0609020204030204" pitchFamily="49" charset="0"/>
              </a:rPr>
              <a:t>5</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dirty="0">
                <a:ln>
                  <a:noFill/>
                </a:ln>
                <a:solidFill>
                  <a:srgbClr val="000000"/>
                </a:solidFill>
                <a:effectLst/>
                <a:latin typeface="Consolas" panose="020B0609020204030204" pitchFamily="49" charset="0"/>
              </a:rPr>
              <a:t>   </a:t>
            </a:r>
            <a:r>
              <a:rPr kumimoji="0" lang="en-US" altLang="en-US" sz="2000" b="0" i="0" u="none" strike="noStrike" cap="none" normalizeH="0" baseline="0" dirty="0">
                <a:ln>
                  <a:noFill/>
                </a:ln>
                <a:solidFill>
                  <a:srgbClr val="000080"/>
                </a:solidFill>
                <a:effectLst/>
                <a:latin typeface="Consolas" panose="020B0609020204030204" pitchFamily="49" charset="0"/>
              </a:rPr>
              <a:t>print</a:t>
            </a:r>
            <a:r>
              <a:rPr kumimoji="0" lang="en-US" altLang="en-US" sz="2000" b="0" i="0" u="none" strike="noStrike" cap="none" normalizeH="0" baseline="0" dirty="0">
                <a:ln>
                  <a:noFill/>
                </a:ln>
                <a:solidFill>
                  <a:srgbClr val="000000"/>
                </a:solidFill>
                <a:effectLst/>
                <a:latin typeface="Consolas" panose="020B0609020204030204" pitchFamily="49" charset="0"/>
              </a:rPr>
              <a:t>(s)</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000080"/>
                </a:solidFill>
                <a:effectLst/>
                <a:latin typeface="Consolas" panose="020B0609020204030204" pitchFamily="49" charset="0"/>
              </a:rPr>
              <a:t>print </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1" i="0" u="none" strike="noStrike" cap="none" normalizeH="0" baseline="0" dirty="0">
                <a:ln>
                  <a:noFill/>
                </a:ln>
                <a:solidFill>
                  <a:srgbClr val="008000"/>
                </a:solidFill>
                <a:effectLst/>
                <a:latin typeface="Consolas" panose="020B0609020204030204" pitchFamily="49" charset="0"/>
              </a:rPr>
              <a:t>"The axes are:"</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baseline="0" dirty="0" err="1">
                <a:ln>
                  <a:noFill/>
                </a:ln>
                <a:solidFill>
                  <a:srgbClr val="000000"/>
                </a:solidFill>
                <a:effectLst/>
                <a:latin typeface="Consolas" panose="020B0609020204030204" pitchFamily="49" charset="0"/>
              </a:rPr>
              <a:t>s.axes</a:t>
            </a:r>
            <a:r>
              <a:rPr kumimoji="0" lang="en-US" altLang="en-US" sz="2000" b="0" i="0" u="none" strike="noStrike" cap="none" normalizeH="0" baseline="0" dirty="0">
                <a:ln>
                  <a:noFill/>
                </a:ln>
                <a:solidFill>
                  <a:srgbClr val="000000"/>
                </a:solidFill>
                <a:effectLst/>
                <a:latin typeface="Consolas" panose="020B0609020204030204" pitchFamily="49" charset="0"/>
              </a:rPr>
              <a:t>)</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000080"/>
                </a:solidFill>
                <a:effectLst/>
                <a:latin typeface="Consolas" panose="020B0609020204030204" pitchFamily="49" charset="0"/>
              </a:rPr>
              <a:t>print </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1" i="0" u="none" strike="noStrike" cap="none" normalizeH="0" baseline="0" dirty="0">
                <a:ln>
                  <a:noFill/>
                </a:ln>
                <a:solidFill>
                  <a:srgbClr val="008000"/>
                </a:solidFill>
                <a:effectLst/>
                <a:latin typeface="Consolas" panose="020B0609020204030204" pitchFamily="49" charset="0"/>
              </a:rPr>
              <a:t>"Is the Object empty?"</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baseline="0" dirty="0" err="1">
                <a:ln>
                  <a:noFill/>
                </a:ln>
                <a:solidFill>
                  <a:srgbClr val="000000"/>
                </a:solidFill>
                <a:effectLst/>
                <a:latin typeface="Consolas" panose="020B0609020204030204" pitchFamily="49" charset="0"/>
              </a:rPr>
              <a:t>s.empty</a:t>
            </a:r>
            <a:r>
              <a:rPr kumimoji="0" lang="en-US" altLang="en-US" sz="2000" b="0" i="0" u="none" strike="noStrike" cap="none" normalizeH="0" baseline="0" dirty="0">
                <a:ln>
                  <a:noFill/>
                </a:ln>
                <a:solidFill>
                  <a:srgbClr val="000000"/>
                </a:solidFill>
                <a:effectLst/>
                <a:latin typeface="Consolas" panose="020B0609020204030204" pitchFamily="49" charset="0"/>
              </a:rPr>
              <a:t>)</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000080"/>
                </a:solidFill>
                <a:effectLst/>
                <a:latin typeface="Consolas" panose="020B0609020204030204" pitchFamily="49" charset="0"/>
              </a:rPr>
              <a:t>print </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1" i="0" u="none" strike="noStrike" cap="none" normalizeH="0" baseline="0" dirty="0">
                <a:ln>
                  <a:noFill/>
                </a:ln>
                <a:solidFill>
                  <a:srgbClr val="008000"/>
                </a:solidFill>
                <a:effectLst/>
                <a:latin typeface="Consolas" panose="020B0609020204030204" pitchFamily="49" charset="0"/>
              </a:rPr>
              <a:t>"The dimensions of the object:"</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baseline="0" dirty="0" err="1">
                <a:ln>
                  <a:noFill/>
                </a:ln>
                <a:solidFill>
                  <a:srgbClr val="000000"/>
                </a:solidFill>
                <a:effectLst/>
                <a:latin typeface="Consolas" panose="020B0609020204030204" pitchFamily="49" charset="0"/>
              </a:rPr>
              <a:t>s.ndim</a:t>
            </a:r>
            <a:r>
              <a:rPr kumimoji="0" lang="en-US" altLang="en-US" sz="2000" b="0" i="0" u="none" strike="noStrike" cap="none" normalizeH="0" baseline="0" dirty="0">
                <a:ln>
                  <a:noFill/>
                </a:ln>
                <a:solidFill>
                  <a:srgbClr val="000000"/>
                </a:solidFill>
                <a:effectLst/>
                <a:latin typeface="Consolas" panose="020B0609020204030204" pitchFamily="49" charset="0"/>
              </a:rPr>
              <a:t>)</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000080"/>
                </a:solidFill>
                <a:effectLst/>
                <a:latin typeface="Consolas" panose="020B0609020204030204" pitchFamily="49" charset="0"/>
              </a:rPr>
              <a:t>print </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1" i="0" u="none" strike="noStrike" cap="none" normalizeH="0" baseline="0" dirty="0">
                <a:ln>
                  <a:noFill/>
                </a:ln>
                <a:solidFill>
                  <a:srgbClr val="008000"/>
                </a:solidFill>
                <a:effectLst/>
                <a:latin typeface="Consolas" panose="020B0609020204030204" pitchFamily="49" charset="0"/>
              </a:rPr>
              <a:t>"The size of the object:"</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baseline="0" dirty="0" err="1">
                <a:ln>
                  <a:noFill/>
                </a:ln>
                <a:solidFill>
                  <a:srgbClr val="000000"/>
                </a:solidFill>
                <a:effectLst/>
                <a:latin typeface="Consolas" panose="020B0609020204030204" pitchFamily="49" charset="0"/>
              </a:rPr>
              <a:t>s.size</a:t>
            </a:r>
            <a:r>
              <a:rPr kumimoji="0" lang="en-US" altLang="en-US" sz="2000" b="0" i="0" u="none" strike="noStrike" cap="none" normalizeH="0" baseline="0" dirty="0">
                <a:ln>
                  <a:noFill/>
                </a:ln>
                <a:solidFill>
                  <a:srgbClr val="000000"/>
                </a:solidFill>
                <a:effectLst/>
                <a:latin typeface="Consolas" panose="020B0609020204030204" pitchFamily="49" charset="0"/>
              </a:rPr>
              <a:t>)</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000080"/>
                </a:solidFill>
                <a:effectLst/>
                <a:latin typeface="Consolas" panose="020B0609020204030204" pitchFamily="49" charset="0"/>
              </a:rPr>
              <a:t>print </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1" i="0" u="none" strike="noStrike" cap="none" normalizeH="0" baseline="0" dirty="0">
                <a:ln>
                  <a:noFill/>
                </a:ln>
                <a:solidFill>
                  <a:srgbClr val="008000"/>
                </a:solidFill>
                <a:effectLst/>
                <a:latin typeface="Consolas" panose="020B0609020204030204" pitchFamily="49" charset="0"/>
              </a:rPr>
              <a:t>"The actual data series is:"</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baseline="0" dirty="0" err="1">
                <a:ln>
                  <a:noFill/>
                </a:ln>
                <a:solidFill>
                  <a:srgbClr val="000000"/>
                </a:solidFill>
                <a:effectLst/>
                <a:latin typeface="Consolas" panose="020B0609020204030204" pitchFamily="49" charset="0"/>
              </a:rPr>
              <a:t>s.values</a:t>
            </a:r>
            <a:r>
              <a:rPr kumimoji="0" lang="en-US" altLang="en-US" sz="2000" b="0" i="0" u="none" strike="noStrike" cap="none" normalizeH="0" baseline="0" dirty="0">
                <a:ln>
                  <a:noFill/>
                </a:ln>
                <a:solidFill>
                  <a:srgbClr val="000000"/>
                </a:solidFill>
                <a:effectLst/>
                <a:latin typeface="Consolas" panose="020B0609020204030204" pitchFamily="49" charset="0"/>
              </a:rPr>
              <a:t>)</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000080"/>
                </a:solidFill>
                <a:effectLst/>
                <a:latin typeface="Consolas" panose="020B0609020204030204" pitchFamily="49" charset="0"/>
              </a:rPr>
              <a:t>print </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baseline="0" dirty="0" err="1">
                <a:ln>
                  <a:noFill/>
                </a:ln>
                <a:solidFill>
                  <a:srgbClr val="000000"/>
                </a:solidFill>
                <a:effectLst/>
                <a:latin typeface="Consolas" panose="020B0609020204030204" pitchFamily="49" charset="0"/>
              </a:rPr>
              <a:t>s.head</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baseline="0" dirty="0">
                <a:ln>
                  <a:noFill/>
                </a:ln>
                <a:solidFill>
                  <a:srgbClr val="0000FF"/>
                </a:solidFill>
                <a:effectLst/>
                <a:latin typeface="Consolas" panose="020B0609020204030204" pitchFamily="49" charset="0"/>
              </a:rPr>
              <a:t>2</a:t>
            </a:r>
            <a:r>
              <a:rPr kumimoji="0" lang="en-US" altLang="en-US" sz="2000" b="0" i="0" u="none" strike="noStrike" cap="none" normalizeH="0" baseline="0" dirty="0">
                <a:ln>
                  <a:noFill/>
                </a:ln>
                <a:solidFill>
                  <a:srgbClr val="000000"/>
                </a:solidFill>
                <a:effectLst/>
                <a:latin typeface="Consolas" panose="020B0609020204030204" pitchFamily="49" charset="0"/>
              </a:rPr>
              <a:t>)) </a:t>
            </a:r>
            <a:br>
              <a:rPr kumimoji="0" lang="en-US" altLang="en-US" sz="2000" b="0" i="0" u="none" strike="noStrike" cap="none" normalizeH="0" baseline="0" dirty="0">
                <a:ln>
                  <a:noFill/>
                </a:ln>
                <a:solidFill>
                  <a:srgbClr val="000000"/>
                </a:solidFill>
                <a:effectLst/>
                <a:latin typeface="Consolas" panose="020B0609020204030204" pitchFamily="49" charset="0"/>
              </a:rPr>
            </a:br>
            <a:r>
              <a:rPr kumimoji="0" lang="en-US" altLang="en-US" sz="2000" b="0" i="0" u="none" strike="noStrike" cap="none" normalizeH="0" baseline="0" dirty="0">
                <a:ln>
                  <a:noFill/>
                </a:ln>
                <a:solidFill>
                  <a:srgbClr val="000080"/>
                </a:solidFill>
                <a:effectLst/>
                <a:latin typeface="Consolas" panose="020B0609020204030204" pitchFamily="49" charset="0"/>
              </a:rPr>
              <a:t>print </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baseline="0" dirty="0" err="1">
                <a:ln>
                  <a:noFill/>
                </a:ln>
                <a:solidFill>
                  <a:srgbClr val="000000"/>
                </a:solidFill>
                <a:effectLst/>
                <a:latin typeface="Consolas" panose="020B0609020204030204" pitchFamily="49" charset="0"/>
              </a:rPr>
              <a:t>s.tail</a:t>
            </a:r>
            <a:r>
              <a:rPr kumimoji="0" lang="en-US" altLang="en-US" sz="2000" b="0" i="0" u="none" strike="noStrike" cap="none" normalizeH="0" baseline="0" dirty="0">
                <a:ln>
                  <a:noFill/>
                </a:ln>
                <a:solidFill>
                  <a:srgbClr val="000000"/>
                </a:solidFill>
                <a:effectLst/>
                <a:latin typeface="Consolas" panose="020B0609020204030204" pitchFamily="49" charset="0"/>
              </a:rPr>
              <a:t>(</a:t>
            </a:r>
            <a:r>
              <a:rPr kumimoji="0" lang="en-US" altLang="en-US" sz="2000" b="0" i="0" u="none" strike="noStrike" cap="none" normalizeH="0" baseline="0" dirty="0">
                <a:ln>
                  <a:noFill/>
                </a:ln>
                <a:solidFill>
                  <a:srgbClr val="0000FF"/>
                </a:solidFill>
                <a:effectLst/>
                <a:latin typeface="Consolas" panose="020B0609020204030204" pitchFamily="49" charset="0"/>
              </a:rPr>
              <a:t>2</a:t>
            </a:r>
            <a:r>
              <a:rPr kumimoji="0" lang="en-US" altLang="en-US" sz="2000" b="0" i="0" u="none" strike="noStrike" cap="none" normalizeH="0" baseline="0" dirty="0">
                <a:ln>
                  <a:noFill/>
                </a:ln>
                <a:solidFill>
                  <a:srgbClr val="000000"/>
                </a:solidFill>
                <a:effectLst/>
                <a:latin typeface="Consolas" panose="020B0609020204030204" pitchFamily="49" charset="0"/>
              </a:rPr>
              <a:t>))</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360696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PANDAS - DATAFRAME</a:t>
            </a:r>
          </a:p>
        </p:txBody>
      </p:sp>
      <p:sp>
        <p:nvSpPr>
          <p:cNvPr id="5" name="Rectangle 4"/>
          <p:cNvSpPr/>
          <p:nvPr/>
        </p:nvSpPr>
        <p:spPr>
          <a:xfrm>
            <a:off x="79513" y="691585"/>
            <a:ext cx="12112487" cy="477054"/>
          </a:xfrm>
          <a:prstGeom prst="rect">
            <a:avLst/>
          </a:prstGeom>
        </p:spPr>
        <p:txBody>
          <a:bodyPr wrap="square">
            <a:spAutoFit/>
          </a:bodyPr>
          <a:lstStyle/>
          <a:p>
            <a:r>
              <a:rPr lang="en-US" sz="2500" b="1" dirty="0" err="1">
                <a:solidFill>
                  <a:srgbClr val="FF0000"/>
                </a:solidFill>
                <a:latin typeface="Cambria" panose="02040503050406030204" pitchFamily="18" charset="0"/>
                <a:ea typeface="Cambria" panose="02040503050406030204" pitchFamily="18" charset="0"/>
              </a:rPr>
              <a:t>Cấu</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trúc</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dữ</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liệu</a:t>
            </a:r>
            <a:r>
              <a:rPr lang="en-US" sz="2500" b="1" dirty="0">
                <a:solidFill>
                  <a:srgbClr val="FF0000"/>
                </a:solidFill>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DataFrame</a:t>
            </a:r>
            <a:r>
              <a:rPr lang="en-US" sz="2500" b="1" dirty="0">
                <a:solidFill>
                  <a:srgbClr val="FF0000"/>
                </a:solidFill>
                <a:latin typeface="Cambria" panose="02040503050406030204" pitchFamily="18" charset="0"/>
                <a:ea typeface="Cambria" panose="02040503050406030204" pitchFamily="18" charset="0"/>
              </a:rPr>
              <a:t>: </a:t>
            </a:r>
            <a:r>
              <a:rPr lang="vi-VN" sz="2500" b="1" dirty="0">
                <a:solidFill>
                  <a:srgbClr val="000000"/>
                </a:solidFill>
                <a:latin typeface="Cambria" panose="02040503050406030204" pitchFamily="18" charset="0"/>
                <a:ea typeface="Cambria" panose="02040503050406030204" pitchFamily="18" charset="0"/>
              </a:rPr>
              <a:t>DataFrame([data, index, columns, dtype, copy])</a:t>
            </a:r>
            <a:endParaRPr lang="en-US" sz="2500" b="1" dirty="0">
              <a:solidFill>
                <a:srgbClr val="000000"/>
              </a:solidFill>
              <a:latin typeface="Cambria" panose="02040503050406030204" pitchFamily="18" charset="0"/>
              <a:ea typeface="Cambria" panose="02040503050406030204" pitchFamily="18" charset="0"/>
            </a:endParaRPr>
          </a:p>
        </p:txBody>
      </p:sp>
      <p:sp>
        <p:nvSpPr>
          <p:cNvPr id="3" name="Rectangle 2"/>
          <p:cNvSpPr/>
          <p:nvPr/>
        </p:nvSpPr>
        <p:spPr>
          <a:xfrm>
            <a:off x="79513" y="1168639"/>
            <a:ext cx="11761304" cy="1592744"/>
          </a:xfrm>
          <a:prstGeom prst="rect">
            <a:avLst/>
          </a:prstGeom>
        </p:spPr>
        <p:txBody>
          <a:bodyPr wrap="square">
            <a:spAutoFit/>
          </a:bodyPr>
          <a:lstStyle/>
          <a:p>
            <a:pPr marL="342900" indent="-342900">
              <a:lnSpc>
                <a:spcPct val="130000"/>
              </a:lnSpc>
              <a:buFont typeface="Wingdings" panose="05000000000000000000" pitchFamily="2" charset="2"/>
              <a:buChar char="§"/>
            </a:pPr>
            <a:r>
              <a:rPr lang="vi-VN" sz="2500" dirty="0">
                <a:solidFill>
                  <a:srgbClr val="000000"/>
                </a:solidFill>
                <a:latin typeface="Cambria" panose="02040503050406030204" pitchFamily="18" charset="0"/>
                <a:ea typeface="Cambria" panose="02040503050406030204" pitchFamily="18" charset="0"/>
              </a:rPr>
              <a:t>Dataframe là cấu trúc dữ liệu được gắn </a:t>
            </a:r>
            <a:r>
              <a:rPr lang="vi-VN" sz="2500" b="1" dirty="0">
                <a:solidFill>
                  <a:srgbClr val="FF0000"/>
                </a:solidFill>
                <a:latin typeface="Cambria" panose="02040503050406030204" pitchFamily="18" charset="0"/>
                <a:ea typeface="Cambria" panose="02040503050406030204" pitchFamily="18" charset="0"/>
              </a:rPr>
              <a:t>nhãn hai chiều với các cột và hàng </a:t>
            </a:r>
            <a:r>
              <a:rPr lang="vi-VN" sz="2500" dirty="0">
                <a:solidFill>
                  <a:srgbClr val="000000"/>
                </a:solidFill>
                <a:latin typeface="Cambria" panose="02040503050406030204" pitchFamily="18" charset="0"/>
                <a:ea typeface="Cambria" panose="02040503050406030204" pitchFamily="18" charset="0"/>
              </a:rPr>
              <a:t>như bảng</a:t>
            </a:r>
            <a:r>
              <a:rPr lang="en-US" sz="2500" dirty="0">
                <a:solidFill>
                  <a:srgbClr val="000000"/>
                </a:solidFill>
                <a:latin typeface="Cambria" panose="02040503050406030204" pitchFamily="18" charset="0"/>
                <a:ea typeface="Cambria" panose="02040503050406030204" pitchFamily="18" charset="0"/>
              </a:rPr>
              <a:t> </a:t>
            </a:r>
            <a:r>
              <a:rPr lang="vi-VN" sz="2500" dirty="0">
                <a:solidFill>
                  <a:srgbClr val="000000"/>
                </a:solidFill>
                <a:latin typeface="Cambria" panose="02040503050406030204" pitchFamily="18" charset="0"/>
                <a:ea typeface="Cambria" panose="02040503050406030204" pitchFamily="18" charset="0"/>
              </a:rPr>
              <a:t>tính (spreadsheet) hoặc bảng (table). </a:t>
            </a:r>
            <a:endParaRPr lang="en-US" sz="2500" dirty="0">
              <a:solidFill>
                <a:srgbClr val="000000"/>
              </a:solidFill>
              <a:latin typeface="Cambria" panose="02040503050406030204" pitchFamily="18" charset="0"/>
              <a:ea typeface="Cambria" panose="02040503050406030204" pitchFamily="18" charset="0"/>
            </a:endParaRPr>
          </a:p>
          <a:p>
            <a:pPr marL="342900" indent="-342900">
              <a:lnSpc>
                <a:spcPct val="130000"/>
              </a:lnSpc>
              <a:buFont typeface="Wingdings" panose="05000000000000000000" pitchFamily="2" charset="2"/>
              <a:buChar char="§"/>
            </a:pPr>
            <a:r>
              <a:rPr lang="en-US" sz="2500" spc="-55" dirty="0" err="1">
                <a:latin typeface="Cambria" panose="02040503050406030204" pitchFamily="18" charset="0"/>
                <a:ea typeface="Cambria" panose="02040503050406030204" pitchFamily="18" charset="0"/>
                <a:cs typeface="Segoe UI"/>
              </a:rPr>
              <a:t>Có</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thể</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tạo</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từ</a:t>
            </a:r>
            <a:r>
              <a:rPr lang="en-US" sz="2500" spc="-55" dirty="0">
                <a:latin typeface="Cambria" panose="02040503050406030204" pitchFamily="18" charset="0"/>
                <a:ea typeface="Cambria" panose="02040503050406030204" pitchFamily="18" charset="0"/>
                <a:cs typeface="Segoe UI"/>
              </a:rPr>
              <a:t> </a:t>
            </a:r>
            <a:r>
              <a:rPr lang="en-US" sz="2500" b="1" spc="-55" dirty="0" err="1">
                <a:solidFill>
                  <a:srgbClr val="FF0000"/>
                </a:solidFill>
                <a:latin typeface="Cambria" panose="02040503050406030204" pitchFamily="18" charset="0"/>
                <a:ea typeface="Cambria" panose="02040503050406030204" pitchFamily="18" charset="0"/>
                <a:cs typeface="Segoe UI"/>
              </a:rPr>
              <a:t>dict</a:t>
            </a:r>
            <a:r>
              <a:rPr lang="en-US" sz="2500" b="1" spc="-55" dirty="0">
                <a:solidFill>
                  <a:srgbClr val="FF0000"/>
                </a:solidFill>
                <a:latin typeface="Cambria" panose="02040503050406030204" pitchFamily="18" charset="0"/>
                <a:ea typeface="Cambria" panose="02040503050406030204" pitchFamily="18" charset="0"/>
                <a:cs typeface="Segoe UI"/>
              </a:rPr>
              <a:t>, list, array </a:t>
            </a:r>
            <a:r>
              <a:rPr lang="en-US" sz="2500" b="1" spc="-55" dirty="0" err="1">
                <a:solidFill>
                  <a:srgbClr val="FF0000"/>
                </a:solidFill>
                <a:latin typeface="Cambria" panose="02040503050406030204" pitchFamily="18" charset="0"/>
                <a:ea typeface="Cambria" panose="02040503050406030204" pitchFamily="18" charset="0"/>
                <a:cs typeface="Segoe UI"/>
              </a:rPr>
              <a:t>numpy</a:t>
            </a:r>
            <a:r>
              <a:rPr lang="en-US" sz="2500" b="1" spc="-55" dirty="0">
                <a:solidFill>
                  <a:srgbClr val="FF0000"/>
                </a:solidFill>
                <a:latin typeface="Cambria" panose="02040503050406030204" pitchFamily="18" charset="0"/>
                <a:ea typeface="Cambria" panose="02040503050406030204" pitchFamily="18" charset="0"/>
                <a:cs typeface="Segoe UI"/>
              </a:rPr>
              <a:t> 2 </a:t>
            </a:r>
            <a:r>
              <a:rPr lang="en-US" sz="2500" b="1" spc="-55" dirty="0" err="1">
                <a:solidFill>
                  <a:srgbClr val="FF0000"/>
                </a:solidFill>
                <a:latin typeface="Cambria" panose="02040503050406030204" pitchFamily="18" charset="0"/>
                <a:ea typeface="Cambria" panose="02040503050406030204" pitchFamily="18" charset="0"/>
                <a:cs typeface="Segoe UI"/>
              </a:rPr>
              <a:t>chiều</a:t>
            </a:r>
            <a:endParaRPr lang="en-US" sz="2500" b="1" spc="-55" dirty="0">
              <a:solidFill>
                <a:srgbClr val="FF0000"/>
              </a:solidFill>
              <a:latin typeface="Cambria" panose="02040503050406030204" pitchFamily="18" charset="0"/>
              <a:ea typeface="Cambria" panose="02040503050406030204" pitchFamily="18" charset="0"/>
              <a:cs typeface="Segoe UI"/>
            </a:endParaRPr>
          </a:p>
        </p:txBody>
      </p:sp>
      <p:sp>
        <p:nvSpPr>
          <p:cNvPr id="10" name="Rectangle 9"/>
          <p:cNvSpPr/>
          <p:nvPr/>
        </p:nvSpPr>
        <p:spPr>
          <a:xfrm>
            <a:off x="0" y="2575469"/>
            <a:ext cx="4670125" cy="598049"/>
          </a:xfrm>
          <a:prstGeom prst="rect">
            <a:avLst/>
          </a:prstGeom>
        </p:spPr>
        <p:txBody>
          <a:bodyPr wrap="none">
            <a:spAutoFit/>
          </a:bodyPr>
          <a:lstStyle/>
          <a:p>
            <a:pPr marL="114300" lvl="1" indent="0">
              <a:lnSpc>
                <a:spcPct val="150000"/>
              </a:lnSpc>
              <a:spcBef>
                <a:spcPts val="0"/>
              </a:spcBef>
              <a:buClr>
                <a:srgbClr val="FF5A33"/>
              </a:buClr>
              <a:buNone/>
              <a:tabLst>
                <a:tab pos="756920" algn="l"/>
              </a:tabLst>
            </a:pPr>
            <a:r>
              <a:rPr lang="en-US" sz="2500" b="1" spc="-55" dirty="0" err="1">
                <a:latin typeface="Cambria" panose="02040503050406030204" pitchFamily="18" charset="0"/>
                <a:ea typeface="Cambria" panose="02040503050406030204" pitchFamily="18" charset="0"/>
                <a:cs typeface="Segoe UI"/>
              </a:rPr>
              <a:t>Ví</a:t>
            </a:r>
            <a:r>
              <a:rPr lang="en-US" sz="2500" b="1" spc="-55" dirty="0">
                <a:latin typeface="Cambria" panose="02040503050406030204" pitchFamily="18" charset="0"/>
                <a:ea typeface="Cambria" panose="02040503050406030204" pitchFamily="18" charset="0"/>
                <a:cs typeface="Segoe UI"/>
              </a:rPr>
              <a:t> </a:t>
            </a:r>
            <a:r>
              <a:rPr lang="en-US" sz="2500" b="1" spc="-55" dirty="0" err="1">
                <a:latin typeface="Cambria" panose="02040503050406030204" pitchFamily="18" charset="0"/>
                <a:ea typeface="Cambria" panose="02040503050406030204" pitchFamily="18" charset="0"/>
                <a:cs typeface="Segoe UI"/>
              </a:rPr>
              <a:t>dụ</a:t>
            </a:r>
            <a:r>
              <a:rPr lang="en-US" sz="2500" b="1" spc="-55" dirty="0">
                <a:latin typeface="Cambria" panose="02040503050406030204" pitchFamily="18" charset="0"/>
                <a:ea typeface="Cambria" panose="02040503050406030204" pitchFamily="18" charset="0"/>
                <a:cs typeface="Segoe UI"/>
              </a:rPr>
              <a:t> 1:  </a:t>
            </a:r>
            <a:r>
              <a:rPr lang="en-US" sz="2500" b="1" spc="-55" dirty="0" err="1">
                <a:latin typeface="Cambria" panose="02040503050406030204" pitchFamily="18" charset="0"/>
                <a:ea typeface="Cambria" panose="02040503050406030204" pitchFamily="18" charset="0"/>
                <a:cs typeface="Segoe UI"/>
              </a:rPr>
              <a:t>Tạo</a:t>
            </a:r>
            <a:r>
              <a:rPr lang="en-US" sz="2500" b="1" spc="-55" dirty="0">
                <a:latin typeface="Cambria" panose="02040503050406030204" pitchFamily="18" charset="0"/>
                <a:ea typeface="Cambria" panose="02040503050406030204" pitchFamily="18" charset="0"/>
                <a:cs typeface="Segoe UI"/>
              </a:rPr>
              <a:t> </a:t>
            </a:r>
            <a:r>
              <a:rPr lang="en-US" altLang="en-US" sz="2500" b="1" dirty="0" err="1">
                <a:latin typeface="Cambria" panose="02040503050406030204" pitchFamily="18" charset="0"/>
                <a:ea typeface="Cambria" panose="02040503050406030204" pitchFamily="18" charset="0"/>
              </a:rPr>
              <a:t>DataFrame</a:t>
            </a:r>
            <a:r>
              <a:rPr lang="en-US" altLang="en-US" sz="2500" b="1" dirty="0">
                <a:latin typeface="Cambria" panose="02040503050406030204" pitchFamily="18" charset="0"/>
                <a:ea typeface="Cambria" panose="02040503050406030204" pitchFamily="18" charset="0"/>
              </a:rPr>
              <a:t> </a:t>
            </a:r>
            <a:r>
              <a:rPr lang="en-US" sz="2500" b="1" spc="-55" dirty="0" err="1">
                <a:latin typeface="Cambria" panose="02040503050406030204" pitchFamily="18" charset="0"/>
                <a:ea typeface="Cambria" panose="02040503050406030204" pitchFamily="18" charset="0"/>
                <a:cs typeface="Segoe UI"/>
              </a:rPr>
              <a:t>từ</a:t>
            </a:r>
            <a:r>
              <a:rPr lang="en-US" sz="2500" b="1" spc="-55" dirty="0">
                <a:latin typeface="Cambria" panose="02040503050406030204" pitchFamily="18" charset="0"/>
                <a:ea typeface="Cambria" panose="02040503050406030204" pitchFamily="18" charset="0"/>
                <a:cs typeface="Segoe UI"/>
              </a:rPr>
              <a:t> </a:t>
            </a:r>
            <a:r>
              <a:rPr lang="en-US" sz="2500" b="1" spc="-55" dirty="0" err="1">
                <a:latin typeface="Cambria" panose="02040503050406030204" pitchFamily="18" charset="0"/>
                <a:ea typeface="Cambria" panose="02040503050406030204" pitchFamily="18" charset="0"/>
                <a:cs typeface="Segoe UI"/>
              </a:rPr>
              <a:t>dict</a:t>
            </a:r>
            <a:endParaRPr lang="en-US" sz="2500" b="1" spc="-55" dirty="0">
              <a:latin typeface="Cambria" panose="02040503050406030204" pitchFamily="18" charset="0"/>
              <a:ea typeface="Cambria" panose="02040503050406030204" pitchFamily="18" charset="0"/>
              <a:cs typeface="Segoe UI"/>
            </a:endParaRPr>
          </a:p>
        </p:txBody>
      </p:sp>
      <p:sp>
        <p:nvSpPr>
          <p:cNvPr id="11" name="Rectangle 1">
            <a:extLst>
              <a:ext uri="{FF2B5EF4-FFF2-40B4-BE49-F238E27FC236}">
                <a16:creationId xmlns:a16="http://schemas.microsoft.com/office/drawing/2014/main" id="{DBE28828-AA81-6A37-78D7-02FBD780E9CE}"/>
              </a:ext>
            </a:extLst>
          </p:cNvPr>
          <p:cNvSpPr>
            <a:spLocks noChangeArrowheads="1"/>
          </p:cNvSpPr>
          <p:nvPr/>
        </p:nvSpPr>
        <p:spPr bwMode="auto">
          <a:xfrm>
            <a:off x="149086" y="3092370"/>
            <a:ext cx="11757992" cy="29777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500" b="0" i="0" u="none" strike="noStrike" cap="none" normalizeH="0" baseline="0" dirty="0">
                <a:ln>
                  <a:noFill/>
                </a:ln>
                <a:solidFill>
                  <a:srgbClr val="000000"/>
                </a:solidFill>
                <a:effectLst/>
                <a:latin typeface="Candara" panose="020E0502030303020204" pitchFamily="34" charset="0"/>
              </a:rPr>
              <a:t>data = {</a:t>
            </a:r>
            <a:r>
              <a:rPr kumimoji="0" lang="en-US" altLang="en-US" sz="2500" b="1" i="0" u="none" strike="noStrike" cap="none" normalizeH="0" baseline="0" dirty="0">
                <a:ln>
                  <a:noFill/>
                </a:ln>
                <a:solidFill>
                  <a:srgbClr val="008000"/>
                </a:solidFill>
                <a:effectLst/>
                <a:latin typeface="Candara" panose="020E0502030303020204" pitchFamily="34" charset="0"/>
              </a:rPr>
              <a:t>'name'</a:t>
            </a:r>
            <a:r>
              <a:rPr kumimoji="0" lang="en-US" altLang="en-US" sz="2500" b="0" i="0" u="none" strike="noStrike" cap="none" normalizeH="0" baseline="0" dirty="0">
                <a:ln>
                  <a:noFill/>
                </a:ln>
                <a:solidFill>
                  <a:srgbClr val="000000"/>
                </a:solidFill>
                <a:effectLst/>
                <a:latin typeface="Candara" panose="020E0502030303020204" pitchFamily="34" charset="0"/>
              </a:rPr>
              <a:t>: [</a:t>
            </a:r>
            <a:r>
              <a:rPr kumimoji="0" lang="en-US" altLang="en-US" sz="2500" b="1" i="0" u="none" strike="noStrike" cap="none" normalizeH="0" baseline="0" dirty="0">
                <a:ln>
                  <a:noFill/>
                </a:ln>
                <a:solidFill>
                  <a:srgbClr val="008000"/>
                </a:solidFill>
                <a:effectLst/>
                <a:latin typeface="Candara" panose="020E0502030303020204" pitchFamily="34" charset="0"/>
              </a:rPr>
              <a:t>'</a:t>
            </a:r>
            <a:r>
              <a:rPr kumimoji="0" lang="en-US" altLang="en-US" sz="2500" b="1" i="0" u="none" strike="noStrike" cap="none" normalizeH="0" baseline="0" dirty="0" err="1">
                <a:ln>
                  <a:noFill/>
                </a:ln>
                <a:solidFill>
                  <a:srgbClr val="008000"/>
                </a:solidFill>
                <a:effectLst/>
                <a:latin typeface="Candara" panose="020E0502030303020204" pitchFamily="34" charset="0"/>
              </a:rPr>
              <a:t>nam</a:t>
            </a:r>
            <a:r>
              <a:rPr kumimoji="0" lang="en-US" altLang="en-US" sz="2500" b="1" i="0" u="none" strike="noStrike" cap="none" normalizeH="0" baseline="0" dirty="0">
                <a:ln>
                  <a:noFill/>
                </a:ln>
                <a:solidFill>
                  <a:srgbClr val="008000"/>
                </a:solidFill>
                <a:effectLst/>
                <a:latin typeface="Candara" panose="020E0502030303020204" pitchFamily="34" charset="0"/>
              </a:rPr>
              <a:t>'</a:t>
            </a:r>
            <a:r>
              <a:rPr kumimoji="0" lang="en-US" altLang="en-US" sz="2500" b="0" i="0" u="none" strike="noStrike" cap="none" normalizeH="0" baseline="0" dirty="0">
                <a:ln>
                  <a:noFill/>
                </a:ln>
                <a:solidFill>
                  <a:srgbClr val="000000"/>
                </a:solidFill>
                <a:effectLst/>
                <a:latin typeface="Candara" panose="020E0502030303020204" pitchFamily="34" charset="0"/>
              </a:rPr>
              <a:t>,</a:t>
            </a:r>
            <a:r>
              <a:rPr kumimoji="0" lang="en-US" altLang="en-US" sz="2500" b="1" i="0" u="none" strike="noStrike" cap="none" normalizeH="0" baseline="0" dirty="0">
                <a:ln>
                  <a:noFill/>
                </a:ln>
                <a:solidFill>
                  <a:srgbClr val="008000"/>
                </a:solidFill>
                <a:effectLst/>
                <a:latin typeface="Candara" panose="020E0502030303020204" pitchFamily="34" charset="0"/>
              </a:rPr>
              <a:t>'</a:t>
            </a:r>
            <a:r>
              <a:rPr kumimoji="0" lang="en-US" altLang="en-US" sz="2500" b="1" i="0" u="none" strike="noStrike" cap="none" normalizeH="0" baseline="0" dirty="0" err="1">
                <a:ln>
                  <a:noFill/>
                </a:ln>
                <a:solidFill>
                  <a:srgbClr val="008000"/>
                </a:solidFill>
                <a:effectLst/>
                <a:latin typeface="Candara" panose="020E0502030303020204" pitchFamily="34" charset="0"/>
              </a:rPr>
              <a:t>lan</a:t>
            </a:r>
            <a:r>
              <a:rPr kumimoji="0" lang="en-US" altLang="en-US" sz="2500" b="1" i="0" u="none" strike="noStrike" cap="none" normalizeH="0" baseline="0" dirty="0">
                <a:ln>
                  <a:noFill/>
                </a:ln>
                <a:solidFill>
                  <a:srgbClr val="008000"/>
                </a:solidFill>
                <a:effectLst/>
                <a:latin typeface="Candara" panose="020E0502030303020204" pitchFamily="34" charset="0"/>
              </a:rPr>
              <a:t>'</a:t>
            </a:r>
            <a:r>
              <a:rPr kumimoji="0" lang="en-US" altLang="en-US" sz="2500" b="0" i="0" u="none" strike="noStrike" cap="none" normalizeH="0" baseline="0" dirty="0">
                <a:ln>
                  <a:noFill/>
                </a:ln>
                <a:solidFill>
                  <a:srgbClr val="000000"/>
                </a:solidFill>
                <a:effectLst/>
                <a:latin typeface="Candara" panose="020E0502030303020204" pitchFamily="34" charset="0"/>
              </a:rPr>
              <a:t>],</a:t>
            </a:r>
            <a:r>
              <a:rPr kumimoji="0" lang="en-US" altLang="en-US" sz="2500" b="1" i="0" u="none" strike="noStrike" cap="none" normalizeH="0" baseline="0" dirty="0">
                <a:ln>
                  <a:noFill/>
                </a:ln>
                <a:solidFill>
                  <a:srgbClr val="008000"/>
                </a:solidFill>
                <a:effectLst/>
                <a:latin typeface="Candara" panose="020E0502030303020204" pitchFamily="34" charset="0"/>
              </a:rPr>
              <a:t>'</a:t>
            </a:r>
            <a:r>
              <a:rPr kumimoji="0" lang="en-US" altLang="en-US" sz="2500" b="1" i="0" u="none" strike="noStrike" cap="none" normalizeH="0" baseline="0" dirty="0" err="1">
                <a:ln>
                  <a:noFill/>
                </a:ln>
                <a:solidFill>
                  <a:srgbClr val="008000"/>
                </a:solidFill>
                <a:effectLst/>
                <a:latin typeface="Candara" panose="020E0502030303020204" pitchFamily="34" charset="0"/>
              </a:rPr>
              <a:t>adress</a:t>
            </a:r>
            <a:r>
              <a:rPr kumimoji="0" lang="en-US" altLang="en-US" sz="2500" b="1" i="0" u="none" strike="noStrike" cap="none" normalizeH="0" baseline="0" dirty="0">
                <a:ln>
                  <a:noFill/>
                </a:ln>
                <a:solidFill>
                  <a:srgbClr val="008000"/>
                </a:solidFill>
                <a:effectLst/>
                <a:latin typeface="Candara" panose="020E0502030303020204" pitchFamily="34" charset="0"/>
              </a:rPr>
              <a:t>'</a:t>
            </a:r>
            <a:r>
              <a:rPr kumimoji="0" lang="en-US" altLang="en-US" sz="2500" b="0" i="0" u="none" strike="noStrike" cap="none" normalizeH="0" baseline="0" dirty="0">
                <a:ln>
                  <a:noFill/>
                </a:ln>
                <a:solidFill>
                  <a:srgbClr val="000000"/>
                </a:solidFill>
                <a:effectLst/>
                <a:latin typeface="Candara" panose="020E0502030303020204" pitchFamily="34" charset="0"/>
              </a:rPr>
              <a:t>: [</a:t>
            </a:r>
            <a:r>
              <a:rPr kumimoji="0" lang="en-US" altLang="en-US" sz="2500" b="1" i="0" u="none" strike="noStrike" cap="none" normalizeH="0" baseline="0" dirty="0">
                <a:ln>
                  <a:noFill/>
                </a:ln>
                <a:solidFill>
                  <a:srgbClr val="008000"/>
                </a:solidFill>
                <a:effectLst/>
                <a:latin typeface="Candara" panose="020E0502030303020204" pitchFamily="34" charset="0"/>
              </a:rPr>
              <a:t>'HCM city'</a:t>
            </a:r>
            <a:r>
              <a:rPr kumimoji="0" lang="en-US" altLang="en-US" sz="2500" b="0" i="0" u="none" strike="noStrike" cap="none" normalizeH="0" baseline="0" dirty="0">
                <a:ln>
                  <a:noFill/>
                </a:ln>
                <a:solidFill>
                  <a:srgbClr val="000000"/>
                </a:solidFill>
                <a:effectLst/>
                <a:latin typeface="Candara" panose="020E0502030303020204" pitchFamily="34" charset="0"/>
              </a:rPr>
              <a:t>, </a:t>
            </a:r>
            <a:r>
              <a:rPr kumimoji="0" lang="en-US" altLang="en-US" sz="2500" b="1" i="0" u="none" strike="noStrike" cap="none" normalizeH="0" baseline="0" dirty="0">
                <a:ln>
                  <a:noFill/>
                </a:ln>
                <a:solidFill>
                  <a:srgbClr val="008000"/>
                </a:solidFill>
                <a:effectLst/>
                <a:latin typeface="Candara" panose="020E0502030303020204" pitchFamily="34" charset="0"/>
              </a:rPr>
              <a:t>'Ha </a:t>
            </a:r>
            <a:r>
              <a:rPr kumimoji="0" lang="en-US" altLang="en-US" sz="2500" b="1" i="0" u="none" strike="noStrike" cap="none" normalizeH="0" baseline="0" dirty="0" err="1">
                <a:ln>
                  <a:noFill/>
                </a:ln>
                <a:solidFill>
                  <a:srgbClr val="008000"/>
                </a:solidFill>
                <a:effectLst/>
                <a:latin typeface="Candara" panose="020E0502030303020204" pitchFamily="34" charset="0"/>
              </a:rPr>
              <a:t>Noi</a:t>
            </a:r>
            <a:r>
              <a:rPr kumimoji="0" lang="en-US" altLang="en-US" sz="2500" b="1" i="0" u="none" strike="noStrike" cap="none" normalizeH="0" baseline="0" dirty="0">
                <a:ln>
                  <a:noFill/>
                </a:ln>
                <a:solidFill>
                  <a:srgbClr val="008000"/>
                </a:solidFill>
                <a:effectLst/>
                <a:latin typeface="Candara" panose="020E0502030303020204" pitchFamily="34" charset="0"/>
              </a:rPr>
              <a:t> city'</a:t>
            </a:r>
            <a:r>
              <a:rPr kumimoji="0" lang="en-US" altLang="en-US" sz="2500" b="0" i="0" u="none" strike="noStrike" cap="none" normalizeH="0" baseline="0" dirty="0">
                <a:ln>
                  <a:noFill/>
                </a:ln>
                <a:solidFill>
                  <a:srgbClr val="000000"/>
                </a:solidFill>
                <a:effectLst/>
                <a:latin typeface="Candara" panose="020E0502030303020204" pitchFamily="34" charset="0"/>
              </a:rPr>
              <a:t>],</a:t>
            </a:r>
            <a:r>
              <a:rPr kumimoji="0" lang="en-US" altLang="en-US" sz="2500" b="1" i="0" u="none" strike="noStrike" cap="none" normalizeH="0" baseline="0" dirty="0">
                <a:ln>
                  <a:noFill/>
                </a:ln>
                <a:solidFill>
                  <a:srgbClr val="008000"/>
                </a:solidFill>
                <a:effectLst/>
                <a:latin typeface="Candara" panose="020E0502030303020204" pitchFamily="34" charset="0"/>
              </a:rPr>
              <a:t>'age'</a:t>
            </a:r>
            <a:r>
              <a:rPr kumimoji="0" lang="en-US" altLang="en-US" sz="2500" b="0" i="0" u="none" strike="noStrike" cap="none" normalizeH="0" baseline="0" dirty="0">
                <a:ln>
                  <a:noFill/>
                </a:ln>
                <a:solidFill>
                  <a:srgbClr val="000000"/>
                </a:solidFill>
                <a:effectLst/>
                <a:latin typeface="Candara" panose="020E0502030303020204" pitchFamily="34" charset="0"/>
              </a:rPr>
              <a:t>: [</a:t>
            </a:r>
            <a:r>
              <a:rPr kumimoji="0" lang="en-US" altLang="en-US" sz="2500" b="0" i="0" u="none" strike="noStrike" cap="none" normalizeH="0" baseline="0" dirty="0">
                <a:ln>
                  <a:noFill/>
                </a:ln>
                <a:solidFill>
                  <a:srgbClr val="0000FF"/>
                </a:solidFill>
                <a:effectLst/>
                <a:latin typeface="Candara" panose="020E0502030303020204" pitchFamily="34" charset="0"/>
              </a:rPr>
              <a:t>18</a:t>
            </a:r>
            <a:r>
              <a:rPr kumimoji="0" lang="en-US" altLang="en-US" sz="2500" b="0" i="0" u="none" strike="noStrike" cap="none" normalizeH="0" baseline="0" dirty="0">
                <a:ln>
                  <a:noFill/>
                </a:ln>
                <a:solidFill>
                  <a:srgbClr val="000000"/>
                </a:solidFill>
                <a:effectLst/>
                <a:latin typeface="Candara" panose="020E0502030303020204" pitchFamily="34" charset="0"/>
              </a:rPr>
              <a:t>,</a:t>
            </a:r>
            <a:r>
              <a:rPr kumimoji="0" lang="en-US" altLang="en-US" sz="2500" b="0" i="0" u="none" strike="noStrike" cap="none" normalizeH="0" baseline="0" dirty="0">
                <a:ln>
                  <a:noFill/>
                </a:ln>
                <a:solidFill>
                  <a:srgbClr val="0000FF"/>
                </a:solidFill>
                <a:effectLst/>
                <a:latin typeface="Candara" panose="020E0502030303020204" pitchFamily="34" charset="0"/>
              </a:rPr>
              <a:t>19</a:t>
            </a:r>
            <a:r>
              <a:rPr kumimoji="0" lang="en-US" altLang="en-US" sz="2500" b="0" i="0" u="none" strike="noStrike" cap="none" normalizeH="0" baseline="0" dirty="0">
                <a:ln>
                  <a:noFill/>
                </a:ln>
                <a:solidFill>
                  <a:srgbClr val="000000"/>
                </a:solidFill>
                <a:effectLst/>
                <a:latin typeface="Candara" panose="020E0502030303020204" pitchFamily="34" charset="0"/>
              </a:rPr>
              <a:t>],</a:t>
            </a:r>
            <a:r>
              <a:rPr kumimoji="0" lang="en-US" altLang="en-US" sz="2500" b="1" i="0" u="none" strike="noStrike" cap="none" normalizeH="0" baseline="0" dirty="0">
                <a:ln>
                  <a:noFill/>
                </a:ln>
                <a:solidFill>
                  <a:srgbClr val="008000"/>
                </a:solidFill>
                <a:effectLst/>
                <a:latin typeface="Candara" panose="020E0502030303020204" pitchFamily="34" charset="0"/>
              </a:rPr>
              <a:t>'core'</a:t>
            </a:r>
            <a:r>
              <a:rPr kumimoji="0" lang="en-US" altLang="en-US" sz="2500" b="0" i="0" u="none" strike="noStrike" cap="none" normalizeH="0" baseline="0" dirty="0">
                <a:ln>
                  <a:noFill/>
                </a:ln>
                <a:solidFill>
                  <a:srgbClr val="000000"/>
                </a:solidFill>
                <a:effectLst/>
                <a:latin typeface="Candara" panose="020E0502030303020204" pitchFamily="34" charset="0"/>
              </a:rPr>
              <a:t>: [</a:t>
            </a:r>
            <a:r>
              <a:rPr kumimoji="0" lang="en-US" altLang="en-US" sz="2500" b="0" i="0" u="none" strike="noStrike" cap="none" normalizeH="0" baseline="0" dirty="0">
                <a:ln>
                  <a:noFill/>
                </a:ln>
                <a:solidFill>
                  <a:srgbClr val="0000FF"/>
                </a:solidFill>
                <a:effectLst/>
                <a:latin typeface="Candara" panose="020E0502030303020204" pitchFamily="34" charset="0"/>
              </a:rPr>
              <a:t>89</a:t>
            </a:r>
            <a:r>
              <a:rPr kumimoji="0" lang="en-US" altLang="en-US" sz="2500" b="0" i="0" u="none" strike="noStrike" cap="none" normalizeH="0" baseline="0" dirty="0">
                <a:ln>
                  <a:noFill/>
                </a:ln>
                <a:solidFill>
                  <a:srgbClr val="000000"/>
                </a:solidFill>
                <a:effectLst/>
                <a:latin typeface="Candara" panose="020E0502030303020204" pitchFamily="34" charset="0"/>
              </a:rPr>
              <a:t>,</a:t>
            </a:r>
            <a:r>
              <a:rPr kumimoji="0" lang="en-US" altLang="en-US" sz="2500" b="0" i="0" u="none" strike="noStrike" cap="none" normalizeH="0" baseline="0" dirty="0">
                <a:ln>
                  <a:noFill/>
                </a:ln>
                <a:solidFill>
                  <a:srgbClr val="0000FF"/>
                </a:solidFill>
                <a:effectLst/>
                <a:latin typeface="Candara" panose="020E0502030303020204" pitchFamily="34" charset="0"/>
              </a:rPr>
              <a:t>27</a:t>
            </a:r>
            <a:r>
              <a:rPr kumimoji="0" lang="en-US" altLang="en-US" sz="2500" b="0" i="0" u="none" strike="noStrike" cap="none" normalizeH="0" baseline="0" dirty="0">
                <a:ln>
                  <a:noFill/>
                </a:ln>
                <a:solidFill>
                  <a:srgbClr val="000000"/>
                </a:solidFill>
                <a:effectLst/>
                <a:latin typeface="Candara" panose="020E0502030303020204" pitchFamily="34" charset="0"/>
              </a:rPr>
              <a:t>]}</a:t>
            </a:r>
            <a:br>
              <a:rPr kumimoji="0" lang="en-US" altLang="en-US" sz="2500" b="0" i="0" u="none" strike="noStrike" cap="none" normalizeH="0" baseline="0" dirty="0">
                <a:ln>
                  <a:noFill/>
                </a:ln>
                <a:solidFill>
                  <a:srgbClr val="000000"/>
                </a:solidFill>
                <a:effectLst/>
                <a:latin typeface="Candara" panose="020E0502030303020204" pitchFamily="34" charset="0"/>
              </a:rPr>
            </a:br>
            <a:r>
              <a:rPr kumimoji="0" lang="en-US" altLang="en-US" sz="2500" b="0" i="0" u="none" strike="noStrike" cap="none" normalizeH="0" baseline="0" dirty="0" err="1">
                <a:ln>
                  <a:noFill/>
                </a:ln>
                <a:solidFill>
                  <a:srgbClr val="000000"/>
                </a:solidFill>
                <a:effectLst/>
                <a:latin typeface="Candara" panose="020E0502030303020204" pitchFamily="34" charset="0"/>
              </a:rPr>
              <a:t>row_labels</a:t>
            </a:r>
            <a:r>
              <a:rPr kumimoji="0" lang="en-US" altLang="en-US" sz="2500" b="0" i="0" u="none" strike="noStrike" cap="none" normalizeH="0" baseline="0" dirty="0">
                <a:ln>
                  <a:noFill/>
                </a:ln>
                <a:solidFill>
                  <a:srgbClr val="000000"/>
                </a:solidFill>
                <a:effectLst/>
                <a:latin typeface="Candara" panose="020E0502030303020204" pitchFamily="34" charset="0"/>
              </a:rPr>
              <a:t> = [</a:t>
            </a:r>
            <a:r>
              <a:rPr kumimoji="0" lang="en-US" altLang="en-US" sz="2500" b="0" i="0" u="none" strike="noStrike" cap="none" normalizeH="0" baseline="0" dirty="0">
                <a:ln>
                  <a:noFill/>
                </a:ln>
                <a:solidFill>
                  <a:srgbClr val="0000FF"/>
                </a:solidFill>
                <a:effectLst/>
                <a:latin typeface="Candara" panose="020E0502030303020204" pitchFamily="34" charset="0"/>
              </a:rPr>
              <a:t>1</a:t>
            </a:r>
            <a:r>
              <a:rPr kumimoji="0" lang="en-US" altLang="en-US" sz="2500" b="0" i="0" u="none" strike="noStrike" cap="none" normalizeH="0" baseline="0" dirty="0">
                <a:ln>
                  <a:noFill/>
                </a:ln>
                <a:solidFill>
                  <a:srgbClr val="000000"/>
                </a:solidFill>
                <a:effectLst/>
                <a:latin typeface="Candara" panose="020E0502030303020204" pitchFamily="34" charset="0"/>
              </a:rPr>
              <a:t>, </a:t>
            </a:r>
            <a:r>
              <a:rPr kumimoji="0" lang="en-US" altLang="en-US" sz="2500" b="0" i="0" u="none" strike="noStrike" cap="none" normalizeH="0" baseline="0" dirty="0">
                <a:ln>
                  <a:noFill/>
                </a:ln>
                <a:solidFill>
                  <a:srgbClr val="0000FF"/>
                </a:solidFill>
                <a:effectLst/>
                <a:latin typeface="Candara" panose="020E0502030303020204" pitchFamily="34" charset="0"/>
              </a:rPr>
              <a:t>2</a:t>
            </a:r>
            <a:r>
              <a:rPr kumimoji="0" lang="en-US" altLang="en-US" sz="2500" b="0" i="0" u="none" strike="noStrike" cap="none" normalizeH="0" baseline="0" dirty="0">
                <a:ln>
                  <a:noFill/>
                </a:ln>
                <a:solidFill>
                  <a:srgbClr val="000000"/>
                </a:solidFill>
                <a:effectLst/>
                <a:latin typeface="Candara" panose="020E0502030303020204" pitchFamily="34" charset="0"/>
              </a:rPr>
              <a:t>]</a:t>
            </a:r>
            <a:br>
              <a:rPr kumimoji="0" lang="en-US" altLang="en-US" sz="2500" b="0" i="0" u="none" strike="noStrike" cap="none" normalizeH="0" baseline="0" dirty="0">
                <a:ln>
                  <a:noFill/>
                </a:ln>
                <a:solidFill>
                  <a:srgbClr val="000000"/>
                </a:solidFill>
                <a:effectLst/>
                <a:latin typeface="Candara" panose="020E0502030303020204" pitchFamily="34" charset="0"/>
              </a:rPr>
            </a:br>
            <a:r>
              <a:rPr kumimoji="0" lang="en-US" altLang="en-US" sz="2500" b="0" i="0" u="none" strike="noStrike" cap="none" normalizeH="0" baseline="0" dirty="0" err="1">
                <a:ln>
                  <a:noFill/>
                </a:ln>
                <a:solidFill>
                  <a:srgbClr val="000000"/>
                </a:solidFill>
                <a:effectLst/>
                <a:latin typeface="Candara" panose="020E0502030303020204" pitchFamily="34" charset="0"/>
              </a:rPr>
              <a:t>df</a:t>
            </a:r>
            <a:r>
              <a:rPr kumimoji="0" lang="en-US" altLang="en-US" sz="2500" b="0" i="0" u="none" strike="noStrike" cap="none" normalizeH="0" baseline="0" dirty="0">
                <a:ln>
                  <a:noFill/>
                </a:ln>
                <a:solidFill>
                  <a:srgbClr val="000000"/>
                </a:solidFill>
                <a:effectLst/>
                <a:latin typeface="Candara" panose="020E0502030303020204" pitchFamily="34" charset="0"/>
              </a:rPr>
              <a:t> = </a:t>
            </a:r>
            <a:r>
              <a:rPr kumimoji="0" lang="en-US" altLang="en-US" sz="2500" b="0" i="0" u="none" strike="noStrike" cap="none" normalizeH="0" baseline="0" dirty="0" err="1">
                <a:ln>
                  <a:noFill/>
                </a:ln>
                <a:solidFill>
                  <a:srgbClr val="000000"/>
                </a:solidFill>
                <a:effectLst/>
                <a:latin typeface="Candara" panose="020E0502030303020204" pitchFamily="34" charset="0"/>
              </a:rPr>
              <a:t>pd.DataFrame</a:t>
            </a:r>
            <a:r>
              <a:rPr kumimoji="0" lang="en-US" altLang="en-US" sz="2500" b="0" i="0" u="none" strike="noStrike" cap="none" normalizeH="0" baseline="0" dirty="0">
                <a:ln>
                  <a:noFill/>
                </a:ln>
                <a:solidFill>
                  <a:srgbClr val="000000"/>
                </a:solidFill>
                <a:effectLst/>
                <a:latin typeface="Candara" panose="020E0502030303020204" pitchFamily="34" charset="0"/>
              </a:rPr>
              <a:t>(</a:t>
            </a:r>
            <a:r>
              <a:rPr kumimoji="0" lang="en-US" altLang="en-US" sz="2500" b="0" i="0" u="none" strike="noStrike" cap="none" normalizeH="0" baseline="0" dirty="0">
                <a:ln>
                  <a:noFill/>
                </a:ln>
                <a:solidFill>
                  <a:srgbClr val="660099"/>
                </a:solidFill>
                <a:effectLst/>
                <a:latin typeface="Candara" panose="020E0502030303020204" pitchFamily="34" charset="0"/>
              </a:rPr>
              <a:t>data</a:t>
            </a:r>
            <a:r>
              <a:rPr kumimoji="0" lang="en-US" altLang="en-US" sz="2500" b="0" i="0" u="none" strike="noStrike" cap="none" normalizeH="0" baseline="0" dirty="0">
                <a:ln>
                  <a:noFill/>
                </a:ln>
                <a:solidFill>
                  <a:srgbClr val="000000"/>
                </a:solidFill>
                <a:effectLst/>
                <a:latin typeface="Candara" panose="020E0502030303020204" pitchFamily="34" charset="0"/>
              </a:rPr>
              <a:t>=data, </a:t>
            </a:r>
            <a:r>
              <a:rPr kumimoji="0" lang="en-US" altLang="en-US" sz="2500" b="0" i="0" u="none" strike="noStrike" cap="none" normalizeH="0" baseline="0" dirty="0">
                <a:ln>
                  <a:noFill/>
                </a:ln>
                <a:solidFill>
                  <a:srgbClr val="660099"/>
                </a:solidFill>
                <a:effectLst/>
                <a:latin typeface="Candara" panose="020E0502030303020204" pitchFamily="34" charset="0"/>
              </a:rPr>
              <a:t>index</a:t>
            </a:r>
            <a:r>
              <a:rPr kumimoji="0" lang="en-US" altLang="en-US" sz="2500" b="0" i="0" u="none" strike="noStrike" cap="none" normalizeH="0" baseline="0" dirty="0">
                <a:ln>
                  <a:noFill/>
                </a:ln>
                <a:solidFill>
                  <a:srgbClr val="000000"/>
                </a:solidFill>
                <a:effectLst/>
                <a:latin typeface="Candara" panose="020E0502030303020204" pitchFamily="34" charset="0"/>
              </a:rPr>
              <a:t>=</a:t>
            </a:r>
            <a:r>
              <a:rPr kumimoji="0" lang="en-US" altLang="en-US" sz="2500" b="0" i="0" u="none" strike="noStrike" cap="none" normalizeH="0" baseline="0" dirty="0" err="1">
                <a:ln>
                  <a:noFill/>
                </a:ln>
                <a:solidFill>
                  <a:srgbClr val="000000"/>
                </a:solidFill>
                <a:effectLst/>
                <a:latin typeface="Candara" panose="020E0502030303020204" pitchFamily="34" charset="0"/>
              </a:rPr>
              <a:t>row_labels</a:t>
            </a:r>
            <a:r>
              <a:rPr kumimoji="0" lang="en-US" altLang="en-US" sz="2500" b="0" i="0" u="none" strike="noStrike" cap="none" normalizeH="0" baseline="0" dirty="0">
                <a:ln>
                  <a:noFill/>
                </a:ln>
                <a:solidFill>
                  <a:srgbClr val="000000"/>
                </a:solidFill>
                <a:effectLst/>
                <a:latin typeface="Candara" panose="020E0502030303020204" pitchFamily="34" charset="0"/>
              </a:rPr>
              <a:t>)</a:t>
            </a:r>
            <a:br>
              <a:rPr kumimoji="0" lang="en-US" altLang="en-US" sz="2500" b="0" i="0" u="none" strike="noStrike" cap="none" normalizeH="0" baseline="0" dirty="0">
                <a:ln>
                  <a:noFill/>
                </a:ln>
                <a:solidFill>
                  <a:srgbClr val="000000"/>
                </a:solidFill>
                <a:effectLst/>
                <a:latin typeface="Candara" panose="020E0502030303020204" pitchFamily="34" charset="0"/>
              </a:rPr>
            </a:br>
            <a:r>
              <a:rPr kumimoji="0" lang="en-US" altLang="en-US" sz="2500" b="0" i="0" u="none" strike="noStrike" cap="none" normalizeH="0" baseline="0" dirty="0">
                <a:ln>
                  <a:noFill/>
                </a:ln>
                <a:solidFill>
                  <a:srgbClr val="000080"/>
                </a:solidFill>
                <a:effectLst/>
                <a:latin typeface="Candara" panose="020E0502030303020204" pitchFamily="34" charset="0"/>
              </a:rPr>
              <a:t>print</a:t>
            </a:r>
            <a:r>
              <a:rPr kumimoji="0" lang="en-US" altLang="en-US" sz="2500" b="0" i="0" u="none" strike="noStrike" cap="none" normalizeH="0" baseline="0" dirty="0">
                <a:ln>
                  <a:noFill/>
                </a:ln>
                <a:solidFill>
                  <a:srgbClr val="000000"/>
                </a:solidFill>
                <a:effectLst/>
                <a:latin typeface="Candara" panose="020E0502030303020204" pitchFamily="34" charset="0"/>
              </a:rPr>
              <a:t>(</a:t>
            </a:r>
            <a:r>
              <a:rPr kumimoji="0" lang="en-US" altLang="en-US" sz="2500" b="0" i="0" u="none" strike="noStrike" cap="none" normalizeH="0" baseline="0" dirty="0" err="1">
                <a:ln>
                  <a:noFill/>
                </a:ln>
                <a:solidFill>
                  <a:srgbClr val="000000"/>
                </a:solidFill>
                <a:effectLst/>
                <a:latin typeface="Candara" panose="020E0502030303020204" pitchFamily="34" charset="0"/>
              </a:rPr>
              <a:t>df</a:t>
            </a:r>
            <a:r>
              <a:rPr kumimoji="0" lang="en-US" altLang="en-US" sz="2500" b="0" i="0" u="none" strike="noStrike" cap="none" normalizeH="0" baseline="0" dirty="0">
                <a:ln>
                  <a:noFill/>
                </a:ln>
                <a:solidFill>
                  <a:srgbClr val="000000"/>
                </a:solidFill>
                <a:effectLst/>
                <a:latin typeface="Candara" panose="020E0502030303020204" pitchFamily="34" charset="0"/>
              </a:rPr>
              <a:t>)</a:t>
            </a:r>
            <a:endParaRPr kumimoji="0" lang="en-US" altLang="en-US" sz="2500" b="0" i="0" u="none" strike="noStrike" cap="none" normalizeH="0" baseline="0" dirty="0">
              <a:ln>
                <a:noFill/>
              </a:ln>
              <a:solidFill>
                <a:schemeClr val="tx1"/>
              </a:solidFill>
              <a:effectLst/>
              <a:latin typeface="Candara" panose="020E0502030303020204" pitchFamily="34" charset="0"/>
            </a:endParaRPr>
          </a:p>
        </p:txBody>
      </p:sp>
      <p:pic>
        <p:nvPicPr>
          <p:cNvPr id="12" name="Picture 11">
            <a:extLst>
              <a:ext uri="{FF2B5EF4-FFF2-40B4-BE49-F238E27FC236}">
                <a16:creationId xmlns:a16="http://schemas.microsoft.com/office/drawing/2014/main" id="{ECD3B844-07A7-763B-F9F2-5A2855E1E440}"/>
              </a:ext>
            </a:extLst>
          </p:cNvPr>
          <p:cNvPicPr>
            <a:picLocks noChangeAspect="1"/>
          </p:cNvPicPr>
          <p:nvPr/>
        </p:nvPicPr>
        <p:blipFill rotWithShape="1">
          <a:blip r:embed="rId2"/>
          <a:srcRect l="6666" t="52963" r="70834" b="33704"/>
          <a:stretch/>
        </p:blipFill>
        <p:spPr>
          <a:xfrm>
            <a:off x="7246803" y="4146353"/>
            <a:ext cx="4660275" cy="1553425"/>
          </a:xfrm>
          <a:prstGeom prst="rect">
            <a:avLst/>
          </a:prstGeom>
          <a:ln>
            <a:solidFill>
              <a:schemeClr val="accent1"/>
            </a:solidFill>
          </a:ln>
        </p:spPr>
      </p:pic>
    </p:spTree>
    <p:extLst>
      <p:ext uri="{BB962C8B-B14F-4D97-AF65-F5344CB8AC3E}">
        <p14:creationId xmlns:p14="http://schemas.microsoft.com/office/powerpoint/2010/main" val="29048009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PANDAS - DATAFRAME</a:t>
            </a: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0" y="764799"/>
            <a:ext cx="6062871" cy="514709"/>
          </a:xfrm>
        </p:spPr>
        <p:txBody>
          <a:bodyPr>
            <a:noAutofit/>
          </a:bodyPr>
          <a:lstStyle/>
          <a:p>
            <a:pPr marL="114300" lvl="1" indent="0">
              <a:spcBef>
                <a:spcPts val="580"/>
              </a:spcBef>
              <a:buClr>
                <a:srgbClr val="FF5A33"/>
              </a:buClr>
              <a:buNone/>
              <a:tabLst>
                <a:tab pos="756920" algn="l"/>
              </a:tabLst>
            </a:pPr>
            <a:r>
              <a:rPr lang="en-US" sz="2500" b="1" spc="-55" dirty="0" err="1">
                <a:solidFill>
                  <a:srgbClr val="FF0000"/>
                </a:solidFill>
                <a:latin typeface="Cambria" panose="02040503050406030204" pitchFamily="18" charset="0"/>
                <a:ea typeface="Cambria" panose="02040503050406030204" pitchFamily="18" charset="0"/>
                <a:cs typeface="Segoe UI"/>
              </a:rPr>
              <a:t>Ví</a:t>
            </a:r>
            <a:r>
              <a:rPr lang="en-US" sz="2500" b="1" spc="-55" dirty="0">
                <a:solidFill>
                  <a:srgbClr val="FF0000"/>
                </a:solidFill>
                <a:latin typeface="Cambria" panose="02040503050406030204" pitchFamily="18" charset="0"/>
                <a:ea typeface="Cambria" panose="02040503050406030204" pitchFamily="18" charset="0"/>
                <a:cs typeface="Segoe UI"/>
              </a:rPr>
              <a:t> </a:t>
            </a:r>
            <a:r>
              <a:rPr lang="en-US" sz="2500" b="1" spc="-55" dirty="0" err="1">
                <a:solidFill>
                  <a:srgbClr val="FF0000"/>
                </a:solidFill>
                <a:latin typeface="Cambria" panose="02040503050406030204" pitchFamily="18" charset="0"/>
                <a:ea typeface="Cambria" panose="02040503050406030204" pitchFamily="18" charset="0"/>
                <a:cs typeface="Segoe UI"/>
              </a:rPr>
              <a:t>dụ</a:t>
            </a:r>
            <a:r>
              <a:rPr lang="en-US" sz="2500" b="1" spc="-55" dirty="0">
                <a:solidFill>
                  <a:srgbClr val="FF0000"/>
                </a:solidFill>
                <a:latin typeface="Cambria" panose="02040503050406030204" pitchFamily="18" charset="0"/>
                <a:ea typeface="Cambria" panose="02040503050406030204" pitchFamily="18" charset="0"/>
                <a:cs typeface="Segoe UI"/>
              </a:rPr>
              <a:t> 2:  </a:t>
            </a:r>
            <a:r>
              <a:rPr lang="en-US" sz="2500" b="1" spc="-55" dirty="0" err="1">
                <a:solidFill>
                  <a:srgbClr val="FF0000"/>
                </a:solidFill>
                <a:latin typeface="Cambria" panose="02040503050406030204" pitchFamily="18" charset="0"/>
                <a:ea typeface="Cambria" panose="02040503050406030204" pitchFamily="18" charset="0"/>
                <a:cs typeface="Segoe UI"/>
              </a:rPr>
              <a:t>Tạo</a:t>
            </a:r>
            <a:r>
              <a:rPr lang="en-US" sz="2500" b="1" spc="-55" dirty="0">
                <a:solidFill>
                  <a:srgbClr val="FF0000"/>
                </a:solidFill>
                <a:latin typeface="Cambria" panose="02040503050406030204" pitchFamily="18" charset="0"/>
                <a:ea typeface="Cambria" panose="02040503050406030204" pitchFamily="18" charset="0"/>
                <a:cs typeface="Segoe UI"/>
              </a:rPr>
              <a:t> </a:t>
            </a:r>
            <a:r>
              <a:rPr kumimoji="0" lang="en-US" altLang="en-US" sz="2500" b="1" i="0" u="none" strike="noStrike" cap="none" normalizeH="0" baseline="0" dirty="0" err="1">
                <a:ln>
                  <a:noFill/>
                </a:ln>
                <a:solidFill>
                  <a:srgbClr val="FF0000"/>
                </a:solidFill>
                <a:effectLst/>
                <a:latin typeface="Cambria" panose="02040503050406030204" pitchFamily="18" charset="0"/>
                <a:ea typeface="Cambria" panose="02040503050406030204" pitchFamily="18" charset="0"/>
              </a:rPr>
              <a:t>DataFrame</a:t>
            </a:r>
            <a:r>
              <a:rPr kumimoji="0" lang="en-US" altLang="en-US" sz="25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 </a:t>
            </a:r>
            <a:r>
              <a:rPr lang="en-US" sz="2500" b="1" spc="-55" dirty="0" err="1">
                <a:solidFill>
                  <a:srgbClr val="FF0000"/>
                </a:solidFill>
                <a:latin typeface="Cambria" panose="02040503050406030204" pitchFamily="18" charset="0"/>
                <a:ea typeface="Cambria" panose="02040503050406030204" pitchFamily="18" charset="0"/>
                <a:cs typeface="Segoe UI"/>
              </a:rPr>
              <a:t>từ</a:t>
            </a:r>
            <a:r>
              <a:rPr lang="en-US" sz="2500" b="1" spc="-55" dirty="0">
                <a:solidFill>
                  <a:srgbClr val="FF0000"/>
                </a:solidFill>
                <a:latin typeface="Cambria" panose="02040503050406030204" pitchFamily="18" charset="0"/>
                <a:ea typeface="Cambria" panose="02040503050406030204" pitchFamily="18" charset="0"/>
                <a:cs typeface="Segoe UI"/>
              </a:rPr>
              <a:t> list </a:t>
            </a:r>
            <a:r>
              <a:rPr lang="en-US" sz="2500" b="1" spc="-55" dirty="0" err="1">
                <a:solidFill>
                  <a:srgbClr val="FF0000"/>
                </a:solidFill>
                <a:latin typeface="Cambria" panose="02040503050406030204" pitchFamily="18" charset="0"/>
                <a:ea typeface="Cambria" panose="02040503050406030204" pitchFamily="18" charset="0"/>
                <a:cs typeface="Segoe UI"/>
              </a:rPr>
              <a:t>của</a:t>
            </a:r>
            <a:r>
              <a:rPr lang="en-US" sz="2500" b="1" spc="-55" dirty="0">
                <a:solidFill>
                  <a:srgbClr val="FF0000"/>
                </a:solidFill>
                <a:latin typeface="Cambria" panose="02040503050406030204" pitchFamily="18" charset="0"/>
                <a:ea typeface="Cambria" panose="02040503050406030204" pitchFamily="18" charset="0"/>
                <a:cs typeface="Segoe UI"/>
              </a:rPr>
              <a:t> </a:t>
            </a:r>
            <a:r>
              <a:rPr lang="en-US" sz="2500" b="1" spc="-55" dirty="0" err="1">
                <a:solidFill>
                  <a:srgbClr val="FF0000"/>
                </a:solidFill>
                <a:latin typeface="Cambria" panose="02040503050406030204" pitchFamily="18" charset="0"/>
                <a:ea typeface="Cambria" panose="02040503050406030204" pitchFamily="18" charset="0"/>
                <a:cs typeface="Segoe UI"/>
              </a:rPr>
              <a:t>dict</a:t>
            </a:r>
            <a:endParaRPr lang="en-US" sz="2500" b="1" spc="-55" dirty="0">
              <a:solidFill>
                <a:srgbClr val="FF0000"/>
              </a:solidFill>
              <a:latin typeface="Cambria" panose="02040503050406030204" pitchFamily="18" charset="0"/>
              <a:ea typeface="Cambria" panose="02040503050406030204" pitchFamily="18" charset="0"/>
              <a:cs typeface="Segoe UI"/>
            </a:endParaRPr>
          </a:p>
          <a:p>
            <a:pPr marL="114300" lvl="1" indent="0">
              <a:spcBef>
                <a:spcPts val="580"/>
              </a:spcBef>
              <a:buClr>
                <a:srgbClr val="FF5A33"/>
              </a:buClr>
              <a:buNone/>
              <a:tabLst>
                <a:tab pos="756920" algn="l"/>
              </a:tabLst>
            </a:pPr>
            <a:endParaRPr lang="en-US" sz="2500" b="1" spc="-55" dirty="0">
              <a:latin typeface="Cambria" panose="02040503050406030204" pitchFamily="18" charset="0"/>
              <a:ea typeface="Cambria" panose="02040503050406030204" pitchFamily="18" charset="0"/>
              <a:cs typeface="Segoe UI"/>
            </a:endParaRPr>
          </a:p>
          <a:p>
            <a:pPr marL="114300" lvl="1" indent="0">
              <a:spcBef>
                <a:spcPts val="580"/>
              </a:spcBef>
              <a:buClr>
                <a:srgbClr val="FF5A33"/>
              </a:buClr>
              <a:buNone/>
              <a:tabLst>
                <a:tab pos="756920" algn="l"/>
              </a:tabLst>
            </a:pPr>
            <a:endParaRPr lang="en-US" sz="2500" b="1" spc="-55" dirty="0">
              <a:latin typeface="Cambria" panose="02040503050406030204" pitchFamily="18" charset="0"/>
              <a:ea typeface="Cambria" panose="02040503050406030204" pitchFamily="18" charset="0"/>
              <a:cs typeface="Segoe UI"/>
            </a:endParaRPr>
          </a:p>
          <a:p>
            <a:pPr marL="114300" lvl="1" indent="0">
              <a:spcBef>
                <a:spcPts val="580"/>
              </a:spcBef>
              <a:buClr>
                <a:srgbClr val="FF5A33"/>
              </a:buClr>
              <a:buNone/>
              <a:tabLst>
                <a:tab pos="756920" algn="l"/>
              </a:tabLst>
            </a:pPr>
            <a:endParaRPr lang="en-US" sz="2500" b="1" spc="-55" dirty="0">
              <a:latin typeface="Cambria" panose="02040503050406030204" pitchFamily="18" charset="0"/>
              <a:ea typeface="Cambria" panose="02040503050406030204" pitchFamily="18" charset="0"/>
              <a:cs typeface="Segoe UI"/>
            </a:endParaRPr>
          </a:p>
          <a:p>
            <a:pPr marL="114300" lvl="1" indent="0">
              <a:spcBef>
                <a:spcPts val="580"/>
              </a:spcBef>
              <a:buClr>
                <a:srgbClr val="FF5A33"/>
              </a:buClr>
              <a:buNone/>
              <a:tabLst>
                <a:tab pos="756920" algn="l"/>
              </a:tabLst>
            </a:pPr>
            <a:endParaRPr lang="en-US" sz="2500" b="1" spc="-55" dirty="0">
              <a:latin typeface="Cambria" panose="02040503050406030204" pitchFamily="18" charset="0"/>
              <a:ea typeface="Cambria" panose="02040503050406030204" pitchFamily="18" charset="0"/>
              <a:cs typeface="Segoe UI"/>
            </a:endParaRPr>
          </a:p>
          <a:p>
            <a:pPr marL="114300" lvl="1" indent="0">
              <a:spcBef>
                <a:spcPts val="580"/>
              </a:spcBef>
              <a:buClr>
                <a:srgbClr val="FF5A33"/>
              </a:buClr>
              <a:buNone/>
              <a:tabLst>
                <a:tab pos="756920" algn="l"/>
              </a:tabLst>
            </a:pPr>
            <a:endParaRPr lang="en-US" sz="2500" b="1" spc="-55" dirty="0">
              <a:latin typeface="Cambria" panose="02040503050406030204" pitchFamily="18" charset="0"/>
              <a:ea typeface="Cambria" panose="02040503050406030204" pitchFamily="18" charset="0"/>
              <a:cs typeface="Segoe UI"/>
            </a:endParaRPr>
          </a:p>
          <a:p>
            <a:pPr marL="114300" lvl="1" indent="0">
              <a:spcBef>
                <a:spcPts val="580"/>
              </a:spcBef>
              <a:buClr>
                <a:srgbClr val="FF5A33"/>
              </a:buClr>
              <a:buNone/>
              <a:tabLst>
                <a:tab pos="756920" algn="l"/>
              </a:tabLst>
            </a:pPr>
            <a:endParaRPr lang="en-US" sz="2500" b="1" spc="-55" dirty="0">
              <a:solidFill>
                <a:srgbClr val="FF0000"/>
              </a:solidFill>
              <a:latin typeface="Cambria" panose="02040503050406030204" pitchFamily="18" charset="0"/>
              <a:ea typeface="Cambria" panose="02040503050406030204" pitchFamily="18" charset="0"/>
              <a:cs typeface="Segoe UI"/>
            </a:endParaRPr>
          </a:p>
        </p:txBody>
      </p:sp>
      <p:sp>
        <p:nvSpPr>
          <p:cNvPr id="11" name="Rectangle 1">
            <a:extLst>
              <a:ext uri="{FF2B5EF4-FFF2-40B4-BE49-F238E27FC236}">
                <a16:creationId xmlns:a16="http://schemas.microsoft.com/office/drawing/2014/main" id="{05B35EFC-3239-44F0-2DF3-247F5EEEF28A}"/>
              </a:ext>
            </a:extLst>
          </p:cNvPr>
          <p:cNvSpPr>
            <a:spLocks noChangeArrowheads="1"/>
          </p:cNvSpPr>
          <p:nvPr/>
        </p:nvSpPr>
        <p:spPr bwMode="auto">
          <a:xfrm>
            <a:off x="290302" y="1279508"/>
            <a:ext cx="9135138" cy="2150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3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lst</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 [{</a:t>
            </a:r>
            <a:r>
              <a:rPr kumimoji="0" lang="en-US" altLang="en-US" sz="23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'x'</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3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10</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3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'y'</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3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20</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3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'z'</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3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100</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3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'x'</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3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20</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3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'y'</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3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40</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3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'z'</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3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100</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lang="en-US" altLang="en-US" sz="2300" dirty="0">
                <a:solidFill>
                  <a:srgbClr val="000000"/>
                </a:solidFill>
                <a:latin typeface="Cambria" panose="02040503050406030204" pitchFamily="18" charset="0"/>
                <a:ea typeface="Cambria" panose="02040503050406030204" pitchFamily="18" charset="0"/>
              </a:rPr>
              <a:t> </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3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'x'</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3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30</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3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'y'</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3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80</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3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'z'</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3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100</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data=</a:t>
            </a:r>
            <a:r>
              <a:rPr kumimoji="0" lang="en-US" altLang="en-US" sz="23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pd.DataFrame</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3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lst</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300" b="0" i="0" u="none" strike="noStrike" cap="none" normalizeH="0" baseline="0" dirty="0">
                <a:ln>
                  <a:noFill/>
                </a:ln>
                <a:solidFill>
                  <a:srgbClr val="000080"/>
                </a:solidFill>
                <a:effectLst/>
                <a:latin typeface="Cambria" panose="02040503050406030204" pitchFamily="18" charset="0"/>
                <a:ea typeface="Cambria" panose="02040503050406030204" pitchFamily="18" charset="0"/>
              </a:rPr>
              <a:t>print</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(data)</a:t>
            </a:r>
            <a:endParaRPr kumimoji="0" lang="en-US" altLang="en-US" sz="23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pic>
        <p:nvPicPr>
          <p:cNvPr id="14" name="Picture 13">
            <a:extLst>
              <a:ext uri="{FF2B5EF4-FFF2-40B4-BE49-F238E27FC236}">
                <a16:creationId xmlns:a16="http://schemas.microsoft.com/office/drawing/2014/main" id="{4A272380-A082-B620-6238-0C6B8F0386FB}"/>
              </a:ext>
            </a:extLst>
          </p:cNvPr>
          <p:cNvPicPr>
            <a:picLocks noChangeAspect="1"/>
          </p:cNvPicPr>
          <p:nvPr/>
        </p:nvPicPr>
        <p:blipFill rotWithShape="1">
          <a:blip r:embed="rId2"/>
          <a:srcRect l="6323" t="67778" r="81667" b="17407"/>
          <a:stretch/>
        </p:blipFill>
        <p:spPr>
          <a:xfrm>
            <a:off x="9525218" y="930112"/>
            <a:ext cx="2280249" cy="1582228"/>
          </a:xfrm>
          <a:prstGeom prst="rect">
            <a:avLst/>
          </a:prstGeom>
          <a:ln>
            <a:solidFill>
              <a:schemeClr val="accent1"/>
            </a:solidFill>
          </a:ln>
        </p:spPr>
      </p:pic>
      <p:sp>
        <p:nvSpPr>
          <p:cNvPr id="15" name="Rectangle 2">
            <a:extLst>
              <a:ext uri="{FF2B5EF4-FFF2-40B4-BE49-F238E27FC236}">
                <a16:creationId xmlns:a16="http://schemas.microsoft.com/office/drawing/2014/main" id="{DB24154A-258A-F84F-7B2C-41050E0F9C75}"/>
              </a:ext>
            </a:extLst>
          </p:cNvPr>
          <p:cNvSpPr>
            <a:spLocks noChangeArrowheads="1"/>
          </p:cNvSpPr>
          <p:nvPr/>
        </p:nvSpPr>
        <p:spPr bwMode="auto">
          <a:xfrm>
            <a:off x="190525" y="3996803"/>
            <a:ext cx="11145507" cy="182357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arr</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 </a:t>
            </a: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np.array</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10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20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40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20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40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60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lang="en-US" altLang="en-US" sz="2500" dirty="0">
                <a:solidFill>
                  <a:srgbClr val="000000"/>
                </a:solidFill>
                <a:latin typeface="Cambria" panose="02040503050406030204" pitchFamily="18" charset="0"/>
                <a:ea typeface="Cambria" panose="02040503050406030204" pitchFamily="18" charset="0"/>
              </a:rPr>
              <a:t> </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30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88</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100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df</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pd.DataFrame</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arr</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dirty="0">
                <a:ln>
                  <a:noFill/>
                </a:ln>
                <a:solidFill>
                  <a:srgbClr val="660099"/>
                </a:solidFill>
                <a:effectLst/>
                <a:latin typeface="Cambria" panose="02040503050406030204" pitchFamily="18" charset="0"/>
                <a:ea typeface="Cambria" panose="02040503050406030204" pitchFamily="18" charset="0"/>
              </a:rPr>
              <a:t>columns</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'x'</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'y'</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'z'</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500" b="0" i="0" u="none" strike="noStrike" cap="none" normalizeH="0" baseline="0" dirty="0">
                <a:ln>
                  <a:noFill/>
                </a:ln>
                <a:solidFill>
                  <a:srgbClr val="000080"/>
                </a:solidFill>
                <a:effectLst/>
                <a:latin typeface="Cambria" panose="02040503050406030204" pitchFamily="18" charset="0"/>
                <a:ea typeface="Cambria" panose="02040503050406030204" pitchFamily="18" charset="0"/>
              </a:rPr>
              <a:t>print</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df</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endParaRPr kumimoji="0" lang="en-US" altLang="en-US" sz="25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pic>
        <p:nvPicPr>
          <p:cNvPr id="16" name="Picture 15">
            <a:extLst>
              <a:ext uri="{FF2B5EF4-FFF2-40B4-BE49-F238E27FC236}">
                <a16:creationId xmlns:a16="http://schemas.microsoft.com/office/drawing/2014/main" id="{2E4EF54A-ACA2-B4BE-AD1E-9C1C611EF7AF}"/>
              </a:ext>
            </a:extLst>
          </p:cNvPr>
          <p:cNvPicPr>
            <a:picLocks noChangeAspect="1"/>
          </p:cNvPicPr>
          <p:nvPr/>
        </p:nvPicPr>
        <p:blipFill rotWithShape="1">
          <a:blip r:embed="rId3"/>
          <a:srcRect l="6667" t="72152" r="82499" b="12963"/>
          <a:stretch/>
        </p:blipFill>
        <p:spPr>
          <a:xfrm>
            <a:off x="9525218" y="2987413"/>
            <a:ext cx="2169042" cy="1676400"/>
          </a:xfrm>
          <a:prstGeom prst="rect">
            <a:avLst/>
          </a:prstGeom>
          <a:ln>
            <a:solidFill>
              <a:schemeClr val="accent1"/>
            </a:solidFill>
          </a:ln>
        </p:spPr>
      </p:pic>
      <p:sp>
        <p:nvSpPr>
          <p:cNvPr id="12" name="Content Placeholder 2">
            <a:extLst>
              <a:ext uri="{FF2B5EF4-FFF2-40B4-BE49-F238E27FC236}">
                <a16:creationId xmlns:a16="http://schemas.microsoft.com/office/drawing/2014/main" id="{D84E1B89-45F1-4C39-88F0-3A380DA733A9}"/>
              </a:ext>
            </a:extLst>
          </p:cNvPr>
          <p:cNvSpPr txBox="1">
            <a:spLocks/>
          </p:cNvSpPr>
          <p:nvPr/>
        </p:nvSpPr>
        <p:spPr>
          <a:xfrm>
            <a:off x="0" y="3501123"/>
            <a:ext cx="7871742" cy="49568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lvl="1" indent="0">
              <a:spcBef>
                <a:spcPts val="580"/>
              </a:spcBef>
              <a:buClr>
                <a:srgbClr val="FF5A33"/>
              </a:buClr>
              <a:buFont typeface="Arial" panose="020B0604020202020204" pitchFamily="34" charset="0"/>
              <a:buNone/>
              <a:tabLst>
                <a:tab pos="756920" algn="l"/>
              </a:tabLst>
            </a:pPr>
            <a:r>
              <a:rPr lang="en-US" sz="2500" b="1" spc="-55" dirty="0" err="1">
                <a:solidFill>
                  <a:srgbClr val="FF0000"/>
                </a:solidFill>
                <a:latin typeface="Cambria" panose="02040503050406030204" pitchFamily="18" charset="0"/>
                <a:ea typeface="Cambria" panose="02040503050406030204" pitchFamily="18" charset="0"/>
                <a:cs typeface="Segoe UI"/>
              </a:rPr>
              <a:t>Ví</a:t>
            </a:r>
            <a:r>
              <a:rPr lang="en-US" sz="2500" b="1" spc="-55" dirty="0">
                <a:solidFill>
                  <a:srgbClr val="FF0000"/>
                </a:solidFill>
                <a:latin typeface="Cambria" panose="02040503050406030204" pitchFamily="18" charset="0"/>
                <a:ea typeface="Cambria" panose="02040503050406030204" pitchFamily="18" charset="0"/>
                <a:cs typeface="Segoe UI"/>
              </a:rPr>
              <a:t> </a:t>
            </a:r>
            <a:r>
              <a:rPr lang="en-US" sz="2500" b="1" spc="-55" dirty="0" err="1">
                <a:solidFill>
                  <a:srgbClr val="FF0000"/>
                </a:solidFill>
                <a:latin typeface="Cambria" panose="02040503050406030204" pitchFamily="18" charset="0"/>
                <a:ea typeface="Cambria" panose="02040503050406030204" pitchFamily="18" charset="0"/>
                <a:cs typeface="Segoe UI"/>
              </a:rPr>
              <a:t>dụ</a:t>
            </a:r>
            <a:r>
              <a:rPr lang="en-US" sz="2500" b="1" spc="-55" dirty="0">
                <a:solidFill>
                  <a:srgbClr val="FF0000"/>
                </a:solidFill>
                <a:latin typeface="Cambria" panose="02040503050406030204" pitchFamily="18" charset="0"/>
                <a:ea typeface="Cambria" panose="02040503050406030204" pitchFamily="18" charset="0"/>
                <a:cs typeface="Segoe UI"/>
              </a:rPr>
              <a:t> 3:  </a:t>
            </a:r>
            <a:r>
              <a:rPr lang="en-US" sz="2500" b="1" spc="-55" dirty="0" err="1">
                <a:solidFill>
                  <a:srgbClr val="FF0000"/>
                </a:solidFill>
                <a:latin typeface="Cambria" panose="02040503050406030204" pitchFamily="18" charset="0"/>
                <a:ea typeface="Cambria" panose="02040503050406030204" pitchFamily="18" charset="0"/>
                <a:cs typeface="Segoe UI"/>
              </a:rPr>
              <a:t>Tạo</a:t>
            </a:r>
            <a:r>
              <a:rPr lang="en-US" altLang="en-US" sz="2500" b="1" dirty="0">
                <a:solidFill>
                  <a:srgbClr val="FF0000"/>
                </a:solidFill>
                <a:latin typeface="Cambria" panose="02040503050406030204" pitchFamily="18" charset="0"/>
                <a:ea typeface="Cambria" panose="02040503050406030204" pitchFamily="18" charset="0"/>
              </a:rPr>
              <a:t> </a:t>
            </a:r>
            <a:r>
              <a:rPr lang="en-US" altLang="en-US" sz="2500" b="1" dirty="0" err="1">
                <a:solidFill>
                  <a:srgbClr val="FF0000"/>
                </a:solidFill>
                <a:latin typeface="Cambria" panose="02040503050406030204" pitchFamily="18" charset="0"/>
                <a:ea typeface="Cambria" panose="02040503050406030204" pitchFamily="18" charset="0"/>
              </a:rPr>
              <a:t>DataFrame</a:t>
            </a:r>
            <a:r>
              <a:rPr lang="en-US" sz="2500" b="1" spc="-55" dirty="0">
                <a:solidFill>
                  <a:srgbClr val="FF0000"/>
                </a:solidFill>
                <a:latin typeface="Cambria" panose="02040503050406030204" pitchFamily="18" charset="0"/>
                <a:ea typeface="Cambria" panose="02040503050406030204" pitchFamily="18" charset="0"/>
                <a:cs typeface="Segoe UI"/>
              </a:rPr>
              <a:t> </a:t>
            </a:r>
            <a:r>
              <a:rPr lang="en-US" sz="2500" b="1" spc="-55" dirty="0" err="1">
                <a:solidFill>
                  <a:srgbClr val="FF0000"/>
                </a:solidFill>
                <a:latin typeface="Cambria" panose="02040503050406030204" pitchFamily="18" charset="0"/>
                <a:ea typeface="Cambria" panose="02040503050406030204" pitchFamily="18" charset="0"/>
                <a:cs typeface="Segoe UI"/>
              </a:rPr>
              <a:t>từ</a:t>
            </a:r>
            <a:r>
              <a:rPr lang="en-US" sz="2500" b="1" spc="-55" dirty="0">
                <a:solidFill>
                  <a:srgbClr val="FF0000"/>
                </a:solidFill>
                <a:latin typeface="Cambria" panose="02040503050406030204" pitchFamily="18" charset="0"/>
                <a:ea typeface="Cambria" panose="02040503050406030204" pitchFamily="18" charset="0"/>
                <a:cs typeface="Segoe UI"/>
              </a:rPr>
              <a:t> </a:t>
            </a:r>
            <a:r>
              <a:rPr lang="en-US" sz="2500" b="1" spc="-55" dirty="0" err="1">
                <a:solidFill>
                  <a:srgbClr val="FF0000"/>
                </a:solidFill>
                <a:latin typeface="Cambria" panose="02040503050406030204" pitchFamily="18" charset="0"/>
                <a:ea typeface="Cambria" panose="02040503050406030204" pitchFamily="18" charset="0"/>
                <a:cs typeface="Segoe UI"/>
              </a:rPr>
              <a:t>numpy</a:t>
            </a:r>
            <a:r>
              <a:rPr lang="en-US" sz="2500" b="1" spc="-55" dirty="0">
                <a:solidFill>
                  <a:srgbClr val="FF0000"/>
                </a:solidFill>
                <a:latin typeface="Cambria" panose="02040503050406030204" pitchFamily="18" charset="0"/>
                <a:ea typeface="Cambria" panose="02040503050406030204" pitchFamily="18" charset="0"/>
                <a:cs typeface="Segoe UI"/>
              </a:rPr>
              <a:t> array 2 </a:t>
            </a:r>
            <a:r>
              <a:rPr lang="en-US" sz="2500" b="1" spc="-55" dirty="0" err="1">
                <a:solidFill>
                  <a:srgbClr val="FF0000"/>
                </a:solidFill>
                <a:latin typeface="Cambria" panose="02040503050406030204" pitchFamily="18" charset="0"/>
                <a:ea typeface="Cambria" panose="02040503050406030204" pitchFamily="18" charset="0"/>
                <a:cs typeface="Segoe UI"/>
              </a:rPr>
              <a:t>chiều</a:t>
            </a:r>
            <a:endParaRPr lang="en-US" sz="2500" b="1" spc="-55" dirty="0">
              <a:solidFill>
                <a:srgbClr val="FF0000"/>
              </a:solidFill>
              <a:latin typeface="Cambria" panose="02040503050406030204" pitchFamily="18" charset="0"/>
              <a:ea typeface="Cambria" panose="02040503050406030204" pitchFamily="18" charset="0"/>
              <a:cs typeface="Segoe UI"/>
            </a:endParaRPr>
          </a:p>
        </p:txBody>
      </p:sp>
    </p:spTree>
    <p:extLst>
      <p:ext uri="{BB962C8B-B14F-4D97-AF65-F5344CB8AC3E}">
        <p14:creationId xmlns:p14="http://schemas.microsoft.com/office/powerpoint/2010/main" val="37993083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PANDAS</a:t>
            </a:r>
          </a:p>
        </p:txBody>
      </p:sp>
      <p:sp>
        <p:nvSpPr>
          <p:cNvPr id="17" name="Content Placeholder 2">
            <a:extLst>
              <a:ext uri="{FF2B5EF4-FFF2-40B4-BE49-F238E27FC236}">
                <a16:creationId xmlns:a16="http://schemas.microsoft.com/office/drawing/2014/main" id="{D84E1B89-45F1-4C39-88F0-3A380DA733A9}"/>
              </a:ext>
            </a:extLst>
          </p:cNvPr>
          <p:cNvSpPr>
            <a:spLocks noGrp="1"/>
          </p:cNvSpPr>
          <p:nvPr>
            <p:ph idx="1"/>
          </p:nvPr>
        </p:nvSpPr>
        <p:spPr>
          <a:xfrm>
            <a:off x="79513" y="734693"/>
            <a:ext cx="11832097" cy="1295400"/>
          </a:xfrm>
        </p:spPr>
        <p:txBody>
          <a:bodyPr>
            <a:noAutofit/>
          </a:bodyPr>
          <a:lstStyle/>
          <a:p>
            <a:pPr marL="114300" lvl="1" indent="0">
              <a:lnSpc>
                <a:spcPct val="100000"/>
              </a:lnSpc>
              <a:spcBef>
                <a:spcPts val="580"/>
              </a:spcBef>
              <a:buClr>
                <a:srgbClr val="FF5A33"/>
              </a:buClr>
              <a:buNone/>
              <a:tabLst>
                <a:tab pos="756920" algn="l"/>
              </a:tabLst>
            </a:pPr>
            <a:r>
              <a:rPr lang="en-US" sz="2500" b="1" spc="-55" dirty="0" err="1">
                <a:solidFill>
                  <a:srgbClr val="FF0000"/>
                </a:solidFill>
                <a:latin typeface="Cambria" panose="02040503050406030204" pitchFamily="18" charset="0"/>
                <a:ea typeface="Cambria" panose="02040503050406030204" pitchFamily="18" charset="0"/>
                <a:cs typeface="Segoe UI"/>
              </a:rPr>
              <a:t>Ví</a:t>
            </a:r>
            <a:r>
              <a:rPr lang="en-US" sz="2500" b="1" spc="-55" dirty="0">
                <a:solidFill>
                  <a:srgbClr val="FF0000"/>
                </a:solidFill>
                <a:latin typeface="Cambria" panose="02040503050406030204" pitchFamily="18" charset="0"/>
                <a:ea typeface="Cambria" panose="02040503050406030204" pitchFamily="18" charset="0"/>
                <a:cs typeface="Segoe UI"/>
              </a:rPr>
              <a:t> </a:t>
            </a:r>
            <a:r>
              <a:rPr lang="en-US" sz="2500" b="1" spc="-55" dirty="0" err="1">
                <a:solidFill>
                  <a:srgbClr val="FF0000"/>
                </a:solidFill>
                <a:latin typeface="Cambria" panose="02040503050406030204" pitchFamily="18" charset="0"/>
                <a:ea typeface="Cambria" panose="02040503050406030204" pitchFamily="18" charset="0"/>
                <a:cs typeface="Segoe UI"/>
              </a:rPr>
              <a:t>dụ</a:t>
            </a:r>
            <a:r>
              <a:rPr lang="en-US" sz="2500" b="1" spc="-55" dirty="0">
                <a:solidFill>
                  <a:srgbClr val="FF0000"/>
                </a:solidFill>
                <a:latin typeface="Cambria" panose="02040503050406030204" pitchFamily="18" charset="0"/>
                <a:ea typeface="Cambria" panose="02040503050406030204" pitchFamily="18" charset="0"/>
                <a:cs typeface="Segoe UI"/>
              </a:rPr>
              <a:t> 4:  </a:t>
            </a:r>
            <a:r>
              <a:rPr lang="en-US" sz="2500" b="1" spc="-55" dirty="0" err="1">
                <a:solidFill>
                  <a:srgbClr val="FF0000"/>
                </a:solidFill>
                <a:latin typeface="Cambria" panose="02040503050406030204" pitchFamily="18" charset="0"/>
                <a:ea typeface="Cambria" panose="02040503050406030204" pitchFamily="18" charset="0"/>
                <a:cs typeface="Segoe UI"/>
              </a:rPr>
              <a:t>Tạo</a:t>
            </a:r>
            <a:r>
              <a:rPr lang="en-US" sz="2500" b="1" spc="-55" dirty="0">
                <a:solidFill>
                  <a:srgbClr val="FF0000"/>
                </a:solidFill>
                <a:latin typeface="Cambria" panose="02040503050406030204" pitchFamily="18" charset="0"/>
                <a:ea typeface="Cambria" panose="02040503050406030204" pitchFamily="18" charset="0"/>
                <a:cs typeface="Segoe UI"/>
              </a:rPr>
              <a:t> </a:t>
            </a:r>
            <a:r>
              <a:rPr kumimoji="0" lang="en-US" altLang="en-US" sz="2500" b="1" i="0" u="none" strike="noStrike" cap="none" normalizeH="0" baseline="0" dirty="0" err="1">
                <a:ln>
                  <a:noFill/>
                </a:ln>
                <a:solidFill>
                  <a:srgbClr val="FF0000"/>
                </a:solidFill>
                <a:effectLst/>
                <a:latin typeface="Cambria" panose="02040503050406030204" pitchFamily="18" charset="0"/>
                <a:ea typeface="Cambria" panose="02040503050406030204" pitchFamily="18" charset="0"/>
              </a:rPr>
              <a:t>DataFrame</a:t>
            </a:r>
            <a:r>
              <a:rPr kumimoji="0" lang="en-US" altLang="en-US" sz="25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 </a:t>
            </a:r>
            <a:r>
              <a:rPr lang="en-US" sz="2500" b="1" spc="-55" dirty="0" err="1">
                <a:solidFill>
                  <a:srgbClr val="FF0000"/>
                </a:solidFill>
                <a:latin typeface="Cambria" panose="02040503050406030204" pitchFamily="18" charset="0"/>
                <a:ea typeface="Cambria" panose="02040503050406030204" pitchFamily="18" charset="0"/>
                <a:cs typeface="Segoe UI"/>
              </a:rPr>
              <a:t>từ</a:t>
            </a:r>
            <a:r>
              <a:rPr lang="en-US" sz="2500" b="1" spc="-55" dirty="0">
                <a:solidFill>
                  <a:srgbClr val="FF0000"/>
                </a:solidFill>
                <a:latin typeface="Cambria" panose="02040503050406030204" pitchFamily="18" charset="0"/>
                <a:ea typeface="Cambria" panose="02040503050406030204" pitchFamily="18" charset="0"/>
                <a:cs typeface="Segoe UI"/>
              </a:rPr>
              <a:t> file</a:t>
            </a:r>
          </a:p>
          <a:p>
            <a:pPr marL="457200" lvl="1" indent="-342900">
              <a:lnSpc>
                <a:spcPct val="100000"/>
              </a:lnSpc>
              <a:spcBef>
                <a:spcPts val="580"/>
              </a:spcBef>
              <a:tabLst>
                <a:tab pos="756920" algn="l"/>
              </a:tabLst>
            </a:pPr>
            <a:r>
              <a:rPr lang="en-US" sz="2500" b="0" spc="-55" dirty="0">
                <a:latin typeface="Cambria" panose="02040503050406030204" pitchFamily="18" charset="0"/>
                <a:ea typeface="Cambria" panose="02040503050406030204" pitchFamily="18" charset="0"/>
                <a:cs typeface="Segoe UI"/>
              </a:rPr>
              <a:t>C</a:t>
            </a:r>
            <a:r>
              <a:rPr lang="vi-VN" sz="2500" b="0" spc="-55" dirty="0">
                <a:latin typeface="Cambria" panose="02040503050406030204" pitchFamily="18" charset="0"/>
                <a:ea typeface="Cambria" panose="02040503050406030204" pitchFamily="18" charset="0"/>
                <a:cs typeface="Segoe UI"/>
              </a:rPr>
              <a:t>ó thể lưu và tải dữ liệu </a:t>
            </a:r>
            <a:r>
              <a:rPr lang="en-US" sz="2500" b="0" spc="-55" dirty="0" err="1">
                <a:latin typeface="Cambria" panose="02040503050406030204" pitchFamily="18" charset="0"/>
                <a:ea typeface="Cambria" panose="02040503050406030204" pitchFamily="18" charset="0"/>
                <a:cs typeface="Segoe UI"/>
              </a:rPr>
              <a:t>với</a:t>
            </a:r>
            <a:r>
              <a:rPr lang="vi-VN" sz="2500" b="0" spc="-55" dirty="0">
                <a:latin typeface="Cambria" panose="02040503050406030204" pitchFamily="18" charset="0"/>
                <a:ea typeface="Cambria" panose="02040503050406030204" pitchFamily="18" charset="0"/>
                <a:cs typeface="Segoe UI"/>
              </a:rPr>
              <a:t> tệp, bao gồm CSV, Excel, SQL, JSON</a:t>
            </a:r>
            <a:r>
              <a:rPr lang="en-US" sz="2500" spc="-55" dirty="0">
                <a:latin typeface="Cambria" panose="02040503050406030204" pitchFamily="18" charset="0"/>
                <a:ea typeface="Cambria" panose="02040503050406030204" pitchFamily="18" charset="0"/>
                <a:cs typeface="Segoe UI"/>
              </a:rPr>
              <a:t>….</a:t>
            </a:r>
            <a:r>
              <a:rPr lang="vi-VN" sz="2500" b="0" spc="-55" dirty="0">
                <a:latin typeface="Cambria" panose="02040503050406030204" pitchFamily="18" charset="0"/>
                <a:ea typeface="Cambria" panose="02040503050406030204" pitchFamily="18" charset="0"/>
                <a:cs typeface="Segoe UI"/>
              </a:rPr>
              <a:t> </a:t>
            </a:r>
            <a:endParaRPr lang="en-US" sz="2500" b="0" spc="-55" dirty="0">
              <a:latin typeface="Cambria" panose="02040503050406030204" pitchFamily="18" charset="0"/>
              <a:ea typeface="Cambria" panose="02040503050406030204" pitchFamily="18" charset="0"/>
              <a:cs typeface="Segoe UI"/>
            </a:endParaRPr>
          </a:p>
          <a:p>
            <a:pPr marL="457200" lvl="1" indent="-342900">
              <a:lnSpc>
                <a:spcPct val="100000"/>
              </a:lnSpc>
              <a:spcBef>
                <a:spcPts val="580"/>
              </a:spcBef>
              <a:tabLst>
                <a:tab pos="756920" algn="l"/>
              </a:tabLst>
            </a:pPr>
            <a:r>
              <a:rPr lang="vi-VN" sz="2500" b="0" spc="-55" dirty="0">
                <a:latin typeface="Cambria" panose="02040503050406030204" pitchFamily="18" charset="0"/>
                <a:ea typeface="Cambria" panose="02040503050406030204" pitchFamily="18" charset="0"/>
                <a:cs typeface="Segoe UI"/>
              </a:rPr>
              <a:t>Đây là một tính năng rất mạnh mẽ.</a:t>
            </a:r>
            <a:endParaRPr lang="en-US" sz="2500" b="0" spc="-55" dirty="0">
              <a:latin typeface="Cambria" panose="02040503050406030204" pitchFamily="18" charset="0"/>
              <a:ea typeface="Cambria" panose="02040503050406030204" pitchFamily="18" charset="0"/>
              <a:cs typeface="Segoe UI"/>
            </a:endParaRPr>
          </a:p>
        </p:txBody>
      </p:sp>
      <p:sp>
        <p:nvSpPr>
          <p:cNvPr id="18" name="Rectangle 1">
            <a:extLst>
              <a:ext uri="{FF2B5EF4-FFF2-40B4-BE49-F238E27FC236}">
                <a16:creationId xmlns:a16="http://schemas.microsoft.com/office/drawing/2014/main" id="{10F4F223-62F4-16D5-5A4E-9B93047CE53F}"/>
              </a:ext>
            </a:extLst>
          </p:cNvPr>
          <p:cNvSpPr>
            <a:spLocks noChangeArrowheads="1"/>
          </p:cNvSpPr>
          <p:nvPr/>
        </p:nvSpPr>
        <p:spPr bwMode="auto">
          <a:xfrm>
            <a:off x="229209" y="2108804"/>
            <a:ext cx="11532704" cy="39333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30000"/>
              </a:lnSpc>
              <a:spcBef>
                <a:spcPct val="0"/>
              </a:spcBef>
              <a:spcAft>
                <a:spcPct val="0"/>
              </a:spcAft>
              <a:buClrTx/>
              <a:buSzTx/>
              <a:buFontTx/>
              <a:buNone/>
              <a:tabLst/>
            </a:pPr>
            <a:r>
              <a:rPr kumimoji="0" lang="en-US" altLang="en-US" sz="24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arr</a:t>
            </a:r>
            <a: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 </a:t>
            </a:r>
            <a:r>
              <a:rPr kumimoji="0" lang="en-US" altLang="en-US" sz="24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np.array</a:t>
            </a:r>
            <a: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4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10</a:t>
            </a:r>
            <a: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4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20</a:t>
            </a:r>
            <a: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4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40</a:t>
            </a:r>
            <a: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4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20</a:t>
            </a:r>
            <a: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4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40</a:t>
            </a:r>
            <a: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4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60</a:t>
            </a:r>
            <a: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4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30</a:t>
            </a:r>
            <a: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4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88</a:t>
            </a:r>
            <a: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4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100</a:t>
            </a:r>
            <a: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400" b="0" i="1" u="none" strike="noStrike" cap="none" normalizeH="0" baseline="0" dirty="0">
                <a:ln>
                  <a:noFill/>
                </a:ln>
                <a:effectLst/>
                <a:latin typeface="Cambria" panose="02040503050406030204" pitchFamily="18" charset="0"/>
                <a:ea typeface="Cambria" panose="02040503050406030204" pitchFamily="18" charset="0"/>
              </a:rPr>
              <a:t># </a:t>
            </a:r>
            <a:r>
              <a:rPr kumimoji="0" lang="en-US" altLang="en-US" sz="2400" b="0" i="1" u="none" strike="noStrike" cap="none" normalizeH="0" baseline="0" dirty="0" err="1">
                <a:ln>
                  <a:noFill/>
                </a:ln>
                <a:effectLst/>
                <a:latin typeface="Cambria" panose="02040503050406030204" pitchFamily="18" charset="0"/>
                <a:ea typeface="Cambria" panose="02040503050406030204" pitchFamily="18" charset="0"/>
              </a:rPr>
              <a:t>tạo</a:t>
            </a:r>
            <a:r>
              <a:rPr kumimoji="0" lang="en-US" altLang="en-US" sz="2400" b="0" i="1" u="none" strike="noStrike" cap="none" normalizeH="0" baseline="0" dirty="0">
                <a:ln>
                  <a:noFill/>
                </a:ln>
                <a:effectLst/>
                <a:latin typeface="Cambria" panose="02040503050406030204" pitchFamily="18" charset="0"/>
                <a:ea typeface="Cambria" panose="02040503050406030204" pitchFamily="18" charset="0"/>
              </a:rPr>
              <a:t> </a:t>
            </a:r>
            <a:r>
              <a:rPr kumimoji="0" lang="en-US" altLang="en-US" sz="2400" b="0" i="1" u="none" strike="noStrike" cap="none" normalizeH="0" baseline="0" dirty="0" err="1">
                <a:ln>
                  <a:noFill/>
                </a:ln>
                <a:effectLst/>
                <a:latin typeface="Cambria" panose="02040503050406030204" pitchFamily="18" charset="0"/>
                <a:ea typeface="Cambria" panose="02040503050406030204" pitchFamily="18" charset="0"/>
              </a:rPr>
              <a:t>dataframe</a:t>
            </a:r>
            <a:endParaRPr kumimoji="0" lang="en-US" altLang="en-US" sz="2400" b="0" i="1" u="none" strike="noStrike" cap="none" normalizeH="0" baseline="0" dirty="0">
              <a:ln>
                <a:noFill/>
              </a:ln>
              <a:effectLst/>
              <a:latin typeface="Cambria" panose="02040503050406030204" pitchFamily="18" charset="0"/>
              <a:ea typeface="Cambria" panose="02040503050406030204" pitchFamily="18" charset="0"/>
            </a:endParaRPr>
          </a:p>
          <a:p>
            <a:pPr eaLnBrk="0" fontAlgn="base" hangingPunct="0">
              <a:lnSpc>
                <a:spcPct val="130000"/>
              </a:lnSpc>
              <a:spcBef>
                <a:spcPct val="0"/>
              </a:spcBef>
              <a:spcAft>
                <a:spcPct val="0"/>
              </a:spcAft>
            </a:pPr>
            <a:r>
              <a:rPr kumimoji="0" lang="en-US" altLang="en-US" sz="24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df</a:t>
            </a:r>
            <a: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4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pd.DataFrame</a:t>
            </a:r>
            <a: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4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arr</a:t>
            </a:r>
            <a: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400" b="0" i="0" u="none" strike="noStrike" cap="none" normalizeH="0" baseline="0" dirty="0">
                <a:ln>
                  <a:noFill/>
                </a:ln>
                <a:solidFill>
                  <a:srgbClr val="660099"/>
                </a:solidFill>
                <a:effectLst/>
                <a:latin typeface="Cambria" panose="02040503050406030204" pitchFamily="18" charset="0"/>
                <a:ea typeface="Cambria" panose="02040503050406030204" pitchFamily="18" charset="0"/>
              </a:rPr>
              <a:t>columns</a:t>
            </a:r>
            <a: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4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'x'</a:t>
            </a:r>
            <a: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4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'y'</a:t>
            </a:r>
            <a: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4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'z'</a:t>
            </a:r>
            <a: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400" b="0" i="1" u="none" strike="noStrike" cap="none" normalizeH="0" baseline="0" dirty="0">
                <a:ln>
                  <a:noFill/>
                </a:ln>
                <a:effectLst/>
                <a:latin typeface="Cambria" panose="02040503050406030204" pitchFamily="18" charset="0"/>
                <a:ea typeface="Cambria" panose="02040503050406030204" pitchFamily="18" charset="0"/>
              </a:rPr>
              <a:t># </a:t>
            </a:r>
            <a:r>
              <a:rPr kumimoji="0" lang="en-US" altLang="en-US" sz="2400" b="0" i="1" u="none" strike="noStrike" cap="none" normalizeH="0" baseline="0" dirty="0" err="1">
                <a:ln>
                  <a:noFill/>
                </a:ln>
                <a:effectLst/>
                <a:latin typeface="Cambria" panose="02040503050406030204" pitchFamily="18" charset="0"/>
                <a:ea typeface="Cambria" panose="02040503050406030204" pitchFamily="18" charset="0"/>
              </a:rPr>
              <a:t>lưu</a:t>
            </a:r>
            <a:r>
              <a:rPr kumimoji="0" lang="en-US" altLang="en-US" sz="2400" b="0" i="1" u="none" strike="noStrike" cap="none" normalizeH="0" baseline="0" dirty="0">
                <a:ln>
                  <a:noFill/>
                </a:ln>
                <a:effectLst/>
                <a:latin typeface="Cambria" panose="02040503050406030204" pitchFamily="18" charset="0"/>
                <a:ea typeface="Cambria" panose="02040503050406030204" pitchFamily="18" charset="0"/>
              </a:rPr>
              <a:t> </a:t>
            </a:r>
            <a:r>
              <a:rPr kumimoji="0" lang="en-US" altLang="en-US" sz="2400" b="0" i="1" u="none" strike="noStrike" cap="none" normalizeH="0" baseline="0" dirty="0" err="1">
                <a:ln>
                  <a:noFill/>
                </a:ln>
                <a:effectLst/>
                <a:latin typeface="Cambria" panose="02040503050406030204" pitchFamily="18" charset="0"/>
                <a:ea typeface="Cambria" panose="02040503050406030204" pitchFamily="18" charset="0"/>
              </a:rPr>
              <a:t>dataframe</a:t>
            </a:r>
            <a:r>
              <a:rPr kumimoji="0" lang="en-US" altLang="en-US" sz="2400" b="0" i="1" u="none" strike="noStrike" cap="none" normalizeH="0" baseline="0" dirty="0">
                <a:ln>
                  <a:noFill/>
                </a:ln>
                <a:effectLst/>
                <a:latin typeface="Cambria" panose="02040503050406030204" pitchFamily="18" charset="0"/>
                <a:ea typeface="Cambria" panose="02040503050406030204" pitchFamily="18" charset="0"/>
              </a:rPr>
              <a:t> sang file csv</a:t>
            </a:r>
          </a:p>
          <a:p>
            <a:pPr marL="0" marR="0" lvl="0" indent="0" algn="l" defTabSz="914400" rtl="0" eaLnBrk="0" fontAlgn="base" latinLnBrk="0" hangingPunct="0">
              <a:lnSpc>
                <a:spcPct val="130000"/>
              </a:lnSpc>
              <a:spcBef>
                <a:spcPct val="0"/>
              </a:spcBef>
              <a:spcAft>
                <a:spcPct val="0"/>
              </a:spcAft>
              <a:buClrTx/>
              <a:buSzTx/>
              <a:buFontTx/>
              <a:buNone/>
              <a:tabLst/>
            </a:pPr>
            <a:r>
              <a:rPr kumimoji="0" lang="en-US" altLang="en-US" sz="24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df.to_csv</a:t>
            </a:r>
            <a: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4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'data.csv’</a:t>
            </a:r>
            <a: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p>
          <a:p>
            <a:pPr eaLnBrk="0" fontAlgn="base" hangingPunct="0">
              <a:lnSpc>
                <a:spcPct val="130000"/>
              </a:lnSpc>
              <a:spcBef>
                <a:spcPct val="0"/>
              </a:spcBef>
              <a:spcAft>
                <a:spcPct val="0"/>
              </a:spcAft>
            </a:pPr>
            <a:r>
              <a:rPr kumimoji="0" lang="en-US" altLang="en-US" sz="2400" b="0" i="1" u="none" strike="noStrike" cap="none" normalizeH="0" baseline="0" dirty="0">
                <a:ln>
                  <a:noFill/>
                </a:ln>
                <a:effectLst/>
                <a:latin typeface="Cambria" panose="02040503050406030204" pitchFamily="18" charset="0"/>
                <a:ea typeface="Cambria" panose="02040503050406030204" pitchFamily="18" charset="0"/>
              </a:rPr>
              <a:t># </a:t>
            </a:r>
            <a:r>
              <a:rPr kumimoji="0" lang="en-US" altLang="en-US" sz="2400" b="0" i="1" u="none" strike="noStrike" cap="none" normalizeH="0" baseline="0" dirty="0" err="1">
                <a:ln>
                  <a:noFill/>
                </a:ln>
                <a:effectLst/>
                <a:latin typeface="Cambria" panose="02040503050406030204" pitchFamily="18" charset="0"/>
                <a:ea typeface="Cambria" panose="02040503050406030204" pitchFamily="18" charset="0"/>
              </a:rPr>
              <a:t>đọc</a:t>
            </a:r>
            <a:r>
              <a:rPr kumimoji="0" lang="en-US" altLang="en-US" sz="2400" b="0" i="1" u="none" strike="noStrike" cap="none" normalizeH="0" baseline="0" dirty="0">
                <a:ln>
                  <a:noFill/>
                </a:ln>
                <a:effectLst/>
                <a:latin typeface="Cambria" panose="02040503050406030204" pitchFamily="18" charset="0"/>
                <a:ea typeface="Cambria" panose="02040503050406030204" pitchFamily="18" charset="0"/>
              </a:rPr>
              <a:t> </a:t>
            </a:r>
            <a:r>
              <a:rPr kumimoji="0" lang="en-US" altLang="en-US" sz="2400" b="0" i="1" u="none" strike="noStrike" cap="none" normalizeH="0" baseline="0" dirty="0" err="1">
                <a:ln>
                  <a:noFill/>
                </a:ln>
                <a:effectLst/>
                <a:latin typeface="Cambria" panose="02040503050406030204" pitchFamily="18" charset="0"/>
                <a:ea typeface="Cambria" panose="02040503050406030204" pitchFamily="18" charset="0"/>
              </a:rPr>
              <a:t>dữ</a:t>
            </a:r>
            <a:r>
              <a:rPr kumimoji="0" lang="en-US" altLang="en-US" sz="2400" b="0" i="1" u="none" strike="noStrike" cap="none" normalizeH="0" baseline="0" dirty="0">
                <a:ln>
                  <a:noFill/>
                </a:ln>
                <a:effectLst/>
                <a:latin typeface="Cambria" panose="02040503050406030204" pitchFamily="18" charset="0"/>
                <a:ea typeface="Cambria" panose="02040503050406030204" pitchFamily="18" charset="0"/>
              </a:rPr>
              <a:t> </a:t>
            </a:r>
            <a:r>
              <a:rPr kumimoji="0" lang="en-US" altLang="en-US" sz="2400" b="0" i="1" u="none" strike="noStrike" cap="none" normalizeH="0" baseline="0" dirty="0" err="1">
                <a:ln>
                  <a:noFill/>
                </a:ln>
                <a:effectLst/>
                <a:latin typeface="Cambria" panose="02040503050406030204" pitchFamily="18" charset="0"/>
                <a:ea typeface="Cambria" panose="02040503050406030204" pitchFamily="18" charset="0"/>
              </a:rPr>
              <a:t>liệu</a:t>
            </a:r>
            <a:r>
              <a:rPr kumimoji="0" lang="en-US" altLang="en-US" sz="2400" b="0" i="1" u="none" strike="noStrike" cap="none" normalizeH="0" baseline="0" dirty="0">
                <a:ln>
                  <a:noFill/>
                </a:ln>
                <a:effectLst/>
                <a:latin typeface="Cambria" panose="02040503050406030204" pitchFamily="18" charset="0"/>
                <a:ea typeface="Cambria" panose="02040503050406030204" pitchFamily="18" charset="0"/>
              </a:rPr>
              <a:t> </a:t>
            </a:r>
            <a:r>
              <a:rPr kumimoji="0" lang="en-US" altLang="en-US" sz="2400" b="0" i="1" u="none" strike="noStrike" cap="none" normalizeH="0" baseline="0" dirty="0" err="1">
                <a:ln>
                  <a:noFill/>
                </a:ln>
                <a:effectLst/>
                <a:latin typeface="Cambria" panose="02040503050406030204" pitchFamily="18" charset="0"/>
                <a:ea typeface="Cambria" panose="02040503050406030204" pitchFamily="18" charset="0"/>
              </a:rPr>
              <a:t>từ</a:t>
            </a:r>
            <a:r>
              <a:rPr kumimoji="0" lang="en-US" altLang="en-US" sz="2400" b="0" i="1" u="none" strike="noStrike" cap="none" normalizeH="0" baseline="0" dirty="0">
                <a:ln>
                  <a:noFill/>
                </a:ln>
                <a:effectLst/>
                <a:latin typeface="Cambria" panose="02040503050406030204" pitchFamily="18" charset="0"/>
                <a:ea typeface="Cambria" panose="02040503050406030204" pitchFamily="18" charset="0"/>
              </a:rPr>
              <a:t> file csv</a:t>
            </a:r>
            <a:br>
              <a:rPr kumimoji="0" lang="en-US" altLang="en-US" sz="2400" b="0" i="0" u="none" strike="noStrike" cap="none" normalizeH="0" baseline="0" dirty="0">
                <a:ln>
                  <a:noFill/>
                </a:ln>
                <a:effectLst/>
                <a:latin typeface="Cambria" panose="02040503050406030204" pitchFamily="18" charset="0"/>
                <a:ea typeface="Cambria" panose="02040503050406030204" pitchFamily="18" charset="0"/>
              </a:rPr>
            </a:br>
            <a:r>
              <a:rPr kumimoji="0" lang="en-US" altLang="en-US"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data=</a:t>
            </a:r>
            <a:r>
              <a:rPr kumimoji="0" lang="en-US" altLang="en-US" sz="2400" b="1" i="0" u="none" strike="noStrike" cap="none" normalizeH="0" baseline="0" dirty="0" err="1">
                <a:ln>
                  <a:noFill/>
                </a:ln>
                <a:solidFill>
                  <a:srgbClr val="FF0000"/>
                </a:solidFill>
                <a:effectLst/>
                <a:latin typeface="Cambria" panose="02040503050406030204" pitchFamily="18" charset="0"/>
                <a:ea typeface="Cambria" panose="02040503050406030204" pitchFamily="18" charset="0"/>
              </a:rPr>
              <a:t>pd.read_csv</a:t>
            </a:r>
            <a:r>
              <a:rPr kumimoji="0" lang="en-US" altLang="en-US"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('data.csv', </a:t>
            </a:r>
            <a:r>
              <a:rPr kumimoji="0" lang="en-US" altLang="en-US" sz="2400" b="1" i="0" u="none" strike="noStrike" cap="none" normalizeH="0" baseline="0" dirty="0" err="1">
                <a:ln>
                  <a:noFill/>
                </a:ln>
                <a:solidFill>
                  <a:srgbClr val="FF0000"/>
                </a:solidFill>
                <a:effectLst/>
                <a:latin typeface="Cambria" panose="02040503050406030204" pitchFamily="18" charset="0"/>
                <a:ea typeface="Cambria" panose="02040503050406030204" pitchFamily="18" charset="0"/>
              </a:rPr>
              <a:t>index_col</a:t>
            </a:r>
            <a:r>
              <a:rPr kumimoji="0" lang="en-US" altLang="en-US"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=0)</a:t>
            </a:r>
            <a:br>
              <a:rPr kumimoji="0" lang="en-US" altLang="en-US" sz="24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br>
            <a:r>
              <a:rPr kumimoji="0" lang="en-US" altLang="en-US" sz="2400" b="0" i="0" u="none" strike="noStrike" cap="none" normalizeH="0" baseline="0" dirty="0">
                <a:ln>
                  <a:noFill/>
                </a:ln>
                <a:solidFill>
                  <a:srgbClr val="000080"/>
                </a:solidFill>
                <a:effectLst/>
                <a:latin typeface="Cambria" panose="02040503050406030204" pitchFamily="18" charset="0"/>
                <a:ea typeface="Cambria" panose="02040503050406030204" pitchFamily="18" charset="0"/>
              </a:rPr>
              <a:t>print</a:t>
            </a:r>
            <a:r>
              <a:rPr kumimoji="0" lang="en-US" altLang="en-US" sz="2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(data)</a:t>
            </a:r>
            <a:endParaRPr kumimoji="0" lang="en-US" altLang="en-US" sz="24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7896831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PANDAS</a:t>
            </a: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182215" y="714188"/>
            <a:ext cx="8633794" cy="533399"/>
          </a:xfrm>
        </p:spPr>
        <p:txBody>
          <a:bodyPr>
            <a:noAutofit/>
          </a:bodyPr>
          <a:lstStyle/>
          <a:p>
            <a:pPr marL="114300" lvl="1" indent="0">
              <a:spcBef>
                <a:spcPts val="580"/>
              </a:spcBef>
              <a:buClr>
                <a:srgbClr val="FF5A33"/>
              </a:buClr>
              <a:buNone/>
              <a:tabLst>
                <a:tab pos="756920" algn="l"/>
              </a:tabLst>
            </a:pPr>
            <a:r>
              <a:rPr lang="en-US" sz="2500" b="1" i="1" spc="-55" dirty="0" err="1">
                <a:solidFill>
                  <a:srgbClr val="FF0000"/>
                </a:solidFill>
                <a:latin typeface="Cambria" panose="02040503050406030204" pitchFamily="18" charset="0"/>
                <a:ea typeface="Cambria" panose="02040503050406030204" pitchFamily="18" charset="0"/>
                <a:cs typeface="Segoe UI"/>
              </a:rPr>
              <a:t>Các</a:t>
            </a:r>
            <a:r>
              <a:rPr lang="en-US" sz="2500" b="1" i="1" spc="-55" dirty="0">
                <a:solidFill>
                  <a:srgbClr val="FF0000"/>
                </a:solidFill>
                <a:latin typeface="Cambria" panose="02040503050406030204" pitchFamily="18" charset="0"/>
                <a:ea typeface="Cambria" panose="02040503050406030204" pitchFamily="18" charset="0"/>
                <a:cs typeface="Segoe UI"/>
              </a:rPr>
              <a:t> </a:t>
            </a:r>
            <a:r>
              <a:rPr lang="en-US" sz="2500" b="1" i="1" spc="-55" dirty="0" err="1">
                <a:solidFill>
                  <a:srgbClr val="FF0000"/>
                </a:solidFill>
                <a:latin typeface="Cambria" panose="02040503050406030204" pitchFamily="18" charset="0"/>
                <a:ea typeface="Cambria" panose="02040503050406030204" pitchFamily="18" charset="0"/>
                <a:cs typeface="Segoe UI"/>
              </a:rPr>
              <a:t>thuộc</a:t>
            </a:r>
            <a:r>
              <a:rPr lang="en-US" sz="2500" b="1" i="1" spc="-55" dirty="0">
                <a:solidFill>
                  <a:srgbClr val="FF0000"/>
                </a:solidFill>
                <a:latin typeface="Cambria" panose="02040503050406030204" pitchFamily="18" charset="0"/>
                <a:ea typeface="Cambria" panose="02040503050406030204" pitchFamily="18" charset="0"/>
                <a:cs typeface="Segoe UI"/>
              </a:rPr>
              <a:t> </a:t>
            </a:r>
            <a:r>
              <a:rPr lang="en-US" sz="2500" b="1" i="1" spc="-55" dirty="0" err="1">
                <a:solidFill>
                  <a:srgbClr val="FF0000"/>
                </a:solidFill>
                <a:latin typeface="Cambria" panose="02040503050406030204" pitchFamily="18" charset="0"/>
                <a:ea typeface="Cambria" panose="02040503050406030204" pitchFamily="18" charset="0"/>
                <a:cs typeface="Segoe UI"/>
              </a:rPr>
              <a:t>tính</a:t>
            </a:r>
            <a:r>
              <a:rPr lang="en-US" sz="2500" b="1" i="1" spc="-55" dirty="0">
                <a:solidFill>
                  <a:srgbClr val="FF0000"/>
                </a:solidFill>
                <a:latin typeface="Cambria" panose="02040503050406030204" pitchFamily="18" charset="0"/>
                <a:ea typeface="Cambria" panose="02040503050406030204" pitchFamily="18" charset="0"/>
                <a:cs typeface="Segoe UI"/>
              </a:rPr>
              <a:t> </a:t>
            </a:r>
            <a:r>
              <a:rPr lang="en-US" sz="2500" b="1" i="1" spc="-55" dirty="0" err="1">
                <a:solidFill>
                  <a:srgbClr val="FF0000"/>
                </a:solidFill>
                <a:latin typeface="Cambria" panose="02040503050406030204" pitchFamily="18" charset="0"/>
                <a:ea typeface="Cambria" panose="02040503050406030204" pitchFamily="18" charset="0"/>
                <a:cs typeface="Segoe UI"/>
              </a:rPr>
              <a:t>và</a:t>
            </a:r>
            <a:r>
              <a:rPr lang="en-US" sz="2500" b="1" i="1" spc="-55" dirty="0">
                <a:solidFill>
                  <a:srgbClr val="FF0000"/>
                </a:solidFill>
                <a:latin typeface="Cambria" panose="02040503050406030204" pitchFamily="18" charset="0"/>
                <a:ea typeface="Cambria" panose="02040503050406030204" pitchFamily="18" charset="0"/>
                <a:cs typeface="Segoe UI"/>
              </a:rPr>
              <a:t> </a:t>
            </a:r>
            <a:r>
              <a:rPr lang="en-US" sz="2500" b="1" i="1" spc="-55" dirty="0" err="1">
                <a:solidFill>
                  <a:srgbClr val="FF0000"/>
                </a:solidFill>
                <a:latin typeface="Cambria" panose="02040503050406030204" pitchFamily="18" charset="0"/>
                <a:ea typeface="Cambria" panose="02040503050406030204" pitchFamily="18" charset="0"/>
                <a:cs typeface="Segoe UI"/>
              </a:rPr>
              <a:t>phương</a:t>
            </a:r>
            <a:r>
              <a:rPr lang="en-US" sz="2500" b="1" i="1" spc="-55" dirty="0">
                <a:solidFill>
                  <a:srgbClr val="FF0000"/>
                </a:solidFill>
                <a:latin typeface="Cambria" panose="02040503050406030204" pitchFamily="18" charset="0"/>
                <a:ea typeface="Cambria" panose="02040503050406030204" pitchFamily="18" charset="0"/>
                <a:cs typeface="Segoe UI"/>
              </a:rPr>
              <a:t> </a:t>
            </a:r>
            <a:r>
              <a:rPr lang="en-US" sz="2500" b="1" i="1" spc="-55" dirty="0" err="1">
                <a:solidFill>
                  <a:srgbClr val="FF0000"/>
                </a:solidFill>
                <a:latin typeface="Cambria" panose="02040503050406030204" pitchFamily="18" charset="0"/>
                <a:ea typeface="Cambria" panose="02040503050406030204" pitchFamily="18" charset="0"/>
                <a:cs typeface="Segoe UI"/>
              </a:rPr>
              <a:t>thức</a:t>
            </a:r>
            <a:r>
              <a:rPr lang="en-US" sz="2500" b="1" i="1" spc="-55" dirty="0">
                <a:solidFill>
                  <a:srgbClr val="FF0000"/>
                </a:solidFill>
                <a:latin typeface="Cambria" panose="02040503050406030204" pitchFamily="18" charset="0"/>
                <a:ea typeface="Cambria" panose="02040503050406030204" pitchFamily="18" charset="0"/>
                <a:cs typeface="Segoe UI"/>
              </a:rPr>
              <a:t> </a:t>
            </a:r>
            <a:r>
              <a:rPr lang="en-US" sz="2500" b="1" i="1" spc="-55" dirty="0" err="1">
                <a:solidFill>
                  <a:srgbClr val="FF0000"/>
                </a:solidFill>
                <a:latin typeface="Cambria" panose="02040503050406030204" pitchFamily="18" charset="0"/>
                <a:ea typeface="Cambria" panose="02040503050406030204" pitchFamily="18" charset="0"/>
                <a:cs typeface="Segoe UI"/>
              </a:rPr>
              <a:t>của</a:t>
            </a:r>
            <a:r>
              <a:rPr lang="en-US" sz="2500" b="1" i="1" spc="-55" dirty="0">
                <a:solidFill>
                  <a:srgbClr val="FF0000"/>
                </a:solidFill>
                <a:latin typeface="Cambria" panose="02040503050406030204" pitchFamily="18" charset="0"/>
                <a:ea typeface="Cambria" panose="02040503050406030204" pitchFamily="18" charset="0"/>
                <a:cs typeface="Segoe UI"/>
              </a:rPr>
              <a:t> </a:t>
            </a:r>
            <a:r>
              <a:rPr lang="en-US" sz="2500" b="1" i="1" spc="-55" dirty="0" err="1">
                <a:solidFill>
                  <a:srgbClr val="FF0000"/>
                </a:solidFill>
                <a:latin typeface="Cambria" panose="02040503050406030204" pitchFamily="18" charset="0"/>
                <a:ea typeface="Cambria" panose="02040503050406030204" pitchFamily="18" charset="0"/>
                <a:cs typeface="Segoe UI"/>
              </a:rPr>
              <a:t>DataFrame</a:t>
            </a:r>
            <a:endParaRPr lang="en-US" sz="2500" b="1" i="1" spc="-55" dirty="0">
              <a:solidFill>
                <a:srgbClr val="FF0000"/>
              </a:solidFill>
              <a:latin typeface="Cambria" panose="02040503050406030204" pitchFamily="18" charset="0"/>
              <a:ea typeface="Cambria" panose="02040503050406030204" pitchFamily="18" charset="0"/>
              <a:cs typeface="Segoe UI"/>
            </a:endParaRPr>
          </a:p>
          <a:p>
            <a:pPr marL="114300" lvl="1" indent="0">
              <a:spcBef>
                <a:spcPts val="580"/>
              </a:spcBef>
              <a:buClr>
                <a:srgbClr val="FF5A33"/>
              </a:buClr>
              <a:buNone/>
              <a:tabLst>
                <a:tab pos="756920" algn="l"/>
              </a:tabLst>
            </a:pPr>
            <a:endParaRPr lang="vi-VN" sz="2500" b="1" i="1" spc="-55" dirty="0">
              <a:solidFill>
                <a:srgbClr val="FF0000"/>
              </a:solidFill>
              <a:latin typeface="Cambria" panose="02040503050406030204" pitchFamily="18" charset="0"/>
              <a:ea typeface="Cambria" panose="02040503050406030204" pitchFamily="18" charset="0"/>
              <a:cs typeface="Segoe UI"/>
            </a:endParaRPr>
          </a:p>
        </p:txBody>
      </p:sp>
      <p:sp>
        <p:nvSpPr>
          <p:cNvPr id="11" name="TextBox 10">
            <a:extLst>
              <a:ext uri="{FF2B5EF4-FFF2-40B4-BE49-F238E27FC236}">
                <a16:creationId xmlns:a16="http://schemas.microsoft.com/office/drawing/2014/main" id="{7B507563-0C87-E170-E053-02A1300BC373}"/>
              </a:ext>
            </a:extLst>
          </p:cNvPr>
          <p:cNvSpPr txBox="1"/>
          <p:nvPr/>
        </p:nvSpPr>
        <p:spPr>
          <a:xfrm>
            <a:off x="271669" y="1147438"/>
            <a:ext cx="11648661" cy="5128135"/>
          </a:xfrm>
          <a:prstGeom prst="rect">
            <a:avLst/>
          </a:prstGeom>
          <a:noFill/>
        </p:spPr>
        <p:txBody>
          <a:bodyPr wrap="square">
            <a:spAutoFit/>
          </a:bodyPr>
          <a:lstStyle/>
          <a:p>
            <a:pPr algn="l">
              <a:lnSpc>
                <a:spcPct val="120000"/>
              </a:lnSpc>
              <a:buFont typeface="+mj-lt"/>
              <a:buAutoNum type="arabicPeriod"/>
            </a:pPr>
            <a:r>
              <a:rPr lang="vi-VN" sz="2500" b="1" i="0" dirty="0">
                <a:effectLst/>
                <a:latin typeface="Cambria" panose="02040503050406030204" pitchFamily="18" charset="0"/>
                <a:ea typeface="Cambria" panose="02040503050406030204" pitchFamily="18" charset="0"/>
              </a:rPr>
              <a:t>T</a:t>
            </a:r>
            <a:r>
              <a:rPr lang="vi-VN" sz="2500" i="0" dirty="0">
                <a:effectLst/>
                <a:latin typeface="Cambria" panose="02040503050406030204" pitchFamily="18" charset="0"/>
                <a:ea typeface="Cambria" panose="02040503050406030204" pitchFamily="18" charset="0"/>
              </a:rPr>
              <a:t> : Chuyển đổi các hàng và cột.</a:t>
            </a:r>
          </a:p>
          <a:p>
            <a:pPr algn="l">
              <a:lnSpc>
                <a:spcPct val="120000"/>
              </a:lnSpc>
              <a:buFont typeface="+mj-lt"/>
              <a:buAutoNum type="arabicPeriod"/>
            </a:pPr>
            <a:r>
              <a:rPr lang="vi-VN" sz="2500" b="1" i="0" dirty="0">
                <a:effectLst/>
                <a:latin typeface="Cambria" panose="02040503050406030204" pitchFamily="18" charset="0"/>
                <a:ea typeface="Cambria" panose="02040503050406030204" pitchFamily="18" charset="0"/>
              </a:rPr>
              <a:t>axes</a:t>
            </a:r>
            <a:r>
              <a:rPr lang="vi-VN" sz="2500" i="0" dirty="0">
                <a:effectLst/>
                <a:latin typeface="Cambria" panose="02040503050406030204" pitchFamily="18" charset="0"/>
                <a:ea typeface="Cambria" panose="02040503050406030204" pitchFamily="18" charset="0"/>
              </a:rPr>
              <a:t>: Trả về danh sách có trục hàng và trục cột duy nhất</a:t>
            </a:r>
          </a:p>
          <a:p>
            <a:pPr algn="l">
              <a:lnSpc>
                <a:spcPct val="120000"/>
              </a:lnSpc>
              <a:buFont typeface="+mj-lt"/>
              <a:buAutoNum type="arabicPeriod"/>
            </a:pPr>
            <a:r>
              <a:rPr lang="vi-VN" sz="2500" b="1" i="0" dirty="0">
                <a:effectLst/>
                <a:latin typeface="Cambria" panose="02040503050406030204" pitchFamily="18" charset="0"/>
                <a:ea typeface="Cambria" panose="02040503050406030204" pitchFamily="18" charset="0"/>
              </a:rPr>
              <a:t>dtypes</a:t>
            </a:r>
            <a:r>
              <a:rPr lang="vi-VN" sz="2500" i="0" dirty="0">
                <a:effectLst/>
                <a:latin typeface="Cambria" panose="02040503050406030204" pitchFamily="18" charset="0"/>
                <a:ea typeface="Cambria" panose="02040503050406030204" pitchFamily="18" charset="0"/>
              </a:rPr>
              <a:t>: Kiểu dữ liệu của object</a:t>
            </a:r>
          </a:p>
          <a:p>
            <a:pPr algn="l">
              <a:lnSpc>
                <a:spcPct val="120000"/>
              </a:lnSpc>
              <a:buFont typeface="+mj-lt"/>
              <a:buAutoNum type="arabicPeriod"/>
            </a:pPr>
            <a:r>
              <a:rPr lang="vi-VN" sz="2500" b="1" i="0" dirty="0">
                <a:effectLst/>
                <a:latin typeface="Cambria" panose="02040503050406030204" pitchFamily="18" charset="0"/>
                <a:ea typeface="Cambria" panose="02040503050406030204" pitchFamily="18" charset="0"/>
              </a:rPr>
              <a:t>empty</a:t>
            </a:r>
            <a:r>
              <a:rPr lang="vi-VN" sz="2500" i="0" dirty="0">
                <a:effectLst/>
                <a:latin typeface="Cambria" panose="02040503050406030204" pitchFamily="18" charset="0"/>
                <a:ea typeface="Cambria" panose="02040503050406030204" pitchFamily="18" charset="0"/>
              </a:rPr>
              <a:t>: True nếu NDFrame hoàn toàn trống [không có mục]; nếu bất kỳ trục nào có độ dài bằng 0.</a:t>
            </a:r>
          </a:p>
          <a:p>
            <a:pPr algn="l">
              <a:lnSpc>
                <a:spcPct val="120000"/>
              </a:lnSpc>
              <a:buFont typeface="+mj-lt"/>
              <a:buAutoNum type="arabicPeriod"/>
            </a:pPr>
            <a:r>
              <a:rPr lang="vi-VN" sz="2500" b="1" i="0" dirty="0">
                <a:effectLst/>
                <a:latin typeface="Cambria" panose="02040503050406030204" pitchFamily="18" charset="0"/>
                <a:ea typeface="Cambria" panose="02040503050406030204" pitchFamily="18" charset="0"/>
              </a:rPr>
              <a:t>ndim</a:t>
            </a:r>
            <a:r>
              <a:rPr lang="vi-VN" sz="2500" i="0" dirty="0">
                <a:effectLst/>
                <a:latin typeface="Cambria" panose="02040503050406030204" pitchFamily="18" charset="0"/>
                <a:ea typeface="Cambria" panose="02040503050406030204" pitchFamily="18" charset="0"/>
              </a:rPr>
              <a:t>: Số chiều của axes / array</a:t>
            </a:r>
          </a:p>
          <a:p>
            <a:pPr algn="l">
              <a:lnSpc>
                <a:spcPct val="120000"/>
              </a:lnSpc>
              <a:buFont typeface="+mj-lt"/>
              <a:buAutoNum type="arabicPeriod"/>
            </a:pPr>
            <a:r>
              <a:rPr lang="vi-VN" sz="2500" b="1" i="0" dirty="0">
                <a:effectLst/>
                <a:latin typeface="Cambria" panose="02040503050406030204" pitchFamily="18" charset="0"/>
                <a:ea typeface="Cambria" panose="02040503050406030204" pitchFamily="18" charset="0"/>
              </a:rPr>
              <a:t>shape</a:t>
            </a:r>
            <a:r>
              <a:rPr lang="vi-VN" sz="2500" i="0" dirty="0">
                <a:effectLst/>
                <a:latin typeface="Cambria" panose="02040503050406030204" pitchFamily="18" charset="0"/>
                <a:ea typeface="Cambria" panose="02040503050406030204" pitchFamily="18" charset="0"/>
              </a:rPr>
              <a:t>: Trả về giá trị đại diện cho kích thước của DataFrame.</a:t>
            </a:r>
          </a:p>
          <a:p>
            <a:pPr algn="l">
              <a:lnSpc>
                <a:spcPct val="120000"/>
              </a:lnSpc>
              <a:buFont typeface="+mj-lt"/>
              <a:buAutoNum type="arabicPeriod"/>
            </a:pPr>
            <a:r>
              <a:rPr lang="vi-VN" sz="2500" b="1" i="0" dirty="0">
                <a:effectLst/>
                <a:latin typeface="Cambria" panose="02040503050406030204" pitchFamily="18" charset="0"/>
                <a:ea typeface="Cambria" panose="02040503050406030204" pitchFamily="18" charset="0"/>
              </a:rPr>
              <a:t>size</a:t>
            </a:r>
            <a:r>
              <a:rPr lang="vi-VN" sz="2500" i="0" dirty="0">
                <a:effectLst/>
                <a:latin typeface="Cambria" panose="02040503050406030204" pitchFamily="18" charset="0"/>
                <a:ea typeface="Cambria" panose="02040503050406030204" pitchFamily="18" charset="0"/>
              </a:rPr>
              <a:t>: Số phần tử của NDFrame</a:t>
            </a:r>
          </a:p>
          <a:p>
            <a:pPr algn="l">
              <a:lnSpc>
                <a:spcPct val="120000"/>
              </a:lnSpc>
              <a:buFont typeface="+mj-lt"/>
              <a:buAutoNum type="arabicPeriod"/>
            </a:pPr>
            <a:r>
              <a:rPr lang="vi-VN" sz="2500" b="1" i="0" dirty="0">
                <a:effectLst/>
                <a:latin typeface="Cambria" panose="02040503050406030204" pitchFamily="18" charset="0"/>
                <a:ea typeface="Cambria" panose="02040503050406030204" pitchFamily="18" charset="0"/>
              </a:rPr>
              <a:t>values</a:t>
            </a:r>
            <a:r>
              <a:rPr lang="vi-VN" sz="2500" i="0" dirty="0">
                <a:effectLst/>
                <a:latin typeface="Cambria" panose="02040503050406030204" pitchFamily="18" charset="0"/>
                <a:ea typeface="Cambria" panose="02040503050406030204" pitchFamily="18" charset="0"/>
              </a:rPr>
              <a:t>: Đại diện numpy của NDFrame</a:t>
            </a:r>
          </a:p>
          <a:p>
            <a:pPr algn="l">
              <a:lnSpc>
                <a:spcPct val="120000"/>
              </a:lnSpc>
              <a:buFont typeface="+mj-lt"/>
              <a:buAutoNum type="arabicPeriod"/>
            </a:pPr>
            <a:r>
              <a:rPr lang="vi-VN" sz="2500" b="1" i="0" dirty="0">
                <a:effectLst/>
                <a:latin typeface="Cambria" panose="02040503050406030204" pitchFamily="18" charset="0"/>
                <a:ea typeface="Cambria" panose="02040503050406030204" pitchFamily="18" charset="0"/>
              </a:rPr>
              <a:t>head():</a:t>
            </a:r>
            <a:r>
              <a:rPr lang="vi-VN" sz="2500" i="0" dirty="0">
                <a:effectLst/>
                <a:latin typeface="Cambria" panose="02040503050406030204" pitchFamily="18" charset="0"/>
                <a:ea typeface="Cambria" panose="02040503050406030204" pitchFamily="18" charset="0"/>
              </a:rPr>
              <a:t> Trả về n dòng đầu </a:t>
            </a:r>
            <a:endParaRPr lang="en-US" sz="2500" dirty="0">
              <a:latin typeface="Cambria" panose="02040503050406030204" pitchFamily="18" charset="0"/>
              <a:ea typeface="Cambria" panose="02040503050406030204" pitchFamily="18" charset="0"/>
            </a:endParaRPr>
          </a:p>
          <a:p>
            <a:pPr algn="l">
              <a:lnSpc>
                <a:spcPct val="120000"/>
              </a:lnSpc>
              <a:buFont typeface="+mj-lt"/>
              <a:buAutoNum type="arabicPeriod"/>
            </a:pPr>
            <a:r>
              <a:rPr lang="en-US" sz="2500" b="1" dirty="0">
                <a:latin typeface="Cambria" panose="02040503050406030204" pitchFamily="18" charset="0"/>
                <a:ea typeface="Cambria" panose="02040503050406030204" pitchFamily="18" charset="0"/>
              </a:rPr>
              <a:t>t</a:t>
            </a:r>
            <a:r>
              <a:rPr lang="vi-VN" sz="2500" b="1" i="0" dirty="0">
                <a:effectLst/>
                <a:latin typeface="Cambria" panose="02040503050406030204" pitchFamily="18" charset="0"/>
                <a:ea typeface="Cambria" panose="02040503050406030204" pitchFamily="18" charset="0"/>
              </a:rPr>
              <a:t>ail():</a:t>
            </a:r>
            <a:r>
              <a:rPr lang="vi-VN" sz="2500" i="0" dirty="0">
                <a:effectLst/>
                <a:latin typeface="Cambria" panose="02040503050406030204" pitchFamily="18" charset="0"/>
                <a:ea typeface="Cambria" panose="02040503050406030204" pitchFamily="18" charset="0"/>
              </a:rPr>
              <a:t> Trả về n dòng cuối</a:t>
            </a:r>
            <a:endParaRPr lang="en-US" sz="2500" i="0"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1642646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PANDAS</a:t>
            </a:r>
          </a:p>
        </p:txBody>
      </p:sp>
      <p:sp>
        <p:nvSpPr>
          <p:cNvPr id="13" name="Rectangle 1">
            <a:extLst>
              <a:ext uri="{FF2B5EF4-FFF2-40B4-BE49-F238E27FC236}">
                <a16:creationId xmlns:a16="http://schemas.microsoft.com/office/drawing/2014/main" id="{DBE28828-AA81-6A37-78D7-02FBD780E9CE}"/>
              </a:ext>
            </a:extLst>
          </p:cNvPr>
          <p:cNvSpPr>
            <a:spLocks noChangeArrowheads="1"/>
          </p:cNvSpPr>
          <p:nvPr/>
        </p:nvSpPr>
        <p:spPr bwMode="auto">
          <a:xfrm>
            <a:off x="79513" y="655903"/>
            <a:ext cx="11839785" cy="528606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lang="en-US" sz="2500" b="1" spc="-55" dirty="0" err="1">
                <a:solidFill>
                  <a:srgbClr val="FF0000"/>
                </a:solidFill>
                <a:latin typeface="Cambria" panose="02040503050406030204" pitchFamily="18" charset="0"/>
                <a:ea typeface="Cambria" panose="02040503050406030204" pitchFamily="18" charset="0"/>
                <a:cs typeface="Segoe UI"/>
              </a:rPr>
              <a:t>Ví</a:t>
            </a:r>
            <a:r>
              <a:rPr lang="en-US" sz="2500" b="1" spc="-55" dirty="0">
                <a:solidFill>
                  <a:srgbClr val="FF0000"/>
                </a:solidFill>
                <a:latin typeface="Cambria" panose="02040503050406030204" pitchFamily="18" charset="0"/>
                <a:ea typeface="Cambria" panose="02040503050406030204" pitchFamily="18" charset="0"/>
                <a:cs typeface="Segoe UI"/>
              </a:rPr>
              <a:t> </a:t>
            </a:r>
            <a:r>
              <a:rPr lang="en-US" sz="2500" b="1" spc="-55" dirty="0" err="1">
                <a:solidFill>
                  <a:srgbClr val="FF0000"/>
                </a:solidFill>
                <a:latin typeface="Cambria" panose="02040503050406030204" pitchFamily="18" charset="0"/>
                <a:ea typeface="Cambria" panose="02040503050406030204" pitchFamily="18" charset="0"/>
                <a:cs typeface="Segoe UI"/>
              </a:rPr>
              <a:t>dụ</a:t>
            </a:r>
            <a:r>
              <a:rPr lang="en-US" sz="2500" b="1" spc="-55" dirty="0">
                <a:solidFill>
                  <a:srgbClr val="FF0000"/>
                </a:solidFill>
                <a:latin typeface="Cambria" panose="02040503050406030204" pitchFamily="18" charset="0"/>
                <a:ea typeface="Cambria" panose="02040503050406030204" pitchFamily="18" charset="0"/>
                <a:cs typeface="Segoe UI"/>
              </a:rPr>
              <a:t> 5:  </a:t>
            </a:r>
            <a:r>
              <a:rPr lang="en-US" altLang="en-US" sz="2500" b="1" dirty="0" err="1">
                <a:solidFill>
                  <a:srgbClr val="FF0000"/>
                </a:solidFill>
                <a:latin typeface="Cambria" panose="02040503050406030204" pitchFamily="18" charset="0"/>
                <a:ea typeface="Cambria" panose="02040503050406030204" pitchFamily="18" charset="0"/>
              </a:rPr>
              <a:t>DataFrame</a:t>
            </a:r>
            <a:endParaRPr lang="en-US" sz="2500" b="1" spc="-55" dirty="0">
              <a:solidFill>
                <a:srgbClr val="FF0000"/>
              </a:solidFill>
              <a:latin typeface="Cambria" panose="02040503050406030204" pitchFamily="18" charset="0"/>
              <a:ea typeface="Cambria" panose="02040503050406030204" pitchFamily="18" charset="0"/>
              <a:cs typeface="Segoe UI"/>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data = {</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'name'</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a:t>
            </a:r>
            <a:r>
              <a:rPr kumimoji="0" lang="en-US" altLang="en-US" sz="2500" b="1" i="0" u="none" strike="noStrike" cap="none" normalizeH="0" baseline="0" dirty="0" err="1">
                <a:ln>
                  <a:noFill/>
                </a:ln>
                <a:solidFill>
                  <a:srgbClr val="008000"/>
                </a:solidFill>
                <a:effectLst/>
                <a:latin typeface="Cambria" panose="02040503050406030204" pitchFamily="18" charset="0"/>
                <a:ea typeface="Cambria" panose="02040503050406030204" pitchFamily="18" charset="0"/>
              </a:rPr>
              <a:t>nam</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a:t>
            </a:r>
            <a:r>
              <a:rPr kumimoji="0" lang="en-US" altLang="en-US" sz="2500" b="1" i="0" u="none" strike="noStrike" cap="none" normalizeH="0" baseline="0" dirty="0" err="1">
                <a:ln>
                  <a:noFill/>
                </a:ln>
                <a:solidFill>
                  <a:srgbClr val="008000"/>
                </a:solidFill>
                <a:effectLst/>
                <a:latin typeface="Cambria" panose="02040503050406030204" pitchFamily="18" charset="0"/>
                <a:ea typeface="Cambria" panose="02040503050406030204" pitchFamily="18" charset="0"/>
              </a:rPr>
              <a:t>lan</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a:t>
            </a:r>
            <a:r>
              <a:rPr kumimoji="0" lang="en-US" altLang="en-US" sz="2500" b="1" i="0" u="none" strike="noStrike" cap="none" normalizeH="0" baseline="0" dirty="0" err="1">
                <a:ln>
                  <a:noFill/>
                </a:ln>
                <a:solidFill>
                  <a:srgbClr val="008000"/>
                </a:solidFill>
                <a:effectLst/>
                <a:latin typeface="Cambria" panose="02040503050406030204" pitchFamily="18" charset="0"/>
                <a:ea typeface="Cambria" panose="02040503050406030204" pitchFamily="18" charset="0"/>
              </a:rPr>
              <a:t>adress</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'HCM city'</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'Ha </a:t>
            </a:r>
            <a:r>
              <a:rPr kumimoji="0" lang="en-US" altLang="en-US" sz="2500" b="1" i="0" u="none" strike="noStrike" cap="none" normalizeH="0" baseline="0" dirty="0" err="1">
                <a:ln>
                  <a:noFill/>
                </a:ln>
                <a:solidFill>
                  <a:srgbClr val="008000"/>
                </a:solidFill>
                <a:effectLst/>
                <a:latin typeface="Cambria" panose="02040503050406030204" pitchFamily="18" charset="0"/>
                <a:ea typeface="Cambria" panose="02040503050406030204" pitchFamily="18" charset="0"/>
              </a:rPr>
              <a:t>Noi</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 city'</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'age'</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18</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19</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'core'</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89</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27</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row_labels</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 [</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1</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2</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df</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 </a:t>
            </a: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pd.DataFrame</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660099"/>
                </a:solidFill>
                <a:effectLst/>
                <a:latin typeface="Cambria" panose="02040503050406030204" pitchFamily="18" charset="0"/>
                <a:ea typeface="Cambria" panose="02040503050406030204" pitchFamily="18" charset="0"/>
              </a:rPr>
              <a:t>data</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=data, </a:t>
            </a:r>
            <a:r>
              <a:rPr kumimoji="0" lang="en-US" altLang="en-US" sz="2500" b="0" i="0" u="none" strike="noStrike" cap="none" normalizeH="0" baseline="0" dirty="0">
                <a:ln>
                  <a:noFill/>
                </a:ln>
                <a:solidFill>
                  <a:srgbClr val="660099"/>
                </a:solidFill>
                <a:effectLst/>
                <a:latin typeface="Cambria" panose="02040503050406030204" pitchFamily="18" charset="0"/>
                <a:ea typeface="Cambria" panose="02040503050406030204" pitchFamily="18" charset="0"/>
              </a:rPr>
              <a:t>index</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row_labels</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500" b="0" i="0" u="none" strike="noStrike" cap="none" normalizeH="0" baseline="0" dirty="0">
                <a:ln>
                  <a:noFill/>
                </a:ln>
                <a:solidFill>
                  <a:srgbClr val="000080"/>
                </a:solidFill>
                <a:effectLst/>
                <a:latin typeface="Cambria" panose="02040503050406030204" pitchFamily="18" charset="0"/>
                <a:ea typeface="Cambria" panose="02040503050406030204" pitchFamily="18" charset="0"/>
              </a:rPr>
              <a:t>print</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df</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p>
          <a:p>
            <a:pPr eaLnBrk="0" fontAlgn="base" hangingPunct="0">
              <a:lnSpc>
                <a:spcPct val="150000"/>
              </a:lnSpc>
              <a:spcBef>
                <a:spcPct val="0"/>
              </a:spcBef>
              <a:spcAft>
                <a:spcPct val="0"/>
              </a:spcAft>
            </a:pPr>
            <a:r>
              <a:rPr kumimoji="0" lang="en-US" altLang="en-US" sz="2500" b="0"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print(</a:t>
            </a:r>
            <a:r>
              <a:rPr kumimoji="0" lang="en-US" altLang="en-US" sz="2500" b="0" i="0" u="none" strike="noStrike" cap="none" normalizeH="0" baseline="0" dirty="0" err="1">
                <a:ln>
                  <a:noFill/>
                </a:ln>
                <a:solidFill>
                  <a:srgbClr val="FF0000"/>
                </a:solidFill>
                <a:effectLst/>
                <a:latin typeface="Cambria" panose="02040503050406030204" pitchFamily="18" charset="0"/>
                <a:ea typeface="Cambria" panose="02040503050406030204" pitchFamily="18" charset="0"/>
              </a:rPr>
              <a:t>df.</a:t>
            </a:r>
            <a:r>
              <a:rPr lang="en-US" altLang="en-US" sz="2500" dirty="0" err="1">
                <a:solidFill>
                  <a:srgbClr val="FF0000"/>
                </a:solidFill>
                <a:latin typeface="Cambria" panose="02040503050406030204" pitchFamily="18" charset="0"/>
                <a:ea typeface="Cambria" panose="02040503050406030204" pitchFamily="18" charset="0"/>
              </a:rPr>
              <a:t>head</a:t>
            </a:r>
            <a:r>
              <a:rPr kumimoji="0" lang="en-US" altLang="en-US" sz="2500" b="0"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(2) 	</a:t>
            </a:r>
            <a:r>
              <a:rPr kumimoji="0" lang="en-US" altLang="en-US" sz="2500" b="0" i="0" u="none" strike="noStrike" cap="none" normalizeH="0" baseline="0" dirty="0">
                <a:ln>
                  <a:noFill/>
                </a:ln>
                <a:effectLst/>
                <a:latin typeface="Cambria" panose="02040503050406030204" pitchFamily="18" charset="0"/>
                <a:ea typeface="Cambria" panose="02040503050406030204" pitchFamily="18" charset="0"/>
              </a:rPr>
              <a:t>#</a:t>
            </a:r>
            <a:r>
              <a:rPr kumimoji="0" lang="en-US" altLang="en-US" sz="2500" b="0" i="0" u="none" strike="noStrike" cap="none" normalizeH="0" baseline="0" dirty="0" err="1">
                <a:ln>
                  <a:noFill/>
                </a:ln>
                <a:effectLst/>
                <a:latin typeface="Cambria" panose="02040503050406030204" pitchFamily="18" charset="0"/>
                <a:ea typeface="Cambria" panose="02040503050406030204" pitchFamily="18" charset="0"/>
              </a:rPr>
              <a:t>hiển</a:t>
            </a:r>
            <a:r>
              <a:rPr kumimoji="0" lang="en-US" altLang="en-US" sz="2500" b="0" i="0" u="none" strike="noStrike" cap="none" normalizeH="0" baseline="0" dirty="0">
                <a:ln>
                  <a:noFill/>
                </a:ln>
                <a:effectLst/>
                <a:latin typeface="Cambria" panose="02040503050406030204" pitchFamily="18" charset="0"/>
                <a:ea typeface="Cambria" panose="02040503050406030204" pitchFamily="18" charset="0"/>
              </a:rPr>
              <a:t> </a:t>
            </a:r>
            <a:r>
              <a:rPr kumimoji="0" lang="en-US" altLang="en-US" sz="2500" b="0" i="0" u="none" strike="noStrike" cap="none" normalizeH="0" baseline="0" dirty="0" err="1">
                <a:ln>
                  <a:noFill/>
                </a:ln>
                <a:effectLst/>
                <a:latin typeface="Cambria" panose="02040503050406030204" pitchFamily="18" charset="0"/>
                <a:ea typeface="Cambria" panose="02040503050406030204" pitchFamily="18" charset="0"/>
              </a:rPr>
              <a:t>thị</a:t>
            </a:r>
            <a:r>
              <a:rPr kumimoji="0" lang="en-US" altLang="en-US" sz="2500" b="0" i="0" u="none" strike="noStrike" cap="none" normalizeH="0" baseline="0" dirty="0">
                <a:ln>
                  <a:noFill/>
                </a:ln>
                <a:effectLst/>
                <a:latin typeface="Cambria" panose="02040503050406030204" pitchFamily="18" charset="0"/>
                <a:ea typeface="Cambria" panose="02040503050406030204" pitchFamily="18" charset="0"/>
              </a:rPr>
              <a:t> 2 </a:t>
            </a:r>
            <a:r>
              <a:rPr kumimoji="0" lang="en-US" altLang="en-US" sz="2500" b="0" i="0" u="none" strike="noStrike" cap="none" normalizeH="0" baseline="0" dirty="0" err="1">
                <a:ln>
                  <a:noFill/>
                </a:ln>
                <a:effectLst/>
                <a:latin typeface="Cambria" panose="02040503050406030204" pitchFamily="18" charset="0"/>
                <a:ea typeface="Cambria" panose="02040503050406030204" pitchFamily="18" charset="0"/>
              </a:rPr>
              <a:t>dòng</a:t>
            </a:r>
            <a:r>
              <a:rPr kumimoji="0" lang="en-US" altLang="en-US" sz="2500" b="0" i="0" u="none" strike="noStrike" cap="none" normalizeH="0" baseline="0" dirty="0">
                <a:ln>
                  <a:noFill/>
                </a:ln>
                <a:effectLst/>
                <a:latin typeface="Cambria" panose="02040503050406030204" pitchFamily="18" charset="0"/>
                <a:ea typeface="Cambria" panose="02040503050406030204" pitchFamily="18" charset="0"/>
              </a:rPr>
              <a:t> </a:t>
            </a:r>
            <a:r>
              <a:rPr kumimoji="0" lang="en-US" altLang="en-US" sz="2500" b="0" i="0" u="none" strike="noStrike" cap="none" normalizeH="0" baseline="0" dirty="0" err="1">
                <a:ln>
                  <a:noFill/>
                </a:ln>
                <a:effectLst/>
                <a:latin typeface="Cambria" panose="02040503050406030204" pitchFamily="18" charset="0"/>
                <a:ea typeface="Cambria" panose="02040503050406030204" pitchFamily="18" charset="0"/>
              </a:rPr>
              <a:t>đầu</a:t>
            </a:r>
            <a:endParaRPr kumimoji="0" lang="en-US" altLang="en-US" sz="2500" b="0" i="0" u="none" strike="noStrike" cap="none" normalizeH="0" baseline="0" dirty="0">
              <a:ln>
                <a:noFill/>
              </a:ln>
              <a:effectLst/>
              <a:latin typeface="Cambria" panose="02040503050406030204" pitchFamily="18" charset="0"/>
              <a:ea typeface="Cambria" panose="02040503050406030204" pitchFamily="18" charset="0"/>
            </a:endParaRPr>
          </a:p>
          <a:p>
            <a:pPr eaLnBrk="0" fontAlgn="base" hangingPunct="0">
              <a:lnSpc>
                <a:spcPct val="150000"/>
              </a:lnSpc>
              <a:spcBef>
                <a:spcPct val="0"/>
              </a:spcBef>
              <a:spcAft>
                <a:spcPct val="0"/>
              </a:spcAft>
            </a:pPr>
            <a:r>
              <a:rPr kumimoji="0" lang="en-US" altLang="en-US" sz="2500" b="0"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print(</a:t>
            </a:r>
            <a:r>
              <a:rPr kumimoji="0" lang="en-US" altLang="en-US" sz="2500" b="0" i="0" u="none" strike="noStrike" cap="none" normalizeH="0" baseline="0" dirty="0" err="1">
                <a:ln>
                  <a:noFill/>
                </a:ln>
                <a:solidFill>
                  <a:srgbClr val="FF0000"/>
                </a:solidFill>
                <a:effectLst/>
                <a:latin typeface="Cambria" panose="02040503050406030204" pitchFamily="18" charset="0"/>
                <a:ea typeface="Cambria" panose="02040503050406030204" pitchFamily="18" charset="0"/>
              </a:rPr>
              <a:t>df.</a:t>
            </a:r>
            <a:r>
              <a:rPr lang="en-US" altLang="en-US" sz="2500" dirty="0" err="1">
                <a:solidFill>
                  <a:srgbClr val="FF0000"/>
                </a:solidFill>
                <a:latin typeface="Cambria" panose="02040503050406030204" pitchFamily="18" charset="0"/>
                <a:ea typeface="Cambria" panose="02040503050406030204" pitchFamily="18" charset="0"/>
              </a:rPr>
              <a:t>tail</a:t>
            </a:r>
            <a:r>
              <a:rPr kumimoji="0" lang="en-US" altLang="en-US" sz="2500" b="0"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(3) 	</a:t>
            </a:r>
            <a:r>
              <a:rPr kumimoji="0" lang="en-US" altLang="en-US" sz="2500" b="0" i="0" u="none" strike="noStrike" cap="none" normalizeH="0" baseline="0" dirty="0">
                <a:ln>
                  <a:noFill/>
                </a:ln>
                <a:effectLst/>
                <a:latin typeface="Cambria" panose="02040503050406030204" pitchFamily="18" charset="0"/>
                <a:ea typeface="Cambria" panose="02040503050406030204" pitchFamily="18" charset="0"/>
              </a:rPr>
              <a:t>#</a:t>
            </a:r>
            <a:r>
              <a:rPr kumimoji="0" lang="en-US" altLang="en-US" sz="2500" b="0" i="0" u="none" strike="noStrike" cap="none" normalizeH="0" baseline="0" dirty="0" err="1">
                <a:ln>
                  <a:noFill/>
                </a:ln>
                <a:effectLst/>
                <a:latin typeface="Cambria" panose="02040503050406030204" pitchFamily="18" charset="0"/>
                <a:ea typeface="Cambria" panose="02040503050406030204" pitchFamily="18" charset="0"/>
              </a:rPr>
              <a:t>hiển</a:t>
            </a:r>
            <a:r>
              <a:rPr kumimoji="0" lang="en-US" altLang="en-US" sz="2500" b="0" i="0" u="none" strike="noStrike" cap="none" normalizeH="0" baseline="0" dirty="0">
                <a:ln>
                  <a:noFill/>
                </a:ln>
                <a:effectLst/>
                <a:latin typeface="Cambria" panose="02040503050406030204" pitchFamily="18" charset="0"/>
                <a:ea typeface="Cambria" panose="02040503050406030204" pitchFamily="18" charset="0"/>
              </a:rPr>
              <a:t> </a:t>
            </a:r>
            <a:r>
              <a:rPr kumimoji="0" lang="en-US" altLang="en-US" sz="2500" b="0" i="0" u="none" strike="noStrike" cap="none" normalizeH="0" baseline="0" dirty="0" err="1">
                <a:ln>
                  <a:noFill/>
                </a:ln>
                <a:effectLst/>
                <a:latin typeface="Cambria" panose="02040503050406030204" pitchFamily="18" charset="0"/>
                <a:ea typeface="Cambria" panose="02040503050406030204" pitchFamily="18" charset="0"/>
              </a:rPr>
              <a:t>thị</a:t>
            </a:r>
            <a:r>
              <a:rPr kumimoji="0" lang="en-US" altLang="en-US" sz="2500" b="0" i="0" u="none" strike="noStrike" cap="none" normalizeH="0" baseline="0" dirty="0">
                <a:ln>
                  <a:noFill/>
                </a:ln>
                <a:effectLst/>
                <a:latin typeface="Cambria" panose="02040503050406030204" pitchFamily="18" charset="0"/>
                <a:ea typeface="Cambria" panose="02040503050406030204" pitchFamily="18" charset="0"/>
              </a:rPr>
              <a:t> 3 </a:t>
            </a:r>
            <a:r>
              <a:rPr kumimoji="0" lang="en-US" altLang="en-US" sz="2500" b="0" i="0" u="none" strike="noStrike" cap="none" normalizeH="0" baseline="0" dirty="0" err="1">
                <a:ln>
                  <a:noFill/>
                </a:ln>
                <a:effectLst/>
                <a:latin typeface="Cambria" panose="02040503050406030204" pitchFamily="18" charset="0"/>
                <a:ea typeface="Cambria" panose="02040503050406030204" pitchFamily="18" charset="0"/>
              </a:rPr>
              <a:t>dòng</a:t>
            </a:r>
            <a:r>
              <a:rPr kumimoji="0" lang="en-US" altLang="en-US" sz="2500" b="0" i="0" u="none" strike="noStrike" cap="none" normalizeH="0" baseline="0" dirty="0">
                <a:ln>
                  <a:noFill/>
                </a:ln>
                <a:effectLst/>
                <a:latin typeface="Cambria" panose="02040503050406030204" pitchFamily="18" charset="0"/>
                <a:ea typeface="Cambria" panose="02040503050406030204" pitchFamily="18" charset="0"/>
              </a:rPr>
              <a:t> </a:t>
            </a:r>
            <a:r>
              <a:rPr kumimoji="0" lang="en-US" altLang="en-US" sz="2500" b="0" i="0" u="none" strike="noStrike" cap="none" normalizeH="0" baseline="0" dirty="0" err="1">
                <a:ln>
                  <a:noFill/>
                </a:ln>
                <a:effectLst/>
                <a:latin typeface="Cambria" panose="02040503050406030204" pitchFamily="18" charset="0"/>
                <a:ea typeface="Cambria" panose="02040503050406030204" pitchFamily="18" charset="0"/>
              </a:rPr>
              <a:t>cuối</a:t>
            </a:r>
            <a:endParaRPr kumimoji="0" lang="en-US" altLang="en-US" sz="2500" b="0" i="0" u="none" strike="noStrike" cap="none" normalizeH="0" baseline="0" dirty="0">
              <a:ln>
                <a:noFill/>
              </a:ln>
              <a:effectLst/>
              <a:latin typeface="Cambria" panose="02040503050406030204" pitchFamily="18" charset="0"/>
              <a:ea typeface="Cambria" panose="02040503050406030204" pitchFamily="18" charset="0"/>
            </a:endParaRPr>
          </a:p>
          <a:p>
            <a:pPr eaLnBrk="0" fontAlgn="base" hangingPunct="0">
              <a:lnSpc>
                <a:spcPct val="150000"/>
              </a:lnSpc>
              <a:spcBef>
                <a:spcPct val="0"/>
              </a:spcBef>
              <a:spcAft>
                <a:spcPct val="0"/>
              </a:spcAft>
            </a:pPr>
            <a:r>
              <a:rPr kumimoji="0" lang="en-US" altLang="en-US" sz="2500" b="0"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print(</a:t>
            </a:r>
            <a:r>
              <a:rPr kumimoji="0" lang="en-US" altLang="en-US" sz="2500" b="0" i="0" u="none" strike="noStrike" cap="none" normalizeH="0" baseline="0" dirty="0" err="1">
                <a:ln>
                  <a:noFill/>
                </a:ln>
                <a:solidFill>
                  <a:srgbClr val="FF0000"/>
                </a:solidFill>
                <a:effectLst/>
                <a:latin typeface="Cambria" panose="02040503050406030204" pitchFamily="18" charset="0"/>
                <a:ea typeface="Cambria" panose="02040503050406030204" pitchFamily="18" charset="0"/>
              </a:rPr>
              <a:t>df</a:t>
            </a:r>
            <a:r>
              <a:rPr kumimoji="0" lang="en-US" altLang="en-US" sz="2500" b="0"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a:t>
            </a:r>
            <a:r>
              <a:rPr kumimoji="0" lang="en-US" altLang="en-US" sz="2500" b="1"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'age’</a:t>
            </a:r>
            <a:r>
              <a:rPr kumimoji="0" lang="en-US" altLang="en-US" sz="2500" b="0" i="0" u="none" strike="noStrike" cap="none" normalizeH="0" baseline="0" dirty="0">
                <a:ln>
                  <a:noFill/>
                </a:ln>
                <a:solidFill>
                  <a:srgbClr val="FF0000"/>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dirty="0">
                <a:ln>
                  <a:noFill/>
                </a:ln>
                <a:effectLst/>
                <a:latin typeface="Cambria" panose="02040503050406030204" pitchFamily="18" charset="0"/>
                <a:ea typeface="Cambria" panose="02040503050406030204" pitchFamily="18" charset="0"/>
              </a:rPr>
              <a:t>#</a:t>
            </a:r>
            <a:r>
              <a:rPr kumimoji="0" lang="en-US" altLang="en-US" sz="2500" b="0" i="0" u="none" strike="noStrike" cap="none" normalizeH="0" baseline="0" dirty="0" err="1">
                <a:ln>
                  <a:noFill/>
                </a:ln>
                <a:effectLst/>
                <a:latin typeface="Cambria" panose="02040503050406030204" pitchFamily="18" charset="0"/>
                <a:ea typeface="Cambria" panose="02040503050406030204" pitchFamily="18" charset="0"/>
              </a:rPr>
              <a:t>hiển</a:t>
            </a:r>
            <a:r>
              <a:rPr kumimoji="0" lang="en-US" altLang="en-US" sz="2500" b="0" i="0" u="none" strike="noStrike" cap="none" normalizeH="0" baseline="0" dirty="0">
                <a:ln>
                  <a:noFill/>
                </a:ln>
                <a:effectLst/>
                <a:latin typeface="Cambria" panose="02040503050406030204" pitchFamily="18" charset="0"/>
                <a:ea typeface="Cambria" panose="02040503050406030204" pitchFamily="18" charset="0"/>
              </a:rPr>
              <a:t> </a:t>
            </a:r>
            <a:r>
              <a:rPr kumimoji="0" lang="en-US" altLang="en-US" sz="2500" b="0" i="0" u="none" strike="noStrike" cap="none" normalizeH="0" baseline="0" dirty="0" err="1">
                <a:ln>
                  <a:noFill/>
                </a:ln>
                <a:effectLst/>
                <a:latin typeface="Cambria" panose="02040503050406030204" pitchFamily="18" charset="0"/>
                <a:ea typeface="Cambria" panose="02040503050406030204" pitchFamily="18" charset="0"/>
              </a:rPr>
              <a:t>thị</a:t>
            </a:r>
            <a:r>
              <a:rPr kumimoji="0" lang="en-US" altLang="en-US" sz="2500" b="0" i="0" u="none" strike="noStrike" cap="none" normalizeH="0" baseline="0" dirty="0">
                <a:ln>
                  <a:noFill/>
                </a:ln>
                <a:effectLst/>
                <a:latin typeface="Cambria" panose="02040503050406030204" pitchFamily="18" charset="0"/>
                <a:ea typeface="Cambria" panose="02040503050406030204" pitchFamily="18" charset="0"/>
              </a:rPr>
              <a:t> </a:t>
            </a:r>
            <a:r>
              <a:rPr kumimoji="0" lang="en-US" altLang="en-US" sz="2500" b="0" i="0" u="none" strike="noStrike" cap="none" normalizeH="0" baseline="0" dirty="0" err="1">
                <a:ln>
                  <a:noFill/>
                </a:ln>
                <a:effectLst/>
                <a:latin typeface="Cambria" panose="02040503050406030204" pitchFamily="18" charset="0"/>
                <a:ea typeface="Cambria" panose="02040503050406030204" pitchFamily="18" charset="0"/>
              </a:rPr>
              <a:t>nội</a:t>
            </a:r>
            <a:r>
              <a:rPr kumimoji="0" lang="en-US" altLang="en-US" sz="2500" b="0" i="0" u="none" strike="noStrike" cap="none" normalizeH="0" baseline="0" dirty="0">
                <a:ln>
                  <a:noFill/>
                </a:ln>
                <a:effectLst/>
                <a:latin typeface="Cambria" panose="02040503050406030204" pitchFamily="18" charset="0"/>
                <a:ea typeface="Cambria" panose="02040503050406030204" pitchFamily="18" charset="0"/>
              </a:rPr>
              <a:t> dung </a:t>
            </a:r>
            <a:r>
              <a:rPr kumimoji="0" lang="en-US" altLang="en-US" sz="2500" b="0" i="0" u="none" strike="noStrike" cap="none" normalizeH="0" baseline="0" dirty="0" err="1">
                <a:ln>
                  <a:noFill/>
                </a:ln>
                <a:effectLst/>
                <a:latin typeface="Cambria" panose="02040503050406030204" pitchFamily="18" charset="0"/>
                <a:ea typeface="Cambria" panose="02040503050406030204" pitchFamily="18" charset="0"/>
              </a:rPr>
              <a:t>cột</a:t>
            </a:r>
            <a:endParaRPr kumimoji="0" lang="en-US" altLang="en-US" sz="2500" b="0" i="0" u="none" strike="noStrike" cap="none" normalizeH="0" baseline="0" dirty="0">
              <a:ln>
                <a:noFill/>
              </a:ln>
              <a:effectLst/>
              <a:latin typeface="Cambria" panose="02040503050406030204" pitchFamily="18" charset="0"/>
              <a:ea typeface="Cambria" panose="02040503050406030204" pitchFamily="18" charset="0"/>
            </a:endParaRPr>
          </a:p>
        </p:txBody>
      </p:sp>
      <p:pic>
        <p:nvPicPr>
          <p:cNvPr id="6" name="Picture 5">
            <a:extLst>
              <a:ext uri="{FF2B5EF4-FFF2-40B4-BE49-F238E27FC236}">
                <a16:creationId xmlns:a16="http://schemas.microsoft.com/office/drawing/2014/main" id="{ECD3B844-07A7-763B-F9F2-5A2855E1E440}"/>
              </a:ext>
            </a:extLst>
          </p:cNvPr>
          <p:cNvPicPr>
            <a:picLocks noChangeAspect="1"/>
          </p:cNvPicPr>
          <p:nvPr/>
        </p:nvPicPr>
        <p:blipFill rotWithShape="1">
          <a:blip r:embed="rId2"/>
          <a:srcRect l="6666" t="52963" r="70834" b="33704"/>
          <a:stretch/>
        </p:blipFill>
        <p:spPr>
          <a:xfrm>
            <a:off x="6861212" y="4014151"/>
            <a:ext cx="4660275" cy="1553425"/>
          </a:xfrm>
          <a:prstGeom prst="rect">
            <a:avLst/>
          </a:prstGeom>
          <a:ln>
            <a:solidFill>
              <a:schemeClr val="accent1"/>
            </a:solidFill>
          </a:ln>
        </p:spPr>
      </p:pic>
    </p:spTree>
    <p:extLst>
      <p:ext uri="{BB962C8B-B14F-4D97-AF65-F5344CB8AC3E}">
        <p14:creationId xmlns:p14="http://schemas.microsoft.com/office/powerpoint/2010/main" val="39312273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PANDAS</a:t>
            </a: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182215" y="714188"/>
            <a:ext cx="8633794" cy="533399"/>
          </a:xfrm>
        </p:spPr>
        <p:txBody>
          <a:bodyPr>
            <a:noAutofit/>
          </a:bodyPr>
          <a:lstStyle/>
          <a:p>
            <a:pPr marL="114300" lvl="1" indent="0">
              <a:spcBef>
                <a:spcPts val="580"/>
              </a:spcBef>
              <a:buClr>
                <a:srgbClr val="FF5A33"/>
              </a:buClr>
              <a:buNone/>
              <a:tabLst>
                <a:tab pos="756920" algn="l"/>
              </a:tabLst>
            </a:pPr>
            <a:r>
              <a:rPr lang="en-US" sz="2500" b="1" i="1" spc="-55" dirty="0" err="1">
                <a:solidFill>
                  <a:srgbClr val="FF0000"/>
                </a:solidFill>
                <a:latin typeface="Cambria" panose="02040503050406030204" pitchFamily="18" charset="0"/>
                <a:ea typeface="Cambria" panose="02040503050406030204" pitchFamily="18" charset="0"/>
                <a:cs typeface="Segoe UI"/>
              </a:rPr>
              <a:t>Các</a:t>
            </a:r>
            <a:r>
              <a:rPr lang="en-US" sz="2500" b="1" i="1" spc="-55" dirty="0">
                <a:solidFill>
                  <a:srgbClr val="FF0000"/>
                </a:solidFill>
                <a:latin typeface="Cambria" panose="02040503050406030204" pitchFamily="18" charset="0"/>
                <a:ea typeface="Cambria" panose="02040503050406030204" pitchFamily="18" charset="0"/>
                <a:cs typeface="Segoe UI"/>
              </a:rPr>
              <a:t> </a:t>
            </a:r>
            <a:r>
              <a:rPr lang="en-US" sz="2500" b="1" i="1" spc="-55" dirty="0" err="1">
                <a:solidFill>
                  <a:srgbClr val="FF0000"/>
                </a:solidFill>
                <a:latin typeface="Cambria" panose="02040503050406030204" pitchFamily="18" charset="0"/>
                <a:ea typeface="Cambria" panose="02040503050406030204" pitchFamily="18" charset="0"/>
                <a:cs typeface="Segoe UI"/>
              </a:rPr>
              <a:t>hàm</a:t>
            </a:r>
            <a:r>
              <a:rPr lang="en-US" sz="2500" b="1" i="1" spc="-55" dirty="0">
                <a:solidFill>
                  <a:srgbClr val="FF0000"/>
                </a:solidFill>
                <a:latin typeface="Cambria" panose="02040503050406030204" pitchFamily="18" charset="0"/>
                <a:ea typeface="Cambria" panose="02040503050406030204" pitchFamily="18" charset="0"/>
                <a:cs typeface="Segoe UI"/>
              </a:rPr>
              <a:t> </a:t>
            </a:r>
            <a:r>
              <a:rPr lang="en-US" sz="2500" b="1" i="1" spc="-55" dirty="0" err="1">
                <a:solidFill>
                  <a:srgbClr val="FF0000"/>
                </a:solidFill>
                <a:latin typeface="Cambria" panose="02040503050406030204" pitchFamily="18" charset="0"/>
                <a:ea typeface="Cambria" panose="02040503050406030204" pitchFamily="18" charset="0"/>
                <a:cs typeface="Segoe UI"/>
              </a:rPr>
              <a:t>thống</a:t>
            </a:r>
            <a:r>
              <a:rPr lang="en-US" sz="2500" b="1" i="1" spc="-55" dirty="0">
                <a:solidFill>
                  <a:srgbClr val="FF0000"/>
                </a:solidFill>
                <a:latin typeface="Cambria" panose="02040503050406030204" pitchFamily="18" charset="0"/>
                <a:ea typeface="Cambria" panose="02040503050406030204" pitchFamily="18" charset="0"/>
                <a:cs typeface="Segoe UI"/>
              </a:rPr>
              <a:t> </a:t>
            </a:r>
            <a:r>
              <a:rPr lang="en-US" sz="2500" b="1" i="1" spc="-55" dirty="0" err="1">
                <a:solidFill>
                  <a:srgbClr val="FF0000"/>
                </a:solidFill>
                <a:latin typeface="Cambria" panose="02040503050406030204" pitchFamily="18" charset="0"/>
                <a:ea typeface="Cambria" panose="02040503050406030204" pitchFamily="18" charset="0"/>
                <a:cs typeface="Segoe UI"/>
              </a:rPr>
              <a:t>kê</a:t>
            </a:r>
            <a:r>
              <a:rPr lang="en-US" sz="2500" b="1" i="1" spc="-55" dirty="0">
                <a:solidFill>
                  <a:srgbClr val="FF0000"/>
                </a:solidFill>
                <a:latin typeface="Cambria" panose="02040503050406030204" pitchFamily="18" charset="0"/>
                <a:ea typeface="Cambria" panose="02040503050406030204" pitchFamily="18" charset="0"/>
                <a:cs typeface="Segoe UI"/>
              </a:rPr>
              <a:t> </a:t>
            </a:r>
            <a:r>
              <a:rPr lang="en-US" sz="2500" b="1" i="1" spc="-55" dirty="0" err="1">
                <a:solidFill>
                  <a:srgbClr val="FF0000"/>
                </a:solidFill>
                <a:latin typeface="Cambria" panose="02040503050406030204" pitchFamily="18" charset="0"/>
                <a:ea typeface="Cambria" panose="02040503050406030204" pitchFamily="18" charset="0"/>
                <a:cs typeface="Segoe UI"/>
              </a:rPr>
              <a:t>của</a:t>
            </a:r>
            <a:r>
              <a:rPr lang="en-US" sz="2500" b="1" i="1" spc="-55" dirty="0">
                <a:solidFill>
                  <a:srgbClr val="FF0000"/>
                </a:solidFill>
                <a:latin typeface="Cambria" panose="02040503050406030204" pitchFamily="18" charset="0"/>
                <a:ea typeface="Cambria" panose="02040503050406030204" pitchFamily="18" charset="0"/>
                <a:cs typeface="Segoe UI"/>
              </a:rPr>
              <a:t> </a:t>
            </a:r>
            <a:r>
              <a:rPr lang="en-US" sz="2500" b="1" i="1" spc="-55" dirty="0" err="1">
                <a:solidFill>
                  <a:srgbClr val="FF0000"/>
                </a:solidFill>
                <a:latin typeface="Cambria" panose="02040503050406030204" pitchFamily="18" charset="0"/>
                <a:ea typeface="Cambria" panose="02040503050406030204" pitchFamily="18" charset="0"/>
                <a:cs typeface="Segoe UI"/>
              </a:rPr>
              <a:t>DataFrame</a:t>
            </a:r>
            <a:endParaRPr lang="en-US" sz="2500" b="1" i="1" spc="-55" dirty="0">
              <a:solidFill>
                <a:srgbClr val="FF0000"/>
              </a:solidFill>
              <a:latin typeface="Cambria" panose="02040503050406030204" pitchFamily="18" charset="0"/>
              <a:ea typeface="Cambria" panose="02040503050406030204" pitchFamily="18" charset="0"/>
              <a:cs typeface="Segoe UI"/>
            </a:endParaRPr>
          </a:p>
          <a:p>
            <a:pPr marL="114300" lvl="1" indent="0">
              <a:spcBef>
                <a:spcPts val="580"/>
              </a:spcBef>
              <a:buClr>
                <a:srgbClr val="FF5A33"/>
              </a:buClr>
              <a:buNone/>
              <a:tabLst>
                <a:tab pos="756920" algn="l"/>
              </a:tabLst>
            </a:pPr>
            <a:endParaRPr lang="vi-VN" sz="2500" b="1" i="1" spc="-55" dirty="0">
              <a:solidFill>
                <a:srgbClr val="FF0000"/>
              </a:solidFill>
              <a:latin typeface="Cambria" panose="02040503050406030204" pitchFamily="18" charset="0"/>
              <a:ea typeface="Cambria" panose="02040503050406030204" pitchFamily="18" charset="0"/>
              <a:cs typeface="Segoe UI"/>
            </a:endParaRPr>
          </a:p>
        </p:txBody>
      </p:sp>
      <p:pic>
        <p:nvPicPr>
          <p:cNvPr id="12" name="Picture 11">
            <a:extLst>
              <a:ext uri="{FF2B5EF4-FFF2-40B4-BE49-F238E27FC236}">
                <a16:creationId xmlns:a16="http://schemas.microsoft.com/office/drawing/2014/main" id="{83A77E7F-34C6-D739-E6E4-12C9ECD7D921}"/>
              </a:ext>
            </a:extLst>
          </p:cNvPr>
          <p:cNvPicPr>
            <a:picLocks noChangeAspect="1"/>
          </p:cNvPicPr>
          <p:nvPr/>
        </p:nvPicPr>
        <p:blipFill rotWithShape="1">
          <a:blip r:embed="rId2"/>
          <a:srcRect l="34166" t="23333" r="15000" b="19548"/>
          <a:stretch/>
        </p:blipFill>
        <p:spPr>
          <a:xfrm>
            <a:off x="1666961" y="1321050"/>
            <a:ext cx="7914359" cy="5002231"/>
          </a:xfrm>
          <a:prstGeom prst="rect">
            <a:avLst/>
          </a:prstGeom>
        </p:spPr>
      </p:pic>
    </p:spTree>
    <p:extLst>
      <p:ext uri="{BB962C8B-B14F-4D97-AF65-F5344CB8AC3E}">
        <p14:creationId xmlns:p14="http://schemas.microsoft.com/office/powerpoint/2010/main" val="23299345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PANDAS</a:t>
            </a:r>
          </a:p>
        </p:txBody>
      </p:sp>
      <p:sp>
        <p:nvSpPr>
          <p:cNvPr id="5" name="Rectangle 4"/>
          <p:cNvSpPr/>
          <p:nvPr/>
        </p:nvSpPr>
        <p:spPr>
          <a:xfrm>
            <a:off x="149087" y="691585"/>
            <a:ext cx="11877261" cy="477054"/>
          </a:xfrm>
          <a:prstGeom prst="rect">
            <a:avLst/>
          </a:prstGeom>
        </p:spPr>
        <p:txBody>
          <a:bodyPr wrap="square">
            <a:spAutoFit/>
          </a:bodyPr>
          <a:lstStyle/>
          <a:p>
            <a:r>
              <a:rPr lang="en-US" sz="2500" b="1" dirty="0">
                <a:solidFill>
                  <a:srgbClr val="FF0000"/>
                </a:solidFill>
                <a:latin typeface="Cambria" panose="02040503050406030204" pitchFamily="18" charset="0"/>
                <a:ea typeface="Cambria" panose="02040503050406030204" pitchFamily="18" charset="0"/>
              </a:rPr>
              <a:t>Panel: </a:t>
            </a:r>
            <a:r>
              <a:rPr lang="vi-VN" sz="2500" spc="-55" dirty="0">
                <a:latin typeface="Cambria" panose="02040503050406030204" pitchFamily="18" charset="0"/>
                <a:ea typeface="Cambria" panose="02040503050406030204" pitchFamily="18" charset="0"/>
                <a:cs typeface="Segoe UI"/>
              </a:rPr>
              <a:t>được sử dụng không nhiều, nhưng vẫn quan trọng đối với dữ liệu 3 chiều. </a:t>
            </a:r>
            <a:endParaRPr lang="en-US" sz="2500" spc="-55" dirty="0">
              <a:latin typeface="Cambria" panose="02040503050406030204" pitchFamily="18" charset="0"/>
              <a:ea typeface="Cambria" panose="02040503050406030204" pitchFamily="18" charset="0"/>
              <a:cs typeface="Segoe UI"/>
            </a:endParaRPr>
          </a:p>
        </p:txBody>
      </p:sp>
      <p:sp>
        <p:nvSpPr>
          <p:cNvPr id="3" name="Rectangle 2"/>
          <p:cNvSpPr/>
          <p:nvPr/>
        </p:nvSpPr>
        <p:spPr>
          <a:xfrm>
            <a:off x="39756" y="1145555"/>
            <a:ext cx="12026348" cy="4541436"/>
          </a:xfrm>
          <a:prstGeom prst="rect">
            <a:avLst/>
          </a:prstGeom>
        </p:spPr>
        <p:txBody>
          <a:bodyPr wrap="square">
            <a:spAutoFit/>
          </a:bodyPr>
          <a:lstStyle/>
          <a:p>
            <a:pPr marL="114300" lvl="1" indent="0" algn="just">
              <a:lnSpc>
                <a:spcPct val="130000"/>
              </a:lnSpc>
              <a:spcBef>
                <a:spcPts val="0"/>
              </a:spcBef>
              <a:buClr>
                <a:srgbClr val="FF5A33"/>
              </a:buClr>
              <a:buNone/>
              <a:tabLst>
                <a:tab pos="756920" algn="l"/>
              </a:tabLst>
            </a:pPr>
            <a:r>
              <a:rPr lang="vi-VN" sz="2500" spc="-55" dirty="0">
                <a:solidFill>
                  <a:srgbClr val="FF0000"/>
                </a:solidFill>
                <a:latin typeface="Cambria" panose="02040503050406030204" pitchFamily="18" charset="0"/>
                <a:ea typeface="Cambria" panose="02040503050406030204" pitchFamily="18" charset="0"/>
                <a:cs typeface="Segoe UI"/>
              </a:rPr>
              <a:t>Panel</a:t>
            </a:r>
            <a:r>
              <a:rPr lang="vi-VN" sz="2500" spc="-55" dirty="0">
                <a:latin typeface="Cambria" panose="02040503050406030204" pitchFamily="18" charset="0"/>
                <a:ea typeface="Cambria" panose="02040503050406030204" pitchFamily="18" charset="0"/>
                <a:cs typeface="Segoe UI"/>
              </a:rPr>
              <a:t> Các panel data được lấy từ kinh tế lượng và chịu trách nhiệm một phần về cái tên pandas: pan(el)-da(ta)-s. </a:t>
            </a:r>
            <a:endParaRPr lang="en-US" sz="2500" spc="-55" dirty="0">
              <a:latin typeface="Cambria" panose="02040503050406030204" pitchFamily="18" charset="0"/>
              <a:ea typeface="Cambria" panose="02040503050406030204" pitchFamily="18" charset="0"/>
              <a:cs typeface="Segoe UI"/>
            </a:endParaRPr>
          </a:p>
          <a:p>
            <a:pPr marL="114300" lvl="1" indent="0" algn="just">
              <a:lnSpc>
                <a:spcPct val="130000"/>
              </a:lnSpc>
              <a:spcBef>
                <a:spcPts val="0"/>
              </a:spcBef>
              <a:buClr>
                <a:srgbClr val="FF5A33"/>
              </a:buClr>
              <a:buNone/>
              <a:tabLst>
                <a:tab pos="756920" algn="l"/>
              </a:tabLst>
            </a:pPr>
            <a:r>
              <a:rPr lang="vi-VN" sz="2500" spc="-55" dirty="0">
                <a:latin typeface="Cambria" panose="02040503050406030204" pitchFamily="18" charset="0"/>
                <a:ea typeface="Cambria" panose="02040503050406030204" pitchFamily="18" charset="0"/>
                <a:cs typeface="Segoe UI"/>
              </a:rPr>
              <a:t>Tên của 3 trục này nhằm tạo ra một số ý nghĩa ngữ nghĩa để mô tả các hoạt động liên quan đến panel data, và đặc biệt là phân tích các bảng dữ liệu kinh tế lượng. </a:t>
            </a:r>
            <a:endParaRPr lang="en-US" sz="2500" spc="-55" dirty="0">
              <a:latin typeface="Cambria" panose="02040503050406030204" pitchFamily="18" charset="0"/>
              <a:ea typeface="Cambria" panose="02040503050406030204" pitchFamily="18" charset="0"/>
              <a:cs typeface="Segoe UI"/>
            </a:endParaRPr>
          </a:p>
          <a:p>
            <a:pPr marL="114300" lvl="1" indent="0" algn="just">
              <a:lnSpc>
                <a:spcPct val="130000"/>
              </a:lnSpc>
              <a:spcBef>
                <a:spcPts val="0"/>
              </a:spcBef>
              <a:buClr>
                <a:srgbClr val="FF5A33"/>
              </a:buClr>
              <a:buNone/>
              <a:tabLst>
                <a:tab pos="756920" algn="l"/>
              </a:tabLst>
            </a:pPr>
            <a:r>
              <a:rPr lang="vi-VN" sz="2500" spc="-55" dirty="0">
                <a:latin typeface="Cambria" panose="02040503050406030204" pitchFamily="18" charset="0"/>
                <a:ea typeface="Cambria" panose="02040503050406030204" pitchFamily="18" charset="0"/>
                <a:cs typeface="Segoe UI"/>
              </a:rPr>
              <a:t>Tên của 3 trục được dùng để đưa ra một số ý nghĩa ngữ nghĩa để mô tả các hoạt động liên quan đến panel data. chúng là –</a:t>
            </a:r>
          </a:p>
          <a:p>
            <a:pPr marL="114300" lvl="1" indent="0" algn="just">
              <a:lnSpc>
                <a:spcPct val="130000"/>
              </a:lnSpc>
              <a:spcBef>
                <a:spcPts val="0"/>
              </a:spcBef>
              <a:buClr>
                <a:srgbClr val="FF5A33"/>
              </a:buClr>
              <a:buNone/>
              <a:tabLst>
                <a:tab pos="756920" algn="l"/>
              </a:tabLst>
            </a:pPr>
            <a:r>
              <a:rPr lang="vi-VN" sz="2500" spc="-55" dirty="0">
                <a:latin typeface="Cambria" panose="02040503050406030204" pitchFamily="18" charset="0"/>
                <a:ea typeface="Cambria" panose="02040503050406030204" pitchFamily="18" charset="0"/>
                <a:cs typeface="Segoe UI"/>
              </a:rPr>
              <a:t>Items – trục 0, mỗi item tương ứng với một dataframe chứa bên trong.</a:t>
            </a:r>
          </a:p>
          <a:p>
            <a:pPr marL="114300" lvl="1" indent="0" algn="just">
              <a:lnSpc>
                <a:spcPct val="130000"/>
              </a:lnSpc>
              <a:spcBef>
                <a:spcPts val="0"/>
              </a:spcBef>
              <a:buClr>
                <a:srgbClr val="FF5A33"/>
              </a:buClr>
              <a:buNone/>
              <a:tabLst>
                <a:tab pos="756920" algn="l"/>
              </a:tabLst>
            </a:pPr>
            <a:r>
              <a:rPr lang="vi-VN" sz="2500" spc="-55" dirty="0">
                <a:latin typeface="Cambria" panose="02040503050406030204" pitchFamily="18" charset="0"/>
                <a:ea typeface="Cambria" panose="02040503050406030204" pitchFamily="18" charset="0"/>
                <a:cs typeface="Segoe UI"/>
              </a:rPr>
              <a:t>major_axis - trục 1, đó là chỉ mục (hàng) của mỗi dataframe.</a:t>
            </a:r>
          </a:p>
          <a:p>
            <a:pPr marL="114300" lvl="1" indent="0" algn="just">
              <a:lnSpc>
                <a:spcPct val="130000"/>
              </a:lnSpc>
              <a:spcBef>
                <a:spcPts val="0"/>
              </a:spcBef>
              <a:buClr>
                <a:srgbClr val="FF5A33"/>
              </a:buClr>
              <a:buNone/>
              <a:tabLst>
                <a:tab pos="756920" algn="l"/>
              </a:tabLst>
            </a:pPr>
            <a:r>
              <a:rPr lang="vi-VN" sz="2500" spc="-55" dirty="0">
                <a:latin typeface="Cambria" panose="02040503050406030204" pitchFamily="18" charset="0"/>
                <a:ea typeface="Cambria" panose="02040503050406030204" pitchFamily="18" charset="0"/>
                <a:cs typeface="Segoe UI"/>
              </a:rPr>
              <a:t>minor_axis - trục 2, đó là các cột của mỗi dataframe.</a:t>
            </a:r>
            <a:endParaRPr lang="en-US" sz="2500" spc="-55" dirty="0">
              <a:latin typeface="Cambria" panose="02040503050406030204" pitchFamily="18" charset="0"/>
              <a:ea typeface="Cambria" panose="02040503050406030204" pitchFamily="18" charset="0"/>
              <a:cs typeface="Segoe UI"/>
            </a:endParaRPr>
          </a:p>
        </p:txBody>
      </p:sp>
    </p:spTree>
    <p:extLst>
      <p:ext uri="{BB962C8B-B14F-4D97-AF65-F5344CB8AC3E}">
        <p14:creationId xmlns:p14="http://schemas.microsoft.com/office/powerpoint/2010/main" val="40978462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MATPLOTLID</a:t>
            </a: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192156" y="729159"/>
            <a:ext cx="11807687" cy="5413774"/>
          </a:xfrm>
        </p:spPr>
        <p:txBody>
          <a:bodyPr>
            <a:noAutofit/>
          </a:bodyPr>
          <a:lstStyle/>
          <a:p>
            <a:pPr marL="228600" lvl="1" algn="just">
              <a:lnSpc>
                <a:spcPct val="130000"/>
              </a:lnSpc>
              <a:spcBef>
                <a:spcPts val="0"/>
              </a:spcBef>
              <a:buClr>
                <a:srgbClr val="FF5A33"/>
              </a:buClr>
              <a:buFont typeface="Wingdings" panose="05000000000000000000" pitchFamily="2" charset="2"/>
              <a:buChar char="§"/>
            </a:pPr>
            <a:r>
              <a:rPr lang="vi-VN" sz="2500" spc="-5" dirty="0">
                <a:latin typeface="Cambria" panose="02040503050406030204" pitchFamily="18" charset="0"/>
                <a:ea typeface="Cambria" panose="02040503050406030204" pitchFamily="18" charset="0"/>
                <a:cs typeface="Segoe UI"/>
              </a:rPr>
              <a:t>Matplotlib</a:t>
            </a:r>
            <a:r>
              <a:rPr lang="vi-VN" sz="2500" b="0" spc="-5" dirty="0">
                <a:latin typeface="Cambria" panose="02040503050406030204" pitchFamily="18" charset="0"/>
                <a:ea typeface="Cambria" panose="02040503050406030204" pitchFamily="18" charset="0"/>
                <a:cs typeface="Segoe UI"/>
              </a:rPr>
              <a:t> là một thư viện vẽ đồ thị cho Python</a:t>
            </a:r>
            <a:r>
              <a:rPr lang="en-US" sz="2500" b="0" spc="-5" dirty="0">
                <a:latin typeface="Cambria" panose="02040503050406030204" pitchFamily="18" charset="0"/>
                <a:ea typeface="Cambria" panose="02040503050406030204" pitchFamily="18" charset="0"/>
                <a:cs typeface="Segoe UI"/>
              </a:rPr>
              <a:t> </a:t>
            </a:r>
            <a:r>
              <a:rPr lang="vi-VN" sz="2500" b="0" spc="-5" dirty="0">
                <a:latin typeface="Cambria" panose="02040503050406030204" pitchFamily="18" charset="0"/>
                <a:ea typeface="Cambria" panose="02040503050406030204" pitchFamily="18" charset="0"/>
                <a:cs typeface="Segoe UI"/>
              </a:rPr>
              <a:t>được sử dụng cùng với NumPy để cung cấp môi trường thay thế nguồn mở hiệu quả cho MatLab</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và</a:t>
            </a:r>
            <a:r>
              <a:rPr lang="vi-VN" sz="2500" b="0" spc="-5" dirty="0">
                <a:latin typeface="Cambria" panose="02040503050406030204" pitchFamily="18" charset="0"/>
                <a:ea typeface="Cambria" panose="02040503050406030204" pitchFamily="18" charset="0"/>
                <a:cs typeface="Segoe UI"/>
              </a:rPr>
              <a:t> cũng có thể được sử dụng với các bộ công cụ đồ họa như PyQt và wxPython.</a:t>
            </a:r>
            <a:endParaRPr lang="en-US" sz="2500" spc="-5" dirty="0">
              <a:latin typeface="Cambria" panose="02040503050406030204" pitchFamily="18" charset="0"/>
              <a:ea typeface="Cambria" panose="02040503050406030204" pitchFamily="18" charset="0"/>
              <a:cs typeface="Segoe UI"/>
            </a:endParaRPr>
          </a:p>
          <a:p>
            <a:pPr marL="228600" lvl="1" algn="just">
              <a:lnSpc>
                <a:spcPct val="130000"/>
              </a:lnSpc>
              <a:spcBef>
                <a:spcPts val="0"/>
              </a:spcBef>
              <a:buClr>
                <a:srgbClr val="FF5A33"/>
              </a:buClr>
              <a:buFont typeface="Wingdings" panose="05000000000000000000" pitchFamily="2" charset="2"/>
              <a:buChar char="§"/>
            </a:pPr>
            <a:r>
              <a:rPr lang="vi-VN" sz="2500" spc="-5" dirty="0">
                <a:latin typeface="Cambria" panose="02040503050406030204" pitchFamily="18" charset="0"/>
                <a:ea typeface="Cambria" panose="02040503050406030204" pitchFamily="18" charset="0"/>
                <a:cs typeface="Segoe UI"/>
              </a:rPr>
              <a:t>Module được sử dụng nhiều nhất của Matplotib là </a:t>
            </a:r>
            <a:r>
              <a:rPr lang="vi-VN" sz="2500" b="1" spc="-5" dirty="0">
                <a:latin typeface="Cambria" panose="02040503050406030204" pitchFamily="18" charset="0"/>
                <a:ea typeface="Cambria" panose="02040503050406030204" pitchFamily="18" charset="0"/>
                <a:cs typeface="Segoe UI"/>
              </a:rPr>
              <a:t>Pyplot</a:t>
            </a:r>
            <a:r>
              <a:rPr lang="vi-VN" sz="2500" spc="-5" dirty="0">
                <a:latin typeface="Cambria" panose="02040503050406030204" pitchFamily="18" charset="0"/>
                <a:ea typeface="Cambria" panose="02040503050406030204" pitchFamily="18" charset="0"/>
                <a:cs typeface="Segoe UI"/>
              </a:rPr>
              <a:t> được sử dụng để vẽ dữ liệu 2D. </a:t>
            </a:r>
            <a:endParaRPr lang="en-US" sz="2500" spc="-5" dirty="0">
              <a:latin typeface="Cambria" panose="02040503050406030204" pitchFamily="18" charset="0"/>
              <a:ea typeface="Cambria" panose="02040503050406030204" pitchFamily="18" charset="0"/>
              <a:cs typeface="Segoe UI"/>
            </a:endParaRPr>
          </a:p>
          <a:p>
            <a:pPr marL="0" lvl="1" indent="0">
              <a:lnSpc>
                <a:spcPct val="130000"/>
              </a:lnSpc>
              <a:spcBef>
                <a:spcPts val="0"/>
              </a:spcBef>
              <a:buClr>
                <a:srgbClr val="FF5A33"/>
              </a:buClr>
              <a:buNone/>
            </a:pPr>
            <a:r>
              <a:rPr lang="en-US" sz="2500" b="1" spc="-5" dirty="0" err="1">
                <a:latin typeface="Cambria" panose="02040503050406030204" pitchFamily="18" charset="0"/>
                <a:ea typeface="Cambria" panose="02040503050406030204" pitchFamily="18" charset="0"/>
                <a:cs typeface="Segoe UI"/>
              </a:rPr>
              <a:t>Cài</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đặt</a:t>
            </a:r>
            <a:r>
              <a:rPr lang="vi-VN" sz="2500" spc="-5" dirty="0">
                <a:latin typeface="Cambria" panose="02040503050406030204" pitchFamily="18" charset="0"/>
                <a:ea typeface="Cambria" panose="02040503050406030204" pitchFamily="18" charset="0"/>
                <a:cs typeface="Segoe UI"/>
              </a:rPr>
              <a:t> </a:t>
            </a:r>
            <a:r>
              <a:rPr lang="vi-VN" sz="2500" b="1" spc="-5" dirty="0">
                <a:latin typeface="Cambria" panose="02040503050406030204" pitchFamily="18" charset="0"/>
                <a:ea typeface="Cambria" panose="02040503050406030204" pitchFamily="18" charset="0"/>
                <a:cs typeface="Segoe UI"/>
              </a:rPr>
              <a:t>Matplotlib</a:t>
            </a:r>
            <a:r>
              <a:rPr lang="en-US" sz="2500" b="1" spc="-5" dirty="0">
                <a:latin typeface="Cambria" panose="02040503050406030204" pitchFamily="18" charset="0"/>
                <a:ea typeface="Cambria" panose="02040503050406030204" pitchFamily="18" charset="0"/>
                <a:cs typeface="Segoe UI"/>
              </a:rPr>
              <a:t>: </a:t>
            </a:r>
          </a:p>
          <a:p>
            <a:pPr marL="0" lvl="1" indent="0">
              <a:lnSpc>
                <a:spcPct val="130000"/>
              </a:lnSpc>
              <a:spcBef>
                <a:spcPts val="0"/>
              </a:spcBef>
              <a:buClr>
                <a:srgbClr val="FF5A33"/>
              </a:buClr>
              <a:buNone/>
            </a:pPr>
            <a:r>
              <a:rPr lang="en-US" sz="2500" b="1"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Tích</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hợp</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trong</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gói</a:t>
            </a:r>
            <a:r>
              <a:rPr lang="en-US" sz="2500" spc="-5" dirty="0">
                <a:latin typeface="Cambria" panose="02040503050406030204" pitchFamily="18" charset="0"/>
                <a:ea typeface="Cambria" panose="02040503050406030204" pitchFamily="18" charset="0"/>
                <a:cs typeface="Segoe UI"/>
              </a:rPr>
              <a:t> Anaconda. </a:t>
            </a:r>
            <a:r>
              <a:rPr lang="en-US" sz="2500" spc="-5" dirty="0" err="1">
                <a:latin typeface="Cambria" panose="02040503050406030204" pitchFamily="18" charset="0"/>
                <a:ea typeface="Cambria" panose="02040503050406030204" pitchFamily="18" charset="0"/>
                <a:cs typeface="Segoe UI"/>
              </a:rPr>
              <a:t>Nếu</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sử</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dụng</a:t>
            </a:r>
            <a:r>
              <a:rPr lang="en-US" sz="2500" spc="-5" dirty="0">
                <a:latin typeface="Cambria" panose="02040503050406030204" pitchFamily="18" charset="0"/>
                <a:ea typeface="Cambria" panose="02040503050406030204" pitchFamily="18" charset="0"/>
                <a:cs typeface="Segoe UI"/>
              </a:rPr>
              <a:t> </a:t>
            </a:r>
            <a:r>
              <a:rPr lang="es-ES" sz="2500" spc="-5" dirty="0">
                <a:latin typeface="Cambria" panose="02040503050406030204" pitchFamily="18" charset="0"/>
                <a:ea typeface="Cambria" panose="02040503050406030204" pitchFamily="18" charset="0"/>
                <a:cs typeface="Segoe UI"/>
              </a:rPr>
              <a:t>VS </a:t>
            </a:r>
            <a:r>
              <a:rPr lang="es-ES" sz="2500" spc="-5" dirty="0" err="1">
                <a:latin typeface="Cambria" panose="02040503050406030204" pitchFamily="18" charset="0"/>
                <a:ea typeface="Cambria" panose="02040503050406030204" pitchFamily="18" charset="0"/>
                <a:cs typeface="Segoe UI"/>
              </a:rPr>
              <a:t>Code</a:t>
            </a:r>
            <a:r>
              <a:rPr lang="es-ES" sz="2500" spc="-5" dirty="0">
                <a:latin typeface="Cambria" panose="02040503050406030204" pitchFamily="18" charset="0"/>
                <a:ea typeface="Cambria" panose="02040503050406030204" pitchFamily="18" charset="0"/>
                <a:cs typeface="Segoe UI"/>
              </a:rPr>
              <a:t>/</a:t>
            </a:r>
            <a:r>
              <a:rPr lang="es-ES" sz="2500" spc="-5" dirty="0" err="1">
                <a:latin typeface="Cambria" panose="02040503050406030204" pitchFamily="18" charset="0"/>
                <a:ea typeface="Cambria" panose="02040503050406030204" pitchFamily="18" charset="0"/>
                <a:cs typeface="Segoe UI"/>
              </a:rPr>
              <a:t>Pycharm</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cài</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đặt</a:t>
            </a:r>
            <a:r>
              <a:rPr lang="en-US" sz="2500" spc="-5" dirty="0">
                <a:latin typeface="Cambria" panose="02040503050406030204" pitchFamily="18" charset="0"/>
                <a:ea typeface="Cambria" panose="02040503050406030204" pitchFamily="18" charset="0"/>
                <a:cs typeface="Segoe UI"/>
              </a:rPr>
              <a:t> qua </a:t>
            </a:r>
            <a:r>
              <a:rPr lang="en-US" sz="2500" spc="-5" dirty="0" err="1">
                <a:latin typeface="Cambria" panose="02040503050406030204" pitchFamily="18" charset="0"/>
                <a:ea typeface="Cambria" panose="02040503050406030204" pitchFamily="18" charset="0"/>
                <a:cs typeface="Segoe UI"/>
              </a:rPr>
              <a:t>lệnh</a:t>
            </a:r>
            <a:r>
              <a:rPr lang="en-US" sz="2500" b="1" spc="-5" dirty="0">
                <a:latin typeface="Cambria" panose="02040503050406030204" pitchFamily="18" charset="0"/>
                <a:ea typeface="Cambria" panose="02040503050406030204" pitchFamily="18" charset="0"/>
                <a:cs typeface="Segoe UI"/>
              </a:rPr>
              <a:t>: </a:t>
            </a:r>
            <a:r>
              <a:rPr lang="en-US" sz="2500" b="1" spc="-5" dirty="0">
                <a:solidFill>
                  <a:srgbClr val="FF0000"/>
                </a:solidFill>
                <a:latin typeface="Cambria" panose="02040503050406030204" pitchFamily="18" charset="0"/>
                <a:ea typeface="Cambria" panose="02040503050406030204" pitchFamily="18" charset="0"/>
                <a:cs typeface="Segoe UI"/>
              </a:rPr>
              <a:t>pip install </a:t>
            </a:r>
            <a:r>
              <a:rPr lang="en-US" sz="2500" b="1" spc="-5" dirty="0" err="1">
                <a:solidFill>
                  <a:srgbClr val="FF0000"/>
                </a:solidFill>
                <a:latin typeface="Cambria" panose="02040503050406030204" pitchFamily="18" charset="0"/>
                <a:ea typeface="Cambria" panose="02040503050406030204" pitchFamily="18" charset="0"/>
                <a:cs typeface="Segoe UI"/>
              </a:rPr>
              <a:t>matplotlib</a:t>
            </a:r>
            <a:endParaRPr lang="en-US" sz="2500" b="1" spc="-5" dirty="0">
              <a:solidFill>
                <a:srgbClr val="FF0000"/>
              </a:solidFill>
              <a:latin typeface="Cambria" panose="02040503050406030204" pitchFamily="18" charset="0"/>
              <a:ea typeface="Cambria" panose="02040503050406030204" pitchFamily="18" charset="0"/>
              <a:cs typeface="Segoe UI"/>
            </a:endParaRPr>
          </a:p>
          <a:p>
            <a:pPr marL="0" lvl="1" indent="0">
              <a:lnSpc>
                <a:spcPct val="130000"/>
              </a:lnSpc>
              <a:spcBef>
                <a:spcPts val="0"/>
              </a:spcBef>
              <a:buClr>
                <a:srgbClr val="FF5A33"/>
              </a:buClr>
              <a:buNone/>
            </a:pPr>
            <a:r>
              <a:rPr lang="en-US" sz="2500" b="1" spc="-5" dirty="0" err="1">
                <a:latin typeface="Cambria" panose="02040503050406030204" pitchFamily="18" charset="0"/>
                <a:ea typeface="Cambria" panose="02040503050406030204" pitchFamily="18" charset="0"/>
                <a:cs typeface="Segoe UI"/>
              </a:rPr>
              <a:t>Sử</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dụng</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matplotlib</a:t>
            </a:r>
            <a:r>
              <a:rPr lang="en-US" sz="2500" b="1" spc="-5" dirty="0">
                <a:latin typeface="Cambria" panose="02040503050406030204" pitchFamily="18" charset="0"/>
                <a:ea typeface="Cambria" panose="02040503050406030204" pitchFamily="18" charset="0"/>
                <a:cs typeface="Segoe UI"/>
              </a:rPr>
              <a:t>: 	</a:t>
            </a:r>
            <a:r>
              <a:rPr lang="vi-VN" sz="2800" dirty="0">
                <a:solidFill>
                  <a:srgbClr val="0000FF"/>
                </a:solidFill>
                <a:latin typeface="Cambria" panose="02040503050406030204" pitchFamily="18" charset="0"/>
                <a:ea typeface="Cambria" panose="02040503050406030204" pitchFamily="18" charset="0"/>
              </a:rPr>
              <a:t>import </a:t>
            </a:r>
            <a:r>
              <a:rPr lang="vi-VN" sz="2800" dirty="0">
                <a:solidFill>
                  <a:srgbClr val="000000"/>
                </a:solidFill>
                <a:latin typeface="Cambria" panose="02040503050406030204" pitchFamily="18" charset="0"/>
                <a:ea typeface="Cambria" panose="02040503050406030204" pitchFamily="18" charset="0"/>
              </a:rPr>
              <a:t>matplotlib.pyplot </a:t>
            </a:r>
            <a:r>
              <a:rPr lang="vi-VN" sz="2800" dirty="0">
                <a:solidFill>
                  <a:srgbClr val="0000FF"/>
                </a:solidFill>
                <a:latin typeface="Cambria" panose="02040503050406030204" pitchFamily="18" charset="0"/>
                <a:ea typeface="Cambria" panose="02040503050406030204" pitchFamily="18" charset="0"/>
              </a:rPr>
              <a:t>as </a:t>
            </a:r>
            <a:r>
              <a:rPr lang="vi-VN" sz="2800" dirty="0">
                <a:solidFill>
                  <a:srgbClr val="000000"/>
                </a:solidFill>
                <a:latin typeface="Cambria" panose="02040503050406030204" pitchFamily="18" charset="0"/>
                <a:ea typeface="Cambria" panose="02040503050406030204" pitchFamily="18" charset="0"/>
              </a:rPr>
              <a:t>plt</a:t>
            </a:r>
            <a:endParaRPr lang="en-US" sz="2800" dirty="0">
              <a:solidFill>
                <a:srgbClr val="000000"/>
              </a:solidFill>
              <a:latin typeface="Cambria" panose="02040503050406030204" pitchFamily="18" charset="0"/>
              <a:ea typeface="Cambria" panose="02040503050406030204" pitchFamily="18" charset="0"/>
            </a:endParaRPr>
          </a:p>
          <a:p>
            <a:pPr marL="0" lvl="1" indent="0">
              <a:lnSpc>
                <a:spcPct val="130000"/>
              </a:lnSpc>
              <a:spcBef>
                <a:spcPts val="0"/>
              </a:spcBef>
              <a:buClr>
                <a:srgbClr val="FF5A33"/>
              </a:buClr>
              <a:buNone/>
            </a:pPr>
            <a:r>
              <a:rPr lang="en-US" sz="2500" b="1" spc="-5" dirty="0" err="1">
                <a:latin typeface="Cambria" panose="02040503050406030204" pitchFamily="18" charset="0"/>
                <a:ea typeface="Cambria" panose="02040503050406030204" pitchFamily="18" charset="0"/>
                <a:cs typeface="Segoe UI"/>
              </a:rPr>
              <a:t>Hiện</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thị</a:t>
            </a:r>
            <a:r>
              <a:rPr lang="en-US" sz="2500" b="1" spc="-5" dirty="0">
                <a:latin typeface="Cambria" panose="02040503050406030204" pitchFamily="18" charset="0"/>
                <a:ea typeface="Cambria" panose="02040503050406030204" pitchFamily="18" charset="0"/>
                <a:cs typeface="Segoe UI"/>
              </a:rPr>
              <a:t> ô output  </a:t>
            </a:r>
            <a:r>
              <a:rPr lang="en-US" sz="2500" spc="-5" dirty="0" err="1">
                <a:latin typeface="Cambria" panose="02040503050406030204" pitchFamily="18" charset="0"/>
                <a:ea typeface="Cambria" panose="02040503050406030204" pitchFamily="18" charset="0"/>
                <a:cs typeface="Segoe UI"/>
              </a:rPr>
              <a:t>sử</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dụng</a:t>
            </a:r>
            <a:r>
              <a:rPr lang="en-US" sz="2500" spc="-5" dirty="0">
                <a:latin typeface="Cambria" panose="02040503050406030204" pitchFamily="18" charset="0"/>
                <a:ea typeface="Cambria" panose="02040503050406030204" pitchFamily="18" charset="0"/>
                <a:cs typeface="Segoe UI"/>
              </a:rPr>
              <a:t> </a:t>
            </a:r>
            <a:r>
              <a:rPr lang="en-US" sz="2500" b="1" spc="-5" dirty="0">
                <a:latin typeface="Cambria" panose="02040503050406030204" pitchFamily="18" charset="0"/>
                <a:ea typeface="Cambria" panose="02040503050406030204" pitchFamily="18" charset="0"/>
                <a:cs typeface="Segoe UI"/>
              </a:rPr>
              <a:t>Jupiter notebook</a:t>
            </a:r>
            <a:r>
              <a:rPr lang="en-US" sz="2500" spc="-5" dirty="0">
                <a:latin typeface="Cambria" panose="02040503050406030204" pitchFamily="18" charset="0"/>
                <a:ea typeface="Cambria" panose="02040503050406030204" pitchFamily="18" charset="0"/>
                <a:cs typeface="Segoe UI"/>
              </a:rPr>
              <a:t>: </a:t>
            </a:r>
            <a:r>
              <a:rPr lang="en-US" sz="2500" b="1" spc="-5" dirty="0">
                <a:solidFill>
                  <a:srgbClr val="FF0000"/>
                </a:solidFill>
                <a:latin typeface="Cambria" panose="02040503050406030204" pitchFamily="18" charset="0"/>
                <a:ea typeface="Cambria" panose="02040503050406030204" pitchFamily="18" charset="0"/>
                <a:cs typeface="Segoe UI"/>
              </a:rPr>
              <a:t>%</a:t>
            </a:r>
            <a:r>
              <a:rPr lang="en-US" sz="2500" b="1" spc="-5" dirty="0" err="1">
                <a:solidFill>
                  <a:srgbClr val="FF0000"/>
                </a:solidFill>
                <a:latin typeface="Cambria" panose="02040503050406030204" pitchFamily="18" charset="0"/>
                <a:ea typeface="Cambria" panose="02040503050406030204" pitchFamily="18" charset="0"/>
                <a:cs typeface="Segoe UI"/>
              </a:rPr>
              <a:t>matplotlib</a:t>
            </a:r>
            <a:r>
              <a:rPr lang="en-US" sz="2500" b="1" spc="-5" dirty="0">
                <a:solidFill>
                  <a:srgbClr val="FF0000"/>
                </a:solidFill>
                <a:latin typeface="Cambria" panose="02040503050406030204" pitchFamily="18" charset="0"/>
                <a:ea typeface="Cambria" panose="02040503050406030204" pitchFamily="18" charset="0"/>
                <a:cs typeface="Segoe UI"/>
              </a:rPr>
              <a:t> inline</a:t>
            </a:r>
            <a:r>
              <a:rPr lang="en-US" sz="2500" spc="-5" dirty="0">
                <a:latin typeface="Cambria" panose="02040503050406030204" pitchFamily="18" charset="0"/>
                <a:ea typeface="Cambria" panose="02040503050406030204" pitchFamily="18" charset="0"/>
                <a:cs typeface="Segoe UI"/>
              </a:rPr>
              <a:t>. </a:t>
            </a:r>
          </a:p>
          <a:p>
            <a:pPr marL="0" lvl="1" indent="0">
              <a:lnSpc>
                <a:spcPct val="130000"/>
              </a:lnSpc>
              <a:spcBef>
                <a:spcPts val="0"/>
              </a:spcBef>
              <a:buClr>
                <a:srgbClr val="FF5A33"/>
              </a:buClr>
              <a:buNone/>
            </a:pPr>
            <a:r>
              <a:rPr lang="en-US" sz="2500" spc="-5" dirty="0" err="1">
                <a:latin typeface="Cambria" panose="02040503050406030204" pitchFamily="18" charset="0"/>
                <a:ea typeface="Cambria" panose="02040503050406030204" pitchFamily="18" charset="0"/>
                <a:cs typeface="Segoe UI"/>
              </a:rPr>
              <a:t>Nếu</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sử</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dụng</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trình</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soạn</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thảo</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khác</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bạn</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sẽ</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sử</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dụng</a:t>
            </a:r>
            <a:r>
              <a:rPr lang="en-US" sz="2500" spc="-5" dirty="0">
                <a:latin typeface="Cambria" panose="02040503050406030204" pitchFamily="18" charset="0"/>
                <a:ea typeface="Cambria" panose="02040503050406030204" pitchFamily="18" charset="0"/>
                <a:cs typeface="Segoe UI"/>
              </a:rPr>
              <a:t>:</a:t>
            </a:r>
            <a:r>
              <a:rPr lang="en-US" sz="2500" spc="-5" dirty="0">
                <a:solidFill>
                  <a:srgbClr val="FF0000"/>
                </a:solidFill>
                <a:latin typeface="Cambria" panose="02040503050406030204" pitchFamily="18" charset="0"/>
                <a:ea typeface="Cambria" panose="02040503050406030204" pitchFamily="18" charset="0"/>
                <a:cs typeface="Segoe UI"/>
              </a:rPr>
              <a:t> </a:t>
            </a:r>
            <a:r>
              <a:rPr lang="en-US" sz="2500" b="1" spc="-5" dirty="0" err="1">
                <a:solidFill>
                  <a:srgbClr val="FF0000"/>
                </a:solidFill>
                <a:latin typeface="Cambria" panose="02040503050406030204" pitchFamily="18" charset="0"/>
                <a:ea typeface="Cambria" panose="02040503050406030204" pitchFamily="18" charset="0"/>
                <a:cs typeface="Segoe UI"/>
              </a:rPr>
              <a:t>plt.show</a:t>
            </a:r>
            <a:r>
              <a:rPr lang="en-US" sz="2500" b="1" spc="-5" dirty="0">
                <a:solidFill>
                  <a:srgbClr val="FF0000"/>
                </a:solidFill>
                <a:latin typeface="Cambria" panose="02040503050406030204" pitchFamily="18" charset="0"/>
                <a:ea typeface="Cambria" panose="02040503050406030204" pitchFamily="18" charset="0"/>
                <a:cs typeface="Segoe UI"/>
              </a:rPr>
              <a:t> () </a:t>
            </a:r>
            <a:br>
              <a:rPr lang="vi-VN" sz="2500" b="1" spc="-5" dirty="0">
                <a:solidFill>
                  <a:srgbClr val="FF0000"/>
                </a:solidFill>
                <a:latin typeface="Cambria" panose="02040503050406030204" pitchFamily="18" charset="0"/>
                <a:ea typeface="Cambria" panose="02040503050406030204" pitchFamily="18" charset="0"/>
                <a:cs typeface="Segoe UI"/>
              </a:rPr>
            </a:br>
            <a:br>
              <a:rPr lang="en-US" sz="2500" b="1" spc="-5" dirty="0">
                <a:latin typeface="Cambria" panose="02040503050406030204" pitchFamily="18" charset="0"/>
                <a:ea typeface="Cambria" panose="02040503050406030204" pitchFamily="18" charset="0"/>
                <a:cs typeface="Segoe UI"/>
              </a:rPr>
            </a:br>
            <a:br>
              <a:rPr lang="en-US" sz="2500" spc="-5" dirty="0">
                <a:latin typeface="Cambria" panose="02040503050406030204" pitchFamily="18" charset="0"/>
                <a:ea typeface="Cambria" panose="02040503050406030204" pitchFamily="18" charset="0"/>
                <a:cs typeface="Segoe UI"/>
              </a:rPr>
            </a:br>
            <a:r>
              <a:rPr lang="en-US" sz="2500" spc="-5" dirty="0">
                <a:latin typeface="Cambria" panose="02040503050406030204" pitchFamily="18" charset="0"/>
                <a:ea typeface="Cambria" panose="02040503050406030204" pitchFamily="18" charset="0"/>
                <a:cs typeface="Segoe UI"/>
              </a:rPr>
              <a:t>  </a:t>
            </a:r>
          </a:p>
        </p:txBody>
      </p:sp>
    </p:spTree>
    <p:extLst>
      <p:ext uri="{BB962C8B-B14F-4D97-AF65-F5344CB8AC3E}">
        <p14:creationId xmlns:p14="http://schemas.microsoft.com/office/powerpoint/2010/main" val="146234174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MATPLOTLID</a:t>
            </a: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192156" y="729159"/>
            <a:ext cx="11913705" cy="681000"/>
          </a:xfrm>
        </p:spPr>
        <p:txBody>
          <a:bodyPr>
            <a:noAutofit/>
          </a:bodyPr>
          <a:lstStyle/>
          <a:p>
            <a:pPr marL="0" lvl="1" indent="0">
              <a:lnSpc>
                <a:spcPct val="100000"/>
              </a:lnSpc>
              <a:spcBef>
                <a:spcPts val="0"/>
              </a:spcBef>
              <a:buClr>
                <a:srgbClr val="FF5A33"/>
              </a:buClr>
              <a:buNone/>
            </a:pPr>
            <a:r>
              <a:rPr lang="en-US" sz="2500" b="1" spc="-5" dirty="0" err="1">
                <a:solidFill>
                  <a:srgbClr val="FF0000"/>
                </a:solidFill>
                <a:latin typeface="Cambria" panose="02040503050406030204" pitchFamily="18" charset="0"/>
                <a:ea typeface="Cambria" panose="02040503050406030204" pitchFamily="18" charset="0"/>
                <a:cs typeface="Segoe UI"/>
              </a:rPr>
              <a:t>Sử</a:t>
            </a:r>
            <a:r>
              <a:rPr lang="en-US" sz="2500" b="1" spc="-5" dirty="0">
                <a:solidFill>
                  <a:srgbClr val="FF0000"/>
                </a:solidFill>
                <a:latin typeface="Cambria" panose="02040503050406030204" pitchFamily="18" charset="0"/>
                <a:ea typeface="Cambria" panose="02040503050406030204" pitchFamily="18" charset="0"/>
                <a:cs typeface="Segoe UI"/>
              </a:rPr>
              <a:t> </a:t>
            </a:r>
            <a:r>
              <a:rPr lang="en-US" sz="2500" b="1" spc="-5" dirty="0" err="1">
                <a:solidFill>
                  <a:srgbClr val="FF0000"/>
                </a:solidFill>
                <a:latin typeface="Cambria" panose="02040503050406030204" pitchFamily="18" charset="0"/>
                <a:ea typeface="Cambria" panose="02040503050406030204" pitchFamily="18" charset="0"/>
                <a:cs typeface="Segoe UI"/>
              </a:rPr>
              <a:t>dụng</a:t>
            </a:r>
            <a:r>
              <a:rPr lang="en-US" sz="2500" b="1" spc="-5" dirty="0">
                <a:solidFill>
                  <a:srgbClr val="FF0000"/>
                </a:solidFill>
                <a:latin typeface="Cambria" panose="02040503050406030204" pitchFamily="18" charset="0"/>
                <a:ea typeface="Cambria" panose="02040503050406030204" pitchFamily="18" charset="0"/>
                <a:cs typeface="Segoe UI"/>
              </a:rPr>
              <a:t> plot </a:t>
            </a:r>
            <a:r>
              <a:rPr lang="en-US" sz="2500" b="1" spc="-5" dirty="0" err="1">
                <a:solidFill>
                  <a:srgbClr val="FF0000"/>
                </a:solidFill>
                <a:latin typeface="Cambria" panose="02040503050406030204" pitchFamily="18" charset="0"/>
                <a:ea typeface="Cambria" panose="02040503050406030204" pitchFamily="18" charset="0"/>
                <a:cs typeface="Segoe UI"/>
              </a:rPr>
              <a:t>vẽ</a:t>
            </a:r>
            <a:r>
              <a:rPr lang="en-US" sz="2500" b="1" spc="-5" dirty="0">
                <a:solidFill>
                  <a:srgbClr val="FF0000"/>
                </a:solidFill>
                <a:latin typeface="Cambria" panose="02040503050406030204" pitchFamily="18" charset="0"/>
                <a:ea typeface="Cambria" panose="02040503050406030204" pitchFamily="18" charset="0"/>
                <a:cs typeface="Segoe UI"/>
              </a:rPr>
              <a:t> </a:t>
            </a:r>
            <a:r>
              <a:rPr lang="en-US" sz="2500" b="1" spc="-5" dirty="0" err="1">
                <a:solidFill>
                  <a:srgbClr val="FF0000"/>
                </a:solidFill>
                <a:latin typeface="Cambria" panose="02040503050406030204" pitchFamily="18" charset="0"/>
                <a:ea typeface="Cambria" panose="02040503050406030204" pitchFamily="18" charset="0"/>
                <a:cs typeface="Segoe UI"/>
              </a:rPr>
              <a:t>đồ</a:t>
            </a:r>
            <a:r>
              <a:rPr lang="en-US" sz="2500" b="1" spc="-5" dirty="0">
                <a:solidFill>
                  <a:srgbClr val="FF0000"/>
                </a:solidFill>
                <a:latin typeface="Cambria" panose="02040503050406030204" pitchFamily="18" charset="0"/>
                <a:ea typeface="Cambria" panose="02040503050406030204" pitchFamily="18" charset="0"/>
                <a:cs typeface="Segoe UI"/>
              </a:rPr>
              <a:t> </a:t>
            </a:r>
            <a:r>
              <a:rPr lang="en-US" sz="2500" b="1" spc="-5" dirty="0" err="1">
                <a:solidFill>
                  <a:srgbClr val="FF0000"/>
                </a:solidFill>
                <a:latin typeface="Cambria" panose="02040503050406030204" pitchFamily="18" charset="0"/>
                <a:ea typeface="Cambria" panose="02040503050406030204" pitchFamily="18" charset="0"/>
                <a:cs typeface="Segoe UI"/>
              </a:rPr>
              <a:t>thị</a:t>
            </a:r>
            <a:r>
              <a:rPr lang="en-US" sz="2500" b="1" spc="-5" dirty="0">
                <a:solidFill>
                  <a:srgbClr val="FF0000"/>
                </a:solidFill>
                <a:latin typeface="Cambria" panose="02040503050406030204" pitchFamily="18" charset="0"/>
                <a:ea typeface="Cambria" panose="02040503050406030204" pitchFamily="18" charset="0"/>
                <a:cs typeface="Segoe UI"/>
              </a:rPr>
              <a:t> </a:t>
            </a:r>
            <a:r>
              <a:rPr lang="en-US" sz="2500" b="1" spc="-5" dirty="0" err="1">
                <a:solidFill>
                  <a:srgbClr val="FF0000"/>
                </a:solidFill>
                <a:latin typeface="Cambria" panose="02040503050406030204" pitchFamily="18" charset="0"/>
                <a:ea typeface="Cambria" panose="02040503050406030204" pitchFamily="18" charset="0"/>
                <a:cs typeface="Segoe UI"/>
              </a:rPr>
              <a:t>đường</a:t>
            </a:r>
            <a:r>
              <a:rPr lang="en-US" sz="2500" b="1" spc="-5" dirty="0">
                <a:solidFill>
                  <a:srgbClr val="FF0000"/>
                </a:solidFill>
                <a:latin typeface="Cambria" panose="02040503050406030204" pitchFamily="18" charset="0"/>
                <a:ea typeface="Cambria" panose="02040503050406030204" pitchFamily="18" charset="0"/>
                <a:cs typeface="Segoe UI"/>
              </a:rPr>
              <a:t> </a:t>
            </a:r>
            <a:r>
              <a:rPr lang="en-US" sz="2500" b="1" spc="-5" dirty="0" err="1">
                <a:solidFill>
                  <a:srgbClr val="FF0000"/>
                </a:solidFill>
                <a:latin typeface="Cambria" panose="02040503050406030204" pitchFamily="18" charset="0"/>
                <a:ea typeface="Cambria" panose="02040503050406030204" pitchFamily="18" charset="0"/>
                <a:cs typeface="Segoe UI"/>
              </a:rPr>
              <a:t>thẳng</a:t>
            </a:r>
            <a:endParaRPr lang="en-US" sz="2500" b="1" spc="-5" dirty="0">
              <a:solidFill>
                <a:srgbClr val="FF0000"/>
              </a:solidFill>
              <a:latin typeface="Cambria" panose="02040503050406030204" pitchFamily="18" charset="0"/>
              <a:ea typeface="Cambria" panose="02040503050406030204" pitchFamily="18" charset="0"/>
              <a:cs typeface="Segoe UI"/>
            </a:endParaRPr>
          </a:p>
        </p:txBody>
      </p:sp>
      <p:sp>
        <p:nvSpPr>
          <p:cNvPr id="2" name="Rectangle 1"/>
          <p:cNvSpPr/>
          <p:nvPr/>
        </p:nvSpPr>
        <p:spPr>
          <a:xfrm>
            <a:off x="220936" y="1225974"/>
            <a:ext cx="11750128" cy="4131900"/>
          </a:xfrm>
          <a:prstGeom prst="rect">
            <a:avLst/>
          </a:prstGeom>
        </p:spPr>
        <p:txBody>
          <a:bodyPr wrap="square">
            <a:spAutoFit/>
          </a:bodyPr>
          <a:lstStyle/>
          <a:p>
            <a:pPr>
              <a:lnSpc>
                <a:spcPct val="150000"/>
              </a:lnSpc>
            </a:pPr>
            <a:r>
              <a:rPr lang="en-US" sz="2500" b="1" dirty="0" err="1">
                <a:solidFill>
                  <a:srgbClr val="333333"/>
                </a:solidFill>
                <a:latin typeface="Cambria" panose="02040503050406030204" pitchFamily="18" charset="0"/>
                <a:ea typeface="Cambria" panose="02040503050406030204" pitchFamily="18" charset="0"/>
              </a:rPr>
              <a:t>Chức</a:t>
            </a:r>
            <a:r>
              <a:rPr lang="en-US" sz="2500" b="1" dirty="0">
                <a:solidFill>
                  <a:srgbClr val="333333"/>
                </a:solidFill>
                <a:latin typeface="Cambria" panose="02040503050406030204" pitchFamily="18" charset="0"/>
                <a:ea typeface="Cambria" panose="02040503050406030204" pitchFamily="18" charset="0"/>
              </a:rPr>
              <a:t> </a:t>
            </a:r>
            <a:r>
              <a:rPr lang="en-US" sz="2500" b="1" dirty="0" err="1">
                <a:solidFill>
                  <a:srgbClr val="333333"/>
                </a:solidFill>
                <a:latin typeface="Cambria" panose="02040503050406030204" pitchFamily="18" charset="0"/>
                <a:ea typeface="Cambria" panose="02040503050406030204" pitchFamily="18" charset="0"/>
              </a:rPr>
              <a:t>năng</a:t>
            </a:r>
            <a:r>
              <a:rPr lang="en-US" sz="2500" b="1" dirty="0">
                <a:solidFill>
                  <a:srgbClr val="333333"/>
                </a:solidFill>
                <a:latin typeface="Cambria" panose="02040503050406030204" pitchFamily="18" charset="0"/>
                <a:ea typeface="Cambria" panose="02040503050406030204" pitchFamily="18" charset="0"/>
              </a:rPr>
              <a:t>: </a:t>
            </a:r>
            <a:r>
              <a:rPr lang="en-US" sz="2500" dirty="0" err="1">
                <a:solidFill>
                  <a:srgbClr val="333333"/>
                </a:solidFill>
                <a:latin typeface="Cambria" panose="02040503050406030204" pitchFamily="18" charset="0"/>
                <a:ea typeface="Cambria" panose="02040503050406030204" pitchFamily="18" charset="0"/>
              </a:rPr>
              <a:t>Vẽ</a:t>
            </a:r>
            <a:r>
              <a:rPr lang="en-US" sz="2500" dirty="0">
                <a:solidFill>
                  <a:srgbClr val="333333"/>
                </a:solidFill>
                <a:latin typeface="Cambria" panose="02040503050406030204" pitchFamily="18" charset="0"/>
                <a:ea typeface="Cambria" panose="02040503050406030204" pitchFamily="18" charset="0"/>
              </a:rPr>
              <a:t> </a:t>
            </a:r>
            <a:r>
              <a:rPr lang="en-US" sz="2500" dirty="0" err="1">
                <a:solidFill>
                  <a:srgbClr val="333333"/>
                </a:solidFill>
                <a:latin typeface="Cambria" panose="02040503050406030204" pitchFamily="18" charset="0"/>
                <a:ea typeface="Cambria" panose="02040503050406030204" pitchFamily="18" charset="0"/>
              </a:rPr>
              <a:t>đồ</a:t>
            </a:r>
            <a:r>
              <a:rPr lang="en-US" sz="2500" dirty="0">
                <a:solidFill>
                  <a:srgbClr val="333333"/>
                </a:solidFill>
                <a:latin typeface="Cambria" panose="02040503050406030204" pitchFamily="18" charset="0"/>
                <a:ea typeface="Cambria" panose="02040503050406030204" pitchFamily="18" charset="0"/>
              </a:rPr>
              <a:t> </a:t>
            </a:r>
            <a:r>
              <a:rPr lang="en-US" sz="2500" dirty="0" err="1">
                <a:solidFill>
                  <a:srgbClr val="333333"/>
                </a:solidFill>
                <a:latin typeface="Cambria" panose="02040503050406030204" pitchFamily="18" charset="0"/>
                <a:ea typeface="Cambria" panose="02040503050406030204" pitchFamily="18" charset="0"/>
              </a:rPr>
              <a:t>thị</a:t>
            </a:r>
            <a:r>
              <a:rPr lang="en-US" sz="2500" dirty="0">
                <a:solidFill>
                  <a:srgbClr val="333333"/>
                </a:solidFill>
                <a:latin typeface="Cambria" panose="02040503050406030204" pitchFamily="18" charset="0"/>
                <a:ea typeface="Cambria" panose="02040503050406030204" pitchFamily="18" charset="0"/>
              </a:rPr>
              <a:t> </a:t>
            </a:r>
            <a:r>
              <a:rPr lang="en-US" sz="2500" dirty="0" err="1">
                <a:solidFill>
                  <a:srgbClr val="333333"/>
                </a:solidFill>
                <a:latin typeface="Cambria" panose="02040503050406030204" pitchFamily="18" charset="0"/>
                <a:ea typeface="Cambria" panose="02040503050406030204" pitchFamily="18" charset="0"/>
              </a:rPr>
              <a:t>tuyến</a:t>
            </a:r>
            <a:r>
              <a:rPr lang="en-US" sz="2500" dirty="0">
                <a:solidFill>
                  <a:srgbClr val="333333"/>
                </a:solidFill>
                <a:latin typeface="Cambria" panose="02040503050406030204" pitchFamily="18" charset="0"/>
                <a:ea typeface="Cambria" panose="02040503050406030204" pitchFamily="18" charset="0"/>
              </a:rPr>
              <a:t> </a:t>
            </a:r>
            <a:r>
              <a:rPr lang="en-US" sz="2500" dirty="0" err="1">
                <a:solidFill>
                  <a:srgbClr val="333333"/>
                </a:solidFill>
                <a:latin typeface="Cambria" panose="02040503050406030204" pitchFamily="18" charset="0"/>
                <a:ea typeface="Cambria" panose="02040503050406030204" pitchFamily="18" charset="0"/>
              </a:rPr>
              <a:t>tính</a:t>
            </a:r>
            <a:r>
              <a:rPr lang="en-US" sz="2500" dirty="0">
                <a:solidFill>
                  <a:srgbClr val="333333"/>
                </a:solidFill>
                <a:latin typeface="Cambria" panose="02040503050406030204" pitchFamily="18" charset="0"/>
                <a:ea typeface="Cambria" panose="02040503050406030204" pitchFamily="18" charset="0"/>
              </a:rPr>
              <a:t> </a:t>
            </a:r>
            <a:r>
              <a:rPr lang="en-US" sz="2500" dirty="0" err="1">
                <a:solidFill>
                  <a:srgbClr val="333333"/>
                </a:solidFill>
                <a:latin typeface="Cambria" panose="02040503050406030204" pitchFamily="18" charset="0"/>
                <a:ea typeface="Cambria" panose="02040503050406030204" pitchFamily="18" charset="0"/>
              </a:rPr>
              <a:t>trong</a:t>
            </a:r>
            <a:r>
              <a:rPr lang="en-US" sz="2500" dirty="0">
                <a:solidFill>
                  <a:srgbClr val="333333"/>
                </a:solidFill>
                <a:latin typeface="Cambria" panose="02040503050406030204" pitchFamily="18" charset="0"/>
                <a:ea typeface="Cambria" panose="02040503050406030204" pitchFamily="18" charset="0"/>
              </a:rPr>
              <a:t> </a:t>
            </a:r>
            <a:r>
              <a:rPr lang="en-US" sz="2500" dirty="0" err="1">
                <a:solidFill>
                  <a:srgbClr val="333333"/>
                </a:solidFill>
                <a:latin typeface="Cambria" panose="02040503050406030204" pitchFamily="18" charset="0"/>
                <a:ea typeface="Cambria" panose="02040503050406030204" pitchFamily="18" charset="0"/>
              </a:rPr>
              <a:t>không</a:t>
            </a:r>
            <a:r>
              <a:rPr lang="en-US" sz="2500" dirty="0">
                <a:solidFill>
                  <a:srgbClr val="333333"/>
                </a:solidFill>
                <a:latin typeface="Cambria" panose="02040503050406030204" pitchFamily="18" charset="0"/>
                <a:ea typeface="Cambria" panose="02040503050406030204" pitchFamily="18" charset="0"/>
              </a:rPr>
              <a:t> </a:t>
            </a:r>
            <a:r>
              <a:rPr lang="en-US" sz="2500" dirty="0" err="1">
                <a:solidFill>
                  <a:srgbClr val="333333"/>
                </a:solidFill>
                <a:latin typeface="Cambria" panose="02040503050406030204" pitchFamily="18" charset="0"/>
                <a:ea typeface="Cambria" panose="02040503050406030204" pitchFamily="18" charset="0"/>
              </a:rPr>
              <a:t>gian</a:t>
            </a:r>
            <a:r>
              <a:rPr lang="en-US" sz="2500" dirty="0">
                <a:solidFill>
                  <a:srgbClr val="333333"/>
                </a:solidFill>
                <a:latin typeface="Cambria" panose="02040503050406030204" pitchFamily="18" charset="0"/>
                <a:ea typeface="Cambria" panose="02040503050406030204" pitchFamily="18" charset="0"/>
              </a:rPr>
              <a:t> 2 </a:t>
            </a:r>
            <a:r>
              <a:rPr lang="en-US" sz="2500" dirty="0" err="1">
                <a:solidFill>
                  <a:srgbClr val="333333"/>
                </a:solidFill>
                <a:latin typeface="Cambria" panose="02040503050406030204" pitchFamily="18" charset="0"/>
                <a:ea typeface="Cambria" panose="02040503050406030204" pitchFamily="18" charset="0"/>
              </a:rPr>
              <a:t>chiều</a:t>
            </a:r>
            <a:r>
              <a:rPr lang="en-US" sz="2500" dirty="0">
                <a:solidFill>
                  <a:srgbClr val="333333"/>
                </a:solidFill>
                <a:latin typeface="Cambria" panose="02040503050406030204" pitchFamily="18" charset="0"/>
                <a:ea typeface="Cambria" panose="02040503050406030204" pitchFamily="18" charset="0"/>
              </a:rPr>
              <a:t>.</a:t>
            </a:r>
          </a:p>
          <a:p>
            <a:pPr>
              <a:lnSpc>
                <a:spcPct val="150000"/>
              </a:lnSpc>
            </a:pPr>
            <a:r>
              <a:rPr lang="en-US" sz="2500" b="1" dirty="0" err="1">
                <a:solidFill>
                  <a:srgbClr val="333333"/>
                </a:solidFill>
                <a:latin typeface="Cambria" panose="02040503050406030204" pitchFamily="18" charset="0"/>
                <a:ea typeface="Cambria" panose="02040503050406030204" pitchFamily="18" charset="0"/>
              </a:rPr>
              <a:t>Cú</a:t>
            </a:r>
            <a:r>
              <a:rPr lang="en-US" sz="2500" b="1" dirty="0">
                <a:solidFill>
                  <a:srgbClr val="333333"/>
                </a:solidFill>
                <a:latin typeface="Cambria" panose="02040503050406030204" pitchFamily="18" charset="0"/>
                <a:ea typeface="Cambria" panose="02040503050406030204" pitchFamily="18" charset="0"/>
              </a:rPr>
              <a:t> </a:t>
            </a:r>
            <a:r>
              <a:rPr lang="en-US" sz="2500" b="1" dirty="0" err="1">
                <a:solidFill>
                  <a:srgbClr val="333333"/>
                </a:solidFill>
                <a:latin typeface="Cambria" panose="02040503050406030204" pitchFamily="18" charset="0"/>
                <a:ea typeface="Cambria" panose="02040503050406030204" pitchFamily="18" charset="0"/>
              </a:rPr>
              <a:t>pháp</a:t>
            </a:r>
            <a:r>
              <a:rPr lang="en-US" sz="2500" b="1" dirty="0">
                <a:solidFill>
                  <a:srgbClr val="333333"/>
                </a:solidFill>
                <a:latin typeface="Cambria" panose="02040503050406030204" pitchFamily="18" charset="0"/>
                <a:ea typeface="Cambria" panose="02040503050406030204" pitchFamily="18" charset="0"/>
              </a:rPr>
              <a:t> </a:t>
            </a:r>
            <a:r>
              <a:rPr lang="en-US" sz="2500" b="1" dirty="0" err="1">
                <a:solidFill>
                  <a:srgbClr val="333333"/>
                </a:solidFill>
                <a:latin typeface="Cambria" panose="02040503050406030204" pitchFamily="18" charset="0"/>
                <a:ea typeface="Cambria" panose="02040503050406030204" pitchFamily="18" charset="0"/>
              </a:rPr>
              <a:t>lệnh</a:t>
            </a:r>
            <a:r>
              <a:rPr lang="en-US" sz="2500" b="1" dirty="0">
                <a:solidFill>
                  <a:srgbClr val="333333"/>
                </a:solidFill>
                <a:latin typeface="Cambria" panose="02040503050406030204" pitchFamily="18" charset="0"/>
                <a:ea typeface="Cambria" panose="02040503050406030204" pitchFamily="18" charset="0"/>
              </a:rPr>
              <a:t>: </a:t>
            </a:r>
          </a:p>
          <a:p>
            <a:pPr>
              <a:lnSpc>
                <a:spcPct val="150000"/>
              </a:lnSpc>
            </a:pPr>
            <a:r>
              <a:rPr lang="en-US" sz="2500" dirty="0">
                <a:solidFill>
                  <a:srgbClr val="333333"/>
                </a:solidFill>
                <a:latin typeface="Cambria" panose="02040503050406030204" pitchFamily="18" charset="0"/>
                <a:ea typeface="Cambria" panose="02040503050406030204" pitchFamily="18" charset="0"/>
              </a:rPr>
              <a:t>	</a:t>
            </a:r>
            <a:r>
              <a:rPr lang="en-US" sz="2500" dirty="0">
                <a:solidFill>
                  <a:srgbClr val="FF0000"/>
                </a:solidFill>
                <a:latin typeface="Cambria" panose="02040503050406030204" pitchFamily="18" charset="0"/>
                <a:ea typeface="Cambria" panose="02040503050406030204" pitchFamily="18" charset="0"/>
              </a:rPr>
              <a:t>plot(</a:t>
            </a:r>
            <a:r>
              <a:rPr lang="en-US" sz="2500" dirty="0" err="1">
                <a:solidFill>
                  <a:srgbClr val="FF0000"/>
                </a:solidFill>
                <a:latin typeface="Cambria" panose="02040503050406030204" pitchFamily="18" charset="0"/>
                <a:ea typeface="Cambria" panose="02040503050406030204" pitchFamily="18" charset="0"/>
              </a:rPr>
              <a:t>x,y</a:t>
            </a:r>
            <a:r>
              <a:rPr lang="en-US" sz="2500" dirty="0">
                <a:solidFill>
                  <a:srgbClr val="FF0000"/>
                </a:solidFill>
                <a:latin typeface="Cambria" panose="02040503050406030204" pitchFamily="18" charset="0"/>
                <a:ea typeface="Cambria" panose="02040503050406030204" pitchFamily="18" charset="0"/>
              </a:rPr>
              <a:t>)</a:t>
            </a:r>
          </a:p>
          <a:p>
            <a:pPr>
              <a:lnSpc>
                <a:spcPct val="150000"/>
              </a:lnSpc>
            </a:pPr>
            <a:r>
              <a:rPr lang="en-US" sz="2500" dirty="0">
                <a:solidFill>
                  <a:srgbClr val="FF0000"/>
                </a:solidFill>
                <a:latin typeface="Cambria" panose="02040503050406030204" pitchFamily="18" charset="0"/>
                <a:ea typeface="Cambria" panose="02040503050406030204" pitchFamily="18" charset="0"/>
              </a:rPr>
              <a:t>	plot(x,y,’</a:t>
            </a:r>
            <a:r>
              <a:rPr lang="en-US" sz="2500" dirty="0" err="1">
                <a:solidFill>
                  <a:srgbClr val="FF0000"/>
                </a:solidFill>
                <a:latin typeface="Cambria" panose="02040503050406030204" pitchFamily="18" charset="0"/>
                <a:ea typeface="Cambria" panose="02040503050406030204" pitchFamily="18" charset="0"/>
              </a:rPr>
              <a:t>linetype</a:t>
            </a:r>
            <a:r>
              <a:rPr lang="en-US" sz="2500" dirty="0">
                <a:solidFill>
                  <a:srgbClr val="FF0000"/>
                </a:solidFill>
                <a:latin typeface="Cambria" panose="02040503050406030204" pitchFamily="18" charset="0"/>
                <a:ea typeface="Cambria" panose="02040503050406030204" pitchFamily="18" charset="0"/>
              </a:rPr>
              <a:t>’)</a:t>
            </a:r>
          </a:p>
          <a:p>
            <a:pPr>
              <a:lnSpc>
                <a:spcPct val="150000"/>
              </a:lnSpc>
            </a:pPr>
            <a:r>
              <a:rPr lang="en-US" sz="2500" b="1" dirty="0" err="1">
                <a:solidFill>
                  <a:srgbClr val="333333"/>
                </a:solidFill>
                <a:latin typeface="Cambria" panose="02040503050406030204" pitchFamily="18" charset="0"/>
                <a:ea typeface="Cambria" panose="02040503050406030204" pitchFamily="18" charset="0"/>
              </a:rPr>
              <a:t>Giải</a:t>
            </a:r>
            <a:r>
              <a:rPr lang="en-US" sz="2500" b="1" dirty="0">
                <a:solidFill>
                  <a:srgbClr val="333333"/>
                </a:solidFill>
                <a:latin typeface="Cambria" panose="02040503050406030204" pitchFamily="18" charset="0"/>
                <a:ea typeface="Cambria" panose="02040503050406030204" pitchFamily="18" charset="0"/>
              </a:rPr>
              <a:t> </a:t>
            </a:r>
            <a:r>
              <a:rPr lang="en-US" sz="2500" b="1" dirty="0" err="1">
                <a:solidFill>
                  <a:srgbClr val="333333"/>
                </a:solidFill>
                <a:latin typeface="Cambria" panose="02040503050406030204" pitchFamily="18" charset="0"/>
                <a:ea typeface="Cambria" panose="02040503050406030204" pitchFamily="18" charset="0"/>
              </a:rPr>
              <a:t>thích</a:t>
            </a:r>
            <a:r>
              <a:rPr lang="en-US" sz="2500" b="1" dirty="0">
                <a:solidFill>
                  <a:srgbClr val="333333"/>
                </a:solidFill>
                <a:latin typeface="Cambria" panose="02040503050406030204" pitchFamily="18" charset="0"/>
                <a:ea typeface="Cambria" panose="02040503050406030204" pitchFamily="18" charset="0"/>
              </a:rPr>
              <a:t>: </a:t>
            </a:r>
          </a:p>
          <a:p>
            <a:pPr marL="342900" indent="-342900">
              <a:lnSpc>
                <a:spcPct val="150000"/>
              </a:lnSpc>
              <a:buFont typeface="Wingdings" panose="05000000000000000000" pitchFamily="2" charset="2"/>
              <a:buChar char="§"/>
            </a:pPr>
            <a:r>
              <a:rPr lang="en-US" sz="2500" b="1" dirty="0" err="1">
                <a:solidFill>
                  <a:srgbClr val="333333"/>
                </a:solidFill>
                <a:latin typeface="Cambria" panose="02040503050406030204" pitchFamily="18" charset="0"/>
                <a:ea typeface="Cambria" panose="02040503050406030204" pitchFamily="18" charset="0"/>
              </a:rPr>
              <a:t>x,y</a:t>
            </a:r>
            <a:r>
              <a:rPr lang="en-US" sz="2500" dirty="0">
                <a:solidFill>
                  <a:srgbClr val="333333"/>
                </a:solidFill>
                <a:latin typeface="Cambria" panose="02040503050406030204" pitchFamily="18" charset="0"/>
                <a:ea typeface="Cambria" panose="02040503050406030204" pitchFamily="18" charset="0"/>
              </a:rPr>
              <a:t>: </a:t>
            </a:r>
            <a:r>
              <a:rPr lang="en-US" sz="2500" dirty="0" err="1">
                <a:solidFill>
                  <a:srgbClr val="333333"/>
                </a:solidFill>
                <a:latin typeface="Cambria" panose="02040503050406030204" pitchFamily="18" charset="0"/>
                <a:ea typeface="Cambria" panose="02040503050406030204" pitchFamily="18" charset="0"/>
              </a:rPr>
              <a:t>vẽ</a:t>
            </a:r>
            <a:r>
              <a:rPr lang="en-US" sz="2500" dirty="0">
                <a:solidFill>
                  <a:srgbClr val="333333"/>
                </a:solidFill>
                <a:latin typeface="Cambria" panose="02040503050406030204" pitchFamily="18" charset="0"/>
                <a:ea typeface="Cambria" panose="02040503050406030204" pitchFamily="18" charset="0"/>
              </a:rPr>
              <a:t> </a:t>
            </a:r>
            <a:r>
              <a:rPr lang="en-US" sz="2500" dirty="0" err="1">
                <a:solidFill>
                  <a:srgbClr val="333333"/>
                </a:solidFill>
                <a:latin typeface="Cambria" panose="02040503050406030204" pitchFamily="18" charset="0"/>
                <a:ea typeface="Cambria" panose="02040503050406030204" pitchFamily="18" charset="0"/>
              </a:rPr>
              <a:t>giá</a:t>
            </a:r>
            <a:r>
              <a:rPr lang="en-US" sz="2500" dirty="0">
                <a:solidFill>
                  <a:srgbClr val="333333"/>
                </a:solidFill>
                <a:latin typeface="Cambria" panose="02040503050406030204" pitchFamily="18" charset="0"/>
                <a:ea typeface="Cambria" panose="02040503050406030204" pitchFamily="18" charset="0"/>
              </a:rPr>
              <a:t> </a:t>
            </a:r>
            <a:r>
              <a:rPr lang="en-US" sz="2500" dirty="0" err="1">
                <a:solidFill>
                  <a:srgbClr val="333333"/>
                </a:solidFill>
                <a:latin typeface="Cambria" panose="02040503050406030204" pitchFamily="18" charset="0"/>
                <a:ea typeface="Cambria" panose="02040503050406030204" pitchFamily="18" charset="0"/>
              </a:rPr>
              <a:t>trị</a:t>
            </a:r>
            <a:r>
              <a:rPr lang="en-US" sz="2500" dirty="0">
                <a:solidFill>
                  <a:srgbClr val="333333"/>
                </a:solidFill>
                <a:latin typeface="Cambria" panose="02040503050406030204" pitchFamily="18" charset="0"/>
                <a:ea typeface="Cambria" panose="02040503050406030204" pitchFamily="18" charset="0"/>
              </a:rPr>
              <a:t> x </a:t>
            </a:r>
            <a:r>
              <a:rPr lang="en-US" sz="2500" dirty="0" err="1">
                <a:solidFill>
                  <a:srgbClr val="333333"/>
                </a:solidFill>
                <a:latin typeface="Cambria" panose="02040503050406030204" pitchFamily="18" charset="0"/>
                <a:ea typeface="Cambria" panose="02040503050406030204" pitchFamily="18" charset="0"/>
              </a:rPr>
              <a:t>theo</a:t>
            </a:r>
            <a:r>
              <a:rPr lang="en-US" sz="2500" dirty="0">
                <a:solidFill>
                  <a:srgbClr val="333333"/>
                </a:solidFill>
                <a:latin typeface="Cambria" panose="02040503050406030204" pitchFamily="18" charset="0"/>
                <a:ea typeface="Cambria" panose="02040503050406030204" pitchFamily="18" charset="0"/>
              </a:rPr>
              <a:t> </a:t>
            </a:r>
            <a:r>
              <a:rPr lang="en-US" sz="2500" dirty="0" err="1">
                <a:solidFill>
                  <a:srgbClr val="333333"/>
                </a:solidFill>
                <a:latin typeface="Cambria" panose="02040503050406030204" pitchFamily="18" charset="0"/>
                <a:ea typeface="Cambria" panose="02040503050406030204" pitchFamily="18" charset="0"/>
              </a:rPr>
              <a:t>giá</a:t>
            </a:r>
            <a:r>
              <a:rPr lang="en-US" sz="2500" dirty="0">
                <a:solidFill>
                  <a:srgbClr val="333333"/>
                </a:solidFill>
                <a:latin typeface="Cambria" panose="02040503050406030204" pitchFamily="18" charset="0"/>
                <a:ea typeface="Cambria" panose="02040503050406030204" pitchFamily="18" charset="0"/>
              </a:rPr>
              <a:t> </a:t>
            </a:r>
            <a:r>
              <a:rPr lang="en-US" sz="2500" dirty="0" err="1">
                <a:solidFill>
                  <a:srgbClr val="333333"/>
                </a:solidFill>
                <a:latin typeface="Cambria" panose="02040503050406030204" pitchFamily="18" charset="0"/>
                <a:ea typeface="Cambria" panose="02040503050406030204" pitchFamily="18" charset="0"/>
              </a:rPr>
              <a:t>trị</a:t>
            </a:r>
            <a:r>
              <a:rPr lang="en-US" sz="2500" dirty="0">
                <a:solidFill>
                  <a:srgbClr val="333333"/>
                </a:solidFill>
                <a:latin typeface="Cambria" panose="02040503050406030204" pitchFamily="18" charset="0"/>
                <a:ea typeface="Cambria" panose="02040503050406030204" pitchFamily="18" charset="0"/>
              </a:rPr>
              <a:t> y.</a:t>
            </a:r>
          </a:p>
          <a:p>
            <a:pPr marL="342900" indent="-342900">
              <a:lnSpc>
                <a:spcPct val="150000"/>
              </a:lnSpc>
              <a:buFont typeface="Wingdings" panose="05000000000000000000" pitchFamily="2" charset="2"/>
              <a:buChar char="§"/>
            </a:pPr>
            <a:r>
              <a:rPr lang="en-US" sz="2500" b="1" dirty="0" err="1">
                <a:solidFill>
                  <a:srgbClr val="333333"/>
                </a:solidFill>
                <a:latin typeface="Cambria" panose="02040503050406030204" pitchFamily="18" charset="0"/>
                <a:ea typeface="Cambria" panose="02040503050406030204" pitchFamily="18" charset="0"/>
              </a:rPr>
              <a:t>linetype</a:t>
            </a:r>
            <a:r>
              <a:rPr lang="en-US" sz="2500" dirty="0">
                <a:solidFill>
                  <a:srgbClr val="333333"/>
                </a:solidFill>
                <a:latin typeface="Cambria" panose="02040503050406030204" pitchFamily="18" charset="0"/>
                <a:ea typeface="Cambria" panose="02040503050406030204" pitchFamily="18" charset="0"/>
              </a:rPr>
              <a:t>: </a:t>
            </a:r>
            <a:r>
              <a:rPr lang="en-US" sz="2500" i="1" dirty="0" err="1">
                <a:solidFill>
                  <a:srgbClr val="333333"/>
                </a:solidFill>
                <a:latin typeface="Cambria" panose="02040503050406030204" pitchFamily="18" charset="0"/>
                <a:ea typeface="Cambria" panose="02040503050406030204" pitchFamily="18" charset="0"/>
              </a:rPr>
              <a:t>kiểu</a:t>
            </a:r>
            <a:r>
              <a:rPr lang="en-US" sz="2500" i="1" dirty="0">
                <a:solidFill>
                  <a:srgbClr val="333333"/>
                </a:solidFill>
                <a:latin typeface="Cambria" panose="02040503050406030204" pitchFamily="18" charset="0"/>
                <a:ea typeface="Cambria" panose="02040503050406030204" pitchFamily="18" charset="0"/>
              </a:rPr>
              <a:t> </a:t>
            </a:r>
            <a:r>
              <a:rPr lang="en-US" sz="2500" i="1" dirty="0" err="1">
                <a:solidFill>
                  <a:srgbClr val="333333"/>
                </a:solidFill>
                <a:latin typeface="Cambria" panose="02040503050406030204" pitchFamily="18" charset="0"/>
                <a:ea typeface="Cambria" panose="02040503050406030204" pitchFamily="18" charset="0"/>
              </a:rPr>
              <a:t>phần</a:t>
            </a:r>
            <a:r>
              <a:rPr lang="en-US" sz="2500" i="1" dirty="0">
                <a:solidFill>
                  <a:srgbClr val="333333"/>
                </a:solidFill>
                <a:latin typeface="Cambria" panose="02040503050406030204" pitchFamily="18" charset="0"/>
                <a:ea typeface="Cambria" panose="02040503050406030204" pitchFamily="18" charset="0"/>
              </a:rPr>
              <a:t> </a:t>
            </a:r>
            <a:r>
              <a:rPr lang="en-US" sz="2500" i="1" dirty="0" err="1">
                <a:solidFill>
                  <a:srgbClr val="333333"/>
                </a:solidFill>
                <a:latin typeface="Cambria" panose="02040503050406030204" pitchFamily="18" charset="0"/>
                <a:ea typeface="Cambria" panose="02040503050406030204" pitchFamily="18" charset="0"/>
              </a:rPr>
              <a:t>tử</a:t>
            </a:r>
            <a:r>
              <a:rPr lang="en-US" sz="2500" i="1" dirty="0">
                <a:solidFill>
                  <a:srgbClr val="333333"/>
                </a:solidFill>
                <a:latin typeface="Cambria" panose="02040503050406030204" pitchFamily="18" charset="0"/>
                <a:ea typeface="Cambria" panose="02040503050406030204" pitchFamily="18" charset="0"/>
              </a:rPr>
              <a:t> </a:t>
            </a:r>
            <a:r>
              <a:rPr lang="en-US" sz="2500" i="1" dirty="0" err="1">
                <a:solidFill>
                  <a:srgbClr val="333333"/>
                </a:solidFill>
                <a:latin typeface="Cambria" panose="02040503050406030204" pitchFamily="18" charset="0"/>
                <a:ea typeface="Cambria" panose="02040503050406030204" pitchFamily="18" charset="0"/>
              </a:rPr>
              <a:t>tạo</a:t>
            </a:r>
            <a:r>
              <a:rPr lang="en-US" sz="2500" i="1" dirty="0">
                <a:solidFill>
                  <a:srgbClr val="333333"/>
                </a:solidFill>
                <a:latin typeface="Cambria" panose="02040503050406030204" pitchFamily="18" charset="0"/>
                <a:ea typeface="Cambria" panose="02040503050406030204" pitchFamily="18" charset="0"/>
              </a:rPr>
              <a:t> </a:t>
            </a:r>
            <a:r>
              <a:rPr lang="en-US" sz="2500" i="1" dirty="0" err="1">
                <a:solidFill>
                  <a:srgbClr val="333333"/>
                </a:solidFill>
                <a:latin typeface="Cambria" panose="02040503050406030204" pitchFamily="18" charset="0"/>
                <a:ea typeface="Cambria" panose="02040503050406030204" pitchFamily="18" charset="0"/>
              </a:rPr>
              <a:t>nên</a:t>
            </a:r>
            <a:r>
              <a:rPr lang="en-US" sz="2500" i="1" dirty="0">
                <a:solidFill>
                  <a:srgbClr val="333333"/>
                </a:solidFill>
                <a:latin typeface="Cambria" panose="02040503050406030204" pitchFamily="18" charset="0"/>
                <a:ea typeface="Cambria" panose="02040503050406030204" pitchFamily="18" charset="0"/>
              </a:rPr>
              <a:t> </a:t>
            </a:r>
            <a:r>
              <a:rPr lang="en-US" sz="2500" i="1" dirty="0" err="1">
                <a:solidFill>
                  <a:srgbClr val="333333"/>
                </a:solidFill>
                <a:latin typeface="Cambria" panose="02040503050406030204" pitchFamily="18" charset="0"/>
                <a:ea typeface="Cambria" panose="02040503050406030204" pitchFamily="18" charset="0"/>
              </a:rPr>
              <a:t>nét</a:t>
            </a:r>
            <a:r>
              <a:rPr lang="en-US" sz="2500" i="1" dirty="0">
                <a:solidFill>
                  <a:srgbClr val="333333"/>
                </a:solidFill>
                <a:latin typeface="Cambria" panose="02040503050406030204" pitchFamily="18" charset="0"/>
                <a:ea typeface="Cambria" panose="02040503050406030204" pitchFamily="18" charset="0"/>
              </a:rPr>
              <a:t> </a:t>
            </a:r>
            <a:r>
              <a:rPr lang="en-US" sz="2500" i="1" dirty="0" err="1">
                <a:solidFill>
                  <a:srgbClr val="333333"/>
                </a:solidFill>
                <a:latin typeface="Cambria" panose="02040503050406030204" pitchFamily="18" charset="0"/>
                <a:ea typeface="Cambria" panose="02040503050406030204" pitchFamily="18" charset="0"/>
              </a:rPr>
              <a:t>vẽ</a:t>
            </a:r>
            <a:r>
              <a:rPr lang="en-US" sz="2500" i="1" dirty="0">
                <a:solidFill>
                  <a:srgbClr val="333333"/>
                </a:solidFill>
                <a:latin typeface="Cambria" panose="02040503050406030204" pitchFamily="18" charset="0"/>
                <a:ea typeface="Cambria" panose="02040503050406030204" pitchFamily="18" charset="0"/>
              </a:rPr>
              <a:t> </a:t>
            </a:r>
            <a:r>
              <a:rPr lang="en-US" sz="2500" i="1" dirty="0" err="1">
                <a:solidFill>
                  <a:srgbClr val="333333"/>
                </a:solidFill>
                <a:latin typeface="Cambria" panose="02040503050406030204" pitchFamily="18" charset="0"/>
                <a:ea typeface="Cambria" panose="02040503050406030204" pitchFamily="18" charset="0"/>
              </a:rPr>
              <a:t>gồm</a:t>
            </a:r>
            <a:r>
              <a:rPr lang="en-US" sz="2500" i="1" dirty="0">
                <a:solidFill>
                  <a:srgbClr val="333333"/>
                </a:solidFill>
                <a:latin typeface="Cambria" panose="02040503050406030204" pitchFamily="18" charset="0"/>
                <a:ea typeface="Cambria" panose="02040503050406030204" pitchFamily="18" charset="0"/>
              </a:rPr>
              <a:t> 3 </a:t>
            </a:r>
            <a:r>
              <a:rPr lang="en-US" sz="2500" i="1" dirty="0" err="1">
                <a:solidFill>
                  <a:srgbClr val="333333"/>
                </a:solidFill>
                <a:latin typeface="Cambria" panose="02040503050406030204" pitchFamily="18" charset="0"/>
                <a:ea typeface="Cambria" panose="02040503050406030204" pitchFamily="18" charset="0"/>
              </a:rPr>
              <a:t>thành</a:t>
            </a:r>
            <a:r>
              <a:rPr lang="en-US" sz="2500" i="1" dirty="0">
                <a:solidFill>
                  <a:srgbClr val="333333"/>
                </a:solidFill>
                <a:latin typeface="Cambria" panose="02040503050406030204" pitchFamily="18" charset="0"/>
                <a:ea typeface="Cambria" panose="02040503050406030204" pitchFamily="18" charset="0"/>
              </a:rPr>
              <a:t> </a:t>
            </a:r>
            <a:r>
              <a:rPr lang="en-US" sz="2500" i="1" dirty="0" err="1">
                <a:solidFill>
                  <a:srgbClr val="333333"/>
                </a:solidFill>
                <a:latin typeface="Cambria" panose="02040503050406030204" pitchFamily="18" charset="0"/>
                <a:ea typeface="Cambria" panose="02040503050406030204" pitchFamily="18" charset="0"/>
              </a:rPr>
              <a:t>phần</a:t>
            </a:r>
            <a:r>
              <a:rPr lang="en-US" sz="2500" i="1" dirty="0">
                <a:solidFill>
                  <a:srgbClr val="333333"/>
                </a:solidFill>
                <a:latin typeface="Cambria" panose="02040503050406030204" pitchFamily="18" charset="0"/>
                <a:ea typeface="Cambria" panose="02040503050406030204" pitchFamily="18" charset="0"/>
              </a:rPr>
              <a:t>: </a:t>
            </a:r>
            <a:r>
              <a:rPr lang="en-US" sz="2500" b="1" i="1" dirty="0" err="1">
                <a:solidFill>
                  <a:srgbClr val="333333"/>
                </a:solidFill>
                <a:latin typeface="Cambria" panose="02040503050406030204" pitchFamily="18" charset="0"/>
                <a:ea typeface="Cambria" panose="02040503050406030204" pitchFamily="18" charset="0"/>
              </a:rPr>
              <a:t>nét</a:t>
            </a:r>
            <a:r>
              <a:rPr lang="en-US" sz="2500" b="1" i="1" dirty="0">
                <a:solidFill>
                  <a:srgbClr val="333333"/>
                </a:solidFill>
                <a:latin typeface="Cambria" panose="02040503050406030204" pitchFamily="18" charset="0"/>
                <a:ea typeface="Cambria" panose="02040503050406030204" pitchFamily="18" charset="0"/>
              </a:rPr>
              <a:t> </a:t>
            </a:r>
            <a:r>
              <a:rPr lang="en-US" sz="2500" b="1" i="1" dirty="0" err="1">
                <a:solidFill>
                  <a:srgbClr val="333333"/>
                </a:solidFill>
                <a:latin typeface="Cambria" panose="02040503050406030204" pitchFamily="18" charset="0"/>
                <a:ea typeface="Cambria" panose="02040503050406030204" pitchFamily="18" charset="0"/>
              </a:rPr>
              <a:t>vẽ</a:t>
            </a:r>
            <a:r>
              <a:rPr lang="en-US" sz="2500" b="1" i="1" dirty="0">
                <a:solidFill>
                  <a:srgbClr val="333333"/>
                </a:solidFill>
                <a:latin typeface="Cambria" panose="02040503050406030204" pitchFamily="18" charset="0"/>
                <a:ea typeface="Cambria" panose="02040503050406030204" pitchFamily="18" charset="0"/>
              </a:rPr>
              <a:t>, </a:t>
            </a:r>
            <a:r>
              <a:rPr lang="en-US" sz="2500" b="1" i="1" dirty="0" err="1">
                <a:solidFill>
                  <a:srgbClr val="333333"/>
                </a:solidFill>
                <a:latin typeface="Cambria" panose="02040503050406030204" pitchFamily="18" charset="0"/>
                <a:ea typeface="Cambria" panose="02040503050406030204" pitchFamily="18" charset="0"/>
              </a:rPr>
              <a:t>màu</a:t>
            </a:r>
            <a:r>
              <a:rPr lang="en-US" sz="2500" b="1" i="1" dirty="0">
                <a:solidFill>
                  <a:srgbClr val="333333"/>
                </a:solidFill>
                <a:latin typeface="Cambria" panose="02040503050406030204" pitchFamily="18" charset="0"/>
                <a:ea typeface="Cambria" panose="02040503050406030204" pitchFamily="18" charset="0"/>
              </a:rPr>
              <a:t> </a:t>
            </a:r>
            <a:r>
              <a:rPr lang="en-US" sz="2500" b="1" i="1" dirty="0" err="1">
                <a:solidFill>
                  <a:srgbClr val="333333"/>
                </a:solidFill>
                <a:latin typeface="Cambria" panose="02040503050406030204" pitchFamily="18" charset="0"/>
                <a:ea typeface="Cambria" panose="02040503050406030204" pitchFamily="18" charset="0"/>
              </a:rPr>
              <a:t>sắc</a:t>
            </a:r>
            <a:r>
              <a:rPr lang="en-US" sz="2500" b="1" i="1" dirty="0">
                <a:solidFill>
                  <a:srgbClr val="333333"/>
                </a:solidFill>
                <a:latin typeface="Cambria" panose="02040503050406030204" pitchFamily="18" charset="0"/>
                <a:ea typeface="Cambria" panose="02040503050406030204" pitchFamily="18" charset="0"/>
              </a:rPr>
              <a:t>, </a:t>
            </a:r>
            <a:r>
              <a:rPr lang="en-US" sz="2500" b="1" i="1" dirty="0" err="1">
                <a:solidFill>
                  <a:srgbClr val="333333"/>
                </a:solidFill>
                <a:latin typeface="Cambria" panose="02040503050406030204" pitchFamily="18" charset="0"/>
                <a:ea typeface="Cambria" panose="02040503050406030204" pitchFamily="18" charset="0"/>
              </a:rPr>
              <a:t>loại</a:t>
            </a:r>
            <a:r>
              <a:rPr lang="en-US" sz="2500" b="1" i="1" dirty="0">
                <a:solidFill>
                  <a:srgbClr val="333333"/>
                </a:solidFill>
                <a:latin typeface="Cambria" panose="02040503050406030204" pitchFamily="18" charset="0"/>
                <a:ea typeface="Cambria" panose="02040503050406030204" pitchFamily="18" charset="0"/>
              </a:rPr>
              <a:t> </a:t>
            </a:r>
            <a:r>
              <a:rPr lang="en-US" sz="2500" b="1" i="1" dirty="0" err="1">
                <a:solidFill>
                  <a:srgbClr val="333333"/>
                </a:solidFill>
                <a:latin typeface="Cambria" panose="02040503050406030204" pitchFamily="18" charset="0"/>
                <a:ea typeface="Cambria" panose="02040503050406030204" pitchFamily="18" charset="0"/>
              </a:rPr>
              <a:t>điểm</a:t>
            </a:r>
            <a:r>
              <a:rPr lang="en-US" sz="2500" b="1" i="1" dirty="0">
                <a:solidFill>
                  <a:srgbClr val="333333"/>
                </a:solidFill>
                <a:latin typeface="Cambria" panose="02040503050406030204" pitchFamily="18" charset="0"/>
                <a:ea typeface="Cambria" panose="02040503050406030204" pitchFamily="18" charset="0"/>
              </a:rPr>
              <a:t> </a:t>
            </a:r>
            <a:endParaRPr lang="en-US" sz="2500" b="1" i="1" dirty="0">
              <a:solidFill>
                <a:srgbClr val="333333"/>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843821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MATPLOTLID</a:t>
            </a: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192156" y="729159"/>
            <a:ext cx="11913705" cy="681000"/>
          </a:xfrm>
        </p:spPr>
        <p:txBody>
          <a:bodyPr>
            <a:noAutofit/>
          </a:bodyPr>
          <a:lstStyle/>
          <a:p>
            <a:pPr marL="0" lvl="1" indent="0">
              <a:lnSpc>
                <a:spcPct val="100000"/>
              </a:lnSpc>
              <a:spcBef>
                <a:spcPts val="0"/>
              </a:spcBef>
              <a:buClr>
                <a:srgbClr val="FF5A33"/>
              </a:buClr>
              <a:buNone/>
            </a:pPr>
            <a:r>
              <a:rPr lang="en-US" sz="2500" b="1" spc="-5" dirty="0" err="1">
                <a:solidFill>
                  <a:srgbClr val="FF0000"/>
                </a:solidFill>
                <a:latin typeface="Cambria" panose="02040503050406030204" pitchFamily="18" charset="0"/>
                <a:ea typeface="Cambria" panose="02040503050406030204" pitchFamily="18" charset="0"/>
                <a:cs typeface="Segoe UI"/>
              </a:rPr>
              <a:t>Sử</a:t>
            </a:r>
            <a:r>
              <a:rPr lang="en-US" sz="2500" b="1" spc="-5" dirty="0">
                <a:solidFill>
                  <a:srgbClr val="FF0000"/>
                </a:solidFill>
                <a:latin typeface="Cambria" panose="02040503050406030204" pitchFamily="18" charset="0"/>
                <a:ea typeface="Cambria" panose="02040503050406030204" pitchFamily="18" charset="0"/>
                <a:cs typeface="Segoe UI"/>
              </a:rPr>
              <a:t> </a:t>
            </a:r>
            <a:r>
              <a:rPr lang="en-US" sz="2500" b="1" spc="-5" dirty="0" err="1">
                <a:solidFill>
                  <a:srgbClr val="FF0000"/>
                </a:solidFill>
                <a:latin typeface="Cambria" panose="02040503050406030204" pitchFamily="18" charset="0"/>
                <a:ea typeface="Cambria" panose="02040503050406030204" pitchFamily="18" charset="0"/>
                <a:cs typeface="Segoe UI"/>
              </a:rPr>
              <a:t>dụng</a:t>
            </a:r>
            <a:r>
              <a:rPr lang="en-US" sz="2500" b="1" spc="-5" dirty="0">
                <a:solidFill>
                  <a:srgbClr val="FF0000"/>
                </a:solidFill>
                <a:latin typeface="Cambria" panose="02040503050406030204" pitchFamily="18" charset="0"/>
                <a:ea typeface="Cambria" panose="02040503050406030204" pitchFamily="18" charset="0"/>
                <a:cs typeface="Segoe UI"/>
              </a:rPr>
              <a:t> plot </a:t>
            </a:r>
            <a:r>
              <a:rPr lang="en-US" sz="2500" b="1" spc="-5" dirty="0" err="1">
                <a:solidFill>
                  <a:srgbClr val="FF0000"/>
                </a:solidFill>
                <a:latin typeface="Cambria" panose="02040503050406030204" pitchFamily="18" charset="0"/>
                <a:ea typeface="Cambria" panose="02040503050406030204" pitchFamily="18" charset="0"/>
                <a:cs typeface="Segoe UI"/>
              </a:rPr>
              <a:t>vẽ</a:t>
            </a:r>
            <a:r>
              <a:rPr lang="en-US" sz="2500" b="1" spc="-5" dirty="0">
                <a:solidFill>
                  <a:srgbClr val="FF0000"/>
                </a:solidFill>
                <a:latin typeface="Cambria" panose="02040503050406030204" pitchFamily="18" charset="0"/>
                <a:ea typeface="Cambria" panose="02040503050406030204" pitchFamily="18" charset="0"/>
                <a:cs typeface="Segoe UI"/>
              </a:rPr>
              <a:t> </a:t>
            </a:r>
            <a:r>
              <a:rPr lang="en-US" sz="2500" b="1" spc="-5" dirty="0" err="1">
                <a:solidFill>
                  <a:srgbClr val="FF0000"/>
                </a:solidFill>
                <a:latin typeface="Cambria" panose="02040503050406030204" pitchFamily="18" charset="0"/>
                <a:ea typeface="Cambria" panose="02040503050406030204" pitchFamily="18" charset="0"/>
                <a:cs typeface="Segoe UI"/>
              </a:rPr>
              <a:t>đồ</a:t>
            </a:r>
            <a:r>
              <a:rPr lang="en-US" sz="2500" b="1" spc="-5" dirty="0">
                <a:solidFill>
                  <a:srgbClr val="FF0000"/>
                </a:solidFill>
                <a:latin typeface="Cambria" panose="02040503050406030204" pitchFamily="18" charset="0"/>
                <a:ea typeface="Cambria" panose="02040503050406030204" pitchFamily="18" charset="0"/>
                <a:cs typeface="Segoe UI"/>
              </a:rPr>
              <a:t> </a:t>
            </a:r>
            <a:r>
              <a:rPr lang="en-US" sz="2500" b="1" spc="-5" dirty="0" err="1">
                <a:solidFill>
                  <a:srgbClr val="FF0000"/>
                </a:solidFill>
                <a:latin typeface="Cambria" panose="02040503050406030204" pitchFamily="18" charset="0"/>
                <a:ea typeface="Cambria" panose="02040503050406030204" pitchFamily="18" charset="0"/>
                <a:cs typeface="Segoe UI"/>
              </a:rPr>
              <a:t>thị</a:t>
            </a:r>
            <a:r>
              <a:rPr lang="en-US" sz="2500" b="1" spc="-5" dirty="0">
                <a:solidFill>
                  <a:srgbClr val="FF0000"/>
                </a:solidFill>
                <a:latin typeface="Cambria" panose="02040503050406030204" pitchFamily="18" charset="0"/>
                <a:ea typeface="Cambria" panose="02040503050406030204" pitchFamily="18" charset="0"/>
                <a:cs typeface="Segoe UI"/>
              </a:rPr>
              <a:t> </a:t>
            </a:r>
            <a:r>
              <a:rPr lang="en-US" sz="2500" b="1" spc="-5" dirty="0" err="1">
                <a:solidFill>
                  <a:srgbClr val="FF0000"/>
                </a:solidFill>
                <a:latin typeface="Cambria" panose="02040503050406030204" pitchFamily="18" charset="0"/>
                <a:ea typeface="Cambria" panose="02040503050406030204" pitchFamily="18" charset="0"/>
                <a:cs typeface="Segoe UI"/>
              </a:rPr>
              <a:t>đường</a:t>
            </a:r>
            <a:r>
              <a:rPr lang="en-US" sz="2500" b="1" spc="-5" dirty="0">
                <a:solidFill>
                  <a:srgbClr val="FF0000"/>
                </a:solidFill>
                <a:latin typeface="Cambria" panose="02040503050406030204" pitchFamily="18" charset="0"/>
                <a:ea typeface="Cambria" panose="02040503050406030204" pitchFamily="18" charset="0"/>
                <a:cs typeface="Segoe UI"/>
              </a:rPr>
              <a:t> </a:t>
            </a:r>
            <a:r>
              <a:rPr lang="en-US" sz="2500" b="1" spc="-5" dirty="0" err="1">
                <a:solidFill>
                  <a:srgbClr val="FF0000"/>
                </a:solidFill>
                <a:latin typeface="Cambria" panose="02040503050406030204" pitchFamily="18" charset="0"/>
                <a:ea typeface="Cambria" panose="02040503050406030204" pitchFamily="18" charset="0"/>
                <a:cs typeface="Segoe UI"/>
              </a:rPr>
              <a:t>thẳng</a:t>
            </a:r>
            <a:endParaRPr lang="en-US" sz="2500" b="1" spc="-5" dirty="0">
              <a:solidFill>
                <a:srgbClr val="FF0000"/>
              </a:solidFill>
              <a:latin typeface="Cambria" panose="02040503050406030204" pitchFamily="18" charset="0"/>
              <a:ea typeface="Cambria" panose="02040503050406030204" pitchFamily="18" charset="0"/>
              <a:cs typeface="Segoe UI"/>
            </a:endParaRPr>
          </a:p>
        </p:txBody>
      </p:sp>
      <p:sp>
        <p:nvSpPr>
          <p:cNvPr id="3" name="Rectangle 2"/>
          <p:cNvSpPr/>
          <p:nvPr/>
        </p:nvSpPr>
        <p:spPr>
          <a:xfrm>
            <a:off x="7661591" y="793486"/>
            <a:ext cx="2826095" cy="477054"/>
          </a:xfrm>
          <a:prstGeom prst="rect">
            <a:avLst/>
          </a:prstGeom>
        </p:spPr>
        <p:txBody>
          <a:bodyPr wrap="none">
            <a:spAutoFit/>
          </a:bodyPr>
          <a:lstStyle/>
          <a:p>
            <a:r>
              <a:rPr lang="en-US" sz="2500" b="1" dirty="0" err="1">
                <a:solidFill>
                  <a:srgbClr val="333333"/>
                </a:solidFill>
                <a:latin typeface="Cambria" panose="02040503050406030204" pitchFamily="18" charset="0"/>
                <a:ea typeface="Cambria" panose="02040503050406030204" pitchFamily="18" charset="0"/>
              </a:rPr>
              <a:t>Ký</a:t>
            </a:r>
            <a:r>
              <a:rPr lang="en-US" sz="2500" b="1" dirty="0">
                <a:solidFill>
                  <a:srgbClr val="333333"/>
                </a:solidFill>
                <a:latin typeface="Cambria" panose="02040503050406030204" pitchFamily="18" charset="0"/>
                <a:ea typeface="Cambria" panose="02040503050406030204" pitchFamily="18" charset="0"/>
              </a:rPr>
              <a:t> </a:t>
            </a:r>
            <a:r>
              <a:rPr lang="en-US" sz="2500" b="1" dirty="0" err="1">
                <a:solidFill>
                  <a:srgbClr val="333333"/>
                </a:solidFill>
                <a:latin typeface="Cambria" panose="02040503050406030204" pitchFamily="18" charset="0"/>
                <a:ea typeface="Cambria" panose="02040503050406030204" pitchFamily="18" charset="0"/>
              </a:rPr>
              <a:t>tự</a:t>
            </a:r>
            <a:r>
              <a:rPr lang="en-US" sz="2500" b="1" dirty="0">
                <a:solidFill>
                  <a:srgbClr val="333333"/>
                </a:solidFill>
                <a:latin typeface="Cambria" panose="02040503050406030204" pitchFamily="18" charset="0"/>
                <a:ea typeface="Cambria" panose="02040503050406030204" pitchFamily="18" charset="0"/>
              </a:rPr>
              <a:t> </a:t>
            </a:r>
            <a:r>
              <a:rPr lang="en-US" sz="2500" b="1" dirty="0" err="1">
                <a:solidFill>
                  <a:srgbClr val="333333"/>
                </a:solidFill>
                <a:latin typeface="Cambria" panose="02040503050406030204" pitchFamily="18" charset="0"/>
                <a:ea typeface="Cambria" panose="02040503050406030204" pitchFamily="18" charset="0"/>
              </a:rPr>
              <a:t>chỉ</a:t>
            </a:r>
            <a:r>
              <a:rPr lang="en-US" sz="2500" b="1" dirty="0">
                <a:solidFill>
                  <a:srgbClr val="333333"/>
                </a:solidFill>
                <a:latin typeface="Cambria" panose="02040503050406030204" pitchFamily="18" charset="0"/>
                <a:ea typeface="Cambria" panose="02040503050406030204" pitchFamily="18" charset="0"/>
              </a:rPr>
              <a:t> </a:t>
            </a:r>
            <a:r>
              <a:rPr lang="en-US" sz="2500" b="1" dirty="0" err="1">
                <a:solidFill>
                  <a:srgbClr val="333333"/>
                </a:solidFill>
                <a:latin typeface="Cambria" panose="02040503050406030204" pitchFamily="18" charset="0"/>
                <a:ea typeface="Cambria" panose="02040503050406030204" pitchFamily="18" charset="0"/>
              </a:rPr>
              <a:t>màu</a:t>
            </a:r>
            <a:r>
              <a:rPr lang="en-US" sz="2500" b="1" dirty="0">
                <a:solidFill>
                  <a:srgbClr val="333333"/>
                </a:solidFill>
                <a:latin typeface="Cambria" panose="02040503050406030204" pitchFamily="18" charset="0"/>
                <a:ea typeface="Cambria" panose="02040503050406030204" pitchFamily="18" charset="0"/>
              </a:rPr>
              <a:t> </a:t>
            </a:r>
            <a:r>
              <a:rPr lang="en-US" sz="2500" b="1" dirty="0" err="1">
                <a:solidFill>
                  <a:srgbClr val="333333"/>
                </a:solidFill>
                <a:latin typeface="Cambria" panose="02040503050406030204" pitchFamily="18" charset="0"/>
                <a:ea typeface="Cambria" panose="02040503050406030204" pitchFamily="18" charset="0"/>
              </a:rPr>
              <a:t>sắc</a:t>
            </a:r>
            <a:endParaRPr lang="en-US" sz="2500" b="1" dirty="0">
              <a:latin typeface="Cambria" panose="02040503050406030204" pitchFamily="18" charset="0"/>
              <a:ea typeface="Cambria" panose="020405030504060302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522854145"/>
              </p:ext>
            </p:extLst>
          </p:nvPr>
        </p:nvGraphicFramePr>
        <p:xfrm>
          <a:off x="7263788" y="1374528"/>
          <a:ext cx="4240400" cy="4572000"/>
        </p:xfrm>
        <a:graphic>
          <a:graphicData uri="http://schemas.openxmlformats.org/drawingml/2006/table">
            <a:tbl>
              <a:tblPr/>
              <a:tblGrid>
                <a:gridCol w="1486183">
                  <a:extLst>
                    <a:ext uri="{9D8B030D-6E8A-4147-A177-3AD203B41FA5}">
                      <a16:colId xmlns:a16="http://schemas.microsoft.com/office/drawing/2014/main" val="3718431584"/>
                    </a:ext>
                  </a:extLst>
                </a:gridCol>
                <a:gridCol w="2754217">
                  <a:extLst>
                    <a:ext uri="{9D8B030D-6E8A-4147-A177-3AD203B41FA5}">
                      <a16:colId xmlns:a16="http://schemas.microsoft.com/office/drawing/2014/main" val="2061644618"/>
                    </a:ext>
                  </a:extLst>
                </a:gridCol>
              </a:tblGrid>
              <a:tr h="497840">
                <a:tc>
                  <a:txBody>
                    <a:bodyPr/>
                    <a:lstStyle/>
                    <a:p>
                      <a:pPr algn="l"/>
                      <a:r>
                        <a:rPr lang="en-US" sz="2500" b="1" dirty="0" err="1">
                          <a:solidFill>
                            <a:srgbClr val="333333"/>
                          </a:solidFill>
                          <a:effectLst/>
                          <a:latin typeface="Cambria" panose="02040503050406030204" pitchFamily="18" charset="0"/>
                          <a:ea typeface="Cambria" panose="02040503050406030204" pitchFamily="18" charset="0"/>
                        </a:rPr>
                        <a:t>Ký</a:t>
                      </a:r>
                      <a:r>
                        <a:rPr lang="en-US" sz="2500" b="1" dirty="0">
                          <a:solidFill>
                            <a:srgbClr val="333333"/>
                          </a:solidFill>
                          <a:effectLst/>
                          <a:latin typeface="Cambria" panose="02040503050406030204" pitchFamily="18" charset="0"/>
                          <a:ea typeface="Cambria" panose="02040503050406030204" pitchFamily="18" charset="0"/>
                        </a:rPr>
                        <a:t> </a:t>
                      </a:r>
                      <a:r>
                        <a:rPr lang="en-US" sz="2500" b="1" dirty="0" err="1">
                          <a:solidFill>
                            <a:srgbClr val="333333"/>
                          </a:solidFill>
                          <a:effectLst/>
                          <a:latin typeface="Cambria" panose="02040503050406030204" pitchFamily="18" charset="0"/>
                          <a:ea typeface="Cambria" panose="02040503050406030204" pitchFamily="18" charset="0"/>
                        </a:rPr>
                        <a:t>tự</a:t>
                      </a:r>
                      <a:endParaRPr lang="en-US" sz="2500" b="0" dirty="0">
                        <a:solidFill>
                          <a:srgbClr val="333333"/>
                        </a:solidFill>
                        <a:effectLst/>
                        <a:latin typeface="Cambria" panose="02040503050406030204" pitchFamily="18" charset="0"/>
                        <a:ea typeface="Cambria" panose="02040503050406030204" pitchFamily="18" charset="0"/>
                      </a:endParaRP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2500" b="1">
                          <a:solidFill>
                            <a:srgbClr val="333333"/>
                          </a:solidFill>
                          <a:effectLst/>
                          <a:latin typeface="Cambria" panose="02040503050406030204" pitchFamily="18" charset="0"/>
                          <a:ea typeface="Cambria" panose="02040503050406030204" pitchFamily="18" charset="0"/>
                        </a:rPr>
                        <a:t>Màu</a:t>
                      </a:r>
                      <a:endParaRPr lang="en-US" sz="2500" b="0">
                        <a:solidFill>
                          <a:srgbClr val="333333"/>
                        </a:solidFill>
                        <a:effectLst/>
                        <a:latin typeface="Cambria" panose="02040503050406030204" pitchFamily="18" charset="0"/>
                        <a:ea typeface="Cambria" panose="02040503050406030204" pitchFamily="18" charset="0"/>
                      </a:endParaRP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22025893"/>
                  </a:ext>
                </a:extLst>
              </a:tr>
              <a:tr h="497840">
                <a:tc>
                  <a:txBody>
                    <a:bodyPr/>
                    <a:lstStyle/>
                    <a:p>
                      <a:pPr algn="l"/>
                      <a:r>
                        <a:rPr lang="en-US" sz="2500" dirty="0">
                          <a:solidFill>
                            <a:srgbClr val="333333"/>
                          </a:solidFill>
                          <a:effectLst/>
                          <a:latin typeface="Cambria" panose="02040503050406030204" pitchFamily="18" charset="0"/>
                          <a:ea typeface="Cambria" panose="02040503050406030204" pitchFamily="18" charset="0"/>
                        </a:rPr>
                        <a:t>y</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2500">
                          <a:solidFill>
                            <a:srgbClr val="333333"/>
                          </a:solidFill>
                          <a:effectLst/>
                          <a:latin typeface="Cambria" panose="02040503050406030204" pitchFamily="18" charset="0"/>
                          <a:ea typeface="Cambria" panose="02040503050406030204" pitchFamily="18" charset="0"/>
                        </a:rPr>
                        <a:t>Vàng</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84836565"/>
                  </a:ext>
                </a:extLst>
              </a:tr>
              <a:tr h="497840">
                <a:tc>
                  <a:txBody>
                    <a:bodyPr/>
                    <a:lstStyle/>
                    <a:p>
                      <a:pPr algn="l"/>
                      <a:r>
                        <a:rPr lang="en-US" sz="2500" dirty="0">
                          <a:solidFill>
                            <a:srgbClr val="333333"/>
                          </a:solidFill>
                          <a:effectLst/>
                          <a:latin typeface="Cambria" panose="02040503050406030204" pitchFamily="18" charset="0"/>
                          <a:ea typeface="Cambria" panose="02040503050406030204" pitchFamily="18" charset="0"/>
                        </a:rPr>
                        <a:t>m</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vi-VN" sz="2500">
                          <a:solidFill>
                            <a:srgbClr val="333333"/>
                          </a:solidFill>
                          <a:effectLst/>
                          <a:latin typeface="Cambria" panose="02040503050406030204" pitchFamily="18" charset="0"/>
                          <a:ea typeface="Cambria" panose="02040503050406030204" pitchFamily="18" charset="0"/>
                        </a:rPr>
                        <a:t>Đỏ tươi</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5379179"/>
                  </a:ext>
                </a:extLst>
              </a:tr>
              <a:tr h="497840">
                <a:tc>
                  <a:txBody>
                    <a:bodyPr/>
                    <a:lstStyle/>
                    <a:p>
                      <a:pPr algn="l"/>
                      <a:r>
                        <a:rPr lang="en-US" sz="2500" dirty="0">
                          <a:solidFill>
                            <a:srgbClr val="333333"/>
                          </a:solidFill>
                          <a:effectLst/>
                          <a:latin typeface="Cambria" panose="02040503050406030204" pitchFamily="18" charset="0"/>
                          <a:ea typeface="Cambria" panose="02040503050406030204" pitchFamily="18" charset="0"/>
                        </a:rPr>
                        <a:t>c</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vi-VN" sz="2500">
                          <a:solidFill>
                            <a:srgbClr val="333333"/>
                          </a:solidFill>
                          <a:effectLst/>
                          <a:latin typeface="Cambria" panose="02040503050406030204" pitchFamily="18" charset="0"/>
                          <a:ea typeface="Cambria" panose="02040503050406030204" pitchFamily="18" charset="0"/>
                        </a:rPr>
                        <a:t>Lơ</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3735646"/>
                  </a:ext>
                </a:extLst>
              </a:tr>
              <a:tr h="497840">
                <a:tc>
                  <a:txBody>
                    <a:bodyPr/>
                    <a:lstStyle/>
                    <a:p>
                      <a:pPr algn="l"/>
                      <a:r>
                        <a:rPr lang="en-US" sz="2500" dirty="0">
                          <a:solidFill>
                            <a:srgbClr val="333333"/>
                          </a:solidFill>
                          <a:effectLst/>
                          <a:latin typeface="Cambria" panose="02040503050406030204" pitchFamily="18" charset="0"/>
                          <a:ea typeface="Cambria" panose="02040503050406030204" pitchFamily="18" charset="0"/>
                        </a:rPr>
                        <a:t>r</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2500" dirty="0" err="1">
                          <a:solidFill>
                            <a:srgbClr val="333333"/>
                          </a:solidFill>
                          <a:effectLst/>
                          <a:latin typeface="Cambria" panose="02040503050406030204" pitchFamily="18" charset="0"/>
                          <a:ea typeface="Cambria" panose="02040503050406030204" pitchFamily="18" charset="0"/>
                        </a:rPr>
                        <a:t>Đỏ</a:t>
                      </a:r>
                      <a:endParaRPr lang="en-US" sz="2500" dirty="0">
                        <a:solidFill>
                          <a:srgbClr val="333333"/>
                        </a:solidFill>
                        <a:effectLst/>
                        <a:latin typeface="Cambria" panose="02040503050406030204" pitchFamily="18" charset="0"/>
                        <a:ea typeface="Cambria" panose="02040503050406030204" pitchFamily="18" charset="0"/>
                      </a:endParaRP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7676601"/>
                  </a:ext>
                </a:extLst>
              </a:tr>
              <a:tr h="497840">
                <a:tc>
                  <a:txBody>
                    <a:bodyPr/>
                    <a:lstStyle/>
                    <a:p>
                      <a:pPr algn="l"/>
                      <a:r>
                        <a:rPr lang="en-US" sz="2500">
                          <a:solidFill>
                            <a:srgbClr val="333333"/>
                          </a:solidFill>
                          <a:effectLst/>
                          <a:latin typeface="Cambria" panose="02040503050406030204" pitchFamily="18" charset="0"/>
                          <a:ea typeface="Cambria" panose="02040503050406030204" pitchFamily="18" charset="0"/>
                        </a:rPr>
                        <a:t>g</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2500" dirty="0" err="1">
                          <a:solidFill>
                            <a:srgbClr val="333333"/>
                          </a:solidFill>
                          <a:effectLst/>
                          <a:latin typeface="Cambria" panose="02040503050406030204" pitchFamily="18" charset="0"/>
                          <a:ea typeface="Cambria" panose="02040503050406030204" pitchFamily="18" charset="0"/>
                        </a:rPr>
                        <a:t>Lục</a:t>
                      </a:r>
                      <a:endParaRPr lang="en-US" sz="2500" dirty="0">
                        <a:solidFill>
                          <a:srgbClr val="333333"/>
                        </a:solidFill>
                        <a:effectLst/>
                        <a:latin typeface="Cambria" panose="02040503050406030204" pitchFamily="18" charset="0"/>
                        <a:ea typeface="Cambria" panose="02040503050406030204" pitchFamily="18" charset="0"/>
                      </a:endParaRP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2064524"/>
                  </a:ext>
                </a:extLst>
              </a:tr>
              <a:tr h="497840">
                <a:tc>
                  <a:txBody>
                    <a:bodyPr/>
                    <a:lstStyle/>
                    <a:p>
                      <a:pPr algn="l"/>
                      <a:r>
                        <a:rPr lang="en-US" sz="2500" dirty="0">
                          <a:solidFill>
                            <a:srgbClr val="333333"/>
                          </a:solidFill>
                          <a:effectLst/>
                          <a:latin typeface="Cambria" panose="02040503050406030204" pitchFamily="18" charset="0"/>
                          <a:ea typeface="Cambria" panose="02040503050406030204" pitchFamily="18" charset="0"/>
                        </a:rPr>
                        <a:t>b</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2500" dirty="0">
                          <a:solidFill>
                            <a:srgbClr val="333333"/>
                          </a:solidFill>
                          <a:effectLst/>
                          <a:latin typeface="Cambria" panose="02040503050406030204" pitchFamily="18" charset="0"/>
                          <a:ea typeface="Cambria" panose="02040503050406030204" pitchFamily="18" charset="0"/>
                        </a:rPr>
                        <a:t>Lam</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8465057"/>
                  </a:ext>
                </a:extLst>
              </a:tr>
              <a:tr h="497840">
                <a:tc>
                  <a:txBody>
                    <a:bodyPr/>
                    <a:lstStyle/>
                    <a:p>
                      <a:pPr algn="l"/>
                      <a:r>
                        <a:rPr lang="en-US" sz="2500">
                          <a:solidFill>
                            <a:srgbClr val="333333"/>
                          </a:solidFill>
                          <a:effectLst/>
                          <a:latin typeface="Cambria" panose="02040503050406030204" pitchFamily="18" charset="0"/>
                          <a:ea typeface="Cambria" panose="02040503050406030204" pitchFamily="18" charset="0"/>
                        </a:rPr>
                        <a:t>w</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2500" dirty="0" err="1">
                          <a:solidFill>
                            <a:srgbClr val="333333"/>
                          </a:solidFill>
                          <a:effectLst/>
                          <a:latin typeface="Cambria" panose="02040503050406030204" pitchFamily="18" charset="0"/>
                          <a:ea typeface="Cambria" panose="02040503050406030204" pitchFamily="18" charset="0"/>
                        </a:rPr>
                        <a:t>Trắng</a:t>
                      </a:r>
                      <a:endParaRPr lang="en-US" sz="2500" dirty="0">
                        <a:solidFill>
                          <a:srgbClr val="333333"/>
                        </a:solidFill>
                        <a:effectLst/>
                        <a:latin typeface="Cambria" panose="02040503050406030204" pitchFamily="18" charset="0"/>
                        <a:ea typeface="Cambria" panose="02040503050406030204" pitchFamily="18" charset="0"/>
                      </a:endParaRP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26477232"/>
                  </a:ext>
                </a:extLst>
              </a:tr>
              <a:tr h="497840">
                <a:tc>
                  <a:txBody>
                    <a:bodyPr/>
                    <a:lstStyle/>
                    <a:p>
                      <a:pPr algn="l"/>
                      <a:r>
                        <a:rPr lang="en-US" sz="2500">
                          <a:solidFill>
                            <a:srgbClr val="333333"/>
                          </a:solidFill>
                          <a:effectLst/>
                          <a:latin typeface="Cambria" panose="02040503050406030204" pitchFamily="18" charset="0"/>
                          <a:ea typeface="Cambria" panose="02040503050406030204" pitchFamily="18" charset="0"/>
                        </a:rPr>
                        <a:t>k</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US" sz="2500" dirty="0" err="1">
                          <a:solidFill>
                            <a:srgbClr val="333333"/>
                          </a:solidFill>
                          <a:effectLst/>
                          <a:latin typeface="Cambria" panose="02040503050406030204" pitchFamily="18" charset="0"/>
                          <a:ea typeface="Cambria" panose="02040503050406030204" pitchFamily="18" charset="0"/>
                        </a:rPr>
                        <a:t>Đen</a:t>
                      </a:r>
                      <a:endParaRPr lang="en-US" sz="2500" dirty="0">
                        <a:solidFill>
                          <a:srgbClr val="333333"/>
                        </a:solidFill>
                        <a:effectLst/>
                        <a:latin typeface="Cambria" panose="02040503050406030204" pitchFamily="18" charset="0"/>
                        <a:ea typeface="Cambria" panose="02040503050406030204" pitchFamily="18" charset="0"/>
                      </a:endParaRP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1323641"/>
                  </a:ext>
                </a:extLst>
              </a:tr>
            </a:tbl>
          </a:graphicData>
        </a:graphic>
      </p:graphicFrame>
      <p:sp>
        <p:nvSpPr>
          <p:cNvPr id="5" name="Rectangle 4"/>
          <p:cNvSpPr/>
          <p:nvPr/>
        </p:nvSpPr>
        <p:spPr>
          <a:xfrm>
            <a:off x="2046871" y="1522126"/>
            <a:ext cx="4027256" cy="477054"/>
          </a:xfrm>
          <a:prstGeom prst="rect">
            <a:avLst/>
          </a:prstGeom>
        </p:spPr>
        <p:txBody>
          <a:bodyPr wrap="none">
            <a:spAutoFit/>
          </a:bodyPr>
          <a:lstStyle/>
          <a:p>
            <a:r>
              <a:rPr lang="en-US" sz="2500" b="1" dirty="0" err="1">
                <a:solidFill>
                  <a:srgbClr val="333333"/>
                </a:solidFill>
                <a:latin typeface="Cambria" panose="02040503050406030204" pitchFamily="18" charset="0"/>
                <a:ea typeface="Cambria" panose="02040503050406030204" pitchFamily="18" charset="0"/>
              </a:rPr>
              <a:t>Ký</a:t>
            </a:r>
            <a:r>
              <a:rPr lang="en-US" sz="2500" b="1" dirty="0">
                <a:solidFill>
                  <a:srgbClr val="333333"/>
                </a:solidFill>
                <a:latin typeface="Cambria" panose="02040503050406030204" pitchFamily="18" charset="0"/>
                <a:ea typeface="Cambria" panose="02040503050406030204" pitchFamily="18" charset="0"/>
              </a:rPr>
              <a:t> </a:t>
            </a:r>
            <a:r>
              <a:rPr lang="en-US" sz="2500" b="1" dirty="0" err="1">
                <a:solidFill>
                  <a:srgbClr val="333333"/>
                </a:solidFill>
                <a:latin typeface="Cambria" panose="02040503050406030204" pitchFamily="18" charset="0"/>
                <a:ea typeface="Cambria" panose="02040503050406030204" pitchFamily="18" charset="0"/>
              </a:rPr>
              <a:t>tự</a:t>
            </a:r>
            <a:r>
              <a:rPr lang="en-US" sz="2500" b="1" dirty="0">
                <a:solidFill>
                  <a:srgbClr val="333333"/>
                </a:solidFill>
                <a:latin typeface="Cambria" panose="02040503050406030204" pitchFamily="18" charset="0"/>
                <a:ea typeface="Cambria" panose="02040503050406030204" pitchFamily="18" charset="0"/>
              </a:rPr>
              <a:t> </a:t>
            </a:r>
            <a:r>
              <a:rPr lang="en-US" sz="2500" b="1" dirty="0" err="1">
                <a:solidFill>
                  <a:srgbClr val="333333"/>
                </a:solidFill>
                <a:latin typeface="Cambria" panose="02040503050406030204" pitchFamily="18" charset="0"/>
                <a:ea typeface="Cambria" panose="02040503050406030204" pitchFamily="18" charset="0"/>
              </a:rPr>
              <a:t>chỉ</a:t>
            </a:r>
            <a:r>
              <a:rPr lang="en-US" sz="2500" b="1" dirty="0">
                <a:solidFill>
                  <a:srgbClr val="333333"/>
                </a:solidFill>
                <a:latin typeface="Cambria" panose="02040503050406030204" pitchFamily="18" charset="0"/>
                <a:ea typeface="Cambria" panose="02040503050406030204" pitchFamily="18" charset="0"/>
              </a:rPr>
              <a:t> </a:t>
            </a:r>
            <a:r>
              <a:rPr lang="en-US" sz="2500" b="1" dirty="0" err="1">
                <a:solidFill>
                  <a:srgbClr val="333333"/>
                </a:solidFill>
                <a:latin typeface="Cambria" panose="02040503050406030204" pitchFamily="18" charset="0"/>
                <a:ea typeface="Cambria" panose="02040503050406030204" pitchFamily="18" charset="0"/>
              </a:rPr>
              <a:t>nét</a:t>
            </a:r>
            <a:r>
              <a:rPr lang="en-US" sz="2500" b="1" dirty="0">
                <a:solidFill>
                  <a:srgbClr val="333333"/>
                </a:solidFill>
                <a:latin typeface="Cambria" panose="02040503050406030204" pitchFamily="18" charset="0"/>
                <a:ea typeface="Cambria" panose="02040503050406030204" pitchFamily="18" charset="0"/>
              </a:rPr>
              <a:t> </a:t>
            </a:r>
            <a:r>
              <a:rPr lang="en-US" sz="2500" b="1" dirty="0" err="1">
                <a:solidFill>
                  <a:srgbClr val="333333"/>
                </a:solidFill>
                <a:latin typeface="Cambria" panose="02040503050406030204" pitchFamily="18" charset="0"/>
                <a:ea typeface="Cambria" panose="02040503050406030204" pitchFamily="18" charset="0"/>
              </a:rPr>
              <a:t>vẽ</a:t>
            </a:r>
            <a:r>
              <a:rPr lang="en-US" sz="2500" b="1" dirty="0">
                <a:solidFill>
                  <a:srgbClr val="333333"/>
                </a:solidFill>
                <a:latin typeface="Cambria" panose="02040503050406030204" pitchFamily="18" charset="0"/>
                <a:ea typeface="Cambria" panose="02040503050406030204" pitchFamily="18" charset="0"/>
              </a:rPr>
              <a:t> </a:t>
            </a:r>
            <a:r>
              <a:rPr lang="en-US" sz="2500" b="1" dirty="0" err="1">
                <a:solidFill>
                  <a:srgbClr val="333333"/>
                </a:solidFill>
                <a:latin typeface="Cambria" panose="02040503050406030204" pitchFamily="18" charset="0"/>
                <a:ea typeface="Cambria" panose="02040503050406030204" pitchFamily="18" charset="0"/>
              </a:rPr>
              <a:t>của</a:t>
            </a:r>
            <a:r>
              <a:rPr lang="en-US" sz="2500" b="1" dirty="0">
                <a:solidFill>
                  <a:srgbClr val="333333"/>
                </a:solidFill>
                <a:latin typeface="Cambria" panose="02040503050406030204" pitchFamily="18" charset="0"/>
                <a:ea typeface="Cambria" panose="02040503050406030204" pitchFamily="18" charset="0"/>
              </a:rPr>
              <a:t> </a:t>
            </a:r>
            <a:r>
              <a:rPr lang="en-US" sz="2500" b="1" dirty="0" err="1">
                <a:solidFill>
                  <a:srgbClr val="333333"/>
                </a:solidFill>
                <a:latin typeface="Cambria" panose="02040503050406030204" pitchFamily="18" charset="0"/>
                <a:ea typeface="Cambria" panose="02040503050406030204" pitchFamily="18" charset="0"/>
              </a:rPr>
              <a:t>đồ</a:t>
            </a:r>
            <a:r>
              <a:rPr lang="en-US" sz="2500" b="1" dirty="0">
                <a:solidFill>
                  <a:srgbClr val="333333"/>
                </a:solidFill>
                <a:latin typeface="Cambria" panose="02040503050406030204" pitchFamily="18" charset="0"/>
                <a:ea typeface="Cambria" panose="02040503050406030204" pitchFamily="18" charset="0"/>
              </a:rPr>
              <a:t> </a:t>
            </a:r>
            <a:r>
              <a:rPr lang="en-US" sz="2500" b="1" dirty="0" err="1">
                <a:solidFill>
                  <a:srgbClr val="333333"/>
                </a:solidFill>
                <a:latin typeface="Cambria" panose="02040503050406030204" pitchFamily="18" charset="0"/>
                <a:ea typeface="Cambria" panose="02040503050406030204" pitchFamily="18" charset="0"/>
              </a:rPr>
              <a:t>thị</a:t>
            </a:r>
            <a:endParaRPr lang="en-US" sz="2500" b="1" dirty="0">
              <a:solidFill>
                <a:srgbClr val="333333"/>
              </a:solidFill>
              <a:latin typeface="Cambria" panose="02040503050406030204" pitchFamily="18" charset="0"/>
              <a:ea typeface="Cambria" panose="02040503050406030204" pitchFamily="18" charset="0"/>
            </a:endParaRPr>
          </a:p>
        </p:txBody>
      </p:sp>
      <p:graphicFrame>
        <p:nvGraphicFramePr>
          <p:cNvPr id="11" name="Table 10"/>
          <p:cNvGraphicFramePr>
            <a:graphicFrameLocks noGrp="1"/>
          </p:cNvGraphicFramePr>
          <p:nvPr>
            <p:extLst>
              <p:ext uri="{D42A27DB-BD31-4B8C-83A1-F6EECF244321}">
                <p14:modId xmlns:p14="http://schemas.microsoft.com/office/powerpoint/2010/main" val="2349263771"/>
              </p:ext>
            </p:extLst>
          </p:nvPr>
        </p:nvGraphicFramePr>
        <p:xfrm>
          <a:off x="1304859" y="2111147"/>
          <a:ext cx="5080000" cy="2540000"/>
        </p:xfrm>
        <a:graphic>
          <a:graphicData uri="http://schemas.openxmlformats.org/drawingml/2006/table">
            <a:tbl>
              <a:tblPr/>
              <a:tblGrid>
                <a:gridCol w="1170236">
                  <a:extLst>
                    <a:ext uri="{9D8B030D-6E8A-4147-A177-3AD203B41FA5}">
                      <a16:colId xmlns:a16="http://schemas.microsoft.com/office/drawing/2014/main" val="674042023"/>
                    </a:ext>
                  </a:extLst>
                </a:gridCol>
                <a:gridCol w="3909764">
                  <a:extLst>
                    <a:ext uri="{9D8B030D-6E8A-4147-A177-3AD203B41FA5}">
                      <a16:colId xmlns:a16="http://schemas.microsoft.com/office/drawing/2014/main" val="2251116507"/>
                    </a:ext>
                  </a:extLst>
                </a:gridCol>
              </a:tblGrid>
              <a:tr h="475291">
                <a:tc>
                  <a:txBody>
                    <a:bodyPr/>
                    <a:lstStyle/>
                    <a:p>
                      <a:pPr algn="ctr"/>
                      <a:r>
                        <a:rPr lang="en-US" sz="2500" b="1">
                          <a:solidFill>
                            <a:srgbClr val="333333"/>
                          </a:solidFill>
                          <a:effectLst/>
                          <a:latin typeface="Cambria" panose="02040503050406030204" pitchFamily="18" charset="0"/>
                          <a:ea typeface="Cambria" panose="02040503050406030204" pitchFamily="18" charset="0"/>
                        </a:rPr>
                        <a:t>Ký tự</a:t>
                      </a:r>
                      <a:endParaRPr lang="en-US" sz="2500" b="0">
                        <a:solidFill>
                          <a:srgbClr val="333333"/>
                        </a:solidFill>
                        <a:effectLst/>
                        <a:latin typeface="Cambria" panose="02040503050406030204" pitchFamily="18" charset="0"/>
                        <a:ea typeface="Cambria" panose="02040503050406030204" pitchFamily="18" charset="0"/>
                      </a:endParaRP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a:r>
                        <a:rPr lang="en-US" sz="2500" b="1" dirty="0" err="1">
                          <a:solidFill>
                            <a:srgbClr val="333333"/>
                          </a:solidFill>
                          <a:effectLst/>
                          <a:latin typeface="Cambria" panose="02040503050406030204" pitchFamily="18" charset="0"/>
                          <a:ea typeface="Cambria" panose="02040503050406030204" pitchFamily="18" charset="0"/>
                        </a:rPr>
                        <a:t>Loại</a:t>
                      </a:r>
                      <a:r>
                        <a:rPr lang="en-US" sz="2500" b="1" dirty="0">
                          <a:solidFill>
                            <a:srgbClr val="333333"/>
                          </a:solidFill>
                          <a:effectLst/>
                          <a:latin typeface="Cambria" panose="02040503050406030204" pitchFamily="18" charset="0"/>
                          <a:ea typeface="Cambria" panose="02040503050406030204" pitchFamily="18" charset="0"/>
                        </a:rPr>
                        <a:t> </a:t>
                      </a:r>
                      <a:r>
                        <a:rPr lang="en-US" sz="2500" b="1" dirty="0" err="1">
                          <a:solidFill>
                            <a:srgbClr val="333333"/>
                          </a:solidFill>
                          <a:effectLst/>
                          <a:latin typeface="Cambria" panose="02040503050406030204" pitchFamily="18" charset="0"/>
                          <a:ea typeface="Cambria" panose="02040503050406030204" pitchFamily="18" charset="0"/>
                        </a:rPr>
                        <a:t>nét</a:t>
                      </a:r>
                      <a:r>
                        <a:rPr lang="en-US" sz="2500" b="1" dirty="0">
                          <a:solidFill>
                            <a:srgbClr val="333333"/>
                          </a:solidFill>
                          <a:effectLst/>
                          <a:latin typeface="Cambria" panose="02040503050406030204" pitchFamily="18" charset="0"/>
                          <a:ea typeface="Cambria" panose="02040503050406030204" pitchFamily="18" charset="0"/>
                        </a:rPr>
                        <a:t> </a:t>
                      </a:r>
                      <a:r>
                        <a:rPr lang="en-US" sz="2500" b="1" dirty="0" err="1">
                          <a:solidFill>
                            <a:srgbClr val="333333"/>
                          </a:solidFill>
                          <a:effectLst/>
                          <a:latin typeface="Cambria" panose="02040503050406030204" pitchFamily="18" charset="0"/>
                          <a:ea typeface="Cambria" panose="02040503050406030204" pitchFamily="18" charset="0"/>
                        </a:rPr>
                        <a:t>vẽ</a:t>
                      </a:r>
                      <a:endParaRPr lang="en-US" sz="2500" b="0" dirty="0">
                        <a:solidFill>
                          <a:srgbClr val="333333"/>
                        </a:solidFill>
                        <a:effectLst/>
                        <a:latin typeface="Cambria" panose="02040503050406030204" pitchFamily="18" charset="0"/>
                        <a:ea typeface="Cambria" panose="02040503050406030204" pitchFamily="18" charset="0"/>
                      </a:endParaRP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443947917"/>
                  </a:ext>
                </a:extLst>
              </a:tr>
              <a:tr h="0">
                <a:tc>
                  <a:txBody>
                    <a:bodyPr/>
                    <a:lstStyle/>
                    <a:p>
                      <a:r>
                        <a:rPr lang="en-US" sz="2500">
                          <a:solidFill>
                            <a:srgbClr val="333333"/>
                          </a:solidFill>
                          <a:effectLst/>
                          <a:latin typeface="Cambria" panose="02040503050406030204" pitchFamily="18" charset="0"/>
                          <a:ea typeface="Cambria" panose="02040503050406030204" pitchFamily="18" charset="0"/>
                        </a:rPr>
                        <a:t>-</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vi-VN" sz="2500">
                          <a:solidFill>
                            <a:srgbClr val="333333"/>
                          </a:solidFill>
                          <a:effectLst/>
                          <a:latin typeface="Cambria" panose="02040503050406030204" pitchFamily="18" charset="0"/>
                          <a:ea typeface="Cambria" panose="02040503050406030204" pitchFamily="18" charset="0"/>
                        </a:rPr>
                        <a:t>Đường liền nét</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897099645"/>
                  </a:ext>
                </a:extLst>
              </a:tr>
              <a:tr h="0">
                <a:tc>
                  <a:txBody>
                    <a:bodyPr/>
                    <a:lstStyle/>
                    <a:p>
                      <a:r>
                        <a:rPr lang="en-US" sz="2500">
                          <a:solidFill>
                            <a:srgbClr val="333333"/>
                          </a:solidFill>
                          <a:effectLst/>
                          <a:latin typeface="Cambria" panose="02040503050406030204" pitchFamily="18" charset="0"/>
                          <a:ea typeface="Cambria" panose="02040503050406030204" pitchFamily="18" charset="0"/>
                        </a:rPr>
                        <a:t>:</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vi-VN" sz="2500">
                          <a:solidFill>
                            <a:srgbClr val="333333"/>
                          </a:solidFill>
                          <a:effectLst/>
                          <a:latin typeface="Cambria" panose="02040503050406030204" pitchFamily="18" charset="0"/>
                          <a:ea typeface="Cambria" panose="02040503050406030204" pitchFamily="18" charset="0"/>
                        </a:rPr>
                        <a:t>Đường chấm chấm</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92720004"/>
                  </a:ext>
                </a:extLst>
              </a:tr>
              <a:tr h="0">
                <a:tc>
                  <a:txBody>
                    <a:bodyPr/>
                    <a:lstStyle/>
                    <a:p>
                      <a:r>
                        <a:rPr lang="en-US" sz="2500">
                          <a:solidFill>
                            <a:srgbClr val="333333"/>
                          </a:solidFill>
                          <a:effectLst/>
                          <a:latin typeface="Cambria" panose="02040503050406030204" pitchFamily="18" charset="0"/>
                          <a:ea typeface="Cambria" panose="02040503050406030204" pitchFamily="18" charset="0"/>
                        </a:rPr>
                        <a:t>-</a:t>
                      </a:r>
                      <a:r>
                        <a:rPr lang="en-US" sz="2500" baseline="-25000">
                          <a:solidFill>
                            <a:srgbClr val="333333"/>
                          </a:solidFill>
                          <a:effectLst/>
                          <a:latin typeface="Cambria" panose="02040503050406030204" pitchFamily="18" charset="0"/>
                          <a:ea typeface="Cambria" panose="02040503050406030204" pitchFamily="18" charset="0"/>
                        </a:rPr>
                        <a:t>.</a:t>
                      </a:r>
                      <a:endParaRPr lang="en-US" sz="2500">
                        <a:solidFill>
                          <a:srgbClr val="333333"/>
                        </a:solidFill>
                        <a:effectLst/>
                        <a:latin typeface="Cambria" panose="02040503050406030204" pitchFamily="18" charset="0"/>
                        <a:ea typeface="Cambria" panose="02040503050406030204" pitchFamily="18" charset="0"/>
                      </a:endParaRP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vi-VN" sz="2500">
                          <a:solidFill>
                            <a:srgbClr val="333333"/>
                          </a:solidFill>
                          <a:effectLst/>
                          <a:latin typeface="Cambria" panose="02040503050406030204" pitchFamily="18" charset="0"/>
                          <a:ea typeface="Cambria" panose="02040503050406030204" pitchFamily="18" charset="0"/>
                        </a:rPr>
                        <a:t>Đường gạch chấm</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02343367"/>
                  </a:ext>
                </a:extLst>
              </a:tr>
              <a:tr h="0">
                <a:tc>
                  <a:txBody>
                    <a:bodyPr/>
                    <a:lstStyle/>
                    <a:p>
                      <a:r>
                        <a:rPr lang="en-US" sz="2500">
                          <a:solidFill>
                            <a:srgbClr val="333333"/>
                          </a:solidFill>
                          <a:effectLst/>
                          <a:latin typeface="Cambria" panose="02040503050406030204" pitchFamily="18" charset="0"/>
                          <a:ea typeface="Cambria" panose="02040503050406030204" pitchFamily="18" charset="0"/>
                        </a:rPr>
                        <a:t>--</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r>
                        <a:rPr lang="vi-VN" sz="2500" dirty="0">
                          <a:solidFill>
                            <a:srgbClr val="333333"/>
                          </a:solidFill>
                          <a:effectLst/>
                          <a:latin typeface="Cambria" panose="02040503050406030204" pitchFamily="18" charset="0"/>
                          <a:ea typeface="Cambria" panose="02040503050406030204" pitchFamily="18" charset="0"/>
                        </a:rPr>
                        <a:t>Đường nét đứt đoạn</a:t>
                      </a:r>
                    </a:p>
                  </a:txBody>
                  <a:tcPr marL="63500" marR="63500" marT="63500" marB="63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16205695"/>
                  </a:ext>
                </a:extLst>
              </a:tr>
            </a:tbl>
          </a:graphicData>
        </a:graphic>
      </p:graphicFrame>
      <p:sp>
        <p:nvSpPr>
          <p:cNvPr id="12" name="Rectangle 11"/>
          <p:cNvSpPr/>
          <p:nvPr/>
        </p:nvSpPr>
        <p:spPr>
          <a:xfrm>
            <a:off x="192156" y="5053889"/>
            <a:ext cx="7071632" cy="477054"/>
          </a:xfrm>
          <a:prstGeom prst="rect">
            <a:avLst/>
          </a:prstGeom>
        </p:spPr>
        <p:txBody>
          <a:bodyPr wrap="square">
            <a:spAutoFit/>
          </a:bodyPr>
          <a:lstStyle/>
          <a:p>
            <a:r>
              <a:rPr lang="en-US" sz="2500" b="1" dirty="0" err="1">
                <a:solidFill>
                  <a:srgbClr val="333333"/>
                </a:solidFill>
                <a:latin typeface="Cambria" panose="02040503050406030204" pitchFamily="18" charset="0"/>
                <a:ea typeface="Cambria" panose="02040503050406030204" pitchFamily="18" charset="0"/>
              </a:rPr>
              <a:t>Ký</a:t>
            </a:r>
            <a:r>
              <a:rPr lang="en-US" dirty="0">
                <a:solidFill>
                  <a:srgbClr val="333333"/>
                </a:solidFill>
                <a:latin typeface="Arial" panose="020B0604020202020204" pitchFamily="34" charset="0"/>
              </a:rPr>
              <a:t> </a:t>
            </a:r>
            <a:r>
              <a:rPr lang="en-US" sz="2500" b="1" dirty="0" err="1">
                <a:solidFill>
                  <a:srgbClr val="333333"/>
                </a:solidFill>
                <a:latin typeface="Cambria" panose="02040503050406030204" pitchFamily="18" charset="0"/>
                <a:ea typeface="Cambria" panose="02040503050406030204" pitchFamily="18" charset="0"/>
              </a:rPr>
              <a:t>tự</a:t>
            </a:r>
            <a:r>
              <a:rPr lang="en-US" sz="2500" b="1" dirty="0">
                <a:solidFill>
                  <a:srgbClr val="333333"/>
                </a:solidFill>
                <a:latin typeface="Cambria" panose="02040503050406030204" pitchFamily="18" charset="0"/>
                <a:ea typeface="Cambria" panose="02040503050406030204" pitchFamily="18" charset="0"/>
              </a:rPr>
              <a:t> </a:t>
            </a:r>
            <a:r>
              <a:rPr lang="en-US" sz="2500" b="1" dirty="0" err="1">
                <a:solidFill>
                  <a:srgbClr val="333333"/>
                </a:solidFill>
                <a:latin typeface="Cambria" panose="02040503050406030204" pitchFamily="18" charset="0"/>
                <a:ea typeface="Cambria" panose="02040503050406030204" pitchFamily="18" charset="0"/>
              </a:rPr>
              <a:t>chỉ</a:t>
            </a:r>
            <a:r>
              <a:rPr lang="en-US" sz="2500" b="1" dirty="0">
                <a:solidFill>
                  <a:srgbClr val="333333"/>
                </a:solidFill>
                <a:latin typeface="Cambria" panose="02040503050406030204" pitchFamily="18" charset="0"/>
                <a:ea typeface="Cambria" panose="02040503050406030204" pitchFamily="18" charset="0"/>
              </a:rPr>
              <a:t> </a:t>
            </a:r>
            <a:r>
              <a:rPr lang="en-US" sz="2500" b="1" dirty="0" err="1">
                <a:solidFill>
                  <a:srgbClr val="333333"/>
                </a:solidFill>
                <a:latin typeface="Cambria" panose="02040503050406030204" pitchFamily="18" charset="0"/>
                <a:ea typeface="Cambria" panose="02040503050406030204" pitchFamily="18" charset="0"/>
              </a:rPr>
              <a:t>loại</a:t>
            </a:r>
            <a:r>
              <a:rPr lang="en-US" sz="2500" b="1" dirty="0">
                <a:solidFill>
                  <a:srgbClr val="333333"/>
                </a:solidFill>
                <a:latin typeface="Cambria" panose="02040503050406030204" pitchFamily="18" charset="0"/>
                <a:ea typeface="Cambria" panose="02040503050406030204" pitchFamily="18" charset="0"/>
              </a:rPr>
              <a:t> </a:t>
            </a:r>
            <a:r>
              <a:rPr lang="en-US" sz="2500" b="1" dirty="0" err="1">
                <a:solidFill>
                  <a:srgbClr val="333333"/>
                </a:solidFill>
                <a:latin typeface="Cambria" panose="02040503050406030204" pitchFamily="18" charset="0"/>
                <a:ea typeface="Cambria" panose="02040503050406030204" pitchFamily="18" charset="0"/>
              </a:rPr>
              <a:t>điểm</a:t>
            </a:r>
            <a:r>
              <a:rPr lang="en-US" sz="2500" b="1" dirty="0">
                <a:solidFill>
                  <a:srgbClr val="333333"/>
                </a:solidFill>
                <a:latin typeface="Cambria" panose="02040503050406030204" pitchFamily="18" charset="0"/>
                <a:ea typeface="Cambria" panose="02040503050406030204" pitchFamily="18" charset="0"/>
              </a:rPr>
              <a:t> </a:t>
            </a:r>
            <a:r>
              <a:rPr lang="en-US" sz="2500" b="1" dirty="0" err="1">
                <a:solidFill>
                  <a:srgbClr val="333333"/>
                </a:solidFill>
                <a:latin typeface="Cambria" panose="02040503050406030204" pitchFamily="18" charset="0"/>
                <a:ea typeface="Cambria" panose="02040503050406030204" pitchFamily="18" charset="0"/>
              </a:rPr>
              <a:t>đánh</a:t>
            </a:r>
            <a:r>
              <a:rPr lang="en-US" sz="2500" b="1" dirty="0">
                <a:solidFill>
                  <a:srgbClr val="333333"/>
                </a:solidFill>
                <a:latin typeface="Cambria" panose="02040503050406030204" pitchFamily="18" charset="0"/>
                <a:ea typeface="Cambria" panose="02040503050406030204" pitchFamily="18" charset="0"/>
              </a:rPr>
              <a:t> </a:t>
            </a:r>
            <a:r>
              <a:rPr lang="en-US" sz="2500" b="1" dirty="0" err="1">
                <a:solidFill>
                  <a:srgbClr val="333333"/>
                </a:solidFill>
                <a:latin typeface="Cambria" panose="02040503050406030204" pitchFamily="18" charset="0"/>
                <a:ea typeface="Cambria" panose="02040503050406030204" pitchFamily="18" charset="0"/>
              </a:rPr>
              <a:t>dấu</a:t>
            </a:r>
            <a:r>
              <a:rPr lang="en-US" sz="2500" b="1" dirty="0">
                <a:solidFill>
                  <a:srgbClr val="333333"/>
                </a:solidFill>
                <a:latin typeface="Cambria" panose="02040503050406030204" pitchFamily="18" charset="0"/>
                <a:ea typeface="Cambria" panose="02040503050406030204" pitchFamily="18" charset="0"/>
              </a:rPr>
              <a:t>: </a:t>
            </a:r>
            <a:r>
              <a:rPr lang="en-US" sz="2500" b="1" dirty="0">
                <a:solidFill>
                  <a:srgbClr val="FF0000"/>
                </a:solidFill>
                <a:latin typeface="Cambria" panose="02040503050406030204" pitchFamily="18" charset="0"/>
                <a:ea typeface="Cambria" panose="02040503050406030204" pitchFamily="18" charset="0"/>
              </a:rPr>
              <a:t>., o, x, +, *</a:t>
            </a:r>
          </a:p>
        </p:txBody>
      </p:sp>
    </p:spTree>
    <p:extLst>
      <p:ext uri="{BB962C8B-B14F-4D97-AF65-F5344CB8AC3E}">
        <p14:creationId xmlns:p14="http://schemas.microsoft.com/office/powerpoint/2010/main" val="21321109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MATPLOTLID</a:t>
            </a:r>
          </a:p>
        </p:txBody>
      </p:sp>
      <p:sp>
        <p:nvSpPr>
          <p:cNvPr id="11" name="Content Placeholder 2">
            <a:extLst>
              <a:ext uri="{FF2B5EF4-FFF2-40B4-BE49-F238E27FC236}">
                <a16:creationId xmlns:a16="http://schemas.microsoft.com/office/drawing/2014/main" id="{D84E1B89-45F1-4C39-88F0-3A380DA733A9}"/>
              </a:ext>
            </a:extLst>
          </p:cNvPr>
          <p:cNvSpPr>
            <a:spLocks noGrp="1"/>
          </p:cNvSpPr>
          <p:nvPr>
            <p:ph idx="1"/>
          </p:nvPr>
        </p:nvSpPr>
        <p:spPr>
          <a:xfrm>
            <a:off x="79513" y="721084"/>
            <a:ext cx="8229600" cy="479356"/>
          </a:xfrm>
        </p:spPr>
        <p:txBody>
          <a:bodyPr>
            <a:noAutofit/>
          </a:bodyPr>
          <a:lstStyle/>
          <a:p>
            <a:pPr marL="0" lvl="1" indent="0" algn="just">
              <a:spcBef>
                <a:spcPts val="580"/>
              </a:spcBef>
              <a:buClr>
                <a:srgbClr val="FF5A33"/>
              </a:buClr>
              <a:buNone/>
            </a:pPr>
            <a:r>
              <a:rPr lang="en-US" sz="2500" b="1" spc="-5" dirty="0" err="1">
                <a:latin typeface="Cambria" panose="02040503050406030204" pitchFamily="18" charset="0"/>
                <a:ea typeface="Cambria" panose="02040503050406030204" pitchFamily="18" charset="0"/>
                <a:cs typeface="Segoe UI"/>
              </a:rPr>
              <a:t>Ví</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dụ</a:t>
            </a:r>
            <a:r>
              <a:rPr lang="en-US" sz="2500" b="1" spc="-5" dirty="0">
                <a:latin typeface="Cambria" panose="02040503050406030204" pitchFamily="18" charset="0"/>
                <a:ea typeface="Cambria" panose="02040503050406030204" pitchFamily="18" charset="0"/>
                <a:cs typeface="Segoe UI"/>
              </a:rPr>
              <a:t> 1: </a:t>
            </a:r>
            <a:r>
              <a:rPr lang="en-US" sz="2500" b="1" spc="-5" dirty="0" err="1">
                <a:latin typeface="Cambria" panose="02040503050406030204" pitchFamily="18" charset="0"/>
                <a:ea typeface="Cambria" panose="02040503050406030204" pitchFamily="18" charset="0"/>
                <a:cs typeface="Segoe UI"/>
              </a:rPr>
              <a:t>Vẽ</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đồ</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thị</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đường</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thẳng</a:t>
            </a:r>
            <a:endParaRPr lang="en-US" sz="2500" b="1" spc="-5" dirty="0">
              <a:latin typeface="Cambria" panose="02040503050406030204" pitchFamily="18" charset="0"/>
              <a:ea typeface="Cambria" panose="02040503050406030204" pitchFamily="18" charset="0"/>
              <a:cs typeface="Segoe UI"/>
            </a:endParaRPr>
          </a:p>
        </p:txBody>
      </p:sp>
      <p:sp>
        <p:nvSpPr>
          <p:cNvPr id="2" name="Rectangle 1"/>
          <p:cNvSpPr/>
          <p:nvPr/>
        </p:nvSpPr>
        <p:spPr>
          <a:xfrm>
            <a:off x="79512" y="1200440"/>
            <a:ext cx="5295902" cy="2292935"/>
          </a:xfrm>
          <a:prstGeom prst="rect">
            <a:avLst/>
          </a:prstGeom>
        </p:spPr>
        <p:txBody>
          <a:bodyPr wrap="square">
            <a:spAutoFit/>
          </a:bodyPr>
          <a:lstStyle/>
          <a:p>
            <a:pPr>
              <a:lnSpc>
                <a:spcPct val="130000"/>
              </a:lnSpc>
            </a:pPr>
            <a:r>
              <a:rPr lang="vi-VN" sz="2200" dirty="0">
                <a:solidFill>
                  <a:srgbClr val="0000FF"/>
                </a:solidFill>
                <a:latin typeface="Cambria" panose="02040503050406030204" pitchFamily="18" charset="0"/>
                <a:ea typeface="Cambria" panose="02040503050406030204" pitchFamily="18" charset="0"/>
              </a:rPr>
              <a:t>import </a:t>
            </a:r>
            <a:r>
              <a:rPr lang="vi-VN" sz="2200" dirty="0">
                <a:solidFill>
                  <a:srgbClr val="000000"/>
                </a:solidFill>
                <a:latin typeface="Cambria" panose="02040503050406030204" pitchFamily="18" charset="0"/>
                <a:ea typeface="Cambria" panose="02040503050406030204" pitchFamily="18" charset="0"/>
              </a:rPr>
              <a:t>matplotlib.pyplot </a:t>
            </a:r>
            <a:r>
              <a:rPr lang="vi-VN" sz="2200" dirty="0">
                <a:solidFill>
                  <a:srgbClr val="0000FF"/>
                </a:solidFill>
                <a:latin typeface="Cambria" panose="02040503050406030204" pitchFamily="18" charset="0"/>
                <a:ea typeface="Cambria" panose="02040503050406030204" pitchFamily="18" charset="0"/>
              </a:rPr>
              <a:t>as </a:t>
            </a:r>
            <a:r>
              <a:rPr lang="vi-VN" sz="2200" dirty="0">
                <a:solidFill>
                  <a:srgbClr val="000000"/>
                </a:solidFill>
                <a:latin typeface="Cambria" panose="02040503050406030204" pitchFamily="18" charset="0"/>
                <a:ea typeface="Cambria" panose="02040503050406030204" pitchFamily="18" charset="0"/>
              </a:rPr>
              <a:t>plt</a:t>
            </a:r>
            <a:br>
              <a:rPr lang="vi-VN" sz="2200" dirty="0">
                <a:solidFill>
                  <a:srgbClr val="000000"/>
                </a:solidFill>
                <a:latin typeface="Cambria" panose="02040503050406030204" pitchFamily="18" charset="0"/>
                <a:ea typeface="Cambria" panose="02040503050406030204" pitchFamily="18" charset="0"/>
              </a:rPr>
            </a:br>
            <a:r>
              <a:rPr lang="vi-VN" sz="2200" dirty="0">
                <a:solidFill>
                  <a:srgbClr val="008000"/>
                </a:solidFill>
                <a:latin typeface="Cambria" panose="02040503050406030204" pitchFamily="18" charset="0"/>
                <a:ea typeface="Cambria" panose="02040503050406030204" pitchFamily="18" charset="0"/>
              </a:rPr>
              <a:t># vẽ biểu đồ đường thẳng màu đỏ (r) đỉnh *, nét -</a:t>
            </a:r>
            <a:br>
              <a:rPr lang="vi-VN" sz="2200" dirty="0">
                <a:solidFill>
                  <a:srgbClr val="008000"/>
                </a:solidFill>
                <a:latin typeface="Cambria" panose="02040503050406030204" pitchFamily="18" charset="0"/>
                <a:ea typeface="Cambria" panose="02040503050406030204" pitchFamily="18" charset="0"/>
              </a:rPr>
            </a:br>
            <a:r>
              <a:rPr lang="vi-VN" sz="2200" dirty="0">
                <a:solidFill>
                  <a:srgbClr val="000000"/>
                </a:solidFill>
                <a:latin typeface="Cambria" panose="02040503050406030204" pitchFamily="18" charset="0"/>
                <a:ea typeface="Cambria" panose="02040503050406030204" pitchFamily="18" charset="0"/>
              </a:rPr>
              <a:t>plt.plot([</a:t>
            </a:r>
            <a:r>
              <a:rPr lang="vi-VN" sz="2200" dirty="0">
                <a:solidFill>
                  <a:srgbClr val="098658"/>
                </a:solidFill>
                <a:latin typeface="Cambria" panose="02040503050406030204" pitchFamily="18" charset="0"/>
                <a:ea typeface="Cambria" panose="02040503050406030204" pitchFamily="18" charset="0"/>
              </a:rPr>
              <a:t>1</a:t>
            </a:r>
            <a:r>
              <a:rPr lang="vi-VN" sz="2200" dirty="0">
                <a:solidFill>
                  <a:srgbClr val="000000"/>
                </a:solidFill>
                <a:latin typeface="Cambria" panose="02040503050406030204" pitchFamily="18" charset="0"/>
                <a:ea typeface="Cambria" panose="02040503050406030204" pitchFamily="18" charset="0"/>
              </a:rPr>
              <a:t>,</a:t>
            </a:r>
            <a:r>
              <a:rPr lang="vi-VN" sz="2200" dirty="0">
                <a:solidFill>
                  <a:srgbClr val="098658"/>
                </a:solidFill>
                <a:latin typeface="Cambria" panose="02040503050406030204" pitchFamily="18" charset="0"/>
                <a:ea typeface="Cambria" panose="02040503050406030204" pitchFamily="18" charset="0"/>
              </a:rPr>
              <a:t>2</a:t>
            </a:r>
            <a:r>
              <a:rPr lang="vi-VN" sz="2200" dirty="0">
                <a:solidFill>
                  <a:srgbClr val="000000"/>
                </a:solidFill>
                <a:latin typeface="Cambria" panose="02040503050406030204" pitchFamily="18" charset="0"/>
                <a:ea typeface="Cambria" panose="02040503050406030204" pitchFamily="18" charset="0"/>
              </a:rPr>
              <a:t>,</a:t>
            </a:r>
            <a:r>
              <a:rPr lang="vi-VN" sz="2200" dirty="0">
                <a:solidFill>
                  <a:srgbClr val="098658"/>
                </a:solidFill>
                <a:latin typeface="Cambria" panose="02040503050406030204" pitchFamily="18" charset="0"/>
                <a:ea typeface="Cambria" panose="02040503050406030204" pitchFamily="18" charset="0"/>
              </a:rPr>
              <a:t>3</a:t>
            </a:r>
            <a:r>
              <a:rPr lang="vi-VN" sz="2200" dirty="0">
                <a:solidFill>
                  <a:srgbClr val="000000"/>
                </a:solidFill>
                <a:latin typeface="Cambria" panose="02040503050406030204" pitchFamily="18" charset="0"/>
                <a:ea typeface="Cambria" panose="02040503050406030204" pitchFamily="18" charset="0"/>
              </a:rPr>
              <a:t>,</a:t>
            </a:r>
            <a:r>
              <a:rPr lang="vi-VN" sz="2200" dirty="0">
                <a:solidFill>
                  <a:srgbClr val="098658"/>
                </a:solidFill>
                <a:latin typeface="Cambria" panose="02040503050406030204" pitchFamily="18" charset="0"/>
                <a:ea typeface="Cambria" panose="02040503050406030204" pitchFamily="18" charset="0"/>
              </a:rPr>
              <a:t>6</a:t>
            </a:r>
            <a:r>
              <a:rPr lang="vi-VN" sz="2200" dirty="0">
                <a:solidFill>
                  <a:srgbClr val="000000"/>
                </a:solidFill>
                <a:latin typeface="Cambria" panose="02040503050406030204" pitchFamily="18" charset="0"/>
                <a:ea typeface="Cambria" panose="02040503050406030204" pitchFamily="18" charset="0"/>
              </a:rPr>
              <a:t>],[</a:t>
            </a:r>
            <a:r>
              <a:rPr lang="vi-VN" sz="2200" dirty="0">
                <a:solidFill>
                  <a:srgbClr val="098658"/>
                </a:solidFill>
                <a:latin typeface="Cambria" panose="02040503050406030204" pitchFamily="18" charset="0"/>
                <a:ea typeface="Cambria" panose="02040503050406030204" pitchFamily="18" charset="0"/>
              </a:rPr>
              <a:t>4</a:t>
            </a:r>
            <a:r>
              <a:rPr lang="vi-VN" sz="2200" dirty="0">
                <a:solidFill>
                  <a:srgbClr val="000000"/>
                </a:solidFill>
                <a:latin typeface="Cambria" panose="02040503050406030204" pitchFamily="18" charset="0"/>
                <a:ea typeface="Cambria" panose="02040503050406030204" pitchFamily="18" charset="0"/>
              </a:rPr>
              <a:t>,</a:t>
            </a:r>
            <a:r>
              <a:rPr lang="vi-VN" sz="2200" dirty="0">
                <a:solidFill>
                  <a:srgbClr val="098658"/>
                </a:solidFill>
                <a:latin typeface="Cambria" panose="02040503050406030204" pitchFamily="18" charset="0"/>
                <a:ea typeface="Cambria" panose="02040503050406030204" pitchFamily="18" charset="0"/>
              </a:rPr>
              <a:t>6</a:t>
            </a:r>
            <a:r>
              <a:rPr lang="vi-VN" sz="2200" dirty="0">
                <a:solidFill>
                  <a:srgbClr val="000000"/>
                </a:solidFill>
                <a:latin typeface="Cambria" panose="02040503050406030204" pitchFamily="18" charset="0"/>
                <a:ea typeface="Cambria" panose="02040503050406030204" pitchFamily="18" charset="0"/>
              </a:rPr>
              <a:t>,</a:t>
            </a:r>
            <a:r>
              <a:rPr lang="vi-VN" sz="2200" dirty="0">
                <a:solidFill>
                  <a:srgbClr val="098658"/>
                </a:solidFill>
                <a:latin typeface="Cambria" panose="02040503050406030204" pitchFamily="18" charset="0"/>
                <a:ea typeface="Cambria" panose="02040503050406030204" pitchFamily="18" charset="0"/>
              </a:rPr>
              <a:t>7</a:t>
            </a:r>
            <a:r>
              <a:rPr lang="vi-VN" sz="2200" dirty="0">
                <a:solidFill>
                  <a:srgbClr val="000000"/>
                </a:solidFill>
                <a:latin typeface="Cambria" panose="02040503050406030204" pitchFamily="18" charset="0"/>
                <a:ea typeface="Cambria" panose="02040503050406030204" pitchFamily="18" charset="0"/>
              </a:rPr>
              <a:t>,</a:t>
            </a:r>
            <a:r>
              <a:rPr lang="vi-VN" sz="2200" dirty="0">
                <a:solidFill>
                  <a:srgbClr val="098658"/>
                </a:solidFill>
                <a:latin typeface="Cambria" panose="02040503050406030204" pitchFamily="18" charset="0"/>
                <a:ea typeface="Cambria" panose="02040503050406030204" pitchFamily="18" charset="0"/>
              </a:rPr>
              <a:t>8</a:t>
            </a:r>
            <a:r>
              <a:rPr lang="vi-VN" sz="2200" dirty="0">
                <a:solidFill>
                  <a:srgbClr val="000000"/>
                </a:solidFill>
                <a:latin typeface="Cambria" panose="02040503050406030204" pitchFamily="18" charset="0"/>
                <a:ea typeface="Cambria" panose="02040503050406030204" pitchFamily="18" charset="0"/>
              </a:rPr>
              <a:t>],</a:t>
            </a:r>
            <a:r>
              <a:rPr lang="vi-VN" sz="2200" dirty="0">
                <a:solidFill>
                  <a:srgbClr val="A31515"/>
                </a:solidFill>
                <a:latin typeface="Cambria" panose="02040503050406030204" pitchFamily="18" charset="0"/>
                <a:ea typeface="Cambria" panose="02040503050406030204" pitchFamily="18" charset="0"/>
              </a:rPr>
              <a:t>'r*--'</a:t>
            </a:r>
            <a:r>
              <a:rPr lang="vi-VN" sz="2200" dirty="0">
                <a:solidFill>
                  <a:srgbClr val="000000"/>
                </a:solidFill>
                <a:latin typeface="Cambria" panose="02040503050406030204" pitchFamily="18" charset="0"/>
                <a:ea typeface="Cambria" panose="02040503050406030204" pitchFamily="18" charset="0"/>
              </a:rPr>
              <a:t>)</a:t>
            </a:r>
            <a:br>
              <a:rPr lang="vi-VN" sz="2200" dirty="0">
                <a:solidFill>
                  <a:srgbClr val="000000"/>
                </a:solidFill>
                <a:latin typeface="Cambria" panose="02040503050406030204" pitchFamily="18" charset="0"/>
                <a:ea typeface="Cambria" panose="02040503050406030204" pitchFamily="18" charset="0"/>
              </a:rPr>
            </a:br>
            <a:r>
              <a:rPr lang="vi-VN" sz="2200" dirty="0">
                <a:solidFill>
                  <a:srgbClr val="000000"/>
                </a:solidFill>
                <a:latin typeface="Cambria" panose="02040503050406030204" pitchFamily="18" charset="0"/>
                <a:ea typeface="Cambria" panose="02040503050406030204" pitchFamily="18" charset="0"/>
              </a:rPr>
              <a:t>plt.show()</a:t>
            </a:r>
            <a:endParaRPr lang="en-US" sz="2200" dirty="0">
              <a:latin typeface="Cambria" panose="02040503050406030204" pitchFamily="18" charset="0"/>
              <a:ea typeface="Cambria" panose="02040503050406030204" pitchFamily="18" charset="0"/>
            </a:endParaRPr>
          </a:p>
        </p:txBody>
      </p:sp>
      <p:sp>
        <p:nvSpPr>
          <p:cNvPr id="3" name="Rectangle 2"/>
          <p:cNvSpPr/>
          <p:nvPr/>
        </p:nvSpPr>
        <p:spPr>
          <a:xfrm>
            <a:off x="5375414" y="691585"/>
            <a:ext cx="6682408" cy="3127331"/>
          </a:xfrm>
          <a:prstGeom prst="rect">
            <a:avLst/>
          </a:prstGeom>
        </p:spPr>
        <p:txBody>
          <a:bodyPr wrap="square">
            <a:spAutoFit/>
          </a:bodyPr>
          <a:lstStyle/>
          <a:p>
            <a:pPr>
              <a:lnSpc>
                <a:spcPct val="130000"/>
              </a:lnSpc>
            </a:pPr>
            <a:r>
              <a:rPr lang="vi-VN" sz="2200" dirty="0">
                <a:solidFill>
                  <a:srgbClr val="008000"/>
                </a:solidFill>
                <a:latin typeface="Cambria" panose="02040503050406030204" pitchFamily="18" charset="0"/>
                <a:ea typeface="Cambria" panose="02040503050406030204" pitchFamily="18" charset="0"/>
              </a:rPr>
              <a:t># vẽ biểu đồ đường thẳng màu xanh (b) đỉnh thoi, nét -</a:t>
            </a:r>
            <a:br>
              <a:rPr lang="vi-VN" sz="2200" dirty="0">
                <a:solidFill>
                  <a:srgbClr val="008000"/>
                </a:solidFill>
                <a:latin typeface="Cambria" panose="02040503050406030204" pitchFamily="18" charset="0"/>
                <a:ea typeface="Cambria" panose="02040503050406030204" pitchFamily="18" charset="0"/>
              </a:rPr>
            </a:br>
            <a:r>
              <a:rPr lang="vi-VN" sz="2200" dirty="0">
                <a:solidFill>
                  <a:srgbClr val="000000"/>
                </a:solidFill>
                <a:latin typeface="Cambria" panose="02040503050406030204" pitchFamily="18" charset="0"/>
                <a:ea typeface="Cambria" panose="02040503050406030204" pitchFamily="18" charset="0"/>
              </a:rPr>
              <a:t>plt.plot([</a:t>
            </a:r>
            <a:r>
              <a:rPr lang="vi-VN" sz="2200" dirty="0">
                <a:solidFill>
                  <a:srgbClr val="098658"/>
                </a:solidFill>
                <a:latin typeface="Cambria" panose="02040503050406030204" pitchFamily="18" charset="0"/>
                <a:ea typeface="Cambria" panose="02040503050406030204" pitchFamily="18" charset="0"/>
              </a:rPr>
              <a:t>1</a:t>
            </a:r>
            <a:r>
              <a:rPr lang="vi-VN" sz="2200" dirty="0">
                <a:solidFill>
                  <a:srgbClr val="000000"/>
                </a:solidFill>
                <a:latin typeface="Cambria" panose="02040503050406030204" pitchFamily="18" charset="0"/>
                <a:ea typeface="Cambria" panose="02040503050406030204" pitchFamily="18" charset="0"/>
              </a:rPr>
              <a:t>,</a:t>
            </a:r>
            <a:r>
              <a:rPr lang="vi-VN" sz="2200" dirty="0">
                <a:solidFill>
                  <a:srgbClr val="098658"/>
                </a:solidFill>
                <a:latin typeface="Cambria" panose="02040503050406030204" pitchFamily="18" charset="0"/>
                <a:ea typeface="Cambria" panose="02040503050406030204" pitchFamily="18" charset="0"/>
              </a:rPr>
              <a:t>2</a:t>
            </a:r>
            <a:r>
              <a:rPr lang="vi-VN" sz="2200" dirty="0">
                <a:solidFill>
                  <a:srgbClr val="000000"/>
                </a:solidFill>
                <a:latin typeface="Cambria" panose="02040503050406030204" pitchFamily="18" charset="0"/>
                <a:ea typeface="Cambria" panose="02040503050406030204" pitchFamily="18" charset="0"/>
              </a:rPr>
              <a:t>,</a:t>
            </a:r>
            <a:r>
              <a:rPr lang="vi-VN" sz="2200" dirty="0">
                <a:solidFill>
                  <a:srgbClr val="098658"/>
                </a:solidFill>
                <a:latin typeface="Cambria" panose="02040503050406030204" pitchFamily="18" charset="0"/>
                <a:ea typeface="Cambria" panose="02040503050406030204" pitchFamily="18" charset="0"/>
              </a:rPr>
              <a:t>3</a:t>
            </a:r>
            <a:r>
              <a:rPr lang="vi-VN" sz="2200" dirty="0">
                <a:solidFill>
                  <a:srgbClr val="000000"/>
                </a:solidFill>
                <a:latin typeface="Cambria" panose="02040503050406030204" pitchFamily="18" charset="0"/>
                <a:ea typeface="Cambria" panose="02040503050406030204" pitchFamily="18" charset="0"/>
              </a:rPr>
              <a:t>,</a:t>
            </a:r>
            <a:r>
              <a:rPr lang="vi-VN" sz="2200" dirty="0">
                <a:solidFill>
                  <a:srgbClr val="098658"/>
                </a:solidFill>
                <a:latin typeface="Cambria" panose="02040503050406030204" pitchFamily="18" charset="0"/>
                <a:ea typeface="Cambria" panose="02040503050406030204" pitchFamily="18" charset="0"/>
              </a:rPr>
              <a:t>6</a:t>
            </a:r>
            <a:r>
              <a:rPr lang="vi-VN" sz="2200" dirty="0">
                <a:solidFill>
                  <a:srgbClr val="000000"/>
                </a:solidFill>
                <a:latin typeface="Cambria" panose="02040503050406030204" pitchFamily="18" charset="0"/>
                <a:ea typeface="Cambria" panose="02040503050406030204" pitchFamily="18" charset="0"/>
              </a:rPr>
              <a:t>],[</a:t>
            </a:r>
            <a:r>
              <a:rPr lang="vi-VN" sz="2200" dirty="0">
                <a:solidFill>
                  <a:srgbClr val="098658"/>
                </a:solidFill>
                <a:latin typeface="Cambria" panose="02040503050406030204" pitchFamily="18" charset="0"/>
                <a:ea typeface="Cambria" panose="02040503050406030204" pitchFamily="18" charset="0"/>
              </a:rPr>
              <a:t>4</a:t>
            </a:r>
            <a:r>
              <a:rPr lang="vi-VN" sz="2200" dirty="0">
                <a:solidFill>
                  <a:srgbClr val="000000"/>
                </a:solidFill>
                <a:latin typeface="Cambria" panose="02040503050406030204" pitchFamily="18" charset="0"/>
                <a:ea typeface="Cambria" panose="02040503050406030204" pitchFamily="18" charset="0"/>
              </a:rPr>
              <a:t>,</a:t>
            </a:r>
            <a:r>
              <a:rPr lang="vi-VN" sz="2200" dirty="0">
                <a:solidFill>
                  <a:srgbClr val="098658"/>
                </a:solidFill>
                <a:latin typeface="Cambria" panose="02040503050406030204" pitchFamily="18" charset="0"/>
                <a:ea typeface="Cambria" panose="02040503050406030204" pitchFamily="18" charset="0"/>
              </a:rPr>
              <a:t>6</a:t>
            </a:r>
            <a:r>
              <a:rPr lang="vi-VN" sz="2200" dirty="0">
                <a:solidFill>
                  <a:srgbClr val="000000"/>
                </a:solidFill>
                <a:latin typeface="Cambria" panose="02040503050406030204" pitchFamily="18" charset="0"/>
                <a:ea typeface="Cambria" panose="02040503050406030204" pitchFamily="18" charset="0"/>
              </a:rPr>
              <a:t>,</a:t>
            </a:r>
            <a:r>
              <a:rPr lang="vi-VN" sz="2200" dirty="0">
                <a:solidFill>
                  <a:srgbClr val="098658"/>
                </a:solidFill>
                <a:latin typeface="Cambria" panose="02040503050406030204" pitchFamily="18" charset="0"/>
                <a:ea typeface="Cambria" panose="02040503050406030204" pitchFamily="18" charset="0"/>
              </a:rPr>
              <a:t>7</a:t>
            </a:r>
            <a:r>
              <a:rPr lang="vi-VN" sz="2200" dirty="0">
                <a:solidFill>
                  <a:srgbClr val="000000"/>
                </a:solidFill>
                <a:latin typeface="Cambria" panose="02040503050406030204" pitchFamily="18" charset="0"/>
                <a:ea typeface="Cambria" panose="02040503050406030204" pitchFamily="18" charset="0"/>
              </a:rPr>
              <a:t>,</a:t>
            </a:r>
            <a:r>
              <a:rPr lang="vi-VN" sz="2200" dirty="0">
                <a:solidFill>
                  <a:srgbClr val="098658"/>
                </a:solidFill>
                <a:latin typeface="Cambria" panose="02040503050406030204" pitchFamily="18" charset="0"/>
                <a:ea typeface="Cambria" panose="02040503050406030204" pitchFamily="18" charset="0"/>
              </a:rPr>
              <a:t>8</a:t>
            </a:r>
            <a:r>
              <a:rPr lang="vi-VN" sz="2200" dirty="0">
                <a:solidFill>
                  <a:srgbClr val="000000"/>
                </a:solidFill>
                <a:latin typeface="Cambria" panose="02040503050406030204" pitchFamily="18" charset="0"/>
                <a:ea typeface="Cambria" panose="02040503050406030204" pitchFamily="18" charset="0"/>
              </a:rPr>
              <a:t>],</a:t>
            </a:r>
            <a:r>
              <a:rPr lang="vi-VN" sz="2200" dirty="0">
                <a:solidFill>
                  <a:srgbClr val="A31515"/>
                </a:solidFill>
                <a:latin typeface="Cambria" panose="02040503050406030204" pitchFamily="18" charset="0"/>
                <a:ea typeface="Cambria" panose="02040503050406030204" pitchFamily="18" charset="0"/>
              </a:rPr>
              <a:t>'bD--'</a:t>
            </a:r>
            <a:r>
              <a:rPr lang="vi-VN" sz="2200" dirty="0">
                <a:solidFill>
                  <a:srgbClr val="000000"/>
                </a:solidFill>
                <a:latin typeface="Cambria" panose="02040503050406030204" pitchFamily="18" charset="0"/>
                <a:ea typeface="Cambria" panose="02040503050406030204" pitchFamily="18" charset="0"/>
              </a:rPr>
              <a:t>)</a:t>
            </a:r>
            <a:br>
              <a:rPr lang="vi-VN" sz="2200" dirty="0">
                <a:solidFill>
                  <a:srgbClr val="000000"/>
                </a:solidFill>
                <a:latin typeface="Cambria" panose="02040503050406030204" pitchFamily="18" charset="0"/>
                <a:ea typeface="Cambria" panose="02040503050406030204" pitchFamily="18" charset="0"/>
              </a:rPr>
            </a:br>
            <a:r>
              <a:rPr lang="vi-VN" sz="2200" dirty="0">
                <a:solidFill>
                  <a:srgbClr val="008000"/>
                </a:solidFill>
                <a:latin typeface="Cambria" panose="02040503050406030204" pitchFamily="18" charset="0"/>
                <a:ea typeface="Cambria" panose="02040503050406030204" pitchFamily="18" charset="0"/>
              </a:rPr>
              <a:t># chỉ ra tên trục</a:t>
            </a:r>
            <a:br>
              <a:rPr lang="vi-VN" sz="2200" dirty="0">
                <a:solidFill>
                  <a:srgbClr val="008000"/>
                </a:solidFill>
                <a:latin typeface="Cambria" panose="02040503050406030204" pitchFamily="18" charset="0"/>
                <a:ea typeface="Cambria" panose="02040503050406030204" pitchFamily="18" charset="0"/>
              </a:rPr>
            </a:br>
            <a:r>
              <a:rPr lang="vi-VN" sz="2200" dirty="0">
                <a:solidFill>
                  <a:srgbClr val="FF0000"/>
                </a:solidFill>
                <a:latin typeface="Cambria" panose="02040503050406030204" pitchFamily="18" charset="0"/>
                <a:ea typeface="Cambria" panose="02040503050406030204" pitchFamily="18" charset="0"/>
              </a:rPr>
              <a:t>plt.xlabel('Trục X')</a:t>
            </a:r>
            <a:br>
              <a:rPr lang="vi-VN" sz="2200" dirty="0">
                <a:solidFill>
                  <a:srgbClr val="FF0000"/>
                </a:solidFill>
                <a:latin typeface="Cambria" panose="02040503050406030204" pitchFamily="18" charset="0"/>
                <a:ea typeface="Cambria" panose="02040503050406030204" pitchFamily="18" charset="0"/>
              </a:rPr>
            </a:br>
            <a:r>
              <a:rPr lang="vi-VN" sz="2200" dirty="0">
                <a:solidFill>
                  <a:srgbClr val="FF0000"/>
                </a:solidFill>
                <a:latin typeface="Cambria" panose="02040503050406030204" pitchFamily="18" charset="0"/>
                <a:ea typeface="Cambria" panose="02040503050406030204" pitchFamily="18" charset="0"/>
              </a:rPr>
              <a:t>plt.ylabel('Trục Y')</a:t>
            </a:r>
            <a:br>
              <a:rPr lang="vi-VN" sz="2200" dirty="0">
                <a:solidFill>
                  <a:srgbClr val="FF0000"/>
                </a:solidFill>
                <a:latin typeface="Cambria" panose="02040503050406030204" pitchFamily="18" charset="0"/>
                <a:ea typeface="Cambria" panose="02040503050406030204" pitchFamily="18" charset="0"/>
              </a:rPr>
            </a:br>
            <a:r>
              <a:rPr lang="vi-VN" sz="2200" dirty="0">
                <a:solidFill>
                  <a:srgbClr val="FF0000"/>
                </a:solidFill>
                <a:latin typeface="Cambria" panose="02040503050406030204" pitchFamily="18" charset="0"/>
                <a:ea typeface="Cambria" panose="02040503050406030204" pitchFamily="18" charset="0"/>
              </a:rPr>
              <a:t>plt.show() </a:t>
            </a:r>
            <a:br>
              <a:rPr lang="vi-VN" sz="2200" dirty="0">
                <a:solidFill>
                  <a:srgbClr val="FF0000"/>
                </a:solidFill>
                <a:latin typeface="Cambria" panose="02040503050406030204" pitchFamily="18" charset="0"/>
                <a:ea typeface="Cambria" panose="02040503050406030204" pitchFamily="18" charset="0"/>
              </a:rPr>
            </a:br>
            <a:endParaRPr lang="en-US" sz="2200" dirty="0">
              <a:solidFill>
                <a:srgbClr val="FF0000"/>
              </a:solidFill>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a:blip r:embed="rId2"/>
          <a:stretch>
            <a:fillRect/>
          </a:stretch>
        </p:blipFill>
        <p:spPr>
          <a:xfrm>
            <a:off x="515058" y="3447530"/>
            <a:ext cx="3897916" cy="2859045"/>
          </a:xfrm>
          <a:prstGeom prst="rect">
            <a:avLst/>
          </a:prstGeom>
        </p:spPr>
      </p:pic>
      <p:pic>
        <p:nvPicPr>
          <p:cNvPr id="5" name="Picture 4"/>
          <p:cNvPicPr>
            <a:picLocks noChangeAspect="1"/>
          </p:cNvPicPr>
          <p:nvPr/>
        </p:nvPicPr>
        <p:blipFill>
          <a:blip r:embed="rId3"/>
          <a:stretch>
            <a:fillRect/>
          </a:stretch>
        </p:blipFill>
        <p:spPr>
          <a:xfrm>
            <a:off x="6987208" y="2916550"/>
            <a:ext cx="4870175" cy="3390025"/>
          </a:xfrm>
          <a:prstGeom prst="rect">
            <a:avLst/>
          </a:prstGeom>
        </p:spPr>
      </p:pic>
    </p:spTree>
    <p:extLst>
      <p:ext uri="{BB962C8B-B14F-4D97-AF65-F5344CB8AC3E}">
        <p14:creationId xmlns:p14="http://schemas.microsoft.com/office/powerpoint/2010/main" val="1754299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MATPLOTLID</a:t>
            </a:r>
          </a:p>
        </p:txBody>
      </p:sp>
      <p:sp>
        <p:nvSpPr>
          <p:cNvPr id="11" name="Content Placeholder 2">
            <a:extLst>
              <a:ext uri="{FF2B5EF4-FFF2-40B4-BE49-F238E27FC236}">
                <a16:creationId xmlns:a16="http://schemas.microsoft.com/office/drawing/2014/main" id="{D84E1B89-45F1-4C39-88F0-3A380DA733A9}"/>
              </a:ext>
            </a:extLst>
          </p:cNvPr>
          <p:cNvSpPr>
            <a:spLocks noGrp="1"/>
          </p:cNvSpPr>
          <p:nvPr>
            <p:ph idx="1"/>
          </p:nvPr>
        </p:nvSpPr>
        <p:spPr>
          <a:xfrm>
            <a:off x="79513" y="721084"/>
            <a:ext cx="8229600" cy="479356"/>
          </a:xfrm>
        </p:spPr>
        <p:txBody>
          <a:bodyPr>
            <a:noAutofit/>
          </a:bodyPr>
          <a:lstStyle/>
          <a:p>
            <a:pPr marL="0" lvl="1" indent="0" algn="just">
              <a:spcBef>
                <a:spcPts val="580"/>
              </a:spcBef>
              <a:buClr>
                <a:srgbClr val="FF5A33"/>
              </a:buClr>
              <a:buNone/>
            </a:pPr>
            <a:r>
              <a:rPr lang="en-US" sz="2500" b="1" spc="-5" dirty="0" err="1">
                <a:latin typeface="Cambria" panose="02040503050406030204" pitchFamily="18" charset="0"/>
                <a:ea typeface="Cambria" panose="02040503050406030204" pitchFamily="18" charset="0"/>
                <a:cs typeface="Segoe UI"/>
              </a:rPr>
              <a:t>Ví</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dụ</a:t>
            </a:r>
            <a:r>
              <a:rPr lang="en-US" sz="2500" b="1" spc="-5" dirty="0">
                <a:latin typeface="Cambria" panose="02040503050406030204" pitchFamily="18" charset="0"/>
                <a:ea typeface="Cambria" panose="02040503050406030204" pitchFamily="18" charset="0"/>
                <a:cs typeface="Segoe UI"/>
              </a:rPr>
              <a:t> 1: </a:t>
            </a:r>
            <a:r>
              <a:rPr lang="en-US" sz="2500" b="1" spc="-5" dirty="0" err="1">
                <a:latin typeface="Cambria" panose="02040503050406030204" pitchFamily="18" charset="0"/>
                <a:ea typeface="Cambria" panose="02040503050406030204" pitchFamily="18" charset="0"/>
                <a:cs typeface="Segoe UI"/>
              </a:rPr>
              <a:t>Vẽ</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đồ</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thị</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đường</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thẳng</a:t>
            </a:r>
            <a:endParaRPr lang="en-US" sz="2500" b="1" spc="-5" dirty="0">
              <a:latin typeface="Cambria" panose="02040503050406030204" pitchFamily="18" charset="0"/>
              <a:ea typeface="Cambria" panose="02040503050406030204" pitchFamily="18" charset="0"/>
              <a:cs typeface="Segoe UI"/>
            </a:endParaRPr>
          </a:p>
        </p:txBody>
      </p:sp>
      <p:sp>
        <p:nvSpPr>
          <p:cNvPr id="12" name="Rectangle 11">
            <a:extLst>
              <a:ext uri="{FF2B5EF4-FFF2-40B4-BE49-F238E27FC236}">
                <a16:creationId xmlns:a16="http://schemas.microsoft.com/office/drawing/2014/main" id="{161B52CF-C2C3-43AC-8050-BFA66D12A7BD}"/>
              </a:ext>
            </a:extLst>
          </p:cNvPr>
          <p:cNvSpPr>
            <a:spLocks noChangeArrowheads="1"/>
          </p:cNvSpPr>
          <p:nvPr/>
        </p:nvSpPr>
        <p:spPr bwMode="auto">
          <a:xfrm>
            <a:off x="187015" y="1148710"/>
            <a:ext cx="8576767" cy="4804905"/>
          </a:xfrm>
          <a:prstGeom prst="rect">
            <a:avLst/>
          </a:prstGeom>
          <a:solidFill>
            <a:srgbClr val="FFFFFF"/>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300" b="1" i="0" u="none" strike="noStrike" cap="none" normalizeH="0" baseline="0" dirty="0">
                <a:ln>
                  <a:noFill/>
                </a:ln>
                <a:solidFill>
                  <a:srgbClr val="000080"/>
                </a:solidFill>
                <a:effectLst/>
                <a:latin typeface="Cambria" panose="02040503050406030204" pitchFamily="18" charset="0"/>
                <a:ea typeface="Cambria" panose="02040503050406030204" pitchFamily="18" charset="0"/>
              </a:rPr>
              <a:t>import </a:t>
            </a:r>
            <a:r>
              <a:rPr kumimoji="0" lang="en-US" altLang="en-US" sz="23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numpy</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300" b="1" i="0" u="none" strike="noStrike" cap="none" normalizeH="0" baseline="0" dirty="0">
                <a:ln>
                  <a:noFill/>
                </a:ln>
                <a:solidFill>
                  <a:srgbClr val="000080"/>
                </a:solidFill>
                <a:effectLst/>
                <a:latin typeface="Cambria" panose="02040503050406030204" pitchFamily="18" charset="0"/>
                <a:ea typeface="Cambria" panose="02040503050406030204" pitchFamily="18" charset="0"/>
              </a:rPr>
              <a:t>as </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np</a:t>
            </a:r>
            <a:b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300" b="1" i="0" u="none" strike="noStrike" cap="none" normalizeH="0" baseline="0" dirty="0">
                <a:ln>
                  <a:noFill/>
                </a:ln>
                <a:solidFill>
                  <a:srgbClr val="000080"/>
                </a:solidFill>
                <a:effectLst/>
                <a:latin typeface="Cambria" panose="02040503050406030204" pitchFamily="18" charset="0"/>
                <a:ea typeface="Cambria" panose="02040503050406030204" pitchFamily="18" charset="0"/>
              </a:rPr>
              <a:t>from </a:t>
            </a:r>
            <a:r>
              <a:rPr kumimoji="0" lang="en-US" altLang="en-US" sz="23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matplotlib.pyplot</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300" b="1" i="0" u="none" strike="noStrike" cap="none" normalizeH="0" baseline="0" dirty="0">
                <a:ln>
                  <a:noFill/>
                </a:ln>
                <a:solidFill>
                  <a:srgbClr val="000080"/>
                </a:solidFill>
                <a:effectLst/>
                <a:latin typeface="Cambria" panose="02040503050406030204" pitchFamily="18" charset="0"/>
                <a:ea typeface="Cambria" panose="02040503050406030204" pitchFamily="18" charset="0"/>
              </a:rPr>
              <a:t>import </a:t>
            </a:r>
            <a:r>
              <a:rPr kumimoji="0" lang="en-US" altLang="en-US" sz="23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ylabel</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plot, show, </a:t>
            </a:r>
            <a:r>
              <a:rPr kumimoji="0" lang="en-US" altLang="en-US" sz="23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xlabel</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title</a:t>
            </a:r>
            <a:b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x = </a:t>
            </a:r>
            <a:r>
              <a:rPr kumimoji="0" lang="en-US" altLang="en-US" sz="23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np.arange</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3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1</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3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11</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y = </a:t>
            </a:r>
            <a:r>
              <a:rPr kumimoji="0" lang="en-US" altLang="en-US" sz="23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4 </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x + </a:t>
            </a:r>
            <a:r>
              <a:rPr kumimoji="0" lang="en-US" altLang="en-US" sz="23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5</a:t>
            </a:r>
            <a:br>
              <a:rPr kumimoji="0" lang="en-US" altLang="en-US" sz="23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b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title(</a:t>
            </a:r>
            <a:r>
              <a:rPr kumimoji="0" lang="en-US" altLang="en-US" sz="23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a:t>
            </a:r>
            <a:r>
              <a:rPr kumimoji="0" lang="en-US" altLang="en-US" sz="2300" b="1" i="0" u="none" strike="noStrike" cap="none" normalizeH="0" baseline="0" dirty="0" err="1">
                <a:ln>
                  <a:noFill/>
                </a:ln>
                <a:solidFill>
                  <a:srgbClr val="008000"/>
                </a:solidFill>
                <a:effectLst/>
                <a:latin typeface="Cambria" panose="02040503050406030204" pitchFamily="18" charset="0"/>
                <a:ea typeface="Cambria" panose="02040503050406030204" pitchFamily="18" charset="0"/>
              </a:rPr>
              <a:t>Matplotlib</a:t>
            </a:r>
            <a:r>
              <a:rPr kumimoji="0" lang="en-US" altLang="en-US" sz="23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 demo"</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3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xlabel</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3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"x axis caption"</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3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ylabel</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3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"y axis caption"</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plot(x, y,</a:t>
            </a:r>
            <a:r>
              <a:rPr kumimoji="0" lang="en-US" altLang="en-US" sz="23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a:t>
            </a:r>
            <a:r>
              <a:rPr kumimoji="0" lang="en-US" altLang="en-US" sz="2300" b="1" i="0" u="none" strike="noStrike" cap="none" normalizeH="0" baseline="0" dirty="0" err="1">
                <a:ln>
                  <a:noFill/>
                </a:ln>
                <a:solidFill>
                  <a:srgbClr val="008000"/>
                </a:solidFill>
                <a:effectLst/>
                <a:latin typeface="Cambria" panose="02040503050406030204" pitchFamily="18" charset="0"/>
                <a:ea typeface="Cambria" panose="02040503050406030204" pitchFamily="18" charset="0"/>
              </a:rPr>
              <a:t>ob</a:t>
            </a:r>
            <a:r>
              <a:rPr kumimoji="0" lang="en-US" altLang="en-US" sz="23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a:t>
            </a: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3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show()</a:t>
            </a:r>
            <a:endParaRPr kumimoji="0" lang="en-US" altLang="en-US" sz="23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2"/>
          <a:stretch>
            <a:fillRect/>
          </a:stretch>
        </p:blipFill>
        <p:spPr>
          <a:xfrm>
            <a:off x="5453349" y="2241990"/>
            <a:ext cx="5249064" cy="3916439"/>
          </a:xfrm>
          <a:prstGeom prst="rect">
            <a:avLst/>
          </a:prstGeom>
        </p:spPr>
      </p:pic>
    </p:spTree>
    <p:extLst>
      <p:ext uri="{BB962C8B-B14F-4D97-AF65-F5344CB8AC3E}">
        <p14:creationId xmlns:p14="http://schemas.microsoft.com/office/powerpoint/2010/main" val="21451357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MATPLOTLID</a:t>
            </a:r>
          </a:p>
        </p:txBody>
      </p:sp>
      <p:sp>
        <p:nvSpPr>
          <p:cNvPr id="11" name="Content Placeholder 2">
            <a:extLst>
              <a:ext uri="{FF2B5EF4-FFF2-40B4-BE49-F238E27FC236}">
                <a16:creationId xmlns:a16="http://schemas.microsoft.com/office/drawing/2014/main" id="{D84E1B89-45F1-4C39-88F0-3A380DA733A9}"/>
              </a:ext>
            </a:extLst>
          </p:cNvPr>
          <p:cNvSpPr>
            <a:spLocks noGrp="1"/>
          </p:cNvSpPr>
          <p:nvPr>
            <p:ph idx="1"/>
          </p:nvPr>
        </p:nvSpPr>
        <p:spPr>
          <a:xfrm>
            <a:off x="79513" y="721084"/>
            <a:ext cx="8229600" cy="479356"/>
          </a:xfrm>
        </p:spPr>
        <p:txBody>
          <a:bodyPr>
            <a:noAutofit/>
          </a:bodyPr>
          <a:lstStyle/>
          <a:p>
            <a:pPr marL="0" lvl="1" indent="0" algn="just">
              <a:spcBef>
                <a:spcPts val="580"/>
              </a:spcBef>
              <a:buClr>
                <a:srgbClr val="FF5A33"/>
              </a:buClr>
              <a:buNone/>
            </a:pPr>
            <a:r>
              <a:rPr lang="en-US" sz="2500" b="1" spc="-5" dirty="0" err="1">
                <a:latin typeface="Cambria" panose="02040503050406030204" pitchFamily="18" charset="0"/>
                <a:ea typeface="Cambria" panose="02040503050406030204" pitchFamily="18" charset="0"/>
                <a:cs typeface="Segoe UI"/>
              </a:rPr>
              <a:t>Ví</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dụ</a:t>
            </a:r>
            <a:r>
              <a:rPr lang="en-US" sz="2500" b="1" spc="-5" dirty="0">
                <a:latin typeface="Cambria" panose="02040503050406030204" pitchFamily="18" charset="0"/>
                <a:ea typeface="Cambria" panose="02040503050406030204" pitchFamily="18" charset="0"/>
                <a:cs typeface="Segoe UI"/>
              </a:rPr>
              <a:t> 1: </a:t>
            </a:r>
            <a:r>
              <a:rPr lang="en-US" sz="2500" b="1" spc="-5" dirty="0" err="1">
                <a:latin typeface="Cambria" panose="02040503050406030204" pitchFamily="18" charset="0"/>
                <a:ea typeface="Cambria" panose="02040503050406030204" pitchFamily="18" charset="0"/>
                <a:cs typeface="Segoe UI"/>
              </a:rPr>
              <a:t>Vẽ</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đồ</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thị</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đường</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thẳng</a:t>
            </a:r>
            <a:endParaRPr lang="en-US" sz="2500" b="1" spc="-5" dirty="0">
              <a:latin typeface="Cambria" panose="02040503050406030204" pitchFamily="18" charset="0"/>
              <a:ea typeface="Cambria" panose="02040503050406030204" pitchFamily="18" charset="0"/>
              <a:cs typeface="Segoe UI"/>
            </a:endParaRPr>
          </a:p>
        </p:txBody>
      </p:sp>
      <p:pic>
        <p:nvPicPr>
          <p:cNvPr id="6" name="Picture 5"/>
          <p:cNvPicPr>
            <a:picLocks noChangeAspect="1"/>
          </p:cNvPicPr>
          <p:nvPr/>
        </p:nvPicPr>
        <p:blipFill>
          <a:blip r:embed="rId2"/>
          <a:stretch>
            <a:fillRect/>
          </a:stretch>
        </p:blipFill>
        <p:spPr>
          <a:xfrm>
            <a:off x="6696526" y="809844"/>
            <a:ext cx="5272633" cy="3896706"/>
          </a:xfrm>
          <a:prstGeom prst="rect">
            <a:avLst/>
          </a:prstGeom>
        </p:spPr>
      </p:pic>
      <p:sp>
        <p:nvSpPr>
          <p:cNvPr id="10" name="Rectangle 9"/>
          <p:cNvSpPr/>
          <p:nvPr/>
        </p:nvSpPr>
        <p:spPr>
          <a:xfrm>
            <a:off x="168965" y="1157554"/>
            <a:ext cx="9074426" cy="5170646"/>
          </a:xfrm>
          <a:prstGeom prst="rect">
            <a:avLst/>
          </a:prstGeom>
        </p:spPr>
        <p:txBody>
          <a:bodyPr wrap="square">
            <a:spAutoFit/>
          </a:bodyPr>
          <a:lstStyle/>
          <a:p>
            <a:pPr>
              <a:lnSpc>
                <a:spcPct val="150000"/>
              </a:lnSpc>
            </a:pPr>
            <a:r>
              <a:rPr lang="en-US" sz="2000" b="1" dirty="0">
                <a:solidFill>
                  <a:srgbClr val="0000FF"/>
                </a:solidFill>
                <a:latin typeface="Cambria" panose="02040503050406030204" pitchFamily="18" charset="0"/>
                <a:ea typeface="Cambria" panose="02040503050406030204" pitchFamily="18" charset="0"/>
              </a:rPr>
              <a:t>import </a:t>
            </a:r>
            <a:r>
              <a:rPr lang="en-US" sz="2000" b="1" dirty="0" err="1">
                <a:solidFill>
                  <a:srgbClr val="000000"/>
                </a:solidFill>
                <a:latin typeface="Cambria" panose="02040503050406030204" pitchFamily="18" charset="0"/>
                <a:ea typeface="Cambria" panose="02040503050406030204" pitchFamily="18" charset="0"/>
              </a:rPr>
              <a:t>matplotlib.pyplot</a:t>
            </a:r>
            <a:r>
              <a:rPr lang="en-US" sz="2000" b="1" dirty="0">
                <a:solidFill>
                  <a:srgbClr val="000000"/>
                </a:solidFill>
                <a:latin typeface="Cambria" panose="02040503050406030204" pitchFamily="18" charset="0"/>
                <a:ea typeface="Cambria" panose="02040503050406030204" pitchFamily="18" charset="0"/>
              </a:rPr>
              <a:t> </a:t>
            </a:r>
            <a:r>
              <a:rPr lang="en-US" sz="2000" b="1" dirty="0">
                <a:solidFill>
                  <a:srgbClr val="0000FF"/>
                </a:solidFill>
                <a:latin typeface="Cambria" panose="02040503050406030204" pitchFamily="18" charset="0"/>
                <a:ea typeface="Cambria" panose="02040503050406030204" pitchFamily="18" charset="0"/>
              </a:rPr>
              <a:t>as </a:t>
            </a:r>
            <a:r>
              <a:rPr lang="en-US" sz="2000" b="1" dirty="0" err="1">
                <a:solidFill>
                  <a:srgbClr val="000000"/>
                </a:solidFill>
                <a:latin typeface="Cambria" panose="02040503050406030204" pitchFamily="18" charset="0"/>
                <a:ea typeface="Cambria" panose="02040503050406030204" pitchFamily="18" charset="0"/>
              </a:rPr>
              <a:t>plt</a:t>
            </a:r>
            <a:br>
              <a:rPr lang="en-US" sz="2000" b="1" dirty="0">
                <a:solidFill>
                  <a:srgbClr val="000000"/>
                </a:solidFill>
                <a:latin typeface="Cambria" panose="02040503050406030204" pitchFamily="18" charset="0"/>
                <a:ea typeface="Cambria" panose="02040503050406030204" pitchFamily="18" charset="0"/>
              </a:rPr>
            </a:br>
            <a:r>
              <a:rPr lang="en-US" sz="2000" b="1" dirty="0">
                <a:solidFill>
                  <a:srgbClr val="008000"/>
                </a:solidFill>
                <a:latin typeface="Cambria" panose="02040503050406030204" pitchFamily="18" charset="0"/>
                <a:ea typeface="Cambria" panose="02040503050406030204" pitchFamily="18" charset="0"/>
              </a:rPr>
              <a:t># </a:t>
            </a:r>
            <a:r>
              <a:rPr lang="en-US" sz="2000" b="1" dirty="0" err="1">
                <a:solidFill>
                  <a:srgbClr val="008000"/>
                </a:solidFill>
                <a:latin typeface="Cambria" panose="02040503050406030204" pitchFamily="18" charset="0"/>
                <a:ea typeface="Cambria" panose="02040503050406030204" pitchFamily="18" charset="0"/>
              </a:rPr>
              <a:t>biểu</a:t>
            </a:r>
            <a:r>
              <a:rPr lang="en-US" sz="2000" b="1" dirty="0">
                <a:solidFill>
                  <a:srgbClr val="008000"/>
                </a:solidFill>
                <a:latin typeface="Cambria" panose="02040503050406030204" pitchFamily="18" charset="0"/>
                <a:ea typeface="Cambria" panose="02040503050406030204" pitchFamily="18" charset="0"/>
              </a:rPr>
              <a:t> </a:t>
            </a:r>
            <a:r>
              <a:rPr lang="en-US" sz="2000" b="1" dirty="0" err="1">
                <a:solidFill>
                  <a:srgbClr val="008000"/>
                </a:solidFill>
                <a:latin typeface="Cambria" panose="02040503050406030204" pitchFamily="18" charset="0"/>
                <a:ea typeface="Cambria" panose="02040503050406030204" pitchFamily="18" charset="0"/>
              </a:rPr>
              <a:t>diễn</a:t>
            </a:r>
            <a:r>
              <a:rPr lang="en-US" sz="2000" b="1" dirty="0">
                <a:solidFill>
                  <a:srgbClr val="008000"/>
                </a:solidFill>
                <a:latin typeface="Cambria" panose="02040503050406030204" pitchFamily="18" charset="0"/>
                <a:ea typeface="Cambria" panose="02040503050406030204" pitchFamily="18" charset="0"/>
              </a:rPr>
              <a:t> </a:t>
            </a:r>
            <a:r>
              <a:rPr lang="en-US" sz="2000" b="1" dirty="0" err="1">
                <a:solidFill>
                  <a:srgbClr val="008000"/>
                </a:solidFill>
                <a:latin typeface="Cambria" panose="02040503050406030204" pitchFamily="18" charset="0"/>
                <a:ea typeface="Cambria" panose="02040503050406030204" pitchFamily="18" charset="0"/>
              </a:rPr>
              <a:t>nhiều</a:t>
            </a:r>
            <a:r>
              <a:rPr lang="en-US" sz="2000" b="1" dirty="0">
                <a:solidFill>
                  <a:srgbClr val="008000"/>
                </a:solidFill>
                <a:latin typeface="Cambria" panose="02040503050406030204" pitchFamily="18" charset="0"/>
                <a:ea typeface="Cambria" panose="02040503050406030204" pitchFamily="18" charset="0"/>
              </a:rPr>
              <a:t> </a:t>
            </a:r>
            <a:r>
              <a:rPr lang="en-US" sz="2000" b="1" dirty="0" err="1">
                <a:solidFill>
                  <a:srgbClr val="008000"/>
                </a:solidFill>
                <a:latin typeface="Cambria" panose="02040503050406030204" pitchFamily="18" charset="0"/>
                <a:ea typeface="Cambria" panose="02040503050406030204" pitchFamily="18" charset="0"/>
              </a:rPr>
              <a:t>tập</a:t>
            </a:r>
            <a:r>
              <a:rPr lang="en-US" sz="2000" b="1" dirty="0">
                <a:solidFill>
                  <a:srgbClr val="008000"/>
                </a:solidFill>
                <a:latin typeface="Cambria" panose="02040503050406030204" pitchFamily="18" charset="0"/>
                <a:ea typeface="Cambria" panose="02040503050406030204" pitchFamily="18" charset="0"/>
              </a:rPr>
              <a:t> </a:t>
            </a:r>
            <a:r>
              <a:rPr lang="en-US" sz="2000" b="1" dirty="0" err="1">
                <a:solidFill>
                  <a:srgbClr val="008000"/>
                </a:solidFill>
                <a:latin typeface="Cambria" panose="02040503050406030204" pitchFamily="18" charset="0"/>
                <a:ea typeface="Cambria" panose="02040503050406030204" pitchFamily="18" charset="0"/>
              </a:rPr>
              <a:t>dữ</a:t>
            </a:r>
            <a:r>
              <a:rPr lang="en-US" sz="2000" b="1" dirty="0">
                <a:solidFill>
                  <a:srgbClr val="008000"/>
                </a:solidFill>
                <a:latin typeface="Cambria" panose="02040503050406030204" pitchFamily="18" charset="0"/>
                <a:ea typeface="Cambria" panose="02040503050406030204" pitchFamily="18" charset="0"/>
              </a:rPr>
              <a:t> </a:t>
            </a:r>
            <a:r>
              <a:rPr lang="en-US" sz="2000" b="1" dirty="0" err="1">
                <a:solidFill>
                  <a:srgbClr val="008000"/>
                </a:solidFill>
                <a:latin typeface="Cambria" panose="02040503050406030204" pitchFamily="18" charset="0"/>
                <a:ea typeface="Cambria" panose="02040503050406030204" pitchFamily="18" charset="0"/>
              </a:rPr>
              <a:t>liệu</a:t>
            </a:r>
            <a:r>
              <a:rPr lang="en-US" sz="2000" b="1" dirty="0">
                <a:solidFill>
                  <a:srgbClr val="008000"/>
                </a:solidFill>
                <a:latin typeface="Cambria" panose="02040503050406030204" pitchFamily="18" charset="0"/>
                <a:ea typeface="Cambria" panose="02040503050406030204" pitchFamily="18" charset="0"/>
              </a:rPr>
              <a:t> </a:t>
            </a:r>
            <a:r>
              <a:rPr lang="en-US" sz="2000" b="1" dirty="0" err="1">
                <a:solidFill>
                  <a:srgbClr val="008000"/>
                </a:solidFill>
                <a:latin typeface="Cambria" panose="02040503050406030204" pitchFamily="18" charset="0"/>
                <a:ea typeface="Cambria" panose="02040503050406030204" pitchFamily="18" charset="0"/>
              </a:rPr>
              <a:t>trên</a:t>
            </a:r>
            <a:r>
              <a:rPr lang="en-US" sz="2000" b="1" dirty="0">
                <a:solidFill>
                  <a:srgbClr val="008000"/>
                </a:solidFill>
                <a:latin typeface="Cambria" panose="02040503050406030204" pitchFamily="18" charset="0"/>
                <a:ea typeface="Cambria" panose="02040503050406030204" pitchFamily="18" charset="0"/>
              </a:rPr>
              <a:t> 1 </a:t>
            </a:r>
            <a:r>
              <a:rPr lang="en-US" sz="2000" b="1" dirty="0" err="1">
                <a:solidFill>
                  <a:srgbClr val="008000"/>
                </a:solidFill>
                <a:latin typeface="Cambria" panose="02040503050406030204" pitchFamily="18" charset="0"/>
                <a:ea typeface="Cambria" panose="02040503050406030204" pitchFamily="18" charset="0"/>
              </a:rPr>
              <a:t>biểu</a:t>
            </a:r>
            <a:r>
              <a:rPr lang="en-US" sz="2000" b="1" dirty="0">
                <a:solidFill>
                  <a:srgbClr val="008000"/>
                </a:solidFill>
                <a:latin typeface="Cambria" panose="02040503050406030204" pitchFamily="18" charset="0"/>
                <a:ea typeface="Cambria" panose="02040503050406030204" pitchFamily="18" charset="0"/>
              </a:rPr>
              <a:t> </a:t>
            </a:r>
            <a:r>
              <a:rPr lang="en-US" sz="2000" b="1" dirty="0" err="1">
                <a:solidFill>
                  <a:srgbClr val="008000"/>
                </a:solidFill>
                <a:latin typeface="Cambria" panose="02040503050406030204" pitchFamily="18" charset="0"/>
                <a:ea typeface="Cambria" panose="02040503050406030204" pitchFamily="18" charset="0"/>
              </a:rPr>
              <a:t>đồ</a:t>
            </a:r>
            <a:br>
              <a:rPr lang="en-US" sz="2000" b="1" dirty="0">
                <a:solidFill>
                  <a:srgbClr val="008000"/>
                </a:solidFill>
                <a:latin typeface="Cambria" panose="02040503050406030204" pitchFamily="18" charset="0"/>
                <a:ea typeface="Cambria" panose="02040503050406030204" pitchFamily="18" charset="0"/>
              </a:rPr>
            </a:br>
            <a:r>
              <a:rPr lang="en-US" sz="2000" b="1" dirty="0" err="1">
                <a:solidFill>
                  <a:srgbClr val="000000"/>
                </a:solidFill>
                <a:latin typeface="Cambria" panose="02040503050406030204" pitchFamily="18" charset="0"/>
                <a:ea typeface="Cambria" panose="02040503050406030204" pitchFamily="18" charset="0"/>
              </a:rPr>
              <a:t>plt.plot</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1</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2</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3</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4</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5</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1</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2</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3</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4</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10</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A31515"/>
                </a:solidFill>
                <a:latin typeface="Cambria" panose="02040503050406030204" pitchFamily="18" charset="0"/>
                <a:ea typeface="Cambria" panose="02040503050406030204" pitchFamily="18" charset="0"/>
              </a:rPr>
              <a:t>'</a:t>
            </a:r>
            <a:r>
              <a:rPr lang="en-US" sz="2000" b="1" dirty="0" err="1">
                <a:solidFill>
                  <a:srgbClr val="A31515"/>
                </a:solidFill>
                <a:latin typeface="Cambria" panose="02040503050406030204" pitchFamily="18" charset="0"/>
                <a:ea typeface="Cambria" panose="02040503050406030204" pitchFamily="18" charset="0"/>
              </a:rPr>
              <a:t>go'</a:t>
            </a:r>
            <a:r>
              <a:rPr lang="en-US" sz="2000" b="1" dirty="0" err="1">
                <a:solidFill>
                  <a:srgbClr val="000000"/>
                </a:solidFill>
                <a:latin typeface="Cambria" panose="02040503050406030204" pitchFamily="18" charset="0"/>
                <a:ea typeface="Cambria" panose="02040503050406030204" pitchFamily="18" charset="0"/>
              </a:rPr>
              <a:t>,label</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A31515"/>
                </a:solidFill>
                <a:latin typeface="Cambria" panose="02040503050406030204" pitchFamily="18" charset="0"/>
                <a:ea typeface="Cambria" panose="02040503050406030204" pitchFamily="18" charset="0"/>
              </a:rPr>
              <a:t>'</a:t>
            </a:r>
            <a:r>
              <a:rPr lang="en-US" sz="2000" b="1" dirty="0" err="1">
                <a:solidFill>
                  <a:srgbClr val="A31515"/>
                </a:solidFill>
                <a:latin typeface="Cambria" panose="02040503050406030204" pitchFamily="18" charset="0"/>
                <a:ea typeface="Cambria" panose="02040503050406030204" pitchFamily="18" charset="0"/>
              </a:rPr>
              <a:t>GeenCircle</a:t>
            </a:r>
            <a:r>
              <a:rPr lang="en-US" sz="2000" b="1" dirty="0">
                <a:solidFill>
                  <a:srgbClr val="A31515"/>
                </a:solidFill>
                <a:latin typeface="Cambria" panose="02040503050406030204" pitchFamily="18" charset="0"/>
                <a:ea typeface="Cambria" panose="02040503050406030204" pitchFamily="18" charset="0"/>
              </a:rPr>
              <a:t>'</a:t>
            </a:r>
            <a:r>
              <a:rPr lang="en-US" sz="2000" b="1" dirty="0">
                <a:solidFill>
                  <a:srgbClr val="000000"/>
                </a:solidFill>
                <a:latin typeface="Cambria" panose="02040503050406030204" pitchFamily="18" charset="0"/>
                <a:ea typeface="Cambria" panose="02040503050406030204" pitchFamily="18" charset="0"/>
              </a:rPr>
              <a:t>)</a:t>
            </a:r>
            <a:br>
              <a:rPr lang="en-US" sz="2000" b="1" dirty="0">
                <a:solidFill>
                  <a:srgbClr val="000000"/>
                </a:solidFill>
                <a:latin typeface="Cambria" panose="02040503050406030204" pitchFamily="18" charset="0"/>
                <a:ea typeface="Cambria" panose="02040503050406030204" pitchFamily="18" charset="0"/>
              </a:rPr>
            </a:br>
            <a:r>
              <a:rPr lang="en-US" sz="2000" b="1" dirty="0" err="1">
                <a:solidFill>
                  <a:srgbClr val="000000"/>
                </a:solidFill>
                <a:latin typeface="Cambria" panose="02040503050406030204" pitchFamily="18" charset="0"/>
                <a:ea typeface="Cambria" panose="02040503050406030204" pitchFamily="18" charset="0"/>
              </a:rPr>
              <a:t>plt.plot</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1</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2</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3</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4</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5</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2</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3</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4</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5</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15</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A31515"/>
                </a:solidFill>
                <a:latin typeface="Cambria" panose="02040503050406030204" pitchFamily="18" charset="0"/>
                <a:ea typeface="Cambria" panose="02040503050406030204" pitchFamily="18" charset="0"/>
              </a:rPr>
              <a:t>'b*'</a:t>
            </a:r>
            <a:r>
              <a:rPr lang="en-US" sz="2000" b="1" dirty="0">
                <a:solidFill>
                  <a:srgbClr val="000000"/>
                </a:solidFill>
                <a:latin typeface="Cambria" panose="02040503050406030204" pitchFamily="18" charset="0"/>
                <a:ea typeface="Cambria" panose="02040503050406030204" pitchFamily="18" charset="0"/>
              </a:rPr>
              <a:t>,label=</a:t>
            </a:r>
            <a:r>
              <a:rPr lang="en-US" sz="2000" b="1" dirty="0">
                <a:solidFill>
                  <a:srgbClr val="A31515"/>
                </a:solidFill>
                <a:latin typeface="Cambria" panose="02040503050406030204" pitchFamily="18" charset="0"/>
                <a:ea typeface="Cambria" panose="02040503050406030204" pitchFamily="18" charset="0"/>
              </a:rPr>
              <a:t>'</a:t>
            </a:r>
            <a:r>
              <a:rPr lang="en-US" sz="2000" b="1" dirty="0" err="1">
                <a:solidFill>
                  <a:srgbClr val="A31515"/>
                </a:solidFill>
                <a:latin typeface="Cambria" panose="02040503050406030204" pitchFamily="18" charset="0"/>
                <a:ea typeface="Cambria" panose="02040503050406030204" pitchFamily="18" charset="0"/>
              </a:rPr>
              <a:t>BlueStars</a:t>
            </a:r>
            <a:r>
              <a:rPr lang="en-US" sz="2000" b="1" dirty="0">
                <a:solidFill>
                  <a:srgbClr val="A31515"/>
                </a:solidFill>
                <a:latin typeface="Cambria" panose="02040503050406030204" pitchFamily="18" charset="0"/>
                <a:ea typeface="Cambria" panose="02040503050406030204" pitchFamily="18" charset="0"/>
              </a:rPr>
              <a:t>'</a:t>
            </a:r>
            <a:r>
              <a:rPr lang="en-US" sz="2000" b="1" dirty="0">
                <a:solidFill>
                  <a:srgbClr val="000000"/>
                </a:solidFill>
                <a:latin typeface="Cambria" panose="02040503050406030204" pitchFamily="18" charset="0"/>
                <a:ea typeface="Cambria" panose="02040503050406030204" pitchFamily="18" charset="0"/>
              </a:rPr>
              <a:t>)</a:t>
            </a:r>
            <a:br>
              <a:rPr lang="en-US" sz="2000" b="1" dirty="0">
                <a:solidFill>
                  <a:srgbClr val="000000"/>
                </a:solidFill>
                <a:latin typeface="Cambria" panose="02040503050406030204" pitchFamily="18" charset="0"/>
                <a:ea typeface="Cambria" panose="02040503050406030204" pitchFamily="18" charset="0"/>
              </a:rPr>
            </a:br>
            <a:r>
              <a:rPr lang="en-US" sz="2000" b="1" dirty="0" err="1">
                <a:solidFill>
                  <a:srgbClr val="000000"/>
                </a:solidFill>
                <a:latin typeface="Cambria" panose="02040503050406030204" pitchFamily="18" charset="0"/>
                <a:ea typeface="Cambria" panose="02040503050406030204" pitchFamily="18" charset="0"/>
              </a:rPr>
              <a:t>plt.plot</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1</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2</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3</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4</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5</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3</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5</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7</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9</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098658"/>
                </a:solidFill>
                <a:latin typeface="Cambria" panose="02040503050406030204" pitchFamily="18" charset="0"/>
                <a:ea typeface="Cambria" panose="02040503050406030204" pitchFamily="18" charset="0"/>
              </a:rPr>
              <a:t>20</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A31515"/>
                </a:solidFill>
                <a:latin typeface="Cambria" panose="02040503050406030204" pitchFamily="18" charset="0"/>
                <a:ea typeface="Cambria" panose="02040503050406030204" pitchFamily="18" charset="0"/>
              </a:rPr>
              <a:t>'</a:t>
            </a:r>
            <a:r>
              <a:rPr lang="en-US" sz="2000" b="1" dirty="0" err="1">
                <a:solidFill>
                  <a:srgbClr val="A31515"/>
                </a:solidFill>
                <a:latin typeface="Cambria" panose="02040503050406030204" pitchFamily="18" charset="0"/>
                <a:ea typeface="Cambria" panose="02040503050406030204" pitchFamily="18" charset="0"/>
              </a:rPr>
              <a:t>yD</a:t>
            </a:r>
            <a:r>
              <a:rPr lang="en-US" sz="2000" b="1" dirty="0">
                <a:solidFill>
                  <a:srgbClr val="A31515"/>
                </a:solidFill>
                <a:latin typeface="Cambria" panose="02040503050406030204" pitchFamily="18" charset="0"/>
                <a:ea typeface="Cambria" panose="02040503050406030204" pitchFamily="18" charset="0"/>
              </a:rPr>
              <a:t>'</a:t>
            </a:r>
            <a:r>
              <a:rPr lang="en-US" sz="2000" b="1" dirty="0">
                <a:solidFill>
                  <a:srgbClr val="000000"/>
                </a:solidFill>
                <a:latin typeface="Cambria" panose="02040503050406030204" pitchFamily="18" charset="0"/>
                <a:ea typeface="Cambria" panose="02040503050406030204" pitchFamily="18" charset="0"/>
              </a:rPr>
              <a:t>,label=</a:t>
            </a:r>
            <a:r>
              <a:rPr lang="en-US" sz="2000" b="1" dirty="0">
                <a:solidFill>
                  <a:srgbClr val="A31515"/>
                </a:solidFill>
                <a:latin typeface="Cambria" panose="02040503050406030204" pitchFamily="18" charset="0"/>
                <a:ea typeface="Cambria" panose="02040503050406030204" pitchFamily="18" charset="0"/>
              </a:rPr>
              <a:t>'</a:t>
            </a:r>
            <a:r>
              <a:rPr lang="en-US" sz="2000" b="1" dirty="0" err="1">
                <a:solidFill>
                  <a:srgbClr val="A31515"/>
                </a:solidFill>
                <a:latin typeface="Cambria" panose="02040503050406030204" pitchFamily="18" charset="0"/>
                <a:ea typeface="Cambria" panose="02040503050406030204" pitchFamily="18" charset="0"/>
              </a:rPr>
              <a:t>YellowDiamond</a:t>
            </a:r>
            <a:r>
              <a:rPr lang="en-US" sz="2000" b="1" dirty="0">
                <a:solidFill>
                  <a:srgbClr val="A31515"/>
                </a:solidFill>
                <a:latin typeface="Cambria" panose="02040503050406030204" pitchFamily="18" charset="0"/>
                <a:ea typeface="Cambria" panose="02040503050406030204" pitchFamily="18" charset="0"/>
              </a:rPr>
              <a:t>'</a:t>
            </a:r>
            <a:r>
              <a:rPr lang="en-US" sz="2000" b="1" dirty="0">
                <a:solidFill>
                  <a:srgbClr val="000000"/>
                </a:solidFill>
                <a:latin typeface="Cambria" panose="02040503050406030204" pitchFamily="18" charset="0"/>
                <a:ea typeface="Cambria" panose="02040503050406030204" pitchFamily="18" charset="0"/>
              </a:rPr>
              <a:t>)</a:t>
            </a:r>
            <a:br>
              <a:rPr lang="en-US" sz="2000" b="1" dirty="0">
                <a:solidFill>
                  <a:srgbClr val="000000"/>
                </a:solidFill>
                <a:latin typeface="Cambria" panose="02040503050406030204" pitchFamily="18" charset="0"/>
                <a:ea typeface="Cambria" panose="02040503050406030204" pitchFamily="18" charset="0"/>
              </a:rPr>
            </a:br>
            <a:r>
              <a:rPr lang="en-US" sz="2000" b="1" dirty="0" err="1">
                <a:solidFill>
                  <a:srgbClr val="000000"/>
                </a:solidFill>
                <a:latin typeface="Cambria" panose="02040503050406030204" pitchFamily="18" charset="0"/>
                <a:ea typeface="Cambria" panose="02040503050406030204" pitchFamily="18" charset="0"/>
              </a:rPr>
              <a:t>plt.title</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A31515"/>
                </a:solidFill>
                <a:latin typeface="Cambria" panose="02040503050406030204" pitchFamily="18" charset="0"/>
                <a:ea typeface="Cambria" panose="02040503050406030204" pitchFamily="18" charset="0"/>
              </a:rPr>
              <a:t>'</a:t>
            </a:r>
            <a:r>
              <a:rPr lang="en-US" sz="2000" b="1" dirty="0" err="1">
                <a:solidFill>
                  <a:srgbClr val="A31515"/>
                </a:solidFill>
                <a:latin typeface="Cambria" panose="02040503050406030204" pitchFamily="18" charset="0"/>
                <a:ea typeface="Cambria" panose="02040503050406030204" pitchFamily="18" charset="0"/>
              </a:rPr>
              <a:t>Biểu</a:t>
            </a:r>
            <a:r>
              <a:rPr lang="en-US" sz="2000" b="1" dirty="0">
                <a:solidFill>
                  <a:srgbClr val="A31515"/>
                </a:solidFill>
                <a:latin typeface="Cambria" panose="02040503050406030204" pitchFamily="18" charset="0"/>
                <a:ea typeface="Cambria" panose="02040503050406030204" pitchFamily="18" charset="0"/>
              </a:rPr>
              <a:t> </a:t>
            </a:r>
            <a:r>
              <a:rPr lang="en-US" sz="2000" b="1" dirty="0" err="1">
                <a:solidFill>
                  <a:srgbClr val="A31515"/>
                </a:solidFill>
                <a:latin typeface="Cambria" panose="02040503050406030204" pitchFamily="18" charset="0"/>
                <a:ea typeface="Cambria" panose="02040503050406030204" pitchFamily="18" charset="0"/>
              </a:rPr>
              <a:t>diễn</a:t>
            </a:r>
            <a:r>
              <a:rPr lang="en-US" sz="2000" b="1" dirty="0">
                <a:solidFill>
                  <a:srgbClr val="A31515"/>
                </a:solidFill>
                <a:latin typeface="Cambria" panose="02040503050406030204" pitchFamily="18" charset="0"/>
                <a:ea typeface="Cambria" panose="02040503050406030204" pitchFamily="18" charset="0"/>
              </a:rPr>
              <a:t> </a:t>
            </a:r>
            <a:r>
              <a:rPr lang="en-US" sz="2000" b="1" dirty="0" err="1">
                <a:solidFill>
                  <a:srgbClr val="A31515"/>
                </a:solidFill>
                <a:latin typeface="Cambria" panose="02040503050406030204" pitchFamily="18" charset="0"/>
                <a:ea typeface="Cambria" panose="02040503050406030204" pitchFamily="18" charset="0"/>
              </a:rPr>
              <a:t>nhiều</a:t>
            </a:r>
            <a:r>
              <a:rPr lang="en-US" sz="2000" b="1" dirty="0">
                <a:solidFill>
                  <a:srgbClr val="A31515"/>
                </a:solidFill>
                <a:latin typeface="Cambria" panose="02040503050406030204" pitchFamily="18" charset="0"/>
                <a:ea typeface="Cambria" panose="02040503050406030204" pitchFamily="18" charset="0"/>
              </a:rPr>
              <a:t> </a:t>
            </a:r>
            <a:r>
              <a:rPr lang="en-US" sz="2000" b="1" dirty="0" err="1">
                <a:solidFill>
                  <a:srgbClr val="A31515"/>
                </a:solidFill>
                <a:latin typeface="Cambria" panose="02040503050406030204" pitchFamily="18" charset="0"/>
                <a:ea typeface="Cambria" panose="02040503050406030204" pitchFamily="18" charset="0"/>
              </a:rPr>
              <a:t>tập</a:t>
            </a:r>
            <a:r>
              <a:rPr lang="en-US" sz="2000" b="1" dirty="0">
                <a:solidFill>
                  <a:srgbClr val="A31515"/>
                </a:solidFill>
                <a:latin typeface="Cambria" panose="02040503050406030204" pitchFamily="18" charset="0"/>
                <a:ea typeface="Cambria" panose="02040503050406030204" pitchFamily="18" charset="0"/>
              </a:rPr>
              <a:t> </a:t>
            </a:r>
            <a:r>
              <a:rPr lang="en-US" sz="2000" b="1" dirty="0" err="1">
                <a:solidFill>
                  <a:srgbClr val="A31515"/>
                </a:solidFill>
                <a:latin typeface="Cambria" panose="02040503050406030204" pitchFamily="18" charset="0"/>
                <a:ea typeface="Cambria" panose="02040503050406030204" pitchFamily="18" charset="0"/>
              </a:rPr>
              <a:t>dữ</a:t>
            </a:r>
            <a:r>
              <a:rPr lang="en-US" sz="2000" b="1" dirty="0">
                <a:solidFill>
                  <a:srgbClr val="A31515"/>
                </a:solidFill>
                <a:latin typeface="Cambria" panose="02040503050406030204" pitchFamily="18" charset="0"/>
                <a:ea typeface="Cambria" panose="02040503050406030204" pitchFamily="18" charset="0"/>
              </a:rPr>
              <a:t> </a:t>
            </a:r>
            <a:r>
              <a:rPr lang="en-US" sz="2000" b="1" dirty="0" err="1">
                <a:solidFill>
                  <a:srgbClr val="A31515"/>
                </a:solidFill>
                <a:latin typeface="Cambria" panose="02040503050406030204" pitchFamily="18" charset="0"/>
                <a:ea typeface="Cambria" panose="02040503050406030204" pitchFamily="18" charset="0"/>
              </a:rPr>
              <a:t>liệu</a:t>
            </a:r>
            <a:r>
              <a:rPr lang="en-US" sz="2000" b="1" dirty="0">
                <a:solidFill>
                  <a:srgbClr val="A31515"/>
                </a:solidFill>
                <a:latin typeface="Cambria" panose="02040503050406030204" pitchFamily="18" charset="0"/>
                <a:ea typeface="Cambria" panose="02040503050406030204" pitchFamily="18" charset="0"/>
              </a:rPr>
              <a:t> </a:t>
            </a:r>
            <a:r>
              <a:rPr lang="en-US" sz="2000" b="1" dirty="0" err="1">
                <a:solidFill>
                  <a:srgbClr val="A31515"/>
                </a:solidFill>
                <a:latin typeface="Cambria" panose="02040503050406030204" pitchFamily="18" charset="0"/>
                <a:ea typeface="Cambria" panose="02040503050406030204" pitchFamily="18" charset="0"/>
              </a:rPr>
              <a:t>trên</a:t>
            </a:r>
            <a:r>
              <a:rPr lang="en-US" sz="2000" b="1" dirty="0">
                <a:solidFill>
                  <a:srgbClr val="A31515"/>
                </a:solidFill>
                <a:latin typeface="Cambria" panose="02040503050406030204" pitchFamily="18" charset="0"/>
                <a:ea typeface="Cambria" panose="02040503050406030204" pitchFamily="18" charset="0"/>
              </a:rPr>
              <a:t> 1 </a:t>
            </a:r>
            <a:r>
              <a:rPr lang="en-US" sz="2000" b="1" dirty="0" err="1">
                <a:solidFill>
                  <a:srgbClr val="A31515"/>
                </a:solidFill>
                <a:latin typeface="Cambria" panose="02040503050406030204" pitchFamily="18" charset="0"/>
                <a:ea typeface="Cambria" panose="02040503050406030204" pitchFamily="18" charset="0"/>
              </a:rPr>
              <a:t>đồ</a:t>
            </a:r>
            <a:r>
              <a:rPr lang="en-US" sz="2000" b="1" dirty="0">
                <a:solidFill>
                  <a:srgbClr val="A31515"/>
                </a:solidFill>
                <a:latin typeface="Cambria" panose="02040503050406030204" pitchFamily="18" charset="0"/>
                <a:ea typeface="Cambria" panose="02040503050406030204" pitchFamily="18" charset="0"/>
              </a:rPr>
              <a:t> </a:t>
            </a:r>
            <a:r>
              <a:rPr lang="en-US" sz="2000" b="1" dirty="0" err="1">
                <a:solidFill>
                  <a:srgbClr val="A31515"/>
                </a:solidFill>
                <a:latin typeface="Cambria" panose="02040503050406030204" pitchFamily="18" charset="0"/>
                <a:ea typeface="Cambria" panose="02040503050406030204" pitchFamily="18" charset="0"/>
              </a:rPr>
              <a:t>thị</a:t>
            </a:r>
            <a:r>
              <a:rPr lang="en-US" sz="2000" b="1" dirty="0">
                <a:solidFill>
                  <a:srgbClr val="A31515"/>
                </a:solidFill>
                <a:latin typeface="Cambria" panose="02040503050406030204" pitchFamily="18" charset="0"/>
                <a:ea typeface="Cambria" panose="02040503050406030204" pitchFamily="18" charset="0"/>
              </a:rPr>
              <a:t>'</a:t>
            </a:r>
            <a:r>
              <a:rPr lang="en-US" sz="2000" b="1" dirty="0">
                <a:solidFill>
                  <a:srgbClr val="000000"/>
                </a:solidFill>
                <a:latin typeface="Cambria" panose="02040503050406030204" pitchFamily="18" charset="0"/>
                <a:ea typeface="Cambria" panose="02040503050406030204" pitchFamily="18" charset="0"/>
              </a:rPr>
              <a:t>)</a:t>
            </a:r>
            <a:br>
              <a:rPr lang="en-US" sz="2000" b="1" dirty="0">
                <a:solidFill>
                  <a:srgbClr val="000000"/>
                </a:solidFill>
                <a:latin typeface="Cambria" panose="02040503050406030204" pitchFamily="18" charset="0"/>
                <a:ea typeface="Cambria" panose="02040503050406030204" pitchFamily="18" charset="0"/>
              </a:rPr>
            </a:br>
            <a:r>
              <a:rPr lang="en-US" sz="2000" b="1" dirty="0" err="1">
                <a:solidFill>
                  <a:srgbClr val="000000"/>
                </a:solidFill>
                <a:latin typeface="Cambria" panose="02040503050406030204" pitchFamily="18" charset="0"/>
                <a:ea typeface="Cambria" panose="02040503050406030204" pitchFamily="18" charset="0"/>
              </a:rPr>
              <a:t>plt.ylabel</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A31515"/>
                </a:solidFill>
                <a:latin typeface="Cambria" panose="02040503050406030204" pitchFamily="18" charset="0"/>
                <a:ea typeface="Cambria" panose="02040503050406030204" pitchFamily="18" charset="0"/>
              </a:rPr>
              <a:t>'</a:t>
            </a:r>
            <a:r>
              <a:rPr lang="en-US" sz="2000" b="1" dirty="0" err="1">
                <a:solidFill>
                  <a:srgbClr val="A31515"/>
                </a:solidFill>
                <a:latin typeface="Cambria" panose="02040503050406030204" pitchFamily="18" charset="0"/>
                <a:ea typeface="Cambria" panose="02040503050406030204" pitchFamily="18" charset="0"/>
              </a:rPr>
              <a:t>Trục</a:t>
            </a:r>
            <a:r>
              <a:rPr lang="en-US" sz="2000" b="1" dirty="0">
                <a:solidFill>
                  <a:srgbClr val="A31515"/>
                </a:solidFill>
                <a:latin typeface="Cambria" panose="02040503050406030204" pitchFamily="18" charset="0"/>
                <a:ea typeface="Cambria" panose="02040503050406030204" pitchFamily="18" charset="0"/>
              </a:rPr>
              <a:t> Y'</a:t>
            </a:r>
            <a:r>
              <a:rPr lang="en-US" sz="2000" b="1" dirty="0">
                <a:solidFill>
                  <a:srgbClr val="000000"/>
                </a:solidFill>
                <a:latin typeface="Cambria" panose="02040503050406030204" pitchFamily="18" charset="0"/>
                <a:ea typeface="Cambria" panose="02040503050406030204" pitchFamily="18" charset="0"/>
              </a:rPr>
              <a:t>)</a:t>
            </a:r>
            <a:br>
              <a:rPr lang="en-US" sz="2000" b="1" dirty="0">
                <a:solidFill>
                  <a:srgbClr val="000000"/>
                </a:solidFill>
                <a:latin typeface="Cambria" panose="02040503050406030204" pitchFamily="18" charset="0"/>
                <a:ea typeface="Cambria" panose="02040503050406030204" pitchFamily="18" charset="0"/>
              </a:rPr>
            </a:br>
            <a:r>
              <a:rPr lang="en-US" sz="2000" b="1" dirty="0" err="1">
                <a:solidFill>
                  <a:srgbClr val="000000"/>
                </a:solidFill>
                <a:latin typeface="Cambria" panose="02040503050406030204" pitchFamily="18" charset="0"/>
                <a:ea typeface="Cambria" panose="02040503050406030204" pitchFamily="18" charset="0"/>
              </a:rPr>
              <a:t>plt.xlabel</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A31515"/>
                </a:solidFill>
                <a:latin typeface="Cambria" panose="02040503050406030204" pitchFamily="18" charset="0"/>
                <a:ea typeface="Cambria" panose="02040503050406030204" pitchFamily="18" charset="0"/>
              </a:rPr>
              <a:t>'</a:t>
            </a:r>
            <a:r>
              <a:rPr lang="en-US" sz="2000" b="1" dirty="0" err="1">
                <a:solidFill>
                  <a:srgbClr val="A31515"/>
                </a:solidFill>
                <a:latin typeface="Cambria" panose="02040503050406030204" pitchFamily="18" charset="0"/>
                <a:ea typeface="Cambria" panose="02040503050406030204" pitchFamily="18" charset="0"/>
              </a:rPr>
              <a:t>Trục</a:t>
            </a:r>
            <a:r>
              <a:rPr lang="en-US" sz="2000" b="1" dirty="0">
                <a:solidFill>
                  <a:srgbClr val="A31515"/>
                </a:solidFill>
                <a:latin typeface="Cambria" panose="02040503050406030204" pitchFamily="18" charset="0"/>
                <a:ea typeface="Cambria" panose="02040503050406030204" pitchFamily="18" charset="0"/>
              </a:rPr>
              <a:t> X'</a:t>
            </a:r>
            <a:r>
              <a:rPr lang="en-US" sz="2000" b="1" dirty="0">
                <a:solidFill>
                  <a:srgbClr val="000000"/>
                </a:solidFill>
                <a:latin typeface="Cambria" panose="02040503050406030204" pitchFamily="18" charset="0"/>
                <a:ea typeface="Cambria" panose="02040503050406030204" pitchFamily="18" charset="0"/>
              </a:rPr>
              <a:t>)</a:t>
            </a:r>
            <a:br>
              <a:rPr lang="en-US" sz="2000" b="1" dirty="0">
                <a:solidFill>
                  <a:srgbClr val="000000"/>
                </a:solidFill>
                <a:latin typeface="Cambria" panose="02040503050406030204" pitchFamily="18" charset="0"/>
                <a:ea typeface="Cambria" panose="02040503050406030204" pitchFamily="18" charset="0"/>
              </a:rPr>
            </a:br>
            <a:r>
              <a:rPr lang="en-US" sz="2000" b="1" dirty="0">
                <a:solidFill>
                  <a:srgbClr val="008000"/>
                </a:solidFill>
                <a:latin typeface="Cambria" panose="02040503050406030204" pitchFamily="18" charset="0"/>
                <a:ea typeface="Cambria" panose="02040503050406030204" pitchFamily="18" charset="0"/>
              </a:rPr>
              <a:t># </a:t>
            </a:r>
            <a:r>
              <a:rPr lang="en-US" sz="2000" b="1" dirty="0" err="1">
                <a:solidFill>
                  <a:srgbClr val="008000"/>
                </a:solidFill>
                <a:latin typeface="Cambria" panose="02040503050406030204" pitchFamily="18" charset="0"/>
                <a:ea typeface="Cambria" panose="02040503050406030204" pitchFamily="18" charset="0"/>
              </a:rPr>
              <a:t>hiển</a:t>
            </a:r>
            <a:r>
              <a:rPr lang="en-US" sz="2000" b="1" dirty="0">
                <a:solidFill>
                  <a:srgbClr val="008000"/>
                </a:solidFill>
                <a:latin typeface="Cambria" panose="02040503050406030204" pitchFamily="18" charset="0"/>
                <a:ea typeface="Cambria" panose="02040503050406030204" pitchFamily="18" charset="0"/>
              </a:rPr>
              <a:t> </a:t>
            </a:r>
            <a:r>
              <a:rPr lang="en-US" sz="2000" b="1" dirty="0" err="1">
                <a:solidFill>
                  <a:srgbClr val="008000"/>
                </a:solidFill>
                <a:latin typeface="Cambria" panose="02040503050406030204" pitchFamily="18" charset="0"/>
                <a:ea typeface="Cambria" panose="02040503050406030204" pitchFamily="18" charset="0"/>
              </a:rPr>
              <a:t>thị</a:t>
            </a:r>
            <a:r>
              <a:rPr lang="en-US" sz="2000" b="1" dirty="0">
                <a:solidFill>
                  <a:srgbClr val="008000"/>
                </a:solidFill>
                <a:latin typeface="Cambria" panose="02040503050406030204" pitchFamily="18" charset="0"/>
                <a:ea typeface="Cambria" panose="02040503050406030204" pitchFamily="18" charset="0"/>
              </a:rPr>
              <a:t> </a:t>
            </a:r>
            <a:r>
              <a:rPr lang="en-US" sz="2000" b="1" dirty="0" err="1">
                <a:solidFill>
                  <a:srgbClr val="008000"/>
                </a:solidFill>
                <a:latin typeface="Cambria" panose="02040503050406030204" pitchFamily="18" charset="0"/>
                <a:ea typeface="Cambria" panose="02040503050406030204" pitchFamily="18" charset="0"/>
              </a:rPr>
              <a:t>chú</a:t>
            </a:r>
            <a:r>
              <a:rPr lang="en-US" sz="2000" b="1" dirty="0">
                <a:solidFill>
                  <a:srgbClr val="008000"/>
                </a:solidFill>
                <a:latin typeface="Cambria" panose="02040503050406030204" pitchFamily="18" charset="0"/>
                <a:ea typeface="Cambria" panose="02040503050406030204" pitchFamily="18" charset="0"/>
              </a:rPr>
              <a:t> </a:t>
            </a:r>
            <a:r>
              <a:rPr lang="en-US" sz="2000" b="1" dirty="0" err="1">
                <a:solidFill>
                  <a:srgbClr val="008000"/>
                </a:solidFill>
                <a:latin typeface="Cambria" panose="02040503050406030204" pitchFamily="18" charset="0"/>
                <a:ea typeface="Cambria" panose="02040503050406030204" pitchFamily="18" charset="0"/>
              </a:rPr>
              <a:t>thích</a:t>
            </a:r>
            <a:br>
              <a:rPr lang="en-US" sz="2000" b="1" dirty="0">
                <a:solidFill>
                  <a:srgbClr val="008000"/>
                </a:solidFill>
                <a:latin typeface="Cambria" panose="02040503050406030204" pitchFamily="18" charset="0"/>
                <a:ea typeface="Cambria" panose="02040503050406030204" pitchFamily="18" charset="0"/>
              </a:rPr>
            </a:br>
            <a:r>
              <a:rPr lang="en-US" sz="2000" b="1" dirty="0" err="1">
                <a:solidFill>
                  <a:srgbClr val="000000"/>
                </a:solidFill>
                <a:latin typeface="Cambria" panose="02040503050406030204" pitchFamily="18" charset="0"/>
                <a:ea typeface="Cambria" panose="02040503050406030204" pitchFamily="18" charset="0"/>
              </a:rPr>
              <a:t>plt.legend</a:t>
            </a:r>
            <a:r>
              <a:rPr lang="en-US" sz="2000" b="1" dirty="0">
                <a:solidFill>
                  <a:srgbClr val="000000"/>
                </a:solidFill>
                <a:latin typeface="Cambria" panose="02040503050406030204" pitchFamily="18" charset="0"/>
                <a:ea typeface="Cambria" panose="02040503050406030204" pitchFamily="18" charset="0"/>
              </a:rPr>
              <a:t>(</a:t>
            </a:r>
            <a:r>
              <a:rPr lang="en-US" sz="2000" b="1" dirty="0" err="1">
                <a:solidFill>
                  <a:srgbClr val="000000"/>
                </a:solidFill>
                <a:latin typeface="Cambria" panose="02040503050406030204" pitchFamily="18" charset="0"/>
                <a:ea typeface="Cambria" panose="02040503050406030204" pitchFamily="18" charset="0"/>
              </a:rPr>
              <a:t>loc</a:t>
            </a:r>
            <a:r>
              <a:rPr lang="en-US" sz="2000" b="1" dirty="0">
                <a:solidFill>
                  <a:srgbClr val="000000"/>
                </a:solidFill>
                <a:latin typeface="Cambria" panose="02040503050406030204" pitchFamily="18" charset="0"/>
                <a:ea typeface="Cambria" panose="02040503050406030204" pitchFamily="18" charset="0"/>
              </a:rPr>
              <a:t>=</a:t>
            </a:r>
            <a:r>
              <a:rPr lang="en-US" sz="2000" b="1" dirty="0">
                <a:solidFill>
                  <a:srgbClr val="A31515"/>
                </a:solidFill>
                <a:latin typeface="Cambria" panose="02040503050406030204" pitchFamily="18" charset="0"/>
                <a:ea typeface="Cambria" panose="02040503050406030204" pitchFamily="18" charset="0"/>
              </a:rPr>
              <a:t>'best'</a:t>
            </a:r>
            <a:r>
              <a:rPr lang="en-US" sz="2000" b="1" dirty="0">
                <a:solidFill>
                  <a:srgbClr val="000000"/>
                </a:solidFill>
                <a:latin typeface="Cambria" panose="02040503050406030204" pitchFamily="18" charset="0"/>
                <a:ea typeface="Cambria" panose="02040503050406030204" pitchFamily="18" charset="0"/>
              </a:rPr>
              <a:t>)</a:t>
            </a:r>
            <a:br>
              <a:rPr lang="en-US" sz="2000" b="1" dirty="0">
                <a:solidFill>
                  <a:srgbClr val="000000"/>
                </a:solidFill>
                <a:latin typeface="Cambria" panose="02040503050406030204" pitchFamily="18" charset="0"/>
                <a:ea typeface="Cambria" panose="02040503050406030204" pitchFamily="18" charset="0"/>
              </a:rPr>
            </a:br>
            <a:r>
              <a:rPr lang="en-US" sz="2000" b="1" dirty="0" err="1">
                <a:solidFill>
                  <a:srgbClr val="000000"/>
                </a:solidFill>
                <a:latin typeface="Cambria" panose="02040503050406030204" pitchFamily="18" charset="0"/>
                <a:ea typeface="Cambria" panose="02040503050406030204" pitchFamily="18" charset="0"/>
              </a:rPr>
              <a:t>plt.show</a:t>
            </a:r>
            <a:r>
              <a:rPr lang="en-US" sz="2000" b="1" dirty="0">
                <a:solidFill>
                  <a:srgbClr val="000000"/>
                </a:solidFill>
                <a:latin typeface="Cambria" panose="02040503050406030204" pitchFamily="18" charset="0"/>
                <a:ea typeface="Cambria" panose="02040503050406030204" pitchFamily="18" charset="0"/>
              </a:rPr>
              <a:t>()</a:t>
            </a:r>
            <a:r>
              <a:rPr lang="en-US" sz="2000" b="1" dirty="0">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9446109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MATPLOTLID</a:t>
            </a:r>
          </a:p>
        </p:txBody>
      </p:sp>
      <p:sp>
        <p:nvSpPr>
          <p:cNvPr id="11" name="Content Placeholder 2">
            <a:extLst>
              <a:ext uri="{FF2B5EF4-FFF2-40B4-BE49-F238E27FC236}">
                <a16:creationId xmlns:a16="http://schemas.microsoft.com/office/drawing/2014/main" id="{D84E1B89-45F1-4C39-88F0-3A380DA733A9}"/>
              </a:ext>
            </a:extLst>
          </p:cNvPr>
          <p:cNvSpPr>
            <a:spLocks noGrp="1"/>
          </p:cNvSpPr>
          <p:nvPr>
            <p:ph idx="1"/>
          </p:nvPr>
        </p:nvSpPr>
        <p:spPr>
          <a:xfrm>
            <a:off x="79513" y="721084"/>
            <a:ext cx="8229600" cy="479356"/>
          </a:xfrm>
        </p:spPr>
        <p:txBody>
          <a:bodyPr>
            <a:noAutofit/>
          </a:bodyPr>
          <a:lstStyle/>
          <a:p>
            <a:pPr marL="0" lvl="1" indent="0" algn="just">
              <a:spcBef>
                <a:spcPts val="580"/>
              </a:spcBef>
              <a:buClr>
                <a:srgbClr val="FF5A33"/>
              </a:buClr>
              <a:buNone/>
            </a:pPr>
            <a:r>
              <a:rPr lang="en-US" sz="2500" b="1" spc="-5" dirty="0" err="1">
                <a:latin typeface="Cambria" panose="02040503050406030204" pitchFamily="18" charset="0"/>
                <a:ea typeface="Cambria" panose="02040503050406030204" pitchFamily="18" charset="0"/>
                <a:cs typeface="Segoe UI"/>
              </a:rPr>
              <a:t>Ví</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dụ</a:t>
            </a:r>
            <a:r>
              <a:rPr lang="en-US" sz="2500" b="1" spc="-5" dirty="0">
                <a:latin typeface="Cambria" panose="02040503050406030204" pitchFamily="18" charset="0"/>
                <a:ea typeface="Cambria" panose="02040503050406030204" pitchFamily="18" charset="0"/>
                <a:cs typeface="Segoe UI"/>
              </a:rPr>
              <a:t> 1: </a:t>
            </a:r>
            <a:r>
              <a:rPr lang="en-US" sz="2500" b="1" spc="-5" dirty="0" err="1">
                <a:latin typeface="Cambria" panose="02040503050406030204" pitchFamily="18" charset="0"/>
                <a:ea typeface="Cambria" panose="02040503050406030204" pitchFamily="18" charset="0"/>
                <a:cs typeface="Segoe UI"/>
              </a:rPr>
              <a:t>Vẽ</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đồ</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thị</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đường</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thẳng</a:t>
            </a:r>
            <a:endParaRPr lang="en-US" sz="2500" b="1" spc="-5" dirty="0">
              <a:latin typeface="Cambria" panose="02040503050406030204" pitchFamily="18" charset="0"/>
              <a:ea typeface="Cambria" panose="02040503050406030204" pitchFamily="18" charset="0"/>
              <a:cs typeface="Segoe UI"/>
            </a:endParaRPr>
          </a:p>
        </p:txBody>
      </p:sp>
      <p:pic>
        <p:nvPicPr>
          <p:cNvPr id="3" name="Picture 2"/>
          <p:cNvPicPr>
            <a:picLocks noChangeAspect="1"/>
          </p:cNvPicPr>
          <p:nvPr/>
        </p:nvPicPr>
        <p:blipFill>
          <a:blip r:embed="rId2"/>
          <a:stretch>
            <a:fillRect/>
          </a:stretch>
        </p:blipFill>
        <p:spPr>
          <a:xfrm>
            <a:off x="5376231" y="3535573"/>
            <a:ext cx="5460696" cy="2839561"/>
          </a:xfrm>
          <a:prstGeom prst="rect">
            <a:avLst/>
          </a:prstGeom>
        </p:spPr>
      </p:pic>
      <p:sp>
        <p:nvSpPr>
          <p:cNvPr id="2" name="Rectangle 1"/>
          <p:cNvSpPr/>
          <p:nvPr/>
        </p:nvSpPr>
        <p:spPr>
          <a:xfrm>
            <a:off x="244207" y="1200440"/>
            <a:ext cx="11703585" cy="2977738"/>
          </a:xfrm>
          <a:prstGeom prst="rect">
            <a:avLst/>
          </a:prstGeom>
        </p:spPr>
        <p:txBody>
          <a:bodyPr wrap="square">
            <a:spAutoFit/>
          </a:bodyPr>
          <a:lstStyle/>
          <a:p>
            <a:pPr>
              <a:lnSpc>
                <a:spcPct val="150000"/>
              </a:lnSpc>
            </a:pPr>
            <a:r>
              <a:rPr lang="vi-VN" sz="2500" dirty="0">
                <a:latin typeface="Cambria" panose="02040503050406030204" pitchFamily="18" charset="0"/>
                <a:ea typeface="Cambria" panose="02040503050406030204" pitchFamily="18" charset="0"/>
              </a:rPr>
              <a:t>vẽ 2 biểu đồ cạnh nhau (mục đích so sánh)</a:t>
            </a:r>
            <a:br>
              <a:rPr lang="vi-VN" sz="2500" dirty="0">
                <a:latin typeface="Cambria" panose="02040503050406030204" pitchFamily="18" charset="0"/>
                <a:ea typeface="Cambria" panose="02040503050406030204" pitchFamily="18" charset="0"/>
              </a:rPr>
            </a:br>
            <a:r>
              <a:rPr lang="vi-VN" sz="2500" dirty="0">
                <a:latin typeface="Cambria" panose="02040503050406030204" pitchFamily="18" charset="0"/>
                <a:ea typeface="Cambria" panose="02040503050406030204" pitchFamily="18" charset="0"/>
              </a:rPr>
              <a:t>- gộp 2 biểu đồ thành 1 hình với phương thức subplots</a:t>
            </a:r>
            <a:br>
              <a:rPr lang="vi-VN" sz="2500" dirty="0">
                <a:latin typeface="Cambria" panose="02040503050406030204" pitchFamily="18" charset="0"/>
                <a:ea typeface="Cambria" panose="02040503050406030204" pitchFamily="18" charset="0"/>
              </a:rPr>
            </a:br>
            <a:r>
              <a:rPr lang="vi-VN" sz="2500" dirty="0">
                <a:latin typeface="Cambria" panose="02040503050406030204" pitchFamily="18" charset="0"/>
                <a:ea typeface="Cambria" panose="02040503050406030204" pitchFamily="18" charset="0"/>
              </a:rPr>
              <a:t>- nrows (số hàng), ncols (số cột), figsize tỉ lệ trục x=12, y=6</a:t>
            </a:r>
            <a:br>
              <a:rPr lang="vi-VN" sz="2500" dirty="0">
                <a:latin typeface="Cambria" panose="02040503050406030204" pitchFamily="18" charset="0"/>
                <a:ea typeface="Cambria" panose="02040503050406030204" pitchFamily="18" charset="0"/>
              </a:rPr>
            </a:br>
            <a:r>
              <a:rPr lang="vi-VN" sz="2500" dirty="0">
                <a:latin typeface="Cambria" panose="02040503050406030204" pitchFamily="18" charset="0"/>
                <a:ea typeface="Cambria" panose="02040503050406030204" pitchFamily="18" charset="0"/>
              </a:rPr>
              <a:t>- sharey =True (chia sẻ giá trị trục y trên 2 biểu đồ)</a:t>
            </a:r>
            <a:br>
              <a:rPr lang="vi-VN" sz="2500" dirty="0">
                <a:latin typeface="Cambria" panose="02040503050406030204" pitchFamily="18" charset="0"/>
                <a:ea typeface="Cambria" panose="02040503050406030204" pitchFamily="18" charset="0"/>
              </a:rPr>
            </a:br>
            <a:r>
              <a:rPr lang="vi-VN" sz="2500" dirty="0">
                <a:latin typeface="Cambria" panose="02040503050406030204" pitchFamily="18" charset="0"/>
                <a:ea typeface="Cambria" panose="02040503050406030204" pitchFamily="18" charset="0"/>
              </a:rPr>
              <a:t>- dpi độ phân giải</a:t>
            </a:r>
            <a:endParaRPr lang="en-US" sz="2500" dirty="0"/>
          </a:p>
        </p:txBody>
      </p:sp>
    </p:spTree>
    <p:extLst>
      <p:ext uri="{BB962C8B-B14F-4D97-AF65-F5344CB8AC3E}">
        <p14:creationId xmlns:p14="http://schemas.microsoft.com/office/powerpoint/2010/main" val="22532986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MATPLOTLID</a:t>
            </a:r>
          </a:p>
        </p:txBody>
      </p:sp>
      <p:sp>
        <p:nvSpPr>
          <p:cNvPr id="11" name="Content Placeholder 2">
            <a:extLst>
              <a:ext uri="{FF2B5EF4-FFF2-40B4-BE49-F238E27FC236}">
                <a16:creationId xmlns:a16="http://schemas.microsoft.com/office/drawing/2014/main" id="{D84E1B89-45F1-4C39-88F0-3A380DA733A9}"/>
              </a:ext>
            </a:extLst>
          </p:cNvPr>
          <p:cNvSpPr>
            <a:spLocks noGrp="1"/>
          </p:cNvSpPr>
          <p:nvPr>
            <p:ph idx="1"/>
          </p:nvPr>
        </p:nvSpPr>
        <p:spPr>
          <a:xfrm>
            <a:off x="79513" y="721084"/>
            <a:ext cx="8229600" cy="479356"/>
          </a:xfrm>
        </p:spPr>
        <p:txBody>
          <a:bodyPr>
            <a:noAutofit/>
          </a:bodyPr>
          <a:lstStyle/>
          <a:p>
            <a:pPr marL="0" lvl="1" indent="0" algn="just">
              <a:spcBef>
                <a:spcPts val="580"/>
              </a:spcBef>
              <a:buClr>
                <a:srgbClr val="FF5A33"/>
              </a:buClr>
              <a:buNone/>
            </a:pPr>
            <a:r>
              <a:rPr lang="en-US" sz="2500" b="1" spc="-5" dirty="0" err="1">
                <a:latin typeface="Cambria" panose="02040503050406030204" pitchFamily="18" charset="0"/>
                <a:ea typeface="Cambria" panose="02040503050406030204" pitchFamily="18" charset="0"/>
                <a:cs typeface="Segoe UI"/>
              </a:rPr>
              <a:t>Ví</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dụ</a:t>
            </a:r>
            <a:r>
              <a:rPr lang="en-US" sz="2500" b="1" spc="-5" dirty="0">
                <a:latin typeface="Cambria" panose="02040503050406030204" pitchFamily="18" charset="0"/>
                <a:ea typeface="Cambria" panose="02040503050406030204" pitchFamily="18" charset="0"/>
                <a:cs typeface="Segoe UI"/>
              </a:rPr>
              <a:t> 1: </a:t>
            </a:r>
            <a:r>
              <a:rPr lang="en-US" sz="2500" b="1" spc="-5" dirty="0" err="1">
                <a:latin typeface="Cambria" panose="02040503050406030204" pitchFamily="18" charset="0"/>
                <a:ea typeface="Cambria" panose="02040503050406030204" pitchFamily="18" charset="0"/>
                <a:cs typeface="Segoe UI"/>
              </a:rPr>
              <a:t>Vẽ</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đồ</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thị</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đường</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thẳng</a:t>
            </a:r>
            <a:endParaRPr lang="en-US" sz="2500" b="1" spc="-5" dirty="0">
              <a:latin typeface="Cambria" panose="02040503050406030204" pitchFamily="18" charset="0"/>
              <a:ea typeface="Cambria" panose="02040503050406030204" pitchFamily="18" charset="0"/>
              <a:cs typeface="Segoe UI"/>
            </a:endParaRPr>
          </a:p>
        </p:txBody>
      </p:sp>
      <p:sp>
        <p:nvSpPr>
          <p:cNvPr id="2" name="Rectangle 1"/>
          <p:cNvSpPr/>
          <p:nvPr/>
        </p:nvSpPr>
        <p:spPr>
          <a:xfrm>
            <a:off x="79512" y="1123321"/>
            <a:ext cx="11961923" cy="5214697"/>
          </a:xfrm>
          <a:prstGeom prst="rect">
            <a:avLst/>
          </a:prstGeom>
        </p:spPr>
        <p:txBody>
          <a:bodyPr wrap="square">
            <a:spAutoFit/>
          </a:bodyPr>
          <a:lstStyle/>
          <a:p>
            <a:pPr>
              <a:lnSpc>
                <a:spcPct val="150000"/>
              </a:lnSpc>
            </a:pPr>
            <a:r>
              <a:rPr lang="vi-VN" sz="2500" dirty="0">
                <a:solidFill>
                  <a:srgbClr val="0000FF"/>
                </a:solidFill>
                <a:latin typeface="Cambria" panose="02040503050406030204" pitchFamily="18" charset="0"/>
                <a:ea typeface="Cambria" panose="02040503050406030204" pitchFamily="18" charset="0"/>
              </a:rPr>
              <a:t>import </a:t>
            </a:r>
            <a:r>
              <a:rPr lang="vi-VN" sz="2500" dirty="0">
                <a:solidFill>
                  <a:srgbClr val="000000"/>
                </a:solidFill>
                <a:latin typeface="Cambria" panose="02040503050406030204" pitchFamily="18" charset="0"/>
                <a:ea typeface="Cambria" panose="02040503050406030204" pitchFamily="18" charset="0"/>
              </a:rPr>
              <a:t>matplotlib.pyplot </a:t>
            </a:r>
            <a:r>
              <a:rPr lang="vi-VN" sz="2500" dirty="0">
                <a:solidFill>
                  <a:srgbClr val="0000FF"/>
                </a:solidFill>
                <a:latin typeface="Cambria" panose="02040503050406030204" pitchFamily="18" charset="0"/>
                <a:ea typeface="Cambria" panose="02040503050406030204" pitchFamily="18" charset="0"/>
              </a:rPr>
              <a:t>as </a:t>
            </a:r>
            <a:r>
              <a:rPr lang="vi-VN" sz="2500" dirty="0">
                <a:solidFill>
                  <a:srgbClr val="000000"/>
                </a:solidFill>
                <a:latin typeface="Cambria" panose="02040503050406030204" pitchFamily="18" charset="0"/>
                <a:ea typeface="Cambria" panose="02040503050406030204" pitchFamily="18" charset="0"/>
              </a:rPr>
              <a:t>plt</a:t>
            </a:r>
            <a:br>
              <a:rPr lang="vi-VN" sz="2500" dirty="0">
                <a:solidFill>
                  <a:srgbClr val="000000"/>
                </a:solidFill>
                <a:latin typeface="Cambria" panose="02040503050406030204" pitchFamily="18" charset="0"/>
                <a:ea typeface="Cambria" panose="02040503050406030204" pitchFamily="18" charset="0"/>
              </a:rPr>
            </a:br>
            <a:r>
              <a:rPr lang="vi-VN" sz="2500" dirty="0">
                <a:solidFill>
                  <a:srgbClr val="000000"/>
                </a:solidFill>
                <a:latin typeface="Cambria" panose="02040503050406030204" pitchFamily="18" charset="0"/>
                <a:ea typeface="Cambria" panose="02040503050406030204" pitchFamily="18" charset="0"/>
              </a:rPr>
              <a:t>fig,(ax1, ax2)=plt.subplots(nrows=</a:t>
            </a:r>
            <a:r>
              <a:rPr lang="vi-VN" sz="2500" dirty="0">
                <a:solidFill>
                  <a:srgbClr val="098658"/>
                </a:solidFill>
                <a:latin typeface="Cambria" panose="02040503050406030204" pitchFamily="18" charset="0"/>
                <a:ea typeface="Cambria" panose="02040503050406030204" pitchFamily="18" charset="0"/>
              </a:rPr>
              <a:t>1</a:t>
            </a:r>
            <a:r>
              <a:rPr lang="vi-VN" sz="2500" dirty="0">
                <a:solidFill>
                  <a:srgbClr val="000000"/>
                </a:solidFill>
                <a:latin typeface="Cambria" panose="02040503050406030204" pitchFamily="18" charset="0"/>
                <a:ea typeface="Cambria" panose="02040503050406030204" pitchFamily="18" charset="0"/>
              </a:rPr>
              <a:t>,ncols=</a:t>
            </a:r>
            <a:r>
              <a:rPr lang="vi-VN" sz="2500" dirty="0">
                <a:solidFill>
                  <a:srgbClr val="098658"/>
                </a:solidFill>
                <a:latin typeface="Cambria" panose="02040503050406030204" pitchFamily="18" charset="0"/>
                <a:ea typeface="Cambria" panose="02040503050406030204" pitchFamily="18" charset="0"/>
              </a:rPr>
              <a:t>2</a:t>
            </a:r>
            <a:r>
              <a:rPr lang="vi-VN" sz="2500" dirty="0">
                <a:solidFill>
                  <a:srgbClr val="000000"/>
                </a:solidFill>
                <a:latin typeface="Cambria" panose="02040503050406030204" pitchFamily="18" charset="0"/>
                <a:ea typeface="Cambria" panose="02040503050406030204" pitchFamily="18" charset="0"/>
              </a:rPr>
              <a:t>,figsize=(</a:t>
            </a:r>
            <a:r>
              <a:rPr lang="vi-VN" sz="2500" dirty="0">
                <a:solidFill>
                  <a:srgbClr val="098658"/>
                </a:solidFill>
                <a:latin typeface="Cambria" panose="02040503050406030204" pitchFamily="18" charset="0"/>
                <a:ea typeface="Cambria" panose="02040503050406030204" pitchFamily="18" charset="0"/>
              </a:rPr>
              <a:t>12</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6</a:t>
            </a:r>
            <a:r>
              <a:rPr lang="vi-VN" sz="2500" dirty="0">
                <a:solidFill>
                  <a:srgbClr val="000000"/>
                </a:solidFill>
                <a:latin typeface="Cambria" panose="02040503050406030204" pitchFamily="18" charset="0"/>
                <a:ea typeface="Cambria" panose="02040503050406030204" pitchFamily="18" charset="0"/>
              </a:rPr>
              <a:t>),sharey=</a:t>
            </a:r>
            <a:r>
              <a:rPr lang="vi-VN" sz="2500" dirty="0">
                <a:solidFill>
                  <a:srgbClr val="0000FF"/>
                </a:solidFill>
                <a:latin typeface="Cambria" panose="02040503050406030204" pitchFamily="18" charset="0"/>
                <a:ea typeface="Cambria" panose="02040503050406030204" pitchFamily="18" charset="0"/>
              </a:rPr>
              <a:t>True</a:t>
            </a:r>
            <a:r>
              <a:rPr lang="vi-VN" sz="2500" dirty="0">
                <a:solidFill>
                  <a:srgbClr val="000000"/>
                </a:solidFill>
                <a:latin typeface="Cambria" panose="02040503050406030204" pitchFamily="18" charset="0"/>
                <a:ea typeface="Cambria" panose="02040503050406030204" pitchFamily="18" charset="0"/>
              </a:rPr>
              <a:t>, dpi=</a:t>
            </a:r>
            <a:r>
              <a:rPr lang="vi-VN" sz="2500" dirty="0">
                <a:solidFill>
                  <a:srgbClr val="098658"/>
                </a:solidFill>
                <a:latin typeface="Cambria" panose="02040503050406030204" pitchFamily="18" charset="0"/>
                <a:ea typeface="Cambria" panose="02040503050406030204" pitchFamily="18" charset="0"/>
              </a:rPr>
              <a:t>120</a:t>
            </a:r>
            <a:r>
              <a:rPr lang="vi-VN" sz="2500" dirty="0">
                <a:solidFill>
                  <a:srgbClr val="000000"/>
                </a:solidFill>
                <a:latin typeface="Cambria" panose="02040503050406030204" pitchFamily="18" charset="0"/>
                <a:ea typeface="Cambria" panose="02040503050406030204" pitchFamily="18" charset="0"/>
              </a:rPr>
              <a:t>)</a:t>
            </a:r>
            <a:br>
              <a:rPr lang="vi-VN" sz="2500" dirty="0">
                <a:solidFill>
                  <a:srgbClr val="000000"/>
                </a:solidFill>
                <a:latin typeface="Cambria" panose="02040503050406030204" pitchFamily="18" charset="0"/>
                <a:ea typeface="Cambria" panose="02040503050406030204" pitchFamily="18" charset="0"/>
              </a:rPr>
            </a:br>
            <a:r>
              <a:rPr lang="vi-VN" sz="2500" dirty="0">
                <a:solidFill>
                  <a:srgbClr val="000000"/>
                </a:solidFill>
                <a:latin typeface="Cambria" panose="02040503050406030204" pitchFamily="18" charset="0"/>
                <a:ea typeface="Cambria" panose="02040503050406030204" pitchFamily="18" charset="0"/>
              </a:rPr>
              <a:t>ax1.plot([</a:t>
            </a:r>
            <a:r>
              <a:rPr lang="vi-VN" sz="2500" dirty="0">
                <a:solidFill>
                  <a:srgbClr val="098658"/>
                </a:solidFill>
                <a:latin typeface="Cambria" panose="02040503050406030204" pitchFamily="18" charset="0"/>
                <a:ea typeface="Cambria" panose="02040503050406030204" pitchFamily="18" charset="0"/>
              </a:rPr>
              <a:t>1</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2</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3</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4</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5</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1</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2</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3</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4</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10</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A31515"/>
                </a:solidFill>
                <a:latin typeface="Cambria" panose="02040503050406030204" pitchFamily="18" charset="0"/>
                <a:ea typeface="Cambria" panose="02040503050406030204" pitchFamily="18" charset="0"/>
              </a:rPr>
              <a:t>'go'</a:t>
            </a:r>
            <a:r>
              <a:rPr lang="vi-VN" sz="2500" dirty="0">
                <a:solidFill>
                  <a:srgbClr val="000000"/>
                </a:solidFill>
                <a:latin typeface="Cambria" panose="02040503050406030204" pitchFamily="18" charset="0"/>
                <a:ea typeface="Cambria" panose="02040503050406030204" pitchFamily="18" charset="0"/>
              </a:rPr>
              <a:t>)</a:t>
            </a:r>
            <a:br>
              <a:rPr lang="vi-VN" sz="2500" dirty="0">
                <a:solidFill>
                  <a:srgbClr val="000000"/>
                </a:solidFill>
                <a:latin typeface="Cambria" panose="02040503050406030204" pitchFamily="18" charset="0"/>
                <a:ea typeface="Cambria" panose="02040503050406030204" pitchFamily="18" charset="0"/>
              </a:rPr>
            </a:br>
            <a:r>
              <a:rPr lang="vi-VN" sz="2500" dirty="0">
                <a:solidFill>
                  <a:srgbClr val="000000"/>
                </a:solidFill>
                <a:latin typeface="Cambria" panose="02040503050406030204" pitchFamily="18" charset="0"/>
                <a:ea typeface="Cambria" panose="02040503050406030204" pitchFamily="18" charset="0"/>
              </a:rPr>
              <a:t>ax2.plot([</a:t>
            </a:r>
            <a:r>
              <a:rPr lang="vi-VN" sz="2500" dirty="0">
                <a:solidFill>
                  <a:srgbClr val="098658"/>
                </a:solidFill>
                <a:latin typeface="Cambria" panose="02040503050406030204" pitchFamily="18" charset="0"/>
                <a:ea typeface="Cambria" panose="02040503050406030204" pitchFamily="18" charset="0"/>
              </a:rPr>
              <a:t>1</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2</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3</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4</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5</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2</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3</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4</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5</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15</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A31515"/>
                </a:solidFill>
                <a:latin typeface="Cambria" panose="02040503050406030204" pitchFamily="18" charset="0"/>
                <a:ea typeface="Cambria" panose="02040503050406030204" pitchFamily="18" charset="0"/>
              </a:rPr>
              <a:t>'b*'</a:t>
            </a:r>
            <a:r>
              <a:rPr lang="vi-VN" sz="2500" dirty="0">
                <a:solidFill>
                  <a:srgbClr val="000000"/>
                </a:solidFill>
                <a:latin typeface="Cambria" panose="02040503050406030204" pitchFamily="18" charset="0"/>
                <a:ea typeface="Cambria" panose="02040503050406030204" pitchFamily="18" charset="0"/>
              </a:rPr>
              <a:t>)</a:t>
            </a:r>
            <a:br>
              <a:rPr lang="vi-VN" sz="2500" dirty="0">
                <a:solidFill>
                  <a:srgbClr val="000000"/>
                </a:solidFill>
                <a:latin typeface="Cambria" panose="02040503050406030204" pitchFamily="18" charset="0"/>
                <a:ea typeface="Cambria" panose="02040503050406030204" pitchFamily="18" charset="0"/>
              </a:rPr>
            </a:br>
            <a:r>
              <a:rPr lang="vi-VN" sz="2500" dirty="0">
                <a:solidFill>
                  <a:srgbClr val="008000"/>
                </a:solidFill>
                <a:latin typeface="Cambria" panose="02040503050406030204" pitchFamily="18" charset="0"/>
                <a:ea typeface="Cambria" panose="02040503050406030204" pitchFamily="18" charset="0"/>
              </a:rPr>
              <a:t># gán thông số cho biểu đồ 1 , xlim là độ dài trục x,xlim độ dài trục y</a:t>
            </a:r>
            <a:br>
              <a:rPr lang="vi-VN" sz="2500" dirty="0">
                <a:solidFill>
                  <a:srgbClr val="008000"/>
                </a:solidFill>
                <a:latin typeface="Cambria" panose="02040503050406030204" pitchFamily="18" charset="0"/>
                <a:ea typeface="Cambria" panose="02040503050406030204" pitchFamily="18" charset="0"/>
              </a:rPr>
            </a:br>
            <a:r>
              <a:rPr lang="vi-VN" sz="2500" dirty="0">
                <a:solidFill>
                  <a:srgbClr val="000000"/>
                </a:solidFill>
                <a:latin typeface="Cambria" panose="02040503050406030204" pitchFamily="18" charset="0"/>
                <a:ea typeface="Cambria" panose="02040503050406030204" pitchFamily="18" charset="0"/>
              </a:rPr>
              <a:t>ax1.set(title=</a:t>
            </a:r>
            <a:r>
              <a:rPr lang="vi-VN" sz="2500" dirty="0">
                <a:solidFill>
                  <a:srgbClr val="A31515"/>
                </a:solidFill>
                <a:latin typeface="Cambria" panose="02040503050406030204" pitchFamily="18" charset="0"/>
                <a:ea typeface="Cambria" panose="02040503050406030204" pitchFamily="18" charset="0"/>
              </a:rPr>
              <a:t>'Green circle'</a:t>
            </a:r>
            <a:r>
              <a:rPr lang="vi-VN" sz="2500" dirty="0">
                <a:solidFill>
                  <a:srgbClr val="000000"/>
                </a:solidFill>
                <a:latin typeface="Cambria" panose="02040503050406030204" pitchFamily="18" charset="0"/>
                <a:ea typeface="Cambria" panose="02040503050406030204" pitchFamily="18" charset="0"/>
              </a:rPr>
              <a:t>,xlabel=</a:t>
            </a:r>
            <a:r>
              <a:rPr lang="vi-VN" sz="2500" dirty="0">
                <a:solidFill>
                  <a:srgbClr val="A31515"/>
                </a:solidFill>
                <a:latin typeface="Cambria" panose="02040503050406030204" pitchFamily="18" charset="0"/>
                <a:ea typeface="Cambria" panose="02040503050406030204" pitchFamily="18" charset="0"/>
              </a:rPr>
              <a:t>'Trục X'</a:t>
            </a:r>
            <a:r>
              <a:rPr lang="vi-VN" sz="2500" dirty="0">
                <a:solidFill>
                  <a:srgbClr val="000000"/>
                </a:solidFill>
                <a:latin typeface="Cambria" panose="02040503050406030204" pitchFamily="18" charset="0"/>
                <a:ea typeface="Cambria" panose="02040503050406030204" pitchFamily="18" charset="0"/>
              </a:rPr>
              <a:t>,ylabel=</a:t>
            </a:r>
            <a:r>
              <a:rPr lang="vi-VN" sz="2500" dirty="0">
                <a:solidFill>
                  <a:srgbClr val="A31515"/>
                </a:solidFill>
                <a:latin typeface="Cambria" panose="02040503050406030204" pitchFamily="18" charset="0"/>
                <a:ea typeface="Cambria" panose="02040503050406030204" pitchFamily="18" charset="0"/>
              </a:rPr>
              <a:t>'Trục Y'</a:t>
            </a:r>
            <a:r>
              <a:rPr lang="vi-VN" sz="2500" dirty="0">
                <a:solidFill>
                  <a:srgbClr val="000000"/>
                </a:solidFill>
                <a:latin typeface="Cambria" panose="02040503050406030204" pitchFamily="18" charset="0"/>
                <a:ea typeface="Cambria" panose="02040503050406030204" pitchFamily="18" charset="0"/>
              </a:rPr>
              <a:t>,xlim=(</a:t>
            </a:r>
            <a:r>
              <a:rPr lang="vi-VN" sz="2500" dirty="0">
                <a:solidFill>
                  <a:srgbClr val="098658"/>
                </a:solidFill>
                <a:latin typeface="Cambria" panose="02040503050406030204" pitchFamily="18" charset="0"/>
                <a:ea typeface="Cambria" panose="02040503050406030204" pitchFamily="18" charset="0"/>
              </a:rPr>
              <a:t>0</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6</a:t>
            </a:r>
            <a:r>
              <a:rPr lang="vi-VN" sz="2500" dirty="0">
                <a:solidFill>
                  <a:srgbClr val="000000"/>
                </a:solidFill>
                <a:latin typeface="Cambria" panose="02040503050406030204" pitchFamily="18" charset="0"/>
                <a:ea typeface="Cambria" panose="02040503050406030204" pitchFamily="18" charset="0"/>
              </a:rPr>
              <a:t>),ylim=(</a:t>
            </a:r>
            <a:r>
              <a:rPr lang="vi-VN" sz="2500" dirty="0">
                <a:solidFill>
                  <a:srgbClr val="098658"/>
                </a:solidFill>
                <a:latin typeface="Cambria" panose="02040503050406030204" pitchFamily="18" charset="0"/>
                <a:ea typeface="Cambria" panose="02040503050406030204" pitchFamily="18" charset="0"/>
              </a:rPr>
              <a:t>0</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16</a:t>
            </a:r>
            <a:r>
              <a:rPr lang="vi-VN" sz="2500" dirty="0">
                <a:solidFill>
                  <a:srgbClr val="000000"/>
                </a:solidFill>
                <a:latin typeface="Cambria" panose="02040503050406030204" pitchFamily="18" charset="0"/>
                <a:ea typeface="Cambria" panose="02040503050406030204" pitchFamily="18" charset="0"/>
              </a:rPr>
              <a:t>))</a:t>
            </a:r>
            <a:br>
              <a:rPr lang="vi-VN" sz="2500" dirty="0">
                <a:solidFill>
                  <a:srgbClr val="000000"/>
                </a:solidFill>
                <a:latin typeface="Cambria" panose="02040503050406030204" pitchFamily="18" charset="0"/>
                <a:ea typeface="Cambria" panose="02040503050406030204" pitchFamily="18" charset="0"/>
              </a:rPr>
            </a:br>
            <a:r>
              <a:rPr lang="vi-VN" sz="2500" dirty="0">
                <a:solidFill>
                  <a:srgbClr val="008000"/>
                </a:solidFill>
                <a:latin typeface="Cambria" panose="02040503050406030204" pitchFamily="18" charset="0"/>
                <a:ea typeface="Cambria" panose="02040503050406030204" pitchFamily="18" charset="0"/>
              </a:rPr>
              <a:t># gán thông số cho biểu đồ 2</a:t>
            </a:r>
            <a:br>
              <a:rPr lang="vi-VN" sz="2500" dirty="0">
                <a:solidFill>
                  <a:srgbClr val="008000"/>
                </a:solidFill>
                <a:latin typeface="Cambria" panose="02040503050406030204" pitchFamily="18" charset="0"/>
                <a:ea typeface="Cambria" panose="02040503050406030204" pitchFamily="18" charset="0"/>
              </a:rPr>
            </a:br>
            <a:r>
              <a:rPr lang="vi-VN" sz="2500" dirty="0">
                <a:solidFill>
                  <a:srgbClr val="000000"/>
                </a:solidFill>
                <a:latin typeface="Cambria" panose="02040503050406030204" pitchFamily="18" charset="0"/>
                <a:ea typeface="Cambria" panose="02040503050406030204" pitchFamily="18" charset="0"/>
              </a:rPr>
              <a:t>ax2.set(title=</a:t>
            </a:r>
            <a:r>
              <a:rPr lang="vi-VN" sz="2500" dirty="0">
                <a:solidFill>
                  <a:srgbClr val="A31515"/>
                </a:solidFill>
                <a:latin typeface="Cambria" panose="02040503050406030204" pitchFamily="18" charset="0"/>
                <a:ea typeface="Cambria" panose="02040503050406030204" pitchFamily="18" charset="0"/>
              </a:rPr>
              <a:t>'Green circle'</a:t>
            </a:r>
            <a:r>
              <a:rPr lang="vi-VN" sz="2500" dirty="0">
                <a:solidFill>
                  <a:srgbClr val="000000"/>
                </a:solidFill>
                <a:latin typeface="Cambria" panose="02040503050406030204" pitchFamily="18" charset="0"/>
                <a:ea typeface="Cambria" panose="02040503050406030204" pitchFamily="18" charset="0"/>
              </a:rPr>
              <a:t>,xlabel=</a:t>
            </a:r>
            <a:r>
              <a:rPr lang="vi-VN" sz="2500" dirty="0">
                <a:solidFill>
                  <a:srgbClr val="A31515"/>
                </a:solidFill>
                <a:latin typeface="Cambria" panose="02040503050406030204" pitchFamily="18" charset="0"/>
                <a:ea typeface="Cambria" panose="02040503050406030204" pitchFamily="18" charset="0"/>
              </a:rPr>
              <a:t>'Trục X'</a:t>
            </a:r>
            <a:r>
              <a:rPr lang="vi-VN" sz="2500" dirty="0">
                <a:solidFill>
                  <a:srgbClr val="000000"/>
                </a:solidFill>
                <a:latin typeface="Cambria" panose="02040503050406030204" pitchFamily="18" charset="0"/>
                <a:ea typeface="Cambria" panose="02040503050406030204" pitchFamily="18" charset="0"/>
              </a:rPr>
              <a:t>,ylabel=</a:t>
            </a:r>
            <a:r>
              <a:rPr lang="vi-VN" sz="2500" dirty="0">
                <a:solidFill>
                  <a:srgbClr val="A31515"/>
                </a:solidFill>
                <a:latin typeface="Cambria" panose="02040503050406030204" pitchFamily="18" charset="0"/>
                <a:ea typeface="Cambria" panose="02040503050406030204" pitchFamily="18" charset="0"/>
              </a:rPr>
              <a:t>'Trục Y'</a:t>
            </a:r>
            <a:r>
              <a:rPr lang="vi-VN" sz="2500" dirty="0">
                <a:solidFill>
                  <a:srgbClr val="000000"/>
                </a:solidFill>
                <a:latin typeface="Cambria" panose="02040503050406030204" pitchFamily="18" charset="0"/>
                <a:ea typeface="Cambria" panose="02040503050406030204" pitchFamily="18" charset="0"/>
              </a:rPr>
              <a:t>,xlim=(</a:t>
            </a:r>
            <a:r>
              <a:rPr lang="vi-VN" sz="2500" dirty="0">
                <a:solidFill>
                  <a:srgbClr val="098658"/>
                </a:solidFill>
                <a:latin typeface="Cambria" panose="02040503050406030204" pitchFamily="18" charset="0"/>
                <a:ea typeface="Cambria" panose="02040503050406030204" pitchFamily="18" charset="0"/>
              </a:rPr>
              <a:t>0</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6</a:t>
            </a:r>
            <a:r>
              <a:rPr lang="vi-VN" sz="2500" dirty="0">
                <a:solidFill>
                  <a:srgbClr val="000000"/>
                </a:solidFill>
                <a:latin typeface="Cambria" panose="02040503050406030204" pitchFamily="18" charset="0"/>
                <a:ea typeface="Cambria" panose="02040503050406030204" pitchFamily="18" charset="0"/>
              </a:rPr>
              <a:t>),ylim=(</a:t>
            </a:r>
            <a:r>
              <a:rPr lang="vi-VN" sz="2500" dirty="0">
                <a:solidFill>
                  <a:srgbClr val="098658"/>
                </a:solidFill>
                <a:latin typeface="Cambria" panose="02040503050406030204" pitchFamily="18" charset="0"/>
                <a:ea typeface="Cambria" panose="02040503050406030204" pitchFamily="18" charset="0"/>
              </a:rPr>
              <a:t>0</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16</a:t>
            </a:r>
            <a:r>
              <a:rPr lang="vi-VN" sz="2500" dirty="0">
                <a:solidFill>
                  <a:srgbClr val="000000"/>
                </a:solidFill>
                <a:latin typeface="Cambria" panose="02040503050406030204" pitchFamily="18" charset="0"/>
                <a:ea typeface="Cambria" panose="02040503050406030204" pitchFamily="18" charset="0"/>
              </a:rPr>
              <a:t>))</a:t>
            </a:r>
            <a:br>
              <a:rPr lang="vi-VN" sz="2500" dirty="0">
                <a:solidFill>
                  <a:srgbClr val="000000"/>
                </a:solidFill>
                <a:latin typeface="Cambria" panose="02040503050406030204" pitchFamily="18" charset="0"/>
                <a:ea typeface="Cambria" panose="02040503050406030204" pitchFamily="18" charset="0"/>
              </a:rPr>
            </a:br>
            <a:r>
              <a:rPr lang="vi-VN" sz="2500" dirty="0">
                <a:solidFill>
                  <a:srgbClr val="000000"/>
                </a:solidFill>
                <a:latin typeface="Cambria" panose="02040503050406030204" pitchFamily="18" charset="0"/>
                <a:ea typeface="Cambria" panose="02040503050406030204" pitchFamily="18" charset="0"/>
              </a:rPr>
              <a:t>plt.show()</a:t>
            </a:r>
            <a:r>
              <a:rPr lang="vi-VN" sz="2500" dirty="0">
                <a:latin typeface="Cambria" panose="02040503050406030204" pitchFamily="18" charset="0"/>
                <a:ea typeface="Cambria" panose="02040503050406030204" pitchFamily="18" charset="0"/>
              </a:rPr>
              <a:t> </a:t>
            </a:r>
            <a:endParaRPr lang="en-US" sz="25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0065223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MATPLOTLID</a:t>
            </a:r>
          </a:p>
        </p:txBody>
      </p:sp>
      <p:sp>
        <p:nvSpPr>
          <p:cNvPr id="11" name="Content Placeholder 2">
            <a:extLst>
              <a:ext uri="{FF2B5EF4-FFF2-40B4-BE49-F238E27FC236}">
                <a16:creationId xmlns:a16="http://schemas.microsoft.com/office/drawing/2014/main" id="{D84E1B89-45F1-4C39-88F0-3A380DA733A9}"/>
              </a:ext>
            </a:extLst>
          </p:cNvPr>
          <p:cNvSpPr>
            <a:spLocks noGrp="1"/>
          </p:cNvSpPr>
          <p:nvPr>
            <p:ph idx="1"/>
          </p:nvPr>
        </p:nvSpPr>
        <p:spPr>
          <a:xfrm>
            <a:off x="79513" y="721084"/>
            <a:ext cx="8229600" cy="479356"/>
          </a:xfrm>
        </p:spPr>
        <p:txBody>
          <a:bodyPr>
            <a:noAutofit/>
          </a:bodyPr>
          <a:lstStyle/>
          <a:p>
            <a:pPr marL="0" lvl="1" indent="0" algn="just">
              <a:spcBef>
                <a:spcPts val="580"/>
              </a:spcBef>
              <a:buClr>
                <a:srgbClr val="FF5A33"/>
              </a:buClr>
              <a:buNone/>
            </a:pPr>
            <a:r>
              <a:rPr lang="en-US" sz="2500" b="1" spc="-5" dirty="0" err="1">
                <a:latin typeface="Cambria" panose="02040503050406030204" pitchFamily="18" charset="0"/>
                <a:ea typeface="Cambria" panose="02040503050406030204" pitchFamily="18" charset="0"/>
                <a:cs typeface="Segoe UI"/>
              </a:rPr>
              <a:t>Ví</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dụ</a:t>
            </a:r>
            <a:r>
              <a:rPr lang="en-US" sz="2500" b="1" spc="-5" dirty="0">
                <a:latin typeface="Cambria" panose="02040503050406030204" pitchFamily="18" charset="0"/>
                <a:ea typeface="Cambria" panose="02040503050406030204" pitchFamily="18" charset="0"/>
                <a:cs typeface="Segoe UI"/>
              </a:rPr>
              <a:t> 1: </a:t>
            </a:r>
            <a:r>
              <a:rPr lang="en-US" sz="2500" b="1" spc="-5" dirty="0" err="1">
                <a:latin typeface="Cambria" panose="02040503050406030204" pitchFamily="18" charset="0"/>
                <a:ea typeface="Cambria" panose="02040503050406030204" pitchFamily="18" charset="0"/>
                <a:cs typeface="Segoe UI"/>
              </a:rPr>
              <a:t>Vẽ</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đồ</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thị</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đường</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thẳng</a:t>
            </a:r>
            <a:endParaRPr lang="en-US" sz="2500" b="1" spc="-5" dirty="0">
              <a:latin typeface="Cambria" panose="02040503050406030204" pitchFamily="18" charset="0"/>
              <a:ea typeface="Cambria" panose="02040503050406030204" pitchFamily="18" charset="0"/>
              <a:cs typeface="Segoe UI"/>
            </a:endParaRPr>
          </a:p>
        </p:txBody>
      </p:sp>
      <p:pic>
        <p:nvPicPr>
          <p:cNvPr id="3" name="Picture 2"/>
          <p:cNvPicPr>
            <a:picLocks noChangeAspect="1"/>
          </p:cNvPicPr>
          <p:nvPr/>
        </p:nvPicPr>
        <p:blipFill>
          <a:blip r:embed="rId2"/>
          <a:stretch>
            <a:fillRect/>
          </a:stretch>
        </p:blipFill>
        <p:spPr>
          <a:xfrm>
            <a:off x="322394" y="1452828"/>
            <a:ext cx="11190969" cy="3835268"/>
          </a:xfrm>
          <a:prstGeom prst="rect">
            <a:avLst/>
          </a:prstGeom>
        </p:spPr>
      </p:pic>
    </p:spTree>
    <p:extLst>
      <p:ext uri="{BB962C8B-B14F-4D97-AF65-F5344CB8AC3E}">
        <p14:creationId xmlns:p14="http://schemas.microsoft.com/office/powerpoint/2010/main" val="9216854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MATPLOTLID</a:t>
            </a:r>
          </a:p>
        </p:txBody>
      </p:sp>
      <p:sp>
        <p:nvSpPr>
          <p:cNvPr id="11" name="Content Placeholder 2">
            <a:extLst>
              <a:ext uri="{FF2B5EF4-FFF2-40B4-BE49-F238E27FC236}">
                <a16:creationId xmlns:a16="http://schemas.microsoft.com/office/drawing/2014/main" id="{D84E1B89-45F1-4C39-88F0-3A380DA733A9}"/>
              </a:ext>
            </a:extLst>
          </p:cNvPr>
          <p:cNvSpPr>
            <a:spLocks noGrp="1"/>
          </p:cNvSpPr>
          <p:nvPr>
            <p:ph idx="1"/>
          </p:nvPr>
        </p:nvSpPr>
        <p:spPr>
          <a:xfrm>
            <a:off x="79513" y="721084"/>
            <a:ext cx="8229600" cy="479356"/>
          </a:xfrm>
        </p:spPr>
        <p:txBody>
          <a:bodyPr>
            <a:noAutofit/>
          </a:bodyPr>
          <a:lstStyle/>
          <a:p>
            <a:pPr marL="0" lvl="1" indent="0" algn="just">
              <a:spcBef>
                <a:spcPts val="580"/>
              </a:spcBef>
              <a:buClr>
                <a:srgbClr val="FF5A33"/>
              </a:buClr>
              <a:buNone/>
            </a:pPr>
            <a:r>
              <a:rPr lang="en-US" sz="2500" b="1" spc="-5" dirty="0" err="1">
                <a:latin typeface="Cambria" panose="02040503050406030204" pitchFamily="18" charset="0"/>
                <a:ea typeface="Cambria" panose="02040503050406030204" pitchFamily="18" charset="0"/>
                <a:cs typeface="Segoe UI"/>
              </a:rPr>
              <a:t>Ví</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dụ</a:t>
            </a:r>
            <a:r>
              <a:rPr lang="en-US" sz="2500" b="1" spc="-5" dirty="0">
                <a:latin typeface="Cambria" panose="02040503050406030204" pitchFamily="18" charset="0"/>
                <a:ea typeface="Cambria" panose="02040503050406030204" pitchFamily="18" charset="0"/>
                <a:cs typeface="Segoe UI"/>
              </a:rPr>
              <a:t> 1: </a:t>
            </a:r>
            <a:r>
              <a:rPr lang="en-US" sz="2500" b="1" spc="-5" dirty="0" err="1">
                <a:latin typeface="Cambria" panose="02040503050406030204" pitchFamily="18" charset="0"/>
                <a:ea typeface="Cambria" panose="02040503050406030204" pitchFamily="18" charset="0"/>
                <a:cs typeface="Segoe UI"/>
              </a:rPr>
              <a:t>Vẽ</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đồ</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thị</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đường</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thẳng</a:t>
            </a:r>
            <a:endParaRPr lang="en-US" sz="2500" b="1" spc="-5" dirty="0">
              <a:latin typeface="Cambria" panose="02040503050406030204" pitchFamily="18" charset="0"/>
              <a:ea typeface="Cambria" panose="02040503050406030204" pitchFamily="18" charset="0"/>
              <a:cs typeface="Segoe UI"/>
            </a:endParaRPr>
          </a:p>
        </p:txBody>
      </p:sp>
      <p:sp>
        <p:nvSpPr>
          <p:cNvPr id="2" name="Rectangle 1"/>
          <p:cNvSpPr/>
          <p:nvPr/>
        </p:nvSpPr>
        <p:spPr>
          <a:xfrm>
            <a:off x="161579" y="1145355"/>
            <a:ext cx="11945957" cy="5262979"/>
          </a:xfrm>
          <a:prstGeom prst="rect">
            <a:avLst/>
          </a:prstGeom>
        </p:spPr>
        <p:txBody>
          <a:bodyPr wrap="square">
            <a:spAutoFit/>
          </a:bodyPr>
          <a:lstStyle/>
          <a:p>
            <a:r>
              <a:rPr lang="en-US" sz="2100" dirty="0">
                <a:solidFill>
                  <a:srgbClr val="0000FF"/>
                </a:solidFill>
                <a:latin typeface="Cambria" panose="02040503050406030204" pitchFamily="18" charset="0"/>
                <a:ea typeface="Cambria" panose="02040503050406030204" pitchFamily="18" charset="0"/>
              </a:rPr>
              <a:t>import </a:t>
            </a:r>
            <a:r>
              <a:rPr lang="en-US" sz="2100" dirty="0" err="1">
                <a:solidFill>
                  <a:srgbClr val="000000"/>
                </a:solidFill>
                <a:latin typeface="Cambria" panose="02040503050406030204" pitchFamily="18" charset="0"/>
                <a:ea typeface="Cambria" panose="02040503050406030204" pitchFamily="18" charset="0"/>
              </a:rPr>
              <a:t>numpy</a:t>
            </a:r>
            <a:r>
              <a:rPr lang="en-US" sz="2100" dirty="0">
                <a:solidFill>
                  <a:srgbClr val="000000"/>
                </a:solidFill>
                <a:latin typeface="Cambria" panose="02040503050406030204" pitchFamily="18" charset="0"/>
                <a:ea typeface="Cambria" panose="02040503050406030204" pitchFamily="18" charset="0"/>
              </a:rPr>
              <a:t> </a:t>
            </a:r>
            <a:r>
              <a:rPr lang="en-US" sz="2100" dirty="0">
                <a:solidFill>
                  <a:srgbClr val="0000FF"/>
                </a:solidFill>
                <a:latin typeface="Cambria" panose="02040503050406030204" pitchFamily="18" charset="0"/>
                <a:ea typeface="Cambria" panose="02040503050406030204" pitchFamily="18" charset="0"/>
              </a:rPr>
              <a:t>as </a:t>
            </a:r>
            <a:r>
              <a:rPr lang="en-US" sz="2100" dirty="0">
                <a:solidFill>
                  <a:srgbClr val="000000"/>
                </a:solidFill>
                <a:latin typeface="Cambria" panose="02040503050406030204" pitchFamily="18" charset="0"/>
                <a:ea typeface="Cambria" panose="02040503050406030204" pitchFamily="18" charset="0"/>
              </a:rPr>
              <a:t>np</a:t>
            </a:r>
            <a:br>
              <a:rPr lang="en-US" sz="2100" dirty="0">
                <a:solidFill>
                  <a:srgbClr val="000000"/>
                </a:solidFill>
                <a:latin typeface="Cambria" panose="02040503050406030204" pitchFamily="18" charset="0"/>
                <a:ea typeface="Cambria" panose="02040503050406030204" pitchFamily="18" charset="0"/>
              </a:rPr>
            </a:br>
            <a:r>
              <a:rPr lang="en-US" sz="2100" dirty="0">
                <a:solidFill>
                  <a:srgbClr val="0000FF"/>
                </a:solidFill>
                <a:latin typeface="Cambria" panose="02040503050406030204" pitchFamily="18" charset="0"/>
                <a:ea typeface="Cambria" panose="02040503050406030204" pitchFamily="18" charset="0"/>
              </a:rPr>
              <a:t>from </a:t>
            </a:r>
            <a:r>
              <a:rPr lang="en-US" sz="2100" dirty="0" err="1">
                <a:solidFill>
                  <a:srgbClr val="000000"/>
                </a:solidFill>
                <a:latin typeface="Cambria" panose="02040503050406030204" pitchFamily="18" charset="0"/>
                <a:ea typeface="Cambria" panose="02040503050406030204" pitchFamily="18" charset="0"/>
              </a:rPr>
              <a:t>numpy.random</a:t>
            </a:r>
            <a:r>
              <a:rPr lang="en-US" sz="2100" dirty="0">
                <a:solidFill>
                  <a:srgbClr val="000000"/>
                </a:solidFill>
                <a:latin typeface="Cambria" panose="02040503050406030204" pitchFamily="18" charset="0"/>
                <a:ea typeface="Cambria" panose="02040503050406030204" pitchFamily="18" charset="0"/>
              </a:rPr>
              <a:t> </a:t>
            </a:r>
            <a:r>
              <a:rPr lang="en-US" sz="2100" dirty="0">
                <a:solidFill>
                  <a:srgbClr val="0000FF"/>
                </a:solidFill>
                <a:latin typeface="Cambria" panose="02040503050406030204" pitchFamily="18" charset="0"/>
                <a:ea typeface="Cambria" panose="02040503050406030204" pitchFamily="18" charset="0"/>
              </a:rPr>
              <a:t>import </a:t>
            </a:r>
            <a:r>
              <a:rPr lang="en-US" sz="2100" dirty="0" err="1">
                <a:solidFill>
                  <a:srgbClr val="000000"/>
                </a:solidFill>
                <a:latin typeface="Cambria" panose="02040503050406030204" pitchFamily="18" charset="0"/>
                <a:ea typeface="Cambria" panose="02040503050406030204" pitchFamily="18" charset="0"/>
              </a:rPr>
              <a:t>seed,randint</a:t>
            </a:r>
            <a:br>
              <a:rPr lang="en-US" sz="2100" dirty="0">
                <a:solidFill>
                  <a:srgbClr val="000000"/>
                </a:solidFill>
                <a:latin typeface="Cambria" panose="02040503050406030204" pitchFamily="18" charset="0"/>
                <a:ea typeface="Cambria" panose="02040503050406030204" pitchFamily="18" charset="0"/>
              </a:rPr>
            </a:br>
            <a:r>
              <a:rPr lang="en-US" sz="2100" dirty="0">
                <a:solidFill>
                  <a:srgbClr val="000000"/>
                </a:solidFill>
                <a:latin typeface="Cambria" panose="02040503050406030204" pitchFamily="18" charset="0"/>
                <a:ea typeface="Cambria" panose="02040503050406030204" pitchFamily="18" charset="0"/>
              </a:rPr>
              <a:t>seed(</a:t>
            </a:r>
            <a:r>
              <a:rPr lang="en-US" sz="2100" dirty="0">
                <a:solidFill>
                  <a:srgbClr val="098658"/>
                </a:solidFill>
                <a:latin typeface="Cambria" panose="02040503050406030204" pitchFamily="18" charset="0"/>
                <a:ea typeface="Cambria" panose="02040503050406030204" pitchFamily="18" charset="0"/>
              </a:rPr>
              <a:t>100</a:t>
            </a:r>
            <a:r>
              <a:rPr lang="en-US" sz="2100" dirty="0">
                <a:solidFill>
                  <a:srgbClr val="000000"/>
                </a:solidFill>
                <a:latin typeface="Cambria" panose="02040503050406030204" pitchFamily="18" charset="0"/>
                <a:ea typeface="Cambria" panose="02040503050406030204" pitchFamily="18" charset="0"/>
              </a:rPr>
              <a:t>)</a:t>
            </a:r>
            <a:br>
              <a:rPr lang="en-US" sz="2100" dirty="0">
                <a:solidFill>
                  <a:srgbClr val="000000"/>
                </a:solidFill>
                <a:latin typeface="Cambria" panose="02040503050406030204" pitchFamily="18" charset="0"/>
                <a:ea typeface="Cambria" panose="02040503050406030204" pitchFamily="18" charset="0"/>
              </a:rPr>
            </a:br>
            <a:r>
              <a:rPr lang="en-US" sz="2100" dirty="0">
                <a:solidFill>
                  <a:srgbClr val="008000"/>
                </a:solidFill>
                <a:latin typeface="Cambria" panose="02040503050406030204" pitchFamily="18" charset="0"/>
                <a:ea typeface="Cambria" panose="02040503050406030204" pitchFamily="18" charset="0"/>
              </a:rPr>
              <a:t># </a:t>
            </a:r>
            <a:r>
              <a:rPr lang="en-US" sz="2100" dirty="0" err="1">
                <a:solidFill>
                  <a:srgbClr val="008000"/>
                </a:solidFill>
                <a:latin typeface="Cambria" panose="02040503050406030204" pitchFamily="18" charset="0"/>
                <a:ea typeface="Cambria" panose="02040503050406030204" pitchFamily="18" charset="0"/>
              </a:rPr>
              <a:t>tạo</a:t>
            </a:r>
            <a:r>
              <a:rPr lang="en-US" sz="2100" dirty="0">
                <a:solidFill>
                  <a:srgbClr val="008000"/>
                </a:solidFill>
                <a:latin typeface="Cambria" panose="02040503050406030204" pitchFamily="18" charset="0"/>
                <a:ea typeface="Cambria" panose="02040503050406030204" pitchFamily="18" charset="0"/>
              </a:rPr>
              <a:t> subplot</a:t>
            </a:r>
            <a:br>
              <a:rPr lang="en-US" sz="2100" dirty="0">
                <a:solidFill>
                  <a:srgbClr val="008000"/>
                </a:solidFill>
                <a:latin typeface="Cambria" panose="02040503050406030204" pitchFamily="18" charset="0"/>
                <a:ea typeface="Cambria" panose="02040503050406030204" pitchFamily="18" charset="0"/>
              </a:rPr>
            </a:br>
            <a:r>
              <a:rPr lang="en-US" sz="2100" dirty="0">
                <a:solidFill>
                  <a:srgbClr val="000000"/>
                </a:solidFill>
                <a:latin typeface="Cambria" panose="02040503050406030204" pitchFamily="18" charset="0"/>
                <a:ea typeface="Cambria" panose="02040503050406030204" pitchFamily="18" charset="0"/>
              </a:rPr>
              <a:t>fig, axes=</a:t>
            </a:r>
            <a:r>
              <a:rPr lang="en-US" sz="2100" dirty="0" err="1">
                <a:solidFill>
                  <a:srgbClr val="000000"/>
                </a:solidFill>
                <a:latin typeface="Cambria" panose="02040503050406030204" pitchFamily="18" charset="0"/>
                <a:ea typeface="Cambria" panose="02040503050406030204" pitchFamily="18" charset="0"/>
              </a:rPr>
              <a:t>plt.subplots</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098658"/>
                </a:solidFill>
                <a:latin typeface="Cambria" panose="02040503050406030204" pitchFamily="18" charset="0"/>
                <a:ea typeface="Cambria" panose="02040503050406030204" pitchFamily="18" charset="0"/>
              </a:rPr>
              <a:t>1</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098658"/>
                </a:solidFill>
                <a:latin typeface="Cambria" panose="02040503050406030204" pitchFamily="18" charset="0"/>
                <a:ea typeface="Cambria" panose="02040503050406030204" pitchFamily="18" charset="0"/>
              </a:rPr>
              <a:t>2</a:t>
            </a:r>
            <a:r>
              <a:rPr lang="en-US" sz="2100" dirty="0">
                <a:solidFill>
                  <a:srgbClr val="000000"/>
                </a:solidFill>
                <a:latin typeface="Cambria" panose="02040503050406030204" pitchFamily="18" charset="0"/>
                <a:ea typeface="Cambria" panose="02040503050406030204" pitchFamily="18" charset="0"/>
              </a:rPr>
              <a:t>,figsize=(</a:t>
            </a:r>
            <a:r>
              <a:rPr lang="en-US" sz="2100" dirty="0">
                <a:solidFill>
                  <a:srgbClr val="098658"/>
                </a:solidFill>
                <a:latin typeface="Cambria" panose="02040503050406030204" pitchFamily="18" charset="0"/>
                <a:ea typeface="Cambria" panose="02040503050406030204" pitchFamily="18" charset="0"/>
              </a:rPr>
              <a:t>10</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098658"/>
                </a:solidFill>
                <a:latin typeface="Cambria" panose="02040503050406030204" pitchFamily="18" charset="0"/>
                <a:ea typeface="Cambria" panose="02040503050406030204" pitchFamily="18" charset="0"/>
              </a:rPr>
              <a:t>3</a:t>
            </a:r>
            <a:r>
              <a:rPr lang="en-US" sz="2100" dirty="0">
                <a:solidFill>
                  <a:srgbClr val="000000"/>
                </a:solidFill>
                <a:latin typeface="Cambria" panose="02040503050406030204" pitchFamily="18" charset="0"/>
                <a:ea typeface="Cambria" panose="02040503050406030204" pitchFamily="18" charset="0"/>
              </a:rPr>
              <a:t>),</a:t>
            </a:r>
            <a:r>
              <a:rPr lang="en-US" sz="2100" dirty="0" err="1">
                <a:solidFill>
                  <a:srgbClr val="000000"/>
                </a:solidFill>
                <a:latin typeface="Cambria" panose="02040503050406030204" pitchFamily="18" charset="0"/>
                <a:ea typeface="Cambria" panose="02040503050406030204" pitchFamily="18" charset="0"/>
              </a:rPr>
              <a:t>sharex</a:t>
            </a:r>
            <a:r>
              <a:rPr lang="en-US" sz="2100" dirty="0">
                <a:solidFill>
                  <a:srgbClr val="000000"/>
                </a:solidFill>
                <a:latin typeface="Cambria" panose="02040503050406030204" pitchFamily="18" charset="0"/>
                <a:ea typeface="Cambria" panose="02040503050406030204" pitchFamily="18" charset="0"/>
              </a:rPr>
              <a:t>=</a:t>
            </a:r>
            <a:r>
              <a:rPr lang="en-US" sz="2100" dirty="0" err="1">
                <a:solidFill>
                  <a:srgbClr val="0000FF"/>
                </a:solidFill>
                <a:latin typeface="Cambria" panose="02040503050406030204" pitchFamily="18" charset="0"/>
                <a:ea typeface="Cambria" panose="02040503050406030204" pitchFamily="18" charset="0"/>
              </a:rPr>
              <a:t>True</a:t>
            </a:r>
            <a:r>
              <a:rPr lang="en-US" sz="2100" dirty="0" err="1">
                <a:solidFill>
                  <a:srgbClr val="000000"/>
                </a:solidFill>
                <a:latin typeface="Cambria" panose="02040503050406030204" pitchFamily="18" charset="0"/>
                <a:ea typeface="Cambria" panose="02040503050406030204" pitchFamily="18" charset="0"/>
              </a:rPr>
              <a:t>,dpi</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098658"/>
                </a:solidFill>
                <a:latin typeface="Cambria" panose="02040503050406030204" pitchFamily="18" charset="0"/>
                <a:ea typeface="Cambria" panose="02040503050406030204" pitchFamily="18" charset="0"/>
              </a:rPr>
              <a:t>120</a:t>
            </a:r>
            <a:r>
              <a:rPr lang="en-US" sz="2100" dirty="0">
                <a:solidFill>
                  <a:srgbClr val="000000"/>
                </a:solidFill>
                <a:latin typeface="Cambria" panose="02040503050406030204" pitchFamily="18" charset="0"/>
                <a:ea typeface="Cambria" panose="02040503050406030204" pitchFamily="18" charset="0"/>
              </a:rPr>
              <a:t>)</a:t>
            </a:r>
            <a:br>
              <a:rPr lang="en-US" sz="2100" dirty="0">
                <a:solidFill>
                  <a:srgbClr val="000000"/>
                </a:solidFill>
                <a:latin typeface="Cambria" panose="02040503050406030204" pitchFamily="18" charset="0"/>
                <a:ea typeface="Cambria" panose="02040503050406030204" pitchFamily="18" charset="0"/>
              </a:rPr>
            </a:br>
            <a:r>
              <a:rPr lang="en-US" sz="2100" dirty="0">
                <a:solidFill>
                  <a:srgbClr val="008000"/>
                </a:solidFill>
                <a:latin typeface="Cambria" panose="02040503050406030204" pitchFamily="18" charset="0"/>
                <a:ea typeface="Cambria" panose="02040503050406030204" pitchFamily="18" charset="0"/>
              </a:rPr>
              <a:t># </a:t>
            </a:r>
            <a:r>
              <a:rPr lang="en-US" sz="2100" dirty="0" err="1">
                <a:solidFill>
                  <a:srgbClr val="008000"/>
                </a:solidFill>
                <a:latin typeface="Cambria" panose="02040503050406030204" pitchFamily="18" charset="0"/>
                <a:ea typeface="Cambria" panose="02040503050406030204" pitchFamily="18" charset="0"/>
              </a:rPr>
              <a:t>khai</a:t>
            </a:r>
            <a:r>
              <a:rPr lang="en-US" sz="2100" dirty="0">
                <a:solidFill>
                  <a:srgbClr val="008000"/>
                </a:solidFill>
                <a:latin typeface="Cambria" panose="02040503050406030204" pitchFamily="18" charset="0"/>
                <a:ea typeface="Cambria" panose="02040503050406030204" pitchFamily="18" charset="0"/>
              </a:rPr>
              <a:t> </a:t>
            </a:r>
            <a:r>
              <a:rPr lang="en-US" sz="2100" dirty="0" err="1">
                <a:solidFill>
                  <a:srgbClr val="008000"/>
                </a:solidFill>
                <a:latin typeface="Cambria" panose="02040503050406030204" pitchFamily="18" charset="0"/>
                <a:ea typeface="Cambria" panose="02040503050406030204" pitchFamily="18" charset="0"/>
              </a:rPr>
              <a:t>báo</a:t>
            </a:r>
            <a:r>
              <a:rPr lang="en-US" sz="2100" dirty="0">
                <a:solidFill>
                  <a:srgbClr val="008000"/>
                </a:solidFill>
                <a:latin typeface="Cambria" panose="02040503050406030204" pitchFamily="18" charset="0"/>
                <a:ea typeface="Cambria" panose="02040503050406030204" pitchFamily="18" charset="0"/>
              </a:rPr>
              <a:t> </a:t>
            </a:r>
            <a:r>
              <a:rPr lang="en-US" sz="2100" dirty="0" err="1">
                <a:solidFill>
                  <a:srgbClr val="008000"/>
                </a:solidFill>
                <a:latin typeface="Cambria" panose="02040503050406030204" pitchFamily="18" charset="0"/>
                <a:ea typeface="Cambria" panose="02040503050406030204" pitchFamily="18" charset="0"/>
              </a:rPr>
              <a:t>màu</a:t>
            </a:r>
            <a:br>
              <a:rPr lang="en-US" sz="2100" dirty="0">
                <a:solidFill>
                  <a:srgbClr val="008000"/>
                </a:solidFill>
                <a:latin typeface="Cambria" panose="02040503050406030204" pitchFamily="18" charset="0"/>
                <a:ea typeface="Cambria" panose="02040503050406030204" pitchFamily="18" charset="0"/>
              </a:rPr>
            </a:br>
            <a:r>
              <a:rPr lang="en-US" sz="2100" dirty="0">
                <a:solidFill>
                  <a:srgbClr val="000000"/>
                </a:solidFill>
                <a:latin typeface="Cambria" panose="02040503050406030204" pitchFamily="18" charset="0"/>
                <a:ea typeface="Cambria" panose="02040503050406030204" pitchFamily="18" charset="0"/>
              </a:rPr>
              <a:t>colors={</a:t>
            </a:r>
            <a:r>
              <a:rPr lang="en-US" sz="2100" dirty="0">
                <a:solidFill>
                  <a:srgbClr val="098658"/>
                </a:solidFill>
                <a:latin typeface="Cambria" panose="02040503050406030204" pitchFamily="18" charset="0"/>
                <a:ea typeface="Cambria" panose="02040503050406030204" pitchFamily="18" charset="0"/>
              </a:rPr>
              <a:t>0</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A31515"/>
                </a:solidFill>
                <a:latin typeface="Cambria" panose="02040503050406030204" pitchFamily="18" charset="0"/>
                <a:ea typeface="Cambria" panose="02040503050406030204" pitchFamily="18" charset="0"/>
              </a:rPr>
              <a:t>'g'</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098658"/>
                </a:solidFill>
                <a:latin typeface="Cambria" panose="02040503050406030204" pitchFamily="18" charset="0"/>
                <a:ea typeface="Cambria" panose="02040503050406030204" pitchFamily="18" charset="0"/>
              </a:rPr>
              <a:t>1</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A31515"/>
                </a:solidFill>
                <a:latin typeface="Cambria" panose="02040503050406030204" pitchFamily="18" charset="0"/>
                <a:ea typeface="Cambria" panose="02040503050406030204" pitchFamily="18" charset="0"/>
              </a:rPr>
              <a:t>'b'</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098658"/>
                </a:solidFill>
                <a:latin typeface="Cambria" panose="02040503050406030204" pitchFamily="18" charset="0"/>
                <a:ea typeface="Cambria" panose="02040503050406030204" pitchFamily="18" charset="0"/>
              </a:rPr>
              <a:t>2</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A31515"/>
                </a:solidFill>
                <a:latin typeface="Cambria" panose="02040503050406030204" pitchFamily="18" charset="0"/>
                <a:ea typeface="Cambria" panose="02040503050406030204" pitchFamily="18" charset="0"/>
              </a:rPr>
              <a:t>'r'</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098658"/>
                </a:solidFill>
                <a:latin typeface="Cambria" panose="02040503050406030204" pitchFamily="18" charset="0"/>
                <a:ea typeface="Cambria" panose="02040503050406030204" pitchFamily="18" charset="0"/>
              </a:rPr>
              <a:t>3</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A31515"/>
                </a:solidFill>
                <a:latin typeface="Cambria" panose="02040503050406030204" pitchFamily="18" charset="0"/>
                <a:ea typeface="Cambria" panose="02040503050406030204" pitchFamily="18" charset="0"/>
              </a:rPr>
              <a:t>'y'</a:t>
            </a:r>
            <a:r>
              <a:rPr lang="en-US" sz="2100" dirty="0">
                <a:solidFill>
                  <a:srgbClr val="000000"/>
                </a:solidFill>
                <a:latin typeface="Cambria" panose="02040503050406030204" pitchFamily="18" charset="0"/>
                <a:ea typeface="Cambria" panose="02040503050406030204" pitchFamily="18" charset="0"/>
              </a:rPr>
              <a:t>}</a:t>
            </a:r>
            <a:br>
              <a:rPr lang="en-US" sz="2100" dirty="0">
                <a:solidFill>
                  <a:srgbClr val="000000"/>
                </a:solidFill>
                <a:latin typeface="Cambria" panose="02040503050406030204" pitchFamily="18" charset="0"/>
                <a:ea typeface="Cambria" panose="02040503050406030204" pitchFamily="18" charset="0"/>
              </a:rPr>
            </a:br>
            <a:r>
              <a:rPr lang="en-US" sz="2100" dirty="0">
                <a:solidFill>
                  <a:srgbClr val="000000"/>
                </a:solidFill>
                <a:latin typeface="Cambria" panose="02040503050406030204" pitchFamily="18" charset="0"/>
                <a:ea typeface="Cambria" panose="02040503050406030204" pitchFamily="18" charset="0"/>
              </a:rPr>
              <a:t>markers={</a:t>
            </a:r>
            <a:r>
              <a:rPr lang="en-US" sz="2100" dirty="0">
                <a:solidFill>
                  <a:srgbClr val="098658"/>
                </a:solidFill>
                <a:latin typeface="Cambria" panose="02040503050406030204" pitchFamily="18" charset="0"/>
                <a:ea typeface="Cambria" panose="02040503050406030204" pitchFamily="18" charset="0"/>
              </a:rPr>
              <a:t>0</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A31515"/>
                </a:solidFill>
                <a:latin typeface="Cambria" panose="02040503050406030204" pitchFamily="18" charset="0"/>
                <a:ea typeface="Cambria" panose="02040503050406030204" pitchFamily="18" charset="0"/>
              </a:rPr>
              <a:t>'o'</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098658"/>
                </a:solidFill>
                <a:latin typeface="Cambria" panose="02040503050406030204" pitchFamily="18" charset="0"/>
                <a:ea typeface="Cambria" panose="02040503050406030204" pitchFamily="18" charset="0"/>
              </a:rPr>
              <a:t>1</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A31515"/>
                </a:solidFill>
                <a:latin typeface="Cambria" panose="02040503050406030204" pitchFamily="18" charset="0"/>
                <a:ea typeface="Cambria" panose="02040503050406030204" pitchFamily="18" charset="0"/>
              </a:rPr>
              <a:t>'x'</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098658"/>
                </a:solidFill>
                <a:latin typeface="Cambria" panose="02040503050406030204" pitchFamily="18" charset="0"/>
                <a:ea typeface="Cambria" panose="02040503050406030204" pitchFamily="18" charset="0"/>
              </a:rPr>
              <a:t>2</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A31515"/>
                </a:solidFill>
                <a:latin typeface="Cambria" panose="02040503050406030204" pitchFamily="18" charset="0"/>
                <a:ea typeface="Cambria" panose="02040503050406030204" pitchFamily="18" charset="0"/>
              </a:rPr>
              <a:t>'*'</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098658"/>
                </a:solidFill>
                <a:latin typeface="Cambria" panose="02040503050406030204" pitchFamily="18" charset="0"/>
                <a:ea typeface="Cambria" panose="02040503050406030204" pitchFamily="18" charset="0"/>
              </a:rPr>
              <a:t>3</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A31515"/>
                </a:solidFill>
                <a:latin typeface="Cambria" panose="02040503050406030204" pitchFamily="18" charset="0"/>
                <a:ea typeface="Cambria" panose="02040503050406030204" pitchFamily="18" charset="0"/>
              </a:rPr>
              <a:t>'p'</a:t>
            </a:r>
            <a:r>
              <a:rPr lang="en-US" sz="2100" dirty="0">
                <a:solidFill>
                  <a:srgbClr val="000000"/>
                </a:solidFill>
                <a:latin typeface="Cambria" panose="02040503050406030204" pitchFamily="18" charset="0"/>
                <a:ea typeface="Cambria" panose="02040503050406030204" pitchFamily="18" charset="0"/>
              </a:rPr>
              <a:t>}</a:t>
            </a:r>
            <a:br>
              <a:rPr lang="en-US" sz="2100" dirty="0">
                <a:solidFill>
                  <a:srgbClr val="000000"/>
                </a:solidFill>
                <a:latin typeface="Cambria" panose="02040503050406030204" pitchFamily="18" charset="0"/>
                <a:ea typeface="Cambria" panose="02040503050406030204" pitchFamily="18" charset="0"/>
              </a:rPr>
            </a:br>
            <a:r>
              <a:rPr lang="en-US" sz="2100" dirty="0">
                <a:solidFill>
                  <a:srgbClr val="008000"/>
                </a:solidFill>
                <a:latin typeface="Cambria" panose="02040503050406030204" pitchFamily="18" charset="0"/>
                <a:ea typeface="Cambria" panose="02040503050406030204" pitchFamily="18" charset="0"/>
              </a:rPr>
              <a:t># </a:t>
            </a:r>
            <a:r>
              <a:rPr lang="en-US" sz="2100" dirty="0" err="1">
                <a:solidFill>
                  <a:srgbClr val="008000"/>
                </a:solidFill>
                <a:latin typeface="Cambria" panose="02040503050406030204" pitchFamily="18" charset="0"/>
                <a:ea typeface="Cambria" panose="02040503050406030204" pitchFamily="18" charset="0"/>
              </a:rPr>
              <a:t>vẽ</a:t>
            </a:r>
            <a:r>
              <a:rPr lang="en-US" sz="2100" dirty="0">
                <a:solidFill>
                  <a:srgbClr val="008000"/>
                </a:solidFill>
                <a:latin typeface="Cambria" panose="02040503050406030204" pitchFamily="18" charset="0"/>
                <a:ea typeface="Cambria" panose="02040503050406030204" pitchFamily="18" charset="0"/>
              </a:rPr>
              <a:t> </a:t>
            </a:r>
            <a:r>
              <a:rPr lang="en-US" sz="2100" dirty="0" err="1">
                <a:solidFill>
                  <a:srgbClr val="008000"/>
                </a:solidFill>
                <a:latin typeface="Cambria" panose="02040503050406030204" pitchFamily="18" charset="0"/>
                <a:ea typeface="Cambria" panose="02040503050406030204" pitchFamily="18" charset="0"/>
              </a:rPr>
              <a:t>hình</a:t>
            </a:r>
            <a:r>
              <a:rPr lang="en-US" sz="2100" dirty="0">
                <a:solidFill>
                  <a:srgbClr val="008000"/>
                </a:solidFill>
                <a:latin typeface="Cambria" panose="02040503050406030204" pitchFamily="18" charset="0"/>
                <a:ea typeface="Cambria" panose="02040503050406030204" pitchFamily="18" charset="0"/>
              </a:rPr>
              <a:t> </a:t>
            </a:r>
            <a:r>
              <a:rPr lang="en-US" sz="2100" dirty="0" err="1">
                <a:solidFill>
                  <a:srgbClr val="008000"/>
                </a:solidFill>
                <a:latin typeface="Cambria" panose="02040503050406030204" pitchFamily="18" charset="0"/>
                <a:ea typeface="Cambria" panose="02040503050406030204" pitchFamily="18" charset="0"/>
              </a:rPr>
              <a:t>trên</a:t>
            </a:r>
            <a:r>
              <a:rPr lang="en-US" sz="2100" dirty="0">
                <a:solidFill>
                  <a:srgbClr val="008000"/>
                </a:solidFill>
                <a:latin typeface="Cambria" panose="02040503050406030204" pitchFamily="18" charset="0"/>
                <a:ea typeface="Cambria" panose="02040503050406030204" pitchFamily="18" charset="0"/>
              </a:rPr>
              <a:t> </a:t>
            </a:r>
            <a:r>
              <a:rPr lang="en-US" sz="2100" dirty="0" err="1">
                <a:solidFill>
                  <a:srgbClr val="008000"/>
                </a:solidFill>
                <a:latin typeface="Cambria" panose="02040503050406030204" pitchFamily="18" charset="0"/>
                <a:ea typeface="Cambria" panose="02040503050406030204" pitchFamily="18" charset="0"/>
              </a:rPr>
              <a:t>mỗi</a:t>
            </a:r>
            <a:r>
              <a:rPr lang="en-US" sz="2100" dirty="0">
                <a:solidFill>
                  <a:srgbClr val="008000"/>
                </a:solidFill>
                <a:latin typeface="Cambria" panose="02040503050406030204" pitchFamily="18" charset="0"/>
                <a:ea typeface="Cambria" panose="02040503050406030204" pitchFamily="18" charset="0"/>
              </a:rPr>
              <a:t> </a:t>
            </a:r>
            <a:r>
              <a:rPr lang="en-US" sz="2100" dirty="0" err="1">
                <a:solidFill>
                  <a:srgbClr val="008000"/>
                </a:solidFill>
                <a:latin typeface="Cambria" panose="02040503050406030204" pitchFamily="18" charset="0"/>
                <a:ea typeface="Cambria" panose="02040503050406030204" pitchFamily="18" charset="0"/>
              </a:rPr>
              <a:t>trục</a:t>
            </a:r>
            <a:br>
              <a:rPr lang="en-US" sz="2100" dirty="0">
                <a:solidFill>
                  <a:srgbClr val="008000"/>
                </a:solidFill>
                <a:latin typeface="Cambria" panose="02040503050406030204" pitchFamily="18" charset="0"/>
                <a:ea typeface="Cambria" panose="02040503050406030204" pitchFamily="18" charset="0"/>
              </a:rPr>
            </a:br>
            <a:r>
              <a:rPr lang="en-US" sz="2100" dirty="0">
                <a:solidFill>
                  <a:srgbClr val="0000FF"/>
                </a:solidFill>
                <a:latin typeface="Cambria" panose="02040503050406030204" pitchFamily="18" charset="0"/>
                <a:ea typeface="Cambria" panose="02040503050406030204" pitchFamily="18" charset="0"/>
              </a:rPr>
              <a:t>for </a:t>
            </a:r>
            <a:r>
              <a:rPr lang="en-US" sz="2100" dirty="0" err="1">
                <a:solidFill>
                  <a:srgbClr val="000000"/>
                </a:solidFill>
                <a:latin typeface="Cambria" panose="02040503050406030204" pitchFamily="18" charset="0"/>
                <a:ea typeface="Cambria" panose="02040503050406030204" pitchFamily="18" charset="0"/>
              </a:rPr>
              <a:t>i</a:t>
            </a:r>
            <a:r>
              <a:rPr lang="en-US" sz="2100" dirty="0">
                <a:solidFill>
                  <a:srgbClr val="000000"/>
                </a:solidFill>
                <a:latin typeface="Cambria" panose="02040503050406030204" pitchFamily="18" charset="0"/>
                <a:ea typeface="Cambria" panose="02040503050406030204" pitchFamily="18" charset="0"/>
              </a:rPr>
              <a:t>, ax </a:t>
            </a:r>
            <a:r>
              <a:rPr lang="en-US" sz="2100" dirty="0">
                <a:solidFill>
                  <a:srgbClr val="0000FF"/>
                </a:solidFill>
                <a:latin typeface="Cambria" panose="02040503050406030204" pitchFamily="18" charset="0"/>
                <a:ea typeface="Cambria" panose="02040503050406030204" pitchFamily="18" charset="0"/>
              </a:rPr>
              <a:t>in </a:t>
            </a:r>
            <a:r>
              <a:rPr lang="en-US" sz="2100" dirty="0">
                <a:solidFill>
                  <a:srgbClr val="000000"/>
                </a:solidFill>
                <a:latin typeface="Cambria" panose="02040503050406030204" pitchFamily="18" charset="0"/>
                <a:ea typeface="Cambria" panose="02040503050406030204" pitchFamily="18" charset="0"/>
              </a:rPr>
              <a:t>enumerate(</a:t>
            </a:r>
            <a:r>
              <a:rPr lang="en-US" sz="2100" dirty="0" err="1">
                <a:solidFill>
                  <a:srgbClr val="000000"/>
                </a:solidFill>
                <a:latin typeface="Cambria" panose="02040503050406030204" pitchFamily="18" charset="0"/>
                <a:ea typeface="Cambria" panose="02040503050406030204" pitchFamily="18" charset="0"/>
              </a:rPr>
              <a:t>axes.ravel</a:t>
            </a:r>
            <a:r>
              <a:rPr lang="en-US" sz="2100" dirty="0">
                <a:solidFill>
                  <a:srgbClr val="000000"/>
                </a:solidFill>
                <a:latin typeface="Cambria" panose="02040503050406030204" pitchFamily="18" charset="0"/>
                <a:ea typeface="Cambria" panose="02040503050406030204" pitchFamily="18" charset="0"/>
              </a:rPr>
              <a:t>()):</a:t>
            </a:r>
            <a:br>
              <a:rPr lang="en-US" sz="2100" dirty="0">
                <a:solidFill>
                  <a:srgbClr val="000000"/>
                </a:solidFill>
                <a:latin typeface="Cambria" panose="02040503050406030204" pitchFamily="18" charset="0"/>
                <a:ea typeface="Cambria" panose="02040503050406030204" pitchFamily="18" charset="0"/>
              </a:rPr>
            </a:br>
            <a:r>
              <a:rPr lang="en-US" sz="2100" dirty="0" err="1">
                <a:solidFill>
                  <a:srgbClr val="000000"/>
                </a:solidFill>
                <a:latin typeface="Cambria" panose="02040503050406030204" pitchFamily="18" charset="0"/>
                <a:ea typeface="Cambria" panose="02040503050406030204" pitchFamily="18" charset="0"/>
              </a:rPr>
              <a:t>ax.plot</a:t>
            </a:r>
            <a:r>
              <a:rPr lang="en-US" sz="2100" dirty="0">
                <a:solidFill>
                  <a:srgbClr val="000000"/>
                </a:solidFill>
                <a:latin typeface="Cambria" panose="02040503050406030204" pitchFamily="18" charset="0"/>
                <a:ea typeface="Cambria" panose="02040503050406030204" pitchFamily="18" charset="0"/>
              </a:rPr>
              <a:t>(sorted(</a:t>
            </a:r>
            <a:r>
              <a:rPr lang="en-US" sz="2100" dirty="0" err="1">
                <a:solidFill>
                  <a:srgbClr val="000000"/>
                </a:solidFill>
                <a:latin typeface="Cambria" panose="02040503050406030204" pitchFamily="18" charset="0"/>
                <a:ea typeface="Cambria" panose="02040503050406030204" pitchFamily="18" charset="0"/>
              </a:rPr>
              <a:t>randint</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098658"/>
                </a:solidFill>
                <a:latin typeface="Cambria" panose="02040503050406030204" pitchFamily="18" charset="0"/>
                <a:ea typeface="Cambria" panose="02040503050406030204" pitchFamily="18" charset="0"/>
              </a:rPr>
              <a:t>0</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098658"/>
                </a:solidFill>
                <a:latin typeface="Cambria" panose="02040503050406030204" pitchFamily="18" charset="0"/>
                <a:ea typeface="Cambria" panose="02040503050406030204" pitchFamily="18" charset="0"/>
              </a:rPr>
              <a:t>10</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098658"/>
                </a:solidFill>
                <a:latin typeface="Cambria" panose="02040503050406030204" pitchFamily="18" charset="0"/>
                <a:ea typeface="Cambria" panose="02040503050406030204" pitchFamily="18" charset="0"/>
              </a:rPr>
              <a:t>20</a:t>
            </a:r>
            <a:r>
              <a:rPr lang="en-US" sz="2100" dirty="0">
                <a:solidFill>
                  <a:srgbClr val="000000"/>
                </a:solidFill>
                <a:latin typeface="Cambria" panose="02040503050406030204" pitchFamily="18" charset="0"/>
                <a:ea typeface="Cambria" panose="02040503050406030204" pitchFamily="18" charset="0"/>
              </a:rPr>
              <a:t>)),sorted(</a:t>
            </a:r>
            <a:r>
              <a:rPr lang="en-US" sz="2100" dirty="0" err="1">
                <a:solidFill>
                  <a:srgbClr val="000000"/>
                </a:solidFill>
                <a:latin typeface="Cambria" panose="02040503050406030204" pitchFamily="18" charset="0"/>
                <a:ea typeface="Cambria" panose="02040503050406030204" pitchFamily="18" charset="0"/>
              </a:rPr>
              <a:t>randint</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098658"/>
                </a:solidFill>
                <a:latin typeface="Cambria" panose="02040503050406030204" pitchFamily="18" charset="0"/>
                <a:ea typeface="Cambria" panose="02040503050406030204" pitchFamily="18" charset="0"/>
              </a:rPr>
              <a:t>0</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098658"/>
                </a:solidFill>
                <a:latin typeface="Cambria" panose="02040503050406030204" pitchFamily="18" charset="0"/>
                <a:ea typeface="Cambria" panose="02040503050406030204" pitchFamily="18" charset="0"/>
              </a:rPr>
              <a:t>10</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098658"/>
                </a:solidFill>
                <a:latin typeface="Cambria" panose="02040503050406030204" pitchFamily="18" charset="0"/>
                <a:ea typeface="Cambria" panose="02040503050406030204" pitchFamily="18" charset="0"/>
              </a:rPr>
              <a:t>20</a:t>
            </a:r>
            <a:r>
              <a:rPr lang="en-US" sz="2100" dirty="0">
                <a:solidFill>
                  <a:srgbClr val="000000"/>
                </a:solidFill>
                <a:latin typeface="Cambria" panose="02040503050406030204" pitchFamily="18" charset="0"/>
                <a:ea typeface="Cambria" panose="02040503050406030204" pitchFamily="18" charset="0"/>
              </a:rPr>
              <a:t>)),marker=markers[</a:t>
            </a:r>
            <a:r>
              <a:rPr lang="en-US" sz="2100" dirty="0" err="1">
                <a:solidFill>
                  <a:srgbClr val="000000"/>
                </a:solidFill>
                <a:latin typeface="Cambria" panose="02040503050406030204" pitchFamily="18" charset="0"/>
                <a:ea typeface="Cambria" panose="02040503050406030204" pitchFamily="18" charset="0"/>
              </a:rPr>
              <a:t>i</a:t>
            </a:r>
            <a:r>
              <a:rPr lang="en-US" sz="2100" dirty="0">
                <a:solidFill>
                  <a:srgbClr val="000000"/>
                </a:solidFill>
                <a:latin typeface="Cambria" panose="02040503050406030204" pitchFamily="18" charset="0"/>
                <a:ea typeface="Cambria" panose="02040503050406030204" pitchFamily="18" charset="0"/>
              </a:rPr>
              <a:t>],color=colors[</a:t>
            </a:r>
            <a:r>
              <a:rPr lang="en-US" sz="2100" dirty="0" err="1">
                <a:solidFill>
                  <a:srgbClr val="000000"/>
                </a:solidFill>
                <a:latin typeface="Cambria" panose="02040503050406030204" pitchFamily="18" charset="0"/>
                <a:ea typeface="Cambria" panose="02040503050406030204" pitchFamily="18" charset="0"/>
              </a:rPr>
              <a:t>i</a:t>
            </a:r>
            <a:r>
              <a:rPr lang="en-US" sz="2100" dirty="0">
                <a:solidFill>
                  <a:srgbClr val="000000"/>
                </a:solidFill>
                <a:latin typeface="Cambria" panose="02040503050406030204" pitchFamily="18" charset="0"/>
                <a:ea typeface="Cambria" panose="02040503050406030204" pitchFamily="18" charset="0"/>
              </a:rPr>
              <a:t>])</a:t>
            </a:r>
            <a:br>
              <a:rPr lang="en-US" sz="2100" dirty="0">
                <a:solidFill>
                  <a:srgbClr val="000000"/>
                </a:solidFill>
                <a:latin typeface="Cambria" panose="02040503050406030204" pitchFamily="18" charset="0"/>
                <a:ea typeface="Cambria" panose="02040503050406030204" pitchFamily="18" charset="0"/>
              </a:rPr>
            </a:br>
            <a:r>
              <a:rPr lang="en-US" sz="2100" dirty="0" err="1">
                <a:solidFill>
                  <a:srgbClr val="000000"/>
                </a:solidFill>
                <a:latin typeface="Cambria" panose="02040503050406030204" pitchFamily="18" charset="0"/>
                <a:ea typeface="Cambria" panose="02040503050406030204" pitchFamily="18" charset="0"/>
              </a:rPr>
              <a:t>ax.set_title</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A31515"/>
                </a:solidFill>
                <a:latin typeface="Cambria" panose="02040503050406030204" pitchFamily="18" charset="0"/>
                <a:ea typeface="Cambria" panose="02040503050406030204" pitchFamily="18" charset="0"/>
              </a:rPr>
              <a:t>'Ax:'</a:t>
            </a:r>
            <a:r>
              <a:rPr lang="en-US" sz="2100" dirty="0">
                <a:solidFill>
                  <a:srgbClr val="000000"/>
                </a:solidFill>
                <a:latin typeface="Cambria" panose="02040503050406030204" pitchFamily="18" charset="0"/>
                <a:ea typeface="Cambria" panose="02040503050406030204" pitchFamily="18" charset="0"/>
              </a:rPr>
              <a:t>+</a:t>
            </a:r>
            <a:r>
              <a:rPr lang="en-US" sz="2100" dirty="0" err="1">
                <a:solidFill>
                  <a:srgbClr val="000000"/>
                </a:solidFill>
                <a:latin typeface="Cambria" panose="02040503050406030204" pitchFamily="18" charset="0"/>
                <a:ea typeface="Cambria" panose="02040503050406030204" pitchFamily="18" charset="0"/>
              </a:rPr>
              <a:t>str</a:t>
            </a:r>
            <a:r>
              <a:rPr lang="en-US" sz="2100" dirty="0">
                <a:solidFill>
                  <a:srgbClr val="000000"/>
                </a:solidFill>
                <a:latin typeface="Cambria" panose="02040503050406030204" pitchFamily="18" charset="0"/>
                <a:ea typeface="Cambria" panose="02040503050406030204" pitchFamily="18" charset="0"/>
              </a:rPr>
              <a:t>(</a:t>
            </a:r>
            <a:r>
              <a:rPr lang="en-US" sz="2100" dirty="0" err="1">
                <a:solidFill>
                  <a:srgbClr val="000000"/>
                </a:solidFill>
                <a:latin typeface="Cambria" panose="02040503050406030204" pitchFamily="18" charset="0"/>
                <a:ea typeface="Cambria" panose="02040503050406030204" pitchFamily="18" charset="0"/>
              </a:rPr>
              <a:t>i</a:t>
            </a:r>
            <a:r>
              <a:rPr lang="en-US" sz="2100" dirty="0">
                <a:solidFill>
                  <a:srgbClr val="000000"/>
                </a:solidFill>
                <a:latin typeface="Cambria" panose="02040503050406030204" pitchFamily="18" charset="0"/>
                <a:ea typeface="Cambria" panose="02040503050406030204" pitchFamily="18" charset="0"/>
              </a:rPr>
              <a:t>))</a:t>
            </a:r>
            <a:br>
              <a:rPr lang="en-US" sz="2100" dirty="0">
                <a:solidFill>
                  <a:srgbClr val="000000"/>
                </a:solidFill>
                <a:latin typeface="Cambria" panose="02040503050406030204" pitchFamily="18" charset="0"/>
                <a:ea typeface="Cambria" panose="02040503050406030204" pitchFamily="18" charset="0"/>
              </a:rPr>
            </a:br>
            <a:r>
              <a:rPr lang="en-US" sz="2100" dirty="0" err="1">
                <a:solidFill>
                  <a:srgbClr val="000000"/>
                </a:solidFill>
                <a:latin typeface="Cambria" panose="02040503050406030204" pitchFamily="18" charset="0"/>
                <a:ea typeface="Cambria" panose="02040503050406030204" pitchFamily="18" charset="0"/>
              </a:rPr>
              <a:t>ax.yaxis.set_ticks_position</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A31515"/>
                </a:solidFill>
                <a:latin typeface="Cambria" panose="02040503050406030204" pitchFamily="18" charset="0"/>
                <a:ea typeface="Cambria" panose="02040503050406030204" pitchFamily="18" charset="0"/>
              </a:rPr>
              <a:t>'none'</a:t>
            </a:r>
            <a:r>
              <a:rPr lang="en-US" sz="2100" dirty="0">
                <a:solidFill>
                  <a:srgbClr val="000000"/>
                </a:solidFill>
                <a:latin typeface="Cambria" panose="02040503050406030204" pitchFamily="18" charset="0"/>
                <a:ea typeface="Cambria" panose="02040503050406030204" pitchFamily="18" charset="0"/>
              </a:rPr>
              <a:t>)</a:t>
            </a:r>
            <a:br>
              <a:rPr lang="en-US" sz="2100" dirty="0">
                <a:solidFill>
                  <a:srgbClr val="000000"/>
                </a:solidFill>
                <a:latin typeface="Cambria" panose="02040503050406030204" pitchFamily="18" charset="0"/>
                <a:ea typeface="Cambria" panose="02040503050406030204" pitchFamily="18" charset="0"/>
              </a:rPr>
            </a:br>
            <a:r>
              <a:rPr lang="en-US" sz="2100" dirty="0" err="1">
                <a:solidFill>
                  <a:srgbClr val="000000"/>
                </a:solidFill>
                <a:latin typeface="Cambria" panose="02040503050406030204" pitchFamily="18" charset="0"/>
                <a:ea typeface="Cambria" panose="02040503050406030204" pitchFamily="18" charset="0"/>
              </a:rPr>
              <a:t>plt.suptitle</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A31515"/>
                </a:solidFill>
                <a:latin typeface="Cambria" panose="02040503050406030204" pitchFamily="18" charset="0"/>
                <a:ea typeface="Cambria" panose="02040503050406030204" pitchFamily="18" charset="0"/>
              </a:rPr>
              <a:t>'Four Subplots in One Figure'</a:t>
            </a:r>
            <a:r>
              <a:rPr lang="en-US" sz="2100" dirty="0">
                <a:solidFill>
                  <a:srgbClr val="000000"/>
                </a:solidFill>
                <a:latin typeface="Cambria" panose="02040503050406030204" pitchFamily="18" charset="0"/>
                <a:ea typeface="Cambria" panose="02040503050406030204" pitchFamily="18" charset="0"/>
              </a:rPr>
              <a:t>,</a:t>
            </a:r>
            <a:r>
              <a:rPr lang="en-US" sz="2100" dirty="0" err="1">
                <a:solidFill>
                  <a:srgbClr val="000000"/>
                </a:solidFill>
                <a:latin typeface="Cambria" panose="02040503050406030204" pitchFamily="18" charset="0"/>
                <a:ea typeface="Cambria" panose="02040503050406030204" pitchFamily="18" charset="0"/>
              </a:rPr>
              <a:t>verticalalignment</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A31515"/>
                </a:solidFill>
                <a:latin typeface="Cambria" panose="02040503050406030204" pitchFamily="18" charset="0"/>
                <a:ea typeface="Cambria" panose="02040503050406030204" pitchFamily="18" charset="0"/>
              </a:rPr>
              <a:t>'top'</a:t>
            </a:r>
            <a:r>
              <a:rPr lang="en-US" sz="2100" dirty="0">
                <a:solidFill>
                  <a:srgbClr val="000000"/>
                </a:solidFill>
                <a:latin typeface="Cambria" panose="02040503050406030204" pitchFamily="18" charset="0"/>
                <a:ea typeface="Cambria" panose="02040503050406030204" pitchFamily="18" charset="0"/>
              </a:rPr>
              <a:t>,</a:t>
            </a:r>
            <a:r>
              <a:rPr lang="en-US" sz="2100" dirty="0" err="1">
                <a:solidFill>
                  <a:srgbClr val="000000"/>
                </a:solidFill>
                <a:latin typeface="Cambria" panose="02040503050406030204" pitchFamily="18" charset="0"/>
                <a:ea typeface="Cambria" panose="02040503050406030204" pitchFamily="18" charset="0"/>
              </a:rPr>
              <a:t>fontsize</a:t>
            </a:r>
            <a:r>
              <a:rPr lang="en-US" sz="2100" dirty="0">
                <a:solidFill>
                  <a:srgbClr val="000000"/>
                </a:solidFill>
                <a:latin typeface="Cambria" panose="02040503050406030204" pitchFamily="18" charset="0"/>
                <a:ea typeface="Cambria" panose="02040503050406030204" pitchFamily="18" charset="0"/>
              </a:rPr>
              <a:t>=</a:t>
            </a:r>
            <a:r>
              <a:rPr lang="en-US" sz="2100" dirty="0">
                <a:solidFill>
                  <a:srgbClr val="098658"/>
                </a:solidFill>
                <a:latin typeface="Cambria" panose="02040503050406030204" pitchFamily="18" charset="0"/>
                <a:ea typeface="Cambria" panose="02040503050406030204" pitchFamily="18" charset="0"/>
              </a:rPr>
              <a:t>11</a:t>
            </a:r>
            <a:r>
              <a:rPr lang="en-US" sz="2100" dirty="0">
                <a:solidFill>
                  <a:srgbClr val="000000"/>
                </a:solidFill>
                <a:latin typeface="Cambria" panose="02040503050406030204" pitchFamily="18" charset="0"/>
                <a:ea typeface="Cambria" panose="02040503050406030204" pitchFamily="18" charset="0"/>
              </a:rPr>
              <a:t>)</a:t>
            </a:r>
            <a:br>
              <a:rPr lang="en-US" sz="2100" dirty="0">
                <a:solidFill>
                  <a:srgbClr val="000000"/>
                </a:solidFill>
                <a:latin typeface="Cambria" panose="02040503050406030204" pitchFamily="18" charset="0"/>
                <a:ea typeface="Cambria" panose="02040503050406030204" pitchFamily="18" charset="0"/>
              </a:rPr>
            </a:br>
            <a:r>
              <a:rPr lang="en-US" sz="2100" dirty="0" err="1">
                <a:solidFill>
                  <a:srgbClr val="000000"/>
                </a:solidFill>
                <a:latin typeface="Cambria" panose="02040503050406030204" pitchFamily="18" charset="0"/>
                <a:ea typeface="Cambria" panose="02040503050406030204" pitchFamily="18" charset="0"/>
              </a:rPr>
              <a:t>plt.tight_layout</a:t>
            </a:r>
            <a:r>
              <a:rPr lang="en-US" sz="2100" dirty="0">
                <a:solidFill>
                  <a:srgbClr val="000000"/>
                </a:solidFill>
                <a:latin typeface="Cambria" panose="02040503050406030204" pitchFamily="18" charset="0"/>
                <a:ea typeface="Cambria" panose="02040503050406030204" pitchFamily="18" charset="0"/>
              </a:rPr>
              <a:t>()</a:t>
            </a:r>
            <a:br>
              <a:rPr lang="en-US" sz="2100" dirty="0">
                <a:solidFill>
                  <a:srgbClr val="000000"/>
                </a:solidFill>
                <a:latin typeface="Cambria" panose="02040503050406030204" pitchFamily="18" charset="0"/>
                <a:ea typeface="Cambria" panose="02040503050406030204" pitchFamily="18" charset="0"/>
              </a:rPr>
            </a:br>
            <a:r>
              <a:rPr lang="en-US" sz="2100" dirty="0" err="1">
                <a:solidFill>
                  <a:srgbClr val="000000"/>
                </a:solidFill>
                <a:latin typeface="Cambria" panose="02040503050406030204" pitchFamily="18" charset="0"/>
                <a:ea typeface="Cambria" panose="02040503050406030204" pitchFamily="18" charset="0"/>
              </a:rPr>
              <a:t>plt.show</a:t>
            </a:r>
            <a:r>
              <a:rPr lang="en-US" sz="2100" dirty="0">
                <a:solidFill>
                  <a:srgbClr val="000000"/>
                </a:solidFill>
                <a:latin typeface="Cambria" panose="02040503050406030204" pitchFamily="18" charset="0"/>
                <a:ea typeface="Cambria" panose="02040503050406030204" pitchFamily="18" charset="0"/>
              </a:rPr>
              <a:t>()</a:t>
            </a:r>
            <a:r>
              <a:rPr lang="en-US" sz="2100" dirty="0">
                <a:latin typeface="Cambria" panose="02040503050406030204" pitchFamily="18" charset="0"/>
                <a:ea typeface="Cambria" panose="02040503050406030204" pitchFamily="18" charset="0"/>
              </a:rPr>
              <a:t> </a:t>
            </a:r>
          </a:p>
        </p:txBody>
      </p:sp>
      <p:pic>
        <p:nvPicPr>
          <p:cNvPr id="4" name="Picture 3"/>
          <p:cNvPicPr>
            <a:picLocks noChangeAspect="1"/>
          </p:cNvPicPr>
          <p:nvPr/>
        </p:nvPicPr>
        <p:blipFill>
          <a:blip r:embed="rId2"/>
          <a:stretch>
            <a:fillRect/>
          </a:stretch>
        </p:blipFill>
        <p:spPr>
          <a:xfrm>
            <a:off x="7708888" y="827310"/>
            <a:ext cx="4118744" cy="1594801"/>
          </a:xfrm>
          <a:prstGeom prst="rect">
            <a:avLst/>
          </a:prstGeom>
        </p:spPr>
      </p:pic>
    </p:spTree>
    <p:extLst>
      <p:ext uri="{BB962C8B-B14F-4D97-AF65-F5344CB8AC3E}">
        <p14:creationId xmlns:p14="http://schemas.microsoft.com/office/powerpoint/2010/main" val="3887353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MATPLOTLID</a:t>
            </a:r>
          </a:p>
        </p:txBody>
      </p:sp>
      <p:sp>
        <p:nvSpPr>
          <p:cNvPr id="11" name="Content Placeholder 2">
            <a:extLst>
              <a:ext uri="{FF2B5EF4-FFF2-40B4-BE49-F238E27FC236}">
                <a16:creationId xmlns:a16="http://schemas.microsoft.com/office/drawing/2014/main" id="{D84E1B89-45F1-4C39-88F0-3A380DA733A9}"/>
              </a:ext>
            </a:extLst>
          </p:cNvPr>
          <p:cNvSpPr>
            <a:spLocks noGrp="1"/>
          </p:cNvSpPr>
          <p:nvPr>
            <p:ph idx="1"/>
          </p:nvPr>
        </p:nvSpPr>
        <p:spPr>
          <a:xfrm>
            <a:off x="79513" y="721084"/>
            <a:ext cx="8229600" cy="479356"/>
          </a:xfrm>
        </p:spPr>
        <p:txBody>
          <a:bodyPr>
            <a:noAutofit/>
          </a:bodyPr>
          <a:lstStyle/>
          <a:p>
            <a:pPr marL="0" lvl="1" indent="0" algn="just">
              <a:spcBef>
                <a:spcPts val="580"/>
              </a:spcBef>
              <a:buClr>
                <a:srgbClr val="FF5A33"/>
              </a:buClr>
              <a:buNone/>
            </a:pPr>
            <a:r>
              <a:rPr lang="en-US" sz="2500" b="1" spc="-5" dirty="0" err="1">
                <a:latin typeface="Cambria" panose="02040503050406030204" pitchFamily="18" charset="0"/>
                <a:ea typeface="Cambria" panose="02040503050406030204" pitchFamily="18" charset="0"/>
                <a:cs typeface="Segoe UI"/>
              </a:rPr>
              <a:t>Ví</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dụ</a:t>
            </a:r>
            <a:r>
              <a:rPr lang="en-US" sz="2500" b="1" spc="-5" dirty="0">
                <a:latin typeface="Cambria" panose="02040503050406030204" pitchFamily="18" charset="0"/>
                <a:ea typeface="Cambria" panose="02040503050406030204" pitchFamily="18" charset="0"/>
                <a:cs typeface="Segoe UI"/>
              </a:rPr>
              <a:t> 2: </a:t>
            </a:r>
            <a:r>
              <a:rPr lang="en-US" sz="2500" b="1" spc="-5" dirty="0" err="1">
                <a:latin typeface="Cambria" panose="02040503050406030204" pitchFamily="18" charset="0"/>
                <a:ea typeface="Cambria" panose="02040503050406030204" pitchFamily="18" charset="0"/>
                <a:cs typeface="Segoe UI"/>
              </a:rPr>
              <a:t>Vẽ</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đồ</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thị</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thanh</a:t>
            </a:r>
            <a:r>
              <a:rPr lang="en-US" sz="2500" b="1" spc="-5" dirty="0">
                <a:latin typeface="Cambria" panose="02040503050406030204" pitchFamily="18" charset="0"/>
                <a:ea typeface="Cambria" panose="02040503050406030204" pitchFamily="18" charset="0"/>
                <a:cs typeface="Segoe UI"/>
              </a:rPr>
              <a:t> (bar)</a:t>
            </a:r>
          </a:p>
        </p:txBody>
      </p:sp>
      <p:sp>
        <p:nvSpPr>
          <p:cNvPr id="2" name="Rectangle 1"/>
          <p:cNvSpPr/>
          <p:nvPr/>
        </p:nvSpPr>
        <p:spPr>
          <a:xfrm>
            <a:off x="176270" y="1198639"/>
            <a:ext cx="11832115" cy="4708981"/>
          </a:xfrm>
          <a:prstGeom prst="rect">
            <a:avLst/>
          </a:prstGeom>
        </p:spPr>
        <p:txBody>
          <a:bodyPr wrap="square">
            <a:spAutoFit/>
          </a:bodyPr>
          <a:lstStyle/>
          <a:p>
            <a:r>
              <a:rPr lang="vi-VN" sz="2500" dirty="0">
                <a:solidFill>
                  <a:srgbClr val="0000FF"/>
                </a:solidFill>
                <a:latin typeface="Cambria" panose="02040503050406030204" pitchFamily="18" charset="0"/>
                <a:ea typeface="Cambria" panose="02040503050406030204" pitchFamily="18" charset="0"/>
              </a:rPr>
              <a:t>import </a:t>
            </a:r>
            <a:r>
              <a:rPr lang="vi-VN" sz="2500" dirty="0">
                <a:solidFill>
                  <a:srgbClr val="000000"/>
                </a:solidFill>
                <a:latin typeface="Cambria" panose="02040503050406030204" pitchFamily="18" charset="0"/>
                <a:ea typeface="Cambria" panose="02040503050406030204" pitchFamily="18" charset="0"/>
              </a:rPr>
              <a:t>matplotlib.pyplot </a:t>
            </a:r>
            <a:r>
              <a:rPr lang="vi-VN" sz="2500" dirty="0">
                <a:solidFill>
                  <a:srgbClr val="0000FF"/>
                </a:solidFill>
                <a:latin typeface="Cambria" panose="02040503050406030204" pitchFamily="18" charset="0"/>
                <a:ea typeface="Cambria" panose="02040503050406030204" pitchFamily="18" charset="0"/>
              </a:rPr>
              <a:t>as </a:t>
            </a:r>
            <a:r>
              <a:rPr lang="vi-VN" sz="2500" dirty="0">
                <a:solidFill>
                  <a:srgbClr val="000000"/>
                </a:solidFill>
                <a:latin typeface="Cambria" panose="02040503050406030204" pitchFamily="18" charset="0"/>
                <a:ea typeface="Cambria" panose="02040503050406030204" pitchFamily="18" charset="0"/>
              </a:rPr>
              <a:t>plt</a:t>
            </a:r>
            <a:br>
              <a:rPr lang="vi-VN" sz="2500" dirty="0">
                <a:solidFill>
                  <a:srgbClr val="000000"/>
                </a:solidFill>
                <a:latin typeface="Cambria" panose="02040503050406030204" pitchFamily="18" charset="0"/>
                <a:ea typeface="Cambria" panose="02040503050406030204" pitchFamily="18" charset="0"/>
              </a:rPr>
            </a:br>
            <a:r>
              <a:rPr lang="vi-VN" sz="2500" dirty="0">
                <a:solidFill>
                  <a:srgbClr val="008000"/>
                </a:solidFill>
                <a:latin typeface="Cambria" panose="02040503050406030204" pitchFamily="18" charset="0"/>
                <a:ea typeface="Cambria" panose="02040503050406030204" pitchFamily="18" charset="0"/>
              </a:rPr>
              <a:t># dữ liệu cột</a:t>
            </a:r>
            <a:br>
              <a:rPr lang="vi-VN" sz="2500" dirty="0">
                <a:solidFill>
                  <a:srgbClr val="008000"/>
                </a:solidFill>
                <a:latin typeface="Cambria" panose="02040503050406030204" pitchFamily="18" charset="0"/>
                <a:ea typeface="Cambria" panose="02040503050406030204" pitchFamily="18" charset="0"/>
              </a:rPr>
            </a:br>
            <a:r>
              <a:rPr lang="vi-VN" sz="2500" dirty="0">
                <a:solidFill>
                  <a:srgbClr val="000000"/>
                </a:solidFill>
                <a:latin typeface="Cambria" panose="02040503050406030204" pitchFamily="18" charset="0"/>
                <a:ea typeface="Cambria" panose="02040503050406030204" pitchFamily="18" charset="0"/>
              </a:rPr>
              <a:t>years=[</a:t>
            </a:r>
            <a:r>
              <a:rPr lang="vi-VN" sz="2500" dirty="0">
                <a:solidFill>
                  <a:srgbClr val="098658"/>
                </a:solidFill>
                <a:latin typeface="Cambria" panose="02040503050406030204" pitchFamily="18" charset="0"/>
                <a:ea typeface="Cambria" panose="02040503050406030204" pitchFamily="18" charset="0"/>
              </a:rPr>
              <a:t>2016</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2017</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2018</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2019</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2020</a:t>
            </a:r>
            <a:r>
              <a:rPr lang="vi-VN" sz="2500" dirty="0">
                <a:solidFill>
                  <a:srgbClr val="000000"/>
                </a:solidFill>
                <a:latin typeface="Cambria" panose="02040503050406030204" pitchFamily="18" charset="0"/>
                <a:ea typeface="Cambria" panose="02040503050406030204" pitchFamily="18" charset="0"/>
              </a:rPr>
              <a:t>]</a:t>
            </a:r>
            <a:br>
              <a:rPr lang="vi-VN" sz="2500" dirty="0">
                <a:solidFill>
                  <a:srgbClr val="000000"/>
                </a:solidFill>
                <a:latin typeface="Cambria" panose="02040503050406030204" pitchFamily="18" charset="0"/>
                <a:ea typeface="Cambria" panose="02040503050406030204" pitchFamily="18" charset="0"/>
              </a:rPr>
            </a:br>
            <a:r>
              <a:rPr lang="vi-VN" sz="2500" dirty="0">
                <a:solidFill>
                  <a:srgbClr val="008000"/>
                </a:solidFill>
                <a:latin typeface="Cambria" panose="02040503050406030204" pitchFamily="18" charset="0"/>
                <a:ea typeface="Cambria" panose="02040503050406030204" pitchFamily="18" charset="0"/>
              </a:rPr>
              <a:t># dữ liệu dòng</a:t>
            </a:r>
            <a:br>
              <a:rPr lang="vi-VN" sz="2500" dirty="0">
                <a:solidFill>
                  <a:srgbClr val="008000"/>
                </a:solidFill>
                <a:latin typeface="Cambria" panose="02040503050406030204" pitchFamily="18" charset="0"/>
                <a:ea typeface="Cambria" panose="02040503050406030204" pitchFamily="18" charset="0"/>
              </a:rPr>
            </a:br>
            <a:r>
              <a:rPr lang="vi-VN" sz="2500" dirty="0">
                <a:solidFill>
                  <a:srgbClr val="000000"/>
                </a:solidFill>
                <a:latin typeface="Cambria" panose="02040503050406030204" pitchFamily="18" charset="0"/>
                <a:ea typeface="Cambria" panose="02040503050406030204" pitchFamily="18" charset="0"/>
              </a:rPr>
              <a:t>total_income=[</a:t>
            </a:r>
            <a:r>
              <a:rPr lang="vi-VN" sz="2500" dirty="0">
                <a:solidFill>
                  <a:srgbClr val="098658"/>
                </a:solidFill>
                <a:latin typeface="Cambria" panose="02040503050406030204" pitchFamily="18" charset="0"/>
                <a:ea typeface="Cambria" panose="02040503050406030204" pitchFamily="18" charset="0"/>
              </a:rPr>
              <a:t>230</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250</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280</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320</a:t>
            </a:r>
            <a:r>
              <a:rPr lang="vi-VN" sz="2500" dirty="0">
                <a:solidFill>
                  <a:srgbClr val="000000"/>
                </a:solidFill>
                <a:latin typeface="Cambria" panose="02040503050406030204" pitchFamily="18" charset="0"/>
                <a:ea typeface="Cambria" panose="02040503050406030204" pitchFamily="18" charset="0"/>
              </a:rPr>
              <a:t>,</a:t>
            </a:r>
            <a:r>
              <a:rPr lang="vi-VN" sz="2500" dirty="0">
                <a:solidFill>
                  <a:srgbClr val="098658"/>
                </a:solidFill>
                <a:latin typeface="Cambria" panose="02040503050406030204" pitchFamily="18" charset="0"/>
                <a:ea typeface="Cambria" panose="02040503050406030204" pitchFamily="18" charset="0"/>
              </a:rPr>
              <a:t>328</a:t>
            </a:r>
            <a:r>
              <a:rPr lang="vi-VN" sz="2500" dirty="0">
                <a:solidFill>
                  <a:srgbClr val="000000"/>
                </a:solidFill>
                <a:latin typeface="Cambria" panose="02040503050406030204" pitchFamily="18" charset="0"/>
                <a:ea typeface="Cambria" panose="02040503050406030204" pitchFamily="18" charset="0"/>
              </a:rPr>
              <a:t>]</a:t>
            </a:r>
            <a:br>
              <a:rPr lang="vi-VN" sz="2500" dirty="0">
                <a:solidFill>
                  <a:srgbClr val="000000"/>
                </a:solidFill>
                <a:latin typeface="Cambria" panose="02040503050406030204" pitchFamily="18" charset="0"/>
                <a:ea typeface="Cambria" panose="02040503050406030204" pitchFamily="18" charset="0"/>
              </a:rPr>
            </a:br>
            <a:r>
              <a:rPr lang="vi-VN" sz="2500" dirty="0">
                <a:solidFill>
                  <a:srgbClr val="008000"/>
                </a:solidFill>
                <a:latin typeface="Cambria" panose="02040503050406030204" pitchFamily="18" charset="0"/>
                <a:ea typeface="Cambria" panose="02040503050406030204" pitchFamily="18" charset="0"/>
              </a:rPr>
              <a:t># vẽ biểu đồ thanh màu đỏ</a:t>
            </a:r>
            <a:br>
              <a:rPr lang="vi-VN" sz="2500" dirty="0">
                <a:solidFill>
                  <a:srgbClr val="008000"/>
                </a:solidFill>
                <a:latin typeface="Cambria" panose="02040503050406030204" pitchFamily="18" charset="0"/>
                <a:ea typeface="Cambria" panose="02040503050406030204" pitchFamily="18" charset="0"/>
              </a:rPr>
            </a:br>
            <a:r>
              <a:rPr lang="vi-VN" sz="2500" dirty="0">
                <a:solidFill>
                  <a:srgbClr val="000000"/>
                </a:solidFill>
                <a:latin typeface="Cambria" panose="02040503050406030204" pitchFamily="18" charset="0"/>
                <a:ea typeface="Cambria" panose="02040503050406030204" pitchFamily="18" charset="0"/>
              </a:rPr>
              <a:t>plt.</a:t>
            </a:r>
            <a:r>
              <a:rPr lang="vi-VN" sz="2500" b="1" dirty="0">
                <a:solidFill>
                  <a:srgbClr val="FF0000"/>
                </a:solidFill>
                <a:latin typeface="Cambria" panose="02040503050406030204" pitchFamily="18" charset="0"/>
                <a:ea typeface="Cambria" panose="02040503050406030204" pitchFamily="18" charset="0"/>
              </a:rPr>
              <a:t>bar</a:t>
            </a:r>
            <a:r>
              <a:rPr lang="vi-VN" sz="2500" dirty="0">
                <a:solidFill>
                  <a:srgbClr val="000000"/>
                </a:solidFill>
                <a:latin typeface="Cambria" panose="02040503050406030204" pitchFamily="18" charset="0"/>
                <a:ea typeface="Cambria" panose="02040503050406030204" pitchFamily="18" charset="0"/>
              </a:rPr>
              <a:t>(years,total_income,color=</a:t>
            </a:r>
            <a:r>
              <a:rPr lang="vi-VN" sz="2500" dirty="0">
                <a:solidFill>
                  <a:srgbClr val="A31515"/>
                </a:solidFill>
                <a:latin typeface="Cambria" panose="02040503050406030204" pitchFamily="18" charset="0"/>
                <a:ea typeface="Cambria" panose="02040503050406030204" pitchFamily="18" charset="0"/>
              </a:rPr>
              <a:t>'red'</a:t>
            </a:r>
            <a:r>
              <a:rPr lang="vi-VN" sz="2500" dirty="0">
                <a:solidFill>
                  <a:srgbClr val="000000"/>
                </a:solidFill>
                <a:latin typeface="Cambria" panose="02040503050406030204" pitchFamily="18" charset="0"/>
                <a:ea typeface="Cambria" panose="02040503050406030204" pitchFamily="18" charset="0"/>
              </a:rPr>
              <a:t>)</a:t>
            </a:r>
            <a:br>
              <a:rPr lang="vi-VN" sz="2500" dirty="0">
                <a:solidFill>
                  <a:srgbClr val="000000"/>
                </a:solidFill>
                <a:latin typeface="Cambria" panose="02040503050406030204" pitchFamily="18" charset="0"/>
                <a:ea typeface="Cambria" panose="02040503050406030204" pitchFamily="18" charset="0"/>
              </a:rPr>
            </a:br>
            <a:r>
              <a:rPr lang="vi-VN" sz="2500" dirty="0">
                <a:solidFill>
                  <a:srgbClr val="000000"/>
                </a:solidFill>
                <a:latin typeface="Cambria" panose="02040503050406030204" pitchFamily="18" charset="0"/>
                <a:ea typeface="Cambria" panose="02040503050406030204" pitchFamily="18" charset="0"/>
              </a:rPr>
              <a:t>plt.title(</a:t>
            </a:r>
            <a:r>
              <a:rPr lang="vi-VN" sz="2500" dirty="0">
                <a:solidFill>
                  <a:srgbClr val="A31515"/>
                </a:solidFill>
                <a:latin typeface="Cambria" panose="02040503050406030204" pitchFamily="18" charset="0"/>
                <a:ea typeface="Cambria" panose="02040503050406030204" pitchFamily="18" charset="0"/>
              </a:rPr>
              <a:t>'Biểu đồ tổng thu nhập 5 năm gần đây'</a:t>
            </a:r>
            <a:r>
              <a:rPr lang="vi-VN" sz="2500" dirty="0">
                <a:solidFill>
                  <a:srgbClr val="000000"/>
                </a:solidFill>
                <a:latin typeface="Cambria" panose="02040503050406030204" pitchFamily="18" charset="0"/>
                <a:ea typeface="Cambria" panose="02040503050406030204" pitchFamily="18" charset="0"/>
              </a:rPr>
              <a:t>)</a:t>
            </a:r>
            <a:br>
              <a:rPr lang="vi-VN" sz="2500" dirty="0">
                <a:solidFill>
                  <a:srgbClr val="000000"/>
                </a:solidFill>
                <a:latin typeface="Cambria" panose="02040503050406030204" pitchFamily="18" charset="0"/>
                <a:ea typeface="Cambria" panose="02040503050406030204" pitchFamily="18" charset="0"/>
              </a:rPr>
            </a:br>
            <a:r>
              <a:rPr lang="vi-VN" sz="2500" dirty="0">
                <a:solidFill>
                  <a:srgbClr val="000000"/>
                </a:solidFill>
                <a:latin typeface="Cambria" panose="02040503050406030204" pitchFamily="18" charset="0"/>
                <a:ea typeface="Cambria" panose="02040503050406030204" pitchFamily="18" charset="0"/>
              </a:rPr>
              <a:t>plt.xlabel(</a:t>
            </a:r>
            <a:r>
              <a:rPr lang="vi-VN" sz="2500" dirty="0">
                <a:solidFill>
                  <a:srgbClr val="A31515"/>
                </a:solidFill>
                <a:latin typeface="Cambria" panose="02040503050406030204" pitchFamily="18" charset="0"/>
                <a:ea typeface="Cambria" panose="02040503050406030204" pitchFamily="18" charset="0"/>
              </a:rPr>
              <a:t>'Năm'</a:t>
            </a:r>
            <a:r>
              <a:rPr lang="vi-VN" sz="2500" dirty="0">
                <a:solidFill>
                  <a:srgbClr val="000000"/>
                </a:solidFill>
                <a:latin typeface="Cambria" panose="02040503050406030204" pitchFamily="18" charset="0"/>
                <a:ea typeface="Cambria" panose="02040503050406030204" pitchFamily="18" charset="0"/>
              </a:rPr>
              <a:t>)</a:t>
            </a:r>
            <a:br>
              <a:rPr lang="vi-VN" sz="2500" dirty="0">
                <a:solidFill>
                  <a:srgbClr val="000000"/>
                </a:solidFill>
                <a:latin typeface="Cambria" panose="02040503050406030204" pitchFamily="18" charset="0"/>
                <a:ea typeface="Cambria" panose="02040503050406030204" pitchFamily="18" charset="0"/>
              </a:rPr>
            </a:br>
            <a:r>
              <a:rPr lang="vi-VN" sz="2500" dirty="0">
                <a:solidFill>
                  <a:srgbClr val="000000"/>
                </a:solidFill>
                <a:latin typeface="Cambria" panose="02040503050406030204" pitchFamily="18" charset="0"/>
                <a:ea typeface="Cambria" panose="02040503050406030204" pitchFamily="18" charset="0"/>
              </a:rPr>
              <a:t>plt.ylabel(</a:t>
            </a:r>
            <a:r>
              <a:rPr lang="vi-VN" sz="2500" dirty="0">
                <a:solidFill>
                  <a:srgbClr val="A31515"/>
                </a:solidFill>
                <a:latin typeface="Cambria" panose="02040503050406030204" pitchFamily="18" charset="0"/>
                <a:ea typeface="Cambria" panose="02040503050406030204" pitchFamily="18" charset="0"/>
              </a:rPr>
              <a:t>'Thu nhập (triệu)'</a:t>
            </a:r>
            <a:r>
              <a:rPr lang="vi-VN" sz="2500" dirty="0">
                <a:solidFill>
                  <a:srgbClr val="000000"/>
                </a:solidFill>
                <a:latin typeface="Cambria" panose="02040503050406030204" pitchFamily="18" charset="0"/>
                <a:ea typeface="Cambria" panose="02040503050406030204" pitchFamily="18" charset="0"/>
              </a:rPr>
              <a:t>)</a:t>
            </a:r>
            <a:br>
              <a:rPr lang="vi-VN" sz="2500" dirty="0">
                <a:solidFill>
                  <a:srgbClr val="000000"/>
                </a:solidFill>
                <a:latin typeface="Cambria" panose="02040503050406030204" pitchFamily="18" charset="0"/>
                <a:ea typeface="Cambria" panose="02040503050406030204" pitchFamily="18" charset="0"/>
              </a:rPr>
            </a:br>
            <a:r>
              <a:rPr lang="vi-VN" sz="2500" dirty="0">
                <a:solidFill>
                  <a:srgbClr val="000000"/>
                </a:solidFill>
                <a:latin typeface="Cambria" panose="02040503050406030204" pitchFamily="18" charset="0"/>
                <a:ea typeface="Cambria" panose="02040503050406030204" pitchFamily="18" charset="0"/>
              </a:rPr>
              <a:t>plt.show()</a:t>
            </a:r>
            <a:r>
              <a:rPr lang="vi-VN" sz="2500" dirty="0">
                <a:latin typeface="Cambria" panose="02040503050406030204" pitchFamily="18" charset="0"/>
                <a:ea typeface="Cambria" panose="02040503050406030204" pitchFamily="18" charset="0"/>
              </a:rPr>
              <a:t> </a:t>
            </a:r>
            <a:br>
              <a:rPr lang="vi-VN" sz="2500" dirty="0">
                <a:latin typeface="Cambria" panose="02040503050406030204" pitchFamily="18" charset="0"/>
                <a:ea typeface="Cambria" panose="02040503050406030204" pitchFamily="18" charset="0"/>
              </a:rPr>
            </a:br>
            <a:endParaRPr lang="en-US" sz="2500" dirty="0">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a:blip r:embed="rId2"/>
          <a:stretch>
            <a:fillRect/>
          </a:stretch>
        </p:blipFill>
        <p:spPr>
          <a:xfrm>
            <a:off x="6507140" y="877747"/>
            <a:ext cx="5501245" cy="4192439"/>
          </a:xfrm>
          <a:prstGeom prst="rect">
            <a:avLst/>
          </a:prstGeom>
        </p:spPr>
      </p:pic>
    </p:spTree>
    <p:extLst>
      <p:ext uri="{BB962C8B-B14F-4D97-AF65-F5344CB8AC3E}">
        <p14:creationId xmlns:p14="http://schemas.microsoft.com/office/powerpoint/2010/main" val="8466207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MATPLOTLID</a:t>
            </a:r>
          </a:p>
        </p:txBody>
      </p:sp>
      <p:sp>
        <p:nvSpPr>
          <p:cNvPr id="11" name="Content Placeholder 2">
            <a:extLst>
              <a:ext uri="{FF2B5EF4-FFF2-40B4-BE49-F238E27FC236}">
                <a16:creationId xmlns:a16="http://schemas.microsoft.com/office/drawing/2014/main" id="{D84E1B89-45F1-4C39-88F0-3A380DA733A9}"/>
              </a:ext>
            </a:extLst>
          </p:cNvPr>
          <p:cNvSpPr>
            <a:spLocks noGrp="1"/>
          </p:cNvSpPr>
          <p:nvPr>
            <p:ph idx="1"/>
          </p:nvPr>
        </p:nvSpPr>
        <p:spPr>
          <a:xfrm>
            <a:off x="79513" y="721084"/>
            <a:ext cx="8229600" cy="479356"/>
          </a:xfrm>
        </p:spPr>
        <p:txBody>
          <a:bodyPr>
            <a:noAutofit/>
          </a:bodyPr>
          <a:lstStyle/>
          <a:p>
            <a:pPr marL="0" lvl="1" indent="0" algn="just">
              <a:spcBef>
                <a:spcPts val="580"/>
              </a:spcBef>
              <a:buClr>
                <a:srgbClr val="FF5A33"/>
              </a:buClr>
              <a:buNone/>
            </a:pPr>
            <a:r>
              <a:rPr lang="en-US" sz="2500" b="1" spc="-5" dirty="0" err="1">
                <a:latin typeface="Cambria" panose="02040503050406030204" pitchFamily="18" charset="0"/>
                <a:ea typeface="Cambria" panose="02040503050406030204" pitchFamily="18" charset="0"/>
                <a:cs typeface="Segoe UI"/>
              </a:rPr>
              <a:t>Ví</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dụ</a:t>
            </a:r>
            <a:r>
              <a:rPr lang="en-US" sz="2500" b="1" spc="-5" dirty="0">
                <a:latin typeface="Cambria" panose="02040503050406030204" pitchFamily="18" charset="0"/>
                <a:ea typeface="Cambria" panose="02040503050406030204" pitchFamily="18" charset="0"/>
                <a:cs typeface="Segoe UI"/>
              </a:rPr>
              <a:t> 2: </a:t>
            </a:r>
            <a:r>
              <a:rPr lang="en-US" sz="2500" b="1" spc="-5" dirty="0" err="1">
                <a:latin typeface="Cambria" panose="02040503050406030204" pitchFamily="18" charset="0"/>
                <a:ea typeface="Cambria" panose="02040503050406030204" pitchFamily="18" charset="0"/>
                <a:cs typeface="Segoe UI"/>
              </a:rPr>
              <a:t>Vẽ</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đồ</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thị</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thanh</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barh</a:t>
            </a:r>
            <a:r>
              <a:rPr lang="en-US" sz="2500" b="1" spc="-5" dirty="0">
                <a:latin typeface="Cambria" panose="02040503050406030204" pitchFamily="18" charset="0"/>
                <a:ea typeface="Cambria" panose="02040503050406030204" pitchFamily="18" charset="0"/>
                <a:cs typeface="Segoe UI"/>
              </a:rPr>
              <a:t>)</a:t>
            </a:r>
          </a:p>
        </p:txBody>
      </p:sp>
      <p:sp>
        <p:nvSpPr>
          <p:cNvPr id="3" name="Rectangle 2"/>
          <p:cNvSpPr/>
          <p:nvPr/>
        </p:nvSpPr>
        <p:spPr>
          <a:xfrm>
            <a:off x="183614" y="1163830"/>
            <a:ext cx="11758669" cy="4893647"/>
          </a:xfrm>
          <a:prstGeom prst="rect">
            <a:avLst/>
          </a:prstGeom>
        </p:spPr>
        <p:txBody>
          <a:bodyPr wrap="square">
            <a:spAutoFit/>
          </a:bodyPr>
          <a:lstStyle/>
          <a:p>
            <a:r>
              <a:rPr lang="vi-VN" sz="2400" dirty="0">
                <a:solidFill>
                  <a:srgbClr val="0000FF"/>
                </a:solidFill>
                <a:latin typeface="Cambria" panose="02040503050406030204" pitchFamily="18" charset="0"/>
                <a:ea typeface="Cambria" panose="02040503050406030204" pitchFamily="18" charset="0"/>
              </a:rPr>
              <a:t>import </a:t>
            </a:r>
            <a:r>
              <a:rPr lang="vi-VN" sz="2400" dirty="0">
                <a:solidFill>
                  <a:srgbClr val="000000"/>
                </a:solidFill>
                <a:latin typeface="Cambria" panose="02040503050406030204" pitchFamily="18" charset="0"/>
                <a:ea typeface="Cambria" panose="02040503050406030204" pitchFamily="18" charset="0"/>
              </a:rPr>
              <a:t>matplotlib.pyplot </a:t>
            </a:r>
            <a:r>
              <a:rPr lang="vi-VN" sz="2400" dirty="0">
                <a:solidFill>
                  <a:srgbClr val="0000FF"/>
                </a:solidFill>
                <a:latin typeface="Cambria" panose="02040503050406030204" pitchFamily="18" charset="0"/>
                <a:ea typeface="Cambria" panose="02040503050406030204" pitchFamily="18" charset="0"/>
              </a:rPr>
              <a:t>as </a:t>
            </a:r>
            <a:r>
              <a:rPr lang="vi-VN" sz="2400" dirty="0">
                <a:solidFill>
                  <a:srgbClr val="000000"/>
                </a:solidFill>
                <a:latin typeface="Cambria" panose="02040503050406030204" pitchFamily="18" charset="0"/>
                <a:ea typeface="Cambria" panose="02040503050406030204" pitchFamily="18" charset="0"/>
              </a:rPr>
              <a:t>plt</a:t>
            </a:r>
            <a:br>
              <a:rPr lang="vi-VN" sz="2400" dirty="0">
                <a:solidFill>
                  <a:srgbClr val="000000"/>
                </a:solidFill>
                <a:latin typeface="Cambria" panose="02040503050406030204" pitchFamily="18" charset="0"/>
                <a:ea typeface="Cambria" panose="02040503050406030204" pitchFamily="18" charset="0"/>
              </a:rPr>
            </a:br>
            <a:r>
              <a:rPr lang="vi-VN" sz="2400" dirty="0">
                <a:solidFill>
                  <a:srgbClr val="008000"/>
                </a:solidFill>
                <a:latin typeface="Cambria" panose="02040503050406030204" pitchFamily="18" charset="0"/>
                <a:ea typeface="Cambria" panose="02040503050406030204" pitchFamily="18" charset="0"/>
              </a:rPr>
              <a:t># dữ liệu cột</a:t>
            </a:r>
            <a:br>
              <a:rPr lang="vi-VN" sz="2400" dirty="0">
                <a:solidFill>
                  <a:srgbClr val="008000"/>
                </a:solidFill>
                <a:latin typeface="Cambria" panose="02040503050406030204" pitchFamily="18" charset="0"/>
                <a:ea typeface="Cambria" panose="02040503050406030204" pitchFamily="18" charset="0"/>
              </a:rPr>
            </a:br>
            <a:r>
              <a:rPr lang="vi-VN" sz="2400" dirty="0">
                <a:solidFill>
                  <a:srgbClr val="000000"/>
                </a:solidFill>
                <a:latin typeface="Cambria" panose="02040503050406030204" pitchFamily="18" charset="0"/>
                <a:ea typeface="Cambria" panose="02040503050406030204" pitchFamily="18" charset="0"/>
              </a:rPr>
              <a:t>years=[</a:t>
            </a:r>
            <a:r>
              <a:rPr lang="vi-VN" sz="2400" dirty="0">
                <a:solidFill>
                  <a:srgbClr val="098658"/>
                </a:solidFill>
                <a:latin typeface="Cambria" panose="02040503050406030204" pitchFamily="18" charset="0"/>
                <a:ea typeface="Cambria" panose="02040503050406030204" pitchFamily="18" charset="0"/>
              </a:rPr>
              <a:t>2016</a:t>
            </a:r>
            <a:r>
              <a:rPr lang="vi-VN" sz="2400" dirty="0">
                <a:solidFill>
                  <a:srgbClr val="000000"/>
                </a:solidFill>
                <a:latin typeface="Cambria" panose="02040503050406030204" pitchFamily="18" charset="0"/>
                <a:ea typeface="Cambria" panose="02040503050406030204" pitchFamily="18" charset="0"/>
              </a:rPr>
              <a:t>,</a:t>
            </a:r>
            <a:r>
              <a:rPr lang="vi-VN" sz="2400" dirty="0">
                <a:solidFill>
                  <a:srgbClr val="098658"/>
                </a:solidFill>
                <a:latin typeface="Cambria" panose="02040503050406030204" pitchFamily="18" charset="0"/>
                <a:ea typeface="Cambria" panose="02040503050406030204" pitchFamily="18" charset="0"/>
              </a:rPr>
              <a:t>2017</a:t>
            </a:r>
            <a:r>
              <a:rPr lang="vi-VN" sz="2400" dirty="0">
                <a:solidFill>
                  <a:srgbClr val="000000"/>
                </a:solidFill>
                <a:latin typeface="Cambria" panose="02040503050406030204" pitchFamily="18" charset="0"/>
                <a:ea typeface="Cambria" panose="02040503050406030204" pitchFamily="18" charset="0"/>
              </a:rPr>
              <a:t>,</a:t>
            </a:r>
            <a:r>
              <a:rPr lang="vi-VN" sz="2400" dirty="0">
                <a:solidFill>
                  <a:srgbClr val="098658"/>
                </a:solidFill>
                <a:latin typeface="Cambria" panose="02040503050406030204" pitchFamily="18" charset="0"/>
                <a:ea typeface="Cambria" panose="02040503050406030204" pitchFamily="18" charset="0"/>
              </a:rPr>
              <a:t>2018</a:t>
            </a:r>
            <a:r>
              <a:rPr lang="vi-VN" sz="2400" dirty="0">
                <a:solidFill>
                  <a:srgbClr val="000000"/>
                </a:solidFill>
                <a:latin typeface="Cambria" panose="02040503050406030204" pitchFamily="18" charset="0"/>
                <a:ea typeface="Cambria" panose="02040503050406030204" pitchFamily="18" charset="0"/>
              </a:rPr>
              <a:t>,</a:t>
            </a:r>
            <a:r>
              <a:rPr lang="vi-VN" sz="2400" dirty="0">
                <a:solidFill>
                  <a:srgbClr val="098658"/>
                </a:solidFill>
                <a:latin typeface="Cambria" panose="02040503050406030204" pitchFamily="18" charset="0"/>
                <a:ea typeface="Cambria" panose="02040503050406030204" pitchFamily="18" charset="0"/>
              </a:rPr>
              <a:t>2019</a:t>
            </a:r>
            <a:r>
              <a:rPr lang="vi-VN" sz="2400" dirty="0">
                <a:solidFill>
                  <a:srgbClr val="000000"/>
                </a:solidFill>
                <a:latin typeface="Cambria" panose="02040503050406030204" pitchFamily="18" charset="0"/>
                <a:ea typeface="Cambria" panose="02040503050406030204" pitchFamily="18" charset="0"/>
              </a:rPr>
              <a:t>,</a:t>
            </a:r>
            <a:r>
              <a:rPr lang="vi-VN" sz="2400" dirty="0">
                <a:solidFill>
                  <a:srgbClr val="098658"/>
                </a:solidFill>
                <a:latin typeface="Cambria" panose="02040503050406030204" pitchFamily="18" charset="0"/>
                <a:ea typeface="Cambria" panose="02040503050406030204" pitchFamily="18" charset="0"/>
              </a:rPr>
              <a:t>2020</a:t>
            </a:r>
            <a:r>
              <a:rPr lang="vi-VN" sz="2400" dirty="0">
                <a:solidFill>
                  <a:srgbClr val="000000"/>
                </a:solidFill>
                <a:latin typeface="Cambria" panose="02040503050406030204" pitchFamily="18" charset="0"/>
                <a:ea typeface="Cambria" panose="02040503050406030204" pitchFamily="18" charset="0"/>
              </a:rPr>
              <a:t>]</a:t>
            </a:r>
            <a:br>
              <a:rPr lang="vi-VN" sz="2400" dirty="0">
                <a:solidFill>
                  <a:srgbClr val="000000"/>
                </a:solidFill>
                <a:latin typeface="Cambria" panose="02040503050406030204" pitchFamily="18" charset="0"/>
                <a:ea typeface="Cambria" panose="02040503050406030204" pitchFamily="18" charset="0"/>
              </a:rPr>
            </a:br>
            <a:r>
              <a:rPr lang="vi-VN" sz="2400" dirty="0">
                <a:solidFill>
                  <a:srgbClr val="008000"/>
                </a:solidFill>
                <a:latin typeface="Cambria" panose="02040503050406030204" pitchFamily="18" charset="0"/>
                <a:ea typeface="Cambria" panose="02040503050406030204" pitchFamily="18" charset="0"/>
              </a:rPr>
              <a:t># dữ liệu dòng</a:t>
            </a:r>
            <a:br>
              <a:rPr lang="vi-VN" sz="2400" dirty="0">
                <a:solidFill>
                  <a:srgbClr val="008000"/>
                </a:solidFill>
                <a:latin typeface="Cambria" panose="02040503050406030204" pitchFamily="18" charset="0"/>
                <a:ea typeface="Cambria" panose="02040503050406030204" pitchFamily="18" charset="0"/>
              </a:rPr>
            </a:br>
            <a:r>
              <a:rPr lang="vi-VN" sz="2400" dirty="0">
                <a:solidFill>
                  <a:srgbClr val="000000"/>
                </a:solidFill>
                <a:latin typeface="Cambria" panose="02040503050406030204" pitchFamily="18" charset="0"/>
                <a:ea typeface="Cambria" panose="02040503050406030204" pitchFamily="18" charset="0"/>
              </a:rPr>
              <a:t>total_income=[</a:t>
            </a:r>
            <a:r>
              <a:rPr lang="vi-VN" sz="2400" dirty="0">
                <a:solidFill>
                  <a:srgbClr val="098658"/>
                </a:solidFill>
                <a:latin typeface="Cambria" panose="02040503050406030204" pitchFamily="18" charset="0"/>
                <a:ea typeface="Cambria" panose="02040503050406030204" pitchFamily="18" charset="0"/>
              </a:rPr>
              <a:t>230</a:t>
            </a:r>
            <a:r>
              <a:rPr lang="vi-VN" sz="2400" dirty="0">
                <a:solidFill>
                  <a:srgbClr val="000000"/>
                </a:solidFill>
                <a:latin typeface="Cambria" panose="02040503050406030204" pitchFamily="18" charset="0"/>
                <a:ea typeface="Cambria" panose="02040503050406030204" pitchFamily="18" charset="0"/>
              </a:rPr>
              <a:t>,</a:t>
            </a:r>
            <a:r>
              <a:rPr lang="vi-VN" sz="2400" dirty="0">
                <a:solidFill>
                  <a:srgbClr val="098658"/>
                </a:solidFill>
                <a:latin typeface="Cambria" panose="02040503050406030204" pitchFamily="18" charset="0"/>
                <a:ea typeface="Cambria" panose="02040503050406030204" pitchFamily="18" charset="0"/>
              </a:rPr>
              <a:t>250</a:t>
            </a:r>
            <a:r>
              <a:rPr lang="vi-VN" sz="2400" dirty="0">
                <a:solidFill>
                  <a:srgbClr val="000000"/>
                </a:solidFill>
                <a:latin typeface="Cambria" panose="02040503050406030204" pitchFamily="18" charset="0"/>
                <a:ea typeface="Cambria" panose="02040503050406030204" pitchFamily="18" charset="0"/>
              </a:rPr>
              <a:t>,</a:t>
            </a:r>
            <a:r>
              <a:rPr lang="vi-VN" sz="2400" dirty="0">
                <a:solidFill>
                  <a:srgbClr val="098658"/>
                </a:solidFill>
                <a:latin typeface="Cambria" panose="02040503050406030204" pitchFamily="18" charset="0"/>
                <a:ea typeface="Cambria" panose="02040503050406030204" pitchFamily="18" charset="0"/>
              </a:rPr>
              <a:t>280</a:t>
            </a:r>
            <a:r>
              <a:rPr lang="vi-VN" sz="2400" dirty="0">
                <a:solidFill>
                  <a:srgbClr val="000000"/>
                </a:solidFill>
                <a:latin typeface="Cambria" panose="02040503050406030204" pitchFamily="18" charset="0"/>
                <a:ea typeface="Cambria" panose="02040503050406030204" pitchFamily="18" charset="0"/>
              </a:rPr>
              <a:t>,</a:t>
            </a:r>
            <a:r>
              <a:rPr lang="vi-VN" sz="2400" dirty="0">
                <a:solidFill>
                  <a:srgbClr val="098658"/>
                </a:solidFill>
                <a:latin typeface="Cambria" panose="02040503050406030204" pitchFamily="18" charset="0"/>
                <a:ea typeface="Cambria" panose="02040503050406030204" pitchFamily="18" charset="0"/>
              </a:rPr>
              <a:t>320</a:t>
            </a:r>
            <a:r>
              <a:rPr lang="vi-VN" sz="2400" dirty="0">
                <a:solidFill>
                  <a:srgbClr val="000000"/>
                </a:solidFill>
                <a:latin typeface="Cambria" panose="02040503050406030204" pitchFamily="18" charset="0"/>
                <a:ea typeface="Cambria" panose="02040503050406030204" pitchFamily="18" charset="0"/>
              </a:rPr>
              <a:t>,</a:t>
            </a:r>
            <a:r>
              <a:rPr lang="vi-VN" sz="2400" dirty="0">
                <a:solidFill>
                  <a:srgbClr val="098658"/>
                </a:solidFill>
                <a:latin typeface="Cambria" panose="02040503050406030204" pitchFamily="18" charset="0"/>
                <a:ea typeface="Cambria" panose="02040503050406030204" pitchFamily="18" charset="0"/>
              </a:rPr>
              <a:t>328</a:t>
            </a:r>
            <a:r>
              <a:rPr lang="vi-VN" sz="2400" dirty="0">
                <a:solidFill>
                  <a:srgbClr val="000000"/>
                </a:solidFill>
                <a:latin typeface="Cambria" panose="02040503050406030204" pitchFamily="18" charset="0"/>
                <a:ea typeface="Cambria" panose="02040503050406030204" pitchFamily="18" charset="0"/>
              </a:rPr>
              <a:t>]</a:t>
            </a:r>
            <a:br>
              <a:rPr lang="vi-VN" sz="2400" dirty="0">
                <a:solidFill>
                  <a:srgbClr val="000000"/>
                </a:solidFill>
                <a:latin typeface="Cambria" panose="02040503050406030204" pitchFamily="18" charset="0"/>
                <a:ea typeface="Cambria" panose="02040503050406030204" pitchFamily="18" charset="0"/>
              </a:rPr>
            </a:br>
            <a:r>
              <a:rPr lang="vi-VN" sz="2400" dirty="0">
                <a:solidFill>
                  <a:srgbClr val="008000"/>
                </a:solidFill>
                <a:latin typeface="Cambria" panose="02040503050406030204" pitchFamily="18" charset="0"/>
                <a:ea typeface="Cambria" panose="02040503050406030204" pitchFamily="18" charset="0"/>
              </a:rPr>
              <a:t># phương sai</a:t>
            </a:r>
            <a:br>
              <a:rPr lang="vi-VN" sz="2400" dirty="0">
                <a:solidFill>
                  <a:srgbClr val="008000"/>
                </a:solidFill>
                <a:latin typeface="Cambria" panose="02040503050406030204" pitchFamily="18" charset="0"/>
                <a:ea typeface="Cambria" panose="02040503050406030204" pitchFamily="18" charset="0"/>
              </a:rPr>
            </a:br>
            <a:r>
              <a:rPr lang="vi-VN" sz="2400" dirty="0">
                <a:solidFill>
                  <a:srgbClr val="000000"/>
                </a:solidFill>
                <a:latin typeface="Cambria" panose="02040503050406030204" pitchFamily="18" charset="0"/>
                <a:ea typeface="Cambria" panose="02040503050406030204" pitchFamily="18" charset="0"/>
              </a:rPr>
              <a:t>variance=[</a:t>
            </a:r>
            <a:r>
              <a:rPr lang="vi-VN" sz="2400" dirty="0">
                <a:solidFill>
                  <a:srgbClr val="098658"/>
                </a:solidFill>
                <a:latin typeface="Cambria" panose="02040503050406030204" pitchFamily="18" charset="0"/>
                <a:ea typeface="Cambria" panose="02040503050406030204" pitchFamily="18" charset="0"/>
              </a:rPr>
              <a:t>5</a:t>
            </a:r>
            <a:r>
              <a:rPr lang="vi-VN" sz="2400" dirty="0">
                <a:solidFill>
                  <a:srgbClr val="000000"/>
                </a:solidFill>
                <a:latin typeface="Cambria" panose="02040503050406030204" pitchFamily="18" charset="0"/>
                <a:ea typeface="Cambria" panose="02040503050406030204" pitchFamily="18" charset="0"/>
              </a:rPr>
              <a:t>,</a:t>
            </a:r>
            <a:r>
              <a:rPr lang="vi-VN" sz="2400" dirty="0">
                <a:solidFill>
                  <a:srgbClr val="098658"/>
                </a:solidFill>
                <a:latin typeface="Cambria" panose="02040503050406030204" pitchFamily="18" charset="0"/>
                <a:ea typeface="Cambria" panose="02040503050406030204" pitchFamily="18" charset="0"/>
              </a:rPr>
              <a:t>6</a:t>
            </a:r>
            <a:r>
              <a:rPr lang="vi-VN" sz="2400" dirty="0">
                <a:solidFill>
                  <a:srgbClr val="000000"/>
                </a:solidFill>
                <a:latin typeface="Cambria" panose="02040503050406030204" pitchFamily="18" charset="0"/>
                <a:ea typeface="Cambria" panose="02040503050406030204" pitchFamily="18" charset="0"/>
              </a:rPr>
              <a:t>,</a:t>
            </a:r>
            <a:r>
              <a:rPr lang="vi-VN" sz="2400" dirty="0">
                <a:solidFill>
                  <a:srgbClr val="098658"/>
                </a:solidFill>
                <a:latin typeface="Cambria" panose="02040503050406030204" pitchFamily="18" charset="0"/>
                <a:ea typeface="Cambria" panose="02040503050406030204" pitchFamily="18" charset="0"/>
              </a:rPr>
              <a:t>3</a:t>
            </a:r>
            <a:r>
              <a:rPr lang="vi-VN" sz="2400" dirty="0">
                <a:solidFill>
                  <a:srgbClr val="000000"/>
                </a:solidFill>
                <a:latin typeface="Cambria" panose="02040503050406030204" pitchFamily="18" charset="0"/>
                <a:ea typeface="Cambria" panose="02040503050406030204" pitchFamily="18" charset="0"/>
              </a:rPr>
              <a:t>,</a:t>
            </a:r>
            <a:r>
              <a:rPr lang="vi-VN" sz="2400" dirty="0">
                <a:solidFill>
                  <a:srgbClr val="098658"/>
                </a:solidFill>
                <a:latin typeface="Cambria" panose="02040503050406030204" pitchFamily="18" charset="0"/>
                <a:ea typeface="Cambria" panose="02040503050406030204" pitchFamily="18" charset="0"/>
              </a:rPr>
              <a:t>9</a:t>
            </a:r>
            <a:r>
              <a:rPr lang="vi-VN" sz="2400" dirty="0">
                <a:solidFill>
                  <a:srgbClr val="000000"/>
                </a:solidFill>
                <a:latin typeface="Cambria" panose="02040503050406030204" pitchFamily="18" charset="0"/>
                <a:ea typeface="Cambria" panose="02040503050406030204" pitchFamily="18" charset="0"/>
              </a:rPr>
              <a:t>,</a:t>
            </a:r>
            <a:r>
              <a:rPr lang="vi-VN" sz="2400" dirty="0">
                <a:solidFill>
                  <a:srgbClr val="098658"/>
                </a:solidFill>
                <a:latin typeface="Cambria" panose="02040503050406030204" pitchFamily="18" charset="0"/>
                <a:ea typeface="Cambria" panose="02040503050406030204" pitchFamily="18" charset="0"/>
              </a:rPr>
              <a:t>2</a:t>
            </a:r>
            <a:r>
              <a:rPr lang="vi-VN" sz="2400" dirty="0">
                <a:solidFill>
                  <a:srgbClr val="000000"/>
                </a:solidFill>
                <a:latin typeface="Cambria" panose="02040503050406030204" pitchFamily="18" charset="0"/>
                <a:ea typeface="Cambria" panose="02040503050406030204" pitchFamily="18" charset="0"/>
              </a:rPr>
              <a:t>]</a:t>
            </a:r>
            <a:br>
              <a:rPr lang="vi-VN" sz="2400" dirty="0">
                <a:solidFill>
                  <a:srgbClr val="000000"/>
                </a:solidFill>
                <a:latin typeface="Cambria" panose="02040503050406030204" pitchFamily="18" charset="0"/>
                <a:ea typeface="Cambria" panose="02040503050406030204" pitchFamily="18" charset="0"/>
              </a:rPr>
            </a:br>
            <a:r>
              <a:rPr lang="vi-VN" sz="2400" dirty="0">
                <a:solidFill>
                  <a:srgbClr val="008000"/>
                </a:solidFill>
                <a:latin typeface="Cambria" panose="02040503050406030204" pitchFamily="18" charset="0"/>
                <a:ea typeface="Cambria" panose="02040503050406030204" pitchFamily="18" charset="0"/>
              </a:rPr>
              <a:t># vẽ biểu đồ thanh màu đỏ</a:t>
            </a:r>
            <a:br>
              <a:rPr lang="vi-VN" sz="2400" dirty="0">
                <a:solidFill>
                  <a:srgbClr val="008000"/>
                </a:solidFill>
                <a:latin typeface="Cambria" panose="02040503050406030204" pitchFamily="18" charset="0"/>
                <a:ea typeface="Cambria" panose="02040503050406030204" pitchFamily="18" charset="0"/>
              </a:rPr>
            </a:br>
            <a:r>
              <a:rPr lang="vi-VN" sz="2400" dirty="0">
                <a:solidFill>
                  <a:srgbClr val="000000"/>
                </a:solidFill>
                <a:latin typeface="Cambria" panose="02040503050406030204" pitchFamily="18" charset="0"/>
                <a:ea typeface="Cambria" panose="02040503050406030204" pitchFamily="18" charset="0"/>
              </a:rPr>
              <a:t>plt.</a:t>
            </a:r>
            <a:r>
              <a:rPr lang="vi-VN" sz="2400" b="1" dirty="0">
                <a:solidFill>
                  <a:srgbClr val="FF0000"/>
                </a:solidFill>
                <a:latin typeface="Cambria" panose="02040503050406030204" pitchFamily="18" charset="0"/>
                <a:ea typeface="Cambria" panose="02040503050406030204" pitchFamily="18" charset="0"/>
              </a:rPr>
              <a:t>barh</a:t>
            </a:r>
            <a:r>
              <a:rPr lang="vi-VN" sz="2400" dirty="0">
                <a:solidFill>
                  <a:srgbClr val="000000"/>
                </a:solidFill>
                <a:latin typeface="Cambria" panose="02040503050406030204" pitchFamily="18" charset="0"/>
                <a:ea typeface="Cambria" panose="02040503050406030204" pitchFamily="18" charset="0"/>
              </a:rPr>
              <a:t>(years,total_income,xerr=variance,color=</a:t>
            </a:r>
            <a:r>
              <a:rPr lang="vi-VN" sz="2400" dirty="0">
                <a:solidFill>
                  <a:srgbClr val="A31515"/>
                </a:solidFill>
                <a:latin typeface="Cambria" panose="02040503050406030204" pitchFamily="18" charset="0"/>
                <a:ea typeface="Cambria" panose="02040503050406030204" pitchFamily="18" charset="0"/>
              </a:rPr>
              <a:t>'red'</a:t>
            </a:r>
            <a:r>
              <a:rPr lang="vi-VN" sz="2400" dirty="0">
                <a:solidFill>
                  <a:srgbClr val="000000"/>
                </a:solidFill>
                <a:latin typeface="Cambria" panose="02040503050406030204" pitchFamily="18" charset="0"/>
                <a:ea typeface="Cambria" panose="02040503050406030204" pitchFamily="18" charset="0"/>
              </a:rPr>
              <a:t>)</a:t>
            </a:r>
            <a:br>
              <a:rPr lang="vi-VN" sz="2400" dirty="0">
                <a:solidFill>
                  <a:srgbClr val="000000"/>
                </a:solidFill>
                <a:latin typeface="Cambria" panose="02040503050406030204" pitchFamily="18" charset="0"/>
                <a:ea typeface="Cambria" panose="02040503050406030204" pitchFamily="18" charset="0"/>
              </a:rPr>
            </a:br>
            <a:r>
              <a:rPr lang="vi-VN" sz="2400" dirty="0">
                <a:solidFill>
                  <a:srgbClr val="000000"/>
                </a:solidFill>
                <a:latin typeface="Cambria" panose="02040503050406030204" pitchFamily="18" charset="0"/>
                <a:ea typeface="Cambria" panose="02040503050406030204" pitchFamily="18" charset="0"/>
              </a:rPr>
              <a:t>plt.title(</a:t>
            </a:r>
            <a:r>
              <a:rPr lang="vi-VN" sz="2400" dirty="0">
                <a:solidFill>
                  <a:srgbClr val="A31515"/>
                </a:solidFill>
                <a:latin typeface="Cambria" panose="02040503050406030204" pitchFamily="18" charset="0"/>
                <a:ea typeface="Cambria" panose="02040503050406030204" pitchFamily="18" charset="0"/>
              </a:rPr>
              <a:t>'Biểu đồ tổng thu nhập 5 năm gần đây, có tính phương sai'</a:t>
            </a:r>
            <a:r>
              <a:rPr lang="vi-VN" sz="2400" dirty="0">
                <a:solidFill>
                  <a:srgbClr val="000000"/>
                </a:solidFill>
                <a:latin typeface="Cambria" panose="02040503050406030204" pitchFamily="18" charset="0"/>
                <a:ea typeface="Cambria" panose="02040503050406030204" pitchFamily="18" charset="0"/>
              </a:rPr>
              <a:t>)</a:t>
            </a:r>
            <a:br>
              <a:rPr lang="vi-VN" sz="2400" dirty="0">
                <a:solidFill>
                  <a:srgbClr val="000000"/>
                </a:solidFill>
                <a:latin typeface="Cambria" panose="02040503050406030204" pitchFamily="18" charset="0"/>
                <a:ea typeface="Cambria" panose="02040503050406030204" pitchFamily="18" charset="0"/>
              </a:rPr>
            </a:br>
            <a:r>
              <a:rPr lang="vi-VN" sz="2400" dirty="0">
                <a:solidFill>
                  <a:srgbClr val="000000"/>
                </a:solidFill>
                <a:latin typeface="Cambria" panose="02040503050406030204" pitchFamily="18" charset="0"/>
                <a:ea typeface="Cambria" panose="02040503050406030204" pitchFamily="18" charset="0"/>
              </a:rPr>
              <a:t>plt.ylabel(</a:t>
            </a:r>
            <a:r>
              <a:rPr lang="vi-VN" sz="2400" dirty="0">
                <a:solidFill>
                  <a:srgbClr val="A31515"/>
                </a:solidFill>
                <a:latin typeface="Cambria" panose="02040503050406030204" pitchFamily="18" charset="0"/>
                <a:ea typeface="Cambria" panose="02040503050406030204" pitchFamily="18" charset="0"/>
              </a:rPr>
              <a:t>'Năm'</a:t>
            </a:r>
            <a:r>
              <a:rPr lang="vi-VN" sz="2400" dirty="0">
                <a:solidFill>
                  <a:srgbClr val="000000"/>
                </a:solidFill>
                <a:latin typeface="Cambria" panose="02040503050406030204" pitchFamily="18" charset="0"/>
                <a:ea typeface="Cambria" panose="02040503050406030204" pitchFamily="18" charset="0"/>
              </a:rPr>
              <a:t>)</a:t>
            </a:r>
            <a:br>
              <a:rPr lang="vi-VN" sz="2400" dirty="0">
                <a:solidFill>
                  <a:srgbClr val="000000"/>
                </a:solidFill>
                <a:latin typeface="Cambria" panose="02040503050406030204" pitchFamily="18" charset="0"/>
                <a:ea typeface="Cambria" panose="02040503050406030204" pitchFamily="18" charset="0"/>
              </a:rPr>
            </a:br>
            <a:r>
              <a:rPr lang="vi-VN" sz="2400" dirty="0">
                <a:solidFill>
                  <a:srgbClr val="000000"/>
                </a:solidFill>
                <a:latin typeface="Cambria" panose="02040503050406030204" pitchFamily="18" charset="0"/>
                <a:ea typeface="Cambria" panose="02040503050406030204" pitchFamily="18" charset="0"/>
              </a:rPr>
              <a:t>plt.xlabel(</a:t>
            </a:r>
            <a:r>
              <a:rPr lang="vi-VN" sz="2400" dirty="0">
                <a:solidFill>
                  <a:srgbClr val="A31515"/>
                </a:solidFill>
                <a:latin typeface="Cambria" panose="02040503050406030204" pitchFamily="18" charset="0"/>
                <a:ea typeface="Cambria" panose="02040503050406030204" pitchFamily="18" charset="0"/>
              </a:rPr>
              <a:t>'Thu nhập (triệu)'</a:t>
            </a:r>
            <a:r>
              <a:rPr lang="vi-VN" sz="2400" dirty="0">
                <a:solidFill>
                  <a:srgbClr val="000000"/>
                </a:solidFill>
                <a:latin typeface="Cambria" panose="02040503050406030204" pitchFamily="18" charset="0"/>
                <a:ea typeface="Cambria" panose="02040503050406030204" pitchFamily="18" charset="0"/>
              </a:rPr>
              <a:t>)</a:t>
            </a:r>
            <a:br>
              <a:rPr lang="vi-VN" sz="2400" dirty="0">
                <a:solidFill>
                  <a:srgbClr val="000000"/>
                </a:solidFill>
                <a:latin typeface="Cambria" panose="02040503050406030204" pitchFamily="18" charset="0"/>
                <a:ea typeface="Cambria" panose="02040503050406030204" pitchFamily="18" charset="0"/>
              </a:rPr>
            </a:br>
            <a:r>
              <a:rPr lang="vi-VN" sz="2400" dirty="0">
                <a:solidFill>
                  <a:srgbClr val="000000"/>
                </a:solidFill>
                <a:latin typeface="Cambria" panose="02040503050406030204" pitchFamily="18" charset="0"/>
                <a:ea typeface="Cambria" panose="02040503050406030204" pitchFamily="18" charset="0"/>
              </a:rPr>
              <a:t>plt.show()</a:t>
            </a:r>
            <a:r>
              <a:rPr lang="vi-VN" sz="2400" dirty="0">
                <a:latin typeface="Cambria" panose="02040503050406030204" pitchFamily="18" charset="0"/>
                <a:ea typeface="Cambria" panose="02040503050406030204" pitchFamily="18" charset="0"/>
              </a:rPr>
              <a:t> </a:t>
            </a:r>
            <a:endParaRPr lang="en-US" sz="2400" dirty="0">
              <a:latin typeface="Cambria" panose="02040503050406030204" pitchFamily="18" charset="0"/>
              <a:ea typeface="Cambria" panose="02040503050406030204" pitchFamily="18" charset="0"/>
            </a:endParaRPr>
          </a:p>
        </p:txBody>
      </p:sp>
      <p:pic>
        <p:nvPicPr>
          <p:cNvPr id="5" name="Picture 4"/>
          <p:cNvPicPr>
            <a:picLocks noChangeAspect="1"/>
          </p:cNvPicPr>
          <p:nvPr/>
        </p:nvPicPr>
        <p:blipFill>
          <a:blip r:embed="rId2"/>
          <a:stretch>
            <a:fillRect/>
          </a:stretch>
        </p:blipFill>
        <p:spPr>
          <a:xfrm>
            <a:off x="7403334" y="810568"/>
            <a:ext cx="4351663" cy="3298994"/>
          </a:xfrm>
          <a:prstGeom prst="rect">
            <a:avLst/>
          </a:prstGeom>
        </p:spPr>
      </p:pic>
    </p:spTree>
    <p:extLst>
      <p:ext uri="{BB962C8B-B14F-4D97-AF65-F5344CB8AC3E}">
        <p14:creationId xmlns:p14="http://schemas.microsoft.com/office/powerpoint/2010/main" val="1719387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MATPLOTLID</a:t>
            </a:r>
          </a:p>
        </p:txBody>
      </p:sp>
      <p:sp>
        <p:nvSpPr>
          <p:cNvPr id="11" name="Content Placeholder 2">
            <a:extLst>
              <a:ext uri="{FF2B5EF4-FFF2-40B4-BE49-F238E27FC236}">
                <a16:creationId xmlns:a16="http://schemas.microsoft.com/office/drawing/2014/main" id="{D84E1B89-45F1-4C39-88F0-3A380DA733A9}"/>
              </a:ext>
            </a:extLst>
          </p:cNvPr>
          <p:cNvSpPr>
            <a:spLocks noGrp="1"/>
          </p:cNvSpPr>
          <p:nvPr>
            <p:ph idx="1"/>
          </p:nvPr>
        </p:nvSpPr>
        <p:spPr>
          <a:xfrm>
            <a:off x="79513" y="721084"/>
            <a:ext cx="8229600" cy="479356"/>
          </a:xfrm>
        </p:spPr>
        <p:txBody>
          <a:bodyPr>
            <a:noAutofit/>
          </a:bodyPr>
          <a:lstStyle/>
          <a:p>
            <a:pPr marL="0" lvl="1" indent="0" algn="just">
              <a:spcBef>
                <a:spcPts val="580"/>
              </a:spcBef>
              <a:buClr>
                <a:srgbClr val="FF5A33"/>
              </a:buClr>
              <a:buNone/>
            </a:pPr>
            <a:r>
              <a:rPr lang="en-US" sz="2500" b="1" spc="-5" dirty="0" err="1">
                <a:latin typeface="Cambria" panose="02040503050406030204" pitchFamily="18" charset="0"/>
                <a:ea typeface="Cambria" panose="02040503050406030204" pitchFamily="18" charset="0"/>
                <a:cs typeface="Segoe UI"/>
              </a:rPr>
              <a:t>Ví</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dụ</a:t>
            </a:r>
            <a:r>
              <a:rPr lang="en-US" sz="2500" b="1" spc="-5" dirty="0">
                <a:latin typeface="Cambria" panose="02040503050406030204" pitchFamily="18" charset="0"/>
                <a:ea typeface="Cambria" panose="02040503050406030204" pitchFamily="18" charset="0"/>
                <a:cs typeface="Segoe UI"/>
              </a:rPr>
              <a:t> 2: </a:t>
            </a:r>
            <a:r>
              <a:rPr lang="en-US" sz="2500" b="1" spc="-5" dirty="0" err="1">
                <a:latin typeface="Cambria" panose="02040503050406030204" pitchFamily="18" charset="0"/>
                <a:ea typeface="Cambria" panose="02040503050406030204" pitchFamily="18" charset="0"/>
                <a:cs typeface="Segoe UI"/>
              </a:rPr>
              <a:t>Vẽ</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đồ</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thị</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nhiều</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thanh</a:t>
            </a:r>
            <a:endParaRPr lang="en-US" sz="2500" b="1" spc="-5" dirty="0">
              <a:latin typeface="Cambria" panose="02040503050406030204" pitchFamily="18" charset="0"/>
              <a:ea typeface="Cambria" panose="02040503050406030204" pitchFamily="18" charset="0"/>
              <a:cs typeface="Segoe UI"/>
            </a:endParaRPr>
          </a:p>
        </p:txBody>
      </p:sp>
      <p:sp>
        <p:nvSpPr>
          <p:cNvPr id="2" name="Rectangle 1"/>
          <p:cNvSpPr/>
          <p:nvPr/>
        </p:nvSpPr>
        <p:spPr>
          <a:xfrm>
            <a:off x="205648" y="1084993"/>
            <a:ext cx="11758670" cy="5078313"/>
          </a:xfrm>
          <a:prstGeom prst="rect">
            <a:avLst/>
          </a:prstGeom>
        </p:spPr>
        <p:txBody>
          <a:bodyPr wrap="square">
            <a:spAutoFit/>
          </a:bodyPr>
          <a:lstStyle/>
          <a:p>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dữ</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liệu</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làm</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nhãn</a:t>
            </a:r>
            <a:br>
              <a:rPr lang="en-US" dirty="0">
                <a:solidFill>
                  <a:srgbClr val="008000"/>
                </a:solidFill>
                <a:latin typeface="Consolas" panose="020B0609020204030204" pitchFamily="49" charset="0"/>
              </a:rPr>
            </a:br>
            <a:r>
              <a:rPr lang="en-US" dirty="0">
                <a:solidFill>
                  <a:srgbClr val="000000"/>
                </a:solidFill>
                <a:latin typeface="Consolas" panose="020B0609020204030204" pitchFamily="49" charset="0"/>
              </a:rPr>
              <a:t>years=[</a:t>
            </a:r>
            <a:r>
              <a:rPr lang="en-US" dirty="0">
                <a:solidFill>
                  <a:srgbClr val="A31515"/>
                </a:solidFill>
                <a:latin typeface="Consolas" panose="020B0609020204030204" pitchFamily="49" charset="0"/>
              </a:rPr>
              <a:t>'2016'</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'2017'</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'2018'</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'2019'</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'2020'</a:t>
            </a:r>
            <a:r>
              <a:rPr lang="en-US" dirty="0">
                <a:solidFill>
                  <a:srgbClr val="000000"/>
                </a:solidFill>
                <a:latin typeface="Consolas" panose="020B0609020204030204" pitchFamily="49" charset="0"/>
              </a:rPr>
              <a:t>]</a:t>
            </a:r>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index=</a:t>
            </a:r>
            <a:r>
              <a:rPr lang="en-US" dirty="0" err="1">
                <a:solidFill>
                  <a:srgbClr val="000000"/>
                </a:solidFill>
                <a:latin typeface="Consolas" panose="020B0609020204030204" pitchFamily="49" charset="0"/>
              </a:rPr>
              <a:t>np.arange</a:t>
            </a:r>
            <a:r>
              <a:rPr lang="en-US" dirty="0">
                <a:solidFill>
                  <a:srgbClr val="000000"/>
                </a:solidFill>
                <a:latin typeface="Consolas" panose="020B0609020204030204" pitchFamily="49" charset="0"/>
              </a:rPr>
              <a:t>(</a:t>
            </a:r>
            <a:r>
              <a:rPr lang="en-US" dirty="0">
                <a:solidFill>
                  <a:srgbClr val="098658"/>
                </a:solidFill>
                <a:latin typeface="Consolas" panose="020B0609020204030204" pitchFamily="49" charset="0"/>
              </a:rPr>
              <a:t>5</a:t>
            </a:r>
            <a:r>
              <a:rPr lang="en-US" dirty="0">
                <a:solidFill>
                  <a:srgbClr val="000000"/>
                </a:solidFill>
                <a:latin typeface="Consolas" panose="020B0609020204030204" pitchFamily="49" charset="0"/>
              </a:rPr>
              <a:t>)</a:t>
            </a:r>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width=</a:t>
            </a:r>
            <a:r>
              <a:rPr lang="en-US" dirty="0">
                <a:solidFill>
                  <a:srgbClr val="098658"/>
                </a:solidFill>
                <a:latin typeface="Consolas" panose="020B0609020204030204" pitchFamily="49" charset="0"/>
              </a:rPr>
              <a:t>0.3</a:t>
            </a:r>
            <a:br>
              <a:rPr lang="en-US" dirty="0">
                <a:solidFill>
                  <a:srgbClr val="098658"/>
                </a:solidFill>
                <a:latin typeface="Consolas" panose="020B0609020204030204" pitchFamily="49" charset="0"/>
              </a:rPr>
            </a:b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dữ</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liệu</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dòng</a:t>
            </a:r>
            <a:br>
              <a:rPr lang="en-US" dirty="0">
                <a:solidFill>
                  <a:srgbClr val="008000"/>
                </a:solidFill>
                <a:latin typeface="Consolas" panose="020B0609020204030204" pitchFamily="49" charset="0"/>
              </a:rPr>
            </a:br>
            <a:r>
              <a:rPr lang="en-US" dirty="0" err="1">
                <a:solidFill>
                  <a:srgbClr val="000000"/>
                </a:solidFill>
                <a:latin typeface="Consolas" panose="020B0609020204030204" pitchFamily="49" charset="0"/>
              </a:rPr>
              <a:t>total_incomec</a:t>
            </a:r>
            <a:r>
              <a:rPr lang="en-US" dirty="0">
                <a:solidFill>
                  <a:srgbClr val="000000"/>
                </a:solidFill>
                <a:latin typeface="Consolas" panose="020B0609020204030204" pitchFamily="49" charset="0"/>
              </a:rPr>
              <a:t>=[</a:t>
            </a:r>
            <a:r>
              <a:rPr lang="en-US" dirty="0">
                <a:solidFill>
                  <a:srgbClr val="098658"/>
                </a:solidFill>
                <a:latin typeface="Consolas" panose="020B0609020204030204" pitchFamily="49" charset="0"/>
              </a:rPr>
              <a:t>230</a:t>
            </a:r>
            <a:r>
              <a:rPr lang="en-US" dirty="0">
                <a:solidFill>
                  <a:srgbClr val="000000"/>
                </a:solidFill>
                <a:latin typeface="Consolas" panose="020B0609020204030204" pitchFamily="49" charset="0"/>
              </a:rPr>
              <a:t>,</a:t>
            </a:r>
            <a:r>
              <a:rPr lang="en-US" dirty="0">
                <a:solidFill>
                  <a:srgbClr val="098658"/>
                </a:solidFill>
                <a:latin typeface="Consolas" panose="020B0609020204030204" pitchFamily="49" charset="0"/>
              </a:rPr>
              <a:t>250</a:t>
            </a:r>
            <a:r>
              <a:rPr lang="en-US" dirty="0">
                <a:solidFill>
                  <a:srgbClr val="000000"/>
                </a:solidFill>
                <a:latin typeface="Consolas" panose="020B0609020204030204" pitchFamily="49" charset="0"/>
              </a:rPr>
              <a:t>,</a:t>
            </a:r>
            <a:r>
              <a:rPr lang="en-US" dirty="0">
                <a:solidFill>
                  <a:srgbClr val="098658"/>
                </a:solidFill>
                <a:latin typeface="Consolas" panose="020B0609020204030204" pitchFamily="49" charset="0"/>
              </a:rPr>
              <a:t>280</a:t>
            </a:r>
            <a:r>
              <a:rPr lang="en-US" dirty="0">
                <a:solidFill>
                  <a:srgbClr val="000000"/>
                </a:solidFill>
                <a:latin typeface="Consolas" panose="020B0609020204030204" pitchFamily="49" charset="0"/>
              </a:rPr>
              <a:t>,</a:t>
            </a:r>
            <a:r>
              <a:rPr lang="en-US" dirty="0">
                <a:solidFill>
                  <a:srgbClr val="098658"/>
                </a:solidFill>
                <a:latin typeface="Consolas" panose="020B0609020204030204" pitchFamily="49" charset="0"/>
              </a:rPr>
              <a:t>320</a:t>
            </a:r>
            <a:r>
              <a:rPr lang="en-US" dirty="0">
                <a:solidFill>
                  <a:srgbClr val="000000"/>
                </a:solidFill>
                <a:latin typeface="Consolas" panose="020B0609020204030204" pitchFamily="49" charset="0"/>
              </a:rPr>
              <a:t>,</a:t>
            </a:r>
            <a:r>
              <a:rPr lang="en-US" dirty="0">
                <a:solidFill>
                  <a:srgbClr val="098658"/>
                </a:solidFill>
                <a:latin typeface="Consolas" panose="020B0609020204030204" pitchFamily="49" charset="0"/>
              </a:rPr>
              <a:t>328</a:t>
            </a:r>
            <a:r>
              <a:rPr lang="en-US" dirty="0">
                <a:solidFill>
                  <a:srgbClr val="000000"/>
                </a:solidFill>
                <a:latin typeface="Consolas" panose="020B0609020204030204" pitchFamily="49" charset="0"/>
              </a:rPr>
              <a:t>]</a:t>
            </a:r>
            <a:br>
              <a:rPr lang="en-US" dirty="0">
                <a:solidFill>
                  <a:srgbClr val="000000"/>
                </a:solidFill>
                <a:latin typeface="Consolas" panose="020B0609020204030204" pitchFamily="49" charset="0"/>
              </a:rPr>
            </a:br>
            <a:r>
              <a:rPr lang="en-US" dirty="0" err="1">
                <a:solidFill>
                  <a:srgbClr val="000000"/>
                </a:solidFill>
                <a:latin typeface="Consolas" panose="020B0609020204030204" pitchFamily="49" charset="0"/>
              </a:rPr>
              <a:t>total_incomev</a:t>
            </a:r>
            <a:r>
              <a:rPr lang="en-US" dirty="0">
                <a:solidFill>
                  <a:srgbClr val="000000"/>
                </a:solidFill>
                <a:latin typeface="Consolas" panose="020B0609020204030204" pitchFamily="49" charset="0"/>
              </a:rPr>
              <a:t>=[</a:t>
            </a:r>
            <a:r>
              <a:rPr lang="en-US" dirty="0">
                <a:solidFill>
                  <a:srgbClr val="098658"/>
                </a:solidFill>
                <a:latin typeface="Consolas" panose="020B0609020204030204" pitchFamily="49" charset="0"/>
              </a:rPr>
              <a:t>46</a:t>
            </a:r>
            <a:r>
              <a:rPr lang="en-US" dirty="0">
                <a:solidFill>
                  <a:srgbClr val="000000"/>
                </a:solidFill>
                <a:latin typeface="Consolas" panose="020B0609020204030204" pitchFamily="49" charset="0"/>
              </a:rPr>
              <a:t>,</a:t>
            </a:r>
            <a:r>
              <a:rPr lang="en-US" dirty="0">
                <a:solidFill>
                  <a:srgbClr val="098658"/>
                </a:solidFill>
                <a:latin typeface="Consolas" panose="020B0609020204030204" pitchFamily="49" charset="0"/>
              </a:rPr>
              <a:t>48</a:t>
            </a:r>
            <a:r>
              <a:rPr lang="en-US" dirty="0">
                <a:solidFill>
                  <a:srgbClr val="000000"/>
                </a:solidFill>
                <a:latin typeface="Consolas" panose="020B0609020204030204" pitchFamily="49" charset="0"/>
              </a:rPr>
              <a:t>,</a:t>
            </a:r>
            <a:r>
              <a:rPr lang="en-US" dirty="0">
                <a:solidFill>
                  <a:srgbClr val="098658"/>
                </a:solidFill>
                <a:latin typeface="Consolas" panose="020B0609020204030204" pitchFamily="49" charset="0"/>
              </a:rPr>
              <a:t>52</a:t>
            </a:r>
            <a:r>
              <a:rPr lang="en-US" dirty="0">
                <a:solidFill>
                  <a:srgbClr val="000000"/>
                </a:solidFill>
                <a:latin typeface="Consolas" panose="020B0609020204030204" pitchFamily="49" charset="0"/>
              </a:rPr>
              <a:t>,</a:t>
            </a:r>
            <a:r>
              <a:rPr lang="en-US" dirty="0">
                <a:solidFill>
                  <a:srgbClr val="098658"/>
                </a:solidFill>
                <a:latin typeface="Consolas" panose="020B0609020204030204" pitchFamily="49" charset="0"/>
              </a:rPr>
              <a:t>35</a:t>
            </a:r>
            <a:r>
              <a:rPr lang="en-US" dirty="0">
                <a:solidFill>
                  <a:srgbClr val="000000"/>
                </a:solidFill>
                <a:latin typeface="Consolas" panose="020B0609020204030204" pitchFamily="49" charset="0"/>
              </a:rPr>
              <a:t>,</a:t>
            </a:r>
            <a:r>
              <a:rPr lang="en-US" dirty="0">
                <a:solidFill>
                  <a:srgbClr val="098658"/>
                </a:solidFill>
                <a:latin typeface="Consolas" panose="020B0609020204030204" pitchFamily="49" charset="0"/>
              </a:rPr>
              <a:t>40</a:t>
            </a:r>
            <a:r>
              <a:rPr lang="en-US" dirty="0">
                <a:solidFill>
                  <a:srgbClr val="000000"/>
                </a:solidFill>
                <a:latin typeface="Consolas" panose="020B0609020204030204" pitchFamily="49" charset="0"/>
              </a:rPr>
              <a:t>]</a:t>
            </a:r>
            <a:br>
              <a:rPr lang="en-US" dirty="0">
                <a:solidFill>
                  <a:srgbClr val="000000"/>
                </a:solidFill>
                <a:latin typeface="Consolas" panose="020B0609020204030204" pitchFamily="49" charset="0"/>
              </a:rPr>
            </a:b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vẽ</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biểu</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đồ</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thanh</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màu</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đỏ</a:t>
            </a:r>
            <a:br>
              <a:rPr lang="en-US" dirty="0">
                <a:solidFill>
                  <a:srgbClr val="008000"/>
                </a:solidFill>
                <a:latin typeface="Consolas" panose="020B0609020204030204" pitchFamily="49" charset="0"/>
              </a:rPr>
            </a:br>
            <a:r>
              <a:rPr lang="en-US" dirty="0" err="1">
                <a:solidFill>
                  <a:srgbClr val="000000"/>
                </a:solidFill>
                <a:latin typeface="Consolas" panose="020B0609020204030204" pitchFamily="49" charset="0"/>
              </a:rPr>
              <a:t>plt.bar</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index,total_incomec,width,color</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red'</a:t>
            </a:r>
            <a:r>
              <a:rPr lang="en-US" dirty="0" err="1">
                <a:solidFill>
                  <a:srgbClr val="000000"/>
                </a:solidFill>
                <a:latin typeface="Consolas" panose="020B0609020204030204" pitchFamily="49" charset="0"/>
              </a:rPr>
              <a:t>,label</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Chồng</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br>
              <a:rPr lang="en-US" dirty="0">
                <a:solidFill>
                  <a:srgbClr val="000000"/>
                </a:solidFill>
                <a:latin typeface="Consolas" panose="020B0609020204030204" pitchFamily="49" charset="0"/>
              </a:rPr>
            </a:br>
            <a:r>
              <a:rPr lang="en-US" dirty="0" err="1">
                <a:solidFill>
                  <a:srgbClr val="000000"/>
                </a:solidFill>
                <a:latin typeface="Consolas" panose="020B0609020204030204" pitchFamily="49" charset="0"/>
              </a:rPr>
              <a:t>plt.bar</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index+width,total_incomev,width,color</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green'</a:t>
            </a:r>
            <a:r>
              <a:rPr lang="en-US" dirty="0" err="1">
                <a:solidFill>
                  <a:srgbClr val="000000"/>
                </a:solidFill>
                <a:latin typeface="Consolas" panose="020B0609020204030204" pitchFamily="49" charset="0"/>
              </a:rPr>
              <a:t>,label</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Vợ</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br>
              <a:rPr lang="en-US" dirty="0">
                <a:solidFill>
                  <a:srgbClr val="000000"/>
                </a:solidFill>
                <a:latin typeface="Consolas" panose="020B0609020204030204" pitchFamily="49" charset="0"/>
              </a:rPr>
            </a:b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thiết</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lập</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nhãn</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cho</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trục</a:t>
            </a:r>
            <a:r>
              <a:rPr lang="en-US" dirty="0">
                <a:solidFill>
                  <a:srgbClr val="008000"/>
                </a:solidFill>
                <a:latin typeface="Consolas" panose="020B0609020204030204" pitchFamily="49" charset="0"/>
              </a:rPr>
              <a:t> x, y, </a:t>
            </a:r>
            <a:r>
              <a:rPr lang="en-US" dirty="0" err="1">
                <a:solidFill>
                  <a:srgbClr val="008000"/>
                </a:solidFill>
                <a:latin typeface="Consolas" panose="020B0609020204030204" pitchFamily="49" charset="0"/>
              </a:rPr>
              <a:t>tiêu</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đề</a:t>
            </a:r>
            <a:br>
              <a:rPr lang="en-US" dirty="0">
                <a:solidFill>
                  <a:srgbClr val="008000"/>
                </a:solidFill>
                <a:latin typeface="Consolas" panose="020B0609020204030204" pitchFamily="49" charset="0"/>
              </a:rPr>
            </a:br>
            <a:r>
              <a:rPr lang="en-US" dirty="0" err="1">
                <a:solidFill>
                  <a:srgbClr val="000000"/>
                </a:solidFill>
                <a:latin typeface="Consolas" panose="020B0609020204030204" pitchFamily="49" charset="0"/>
              </a:rPr>
              <a:t>plt.title</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Biểu</a:t>
            </a:r>
            <a:r>
              <a:rPr lang="en-US" dirty="0">
                <a:solidFill>
                  <a:srgbClr val="A31515"/>
                </a:solidFill>
                <a:latin typeface="Consolas" panose="020B0609020204030204" pitchFamily="49" charset="0"/>
              </a:rPr>
              <a:t> </a:t>
            </a:r>
            <a:r>
              <a:rPr lang="en-US" dirty="0" err="1">
                <a:solidFill>
                  <a:srgbClr val="A31515"/>
                </a:solidFill>
                <a:latin typeface="Consolas" panose="020B0609020204030204" pitchFamily="49" charset="0"/>
              </a:rPr>
              <a:t>đồ</a:t>
            </a:r>
            <a:r>
              <a:rPr lang="en-US" dirty="0">
                <a:solidFill>
                  <a:srgbClr val="A31515"/>
                </a:solidFill>
                <a:latin typeface="Consolas" panose="020B0609020204030204" pitchFamily="49" charset="0"/>
              </a:rPr>
              <a:t> </a:t>
            </a:r>
            <a:r>
              <a:rPr lang="en-US" dirty="0" err="1">
                <a:solidFill>
                  <a:srgbClr val="A31515"/>
                </a:solidFill>
                <a:latin typeface="Consolas" panose="020B0609020204030204" pitchFamily="49" charset="0"/>
              </a:rPr>
              <a:t>tổng</a:t>
            </a:r>
            <a:r>
              <a:rPr lang="en-US" dirty="0">
                <a:solidFill>
                  <a:srgbClr val="A31515"/>
                </a:solidFill>
                <a:latin typeface="Consolas" panose="020B0609020204030204" pitchFamily="49" charset="0"/>
              </a:rPr>
              <a:t> </a:t>
            </a:r>
            <a:r>
              <a:rPr lang="en-US" dirty="0" err="1">
                <a:solidFill>
                  <a:srgbClr val="A31515"/>
                </a:solidFill>
                <a:latin typeface="Consolas" panose="020B0609020204030204" pitchFamily="49" charset="0"/>
              </a:rPr>
              <a:t>thu</a:t>
            </a:r>
            <a:r>
              <a:rPr lang="en-US" dirty="0">
                <a:solidFill>
                  <a:srgbClr val="A31515"/>
                </a:solidFill>
                <a:latin typeface="Consolas" panose="020B0609020204030204" pitchFamily="49" charset="0"/>
              </a:rPr>
              <a:t> </a:t>
            </a:r>
            <a:r>
              <a:rPr lang="en-US" dirty="0" err="1">
                <a:solidFill>
                  <a:srgbClr val="A31515"/>
                </a:solidFill>
                <a:latin typeface="Consolas" panose="020B0609020204030204" pitchFamily="49" charset="0"/>
              </a:rPr>
              <a:t>nhập</a:t>
            </a:r>
            <a:r>
              <a:rPr lang="en-US" dirty="0">
                <a:solidFill>
                  <a:srgbClr val="A31515"/>
                </a:solidFill>
                <a:latin typeface="Consolas" panose="020B0609020204030204" pitchFamily="49" charset="0"/>
              </a:rPr>
              <a:t> 5 </a:t>
            </a:r>
            <a:r>
              <a:rPr lang="en-US" dirty="0" err="1">
                <a:solidFill>
                  <a:srgbClr val="A31515"/>
                </a:solidFill>
                <a:latin typeface="Consolas" panose="020B0609020204030204" pitchFamily="49" charset="0"/>
              </a:rPr>
              <a:t>năm</a:t>
            </a:r>
            <a:r>
              <a:rPr lang="en-US" dirty="0">
                <a:solidFill>
                  <a:srgbClr val="A31515"/>
                </a:solidFill>
                <a:latin typeface="Consolas" panose="020B0609020204030204" pitchFamily="49" charset="0"/>
              </a:rPr>
              <a:t> </a:t>
            </a:r>
            <a:r>
              <a:rPr lang="en-US" dirty="0" err="1">
                <a:solidFill>
                  <a:srgbClr val="A31515"/>
                </a:solidFill>
                <a:latin typeface="Consolas" panose="020B0609020204030204" pitchFamily="49" charset="0"/>
              </a:rPr>
              <a:t>gần</a:t>
            </a:r>
            <a:r>
              <a:rPr lang="en-US" dirty="0">
                <a:solidFill>
                  <a:srgbClr val="A31515"/>
                </a:solidFill>
                <a:latin typeface="Consolas" panose="020B0609020204030204" pitchFamily="49" charset="0"/>
              </a:rPr>
              <a:t> </a:t>
            </a:r>
            <a:r>
              <a:rPr lang="en-US" dirty="0" err="1">
                <a:solidFill>
                  <a:srgbClr val="A31515"/>
                </a:solidFill>
                <a:latin typeface="Consolas" panose="020B0609020204030204" pitchFamily="49" charset="0"/>
              </a:rPr>
              <a:t>đây</a:t>
            </a:r>
            <a:r>
              <a:rPr lang="en-US" dirty="0">
                <a:solidFill>
                  <a:srgbClr val="A31515"/>
                </a:solidFill>
                <a:latin typeface="Consolas" panose="020B0609020204030204" pitchFamily="49" charset="0"/>
              </a:rPr>
              <a:t> </a:t>
            </a:r>
            <a:r>
              <a:rPr lang="en-US" dirty="0" err="1">
                <a:solidFill>
                  <a:srgbClr val="A31515"/>
                </a:solidFill>
                <a:latin typeface="Consolas" panose="020B0609020204030204" pitchFamily="49" charset="0"/>
              </a:rPr>
              <a:t>của</a:t>
            </a:r>
            <a:r>
              <a:rPr lang="en-US" dirty="0">
                <a:solidFill>
                  <a:srgbClr val="A31515"/>
                </a:solidFill>
                <a:latin typeface="Consolas" panose="020B0609020204030204" pitchFamily="49" charset="0"/>
              </a:rPr>
              <a:t> 2 </a:t>
            </a:r>
            <a:r>
              <a:rPr lang="en-US" dirty="0" err="1">
                <a:solidFill>
                  <a:srgbClr val="A31515"/>
                </a:solidFill>
                <a:latin typeface="Consolas" panose="020B0609020204030204" pitchFamily="49" charset="0"/>
              </a:rPr>
              <a:t>vợ</a:t>
            </a:r>
            <a:r>
              <a:rPr lang="en-US" dirty="0">
                <a:solidFill>
                  <a:srgbClr val="A31515"/>
                </a:solidFill>
                <a:latin typeface="Consolas" panose="020B0609020204030204" pitchFamily="49" charset="0"/>
              </a:rPr>
              <a:t> </a:t>
            </a:r>
            <a:r>
              <a:rPr lang="en-US" dirty="0" err="1">
                <a:solidFill>
                  <a:srgbClr val="A31515"/>
                </a:solidFill>
                <a:latin typeface="Consolas" panose="020B0609020204030204" pitchFamily="49" charset="0"/>
              </a:rPr>
              <a:t>chồng</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br>
              <a:rPr lang="en-US" dirty="0">
                <a:solidFill>
                  <a:srgbClr val="000000"/>
                </a:solidFill>
                <a:latin typeface="Consolas" panose="020B0609020204030204" pitchFamily="49" charset="0"/>
              </a:rPr>
            </a:br>
            <a:r>
              <a:rPr lang="en-US" dirty="0" err="1">
                <a:solidFill>
                  <a:srgbClr val="000000"/>
                </a:solidFill>
                <a:latin typeface="Consolas" panose="020B0609020204030204" pitchFamily="49" charset="0"/>
              </a:rPr>
              <a:t>plt.xlabel</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a:t>
            </a:r>
            <a:r>
              <a:rPr lang="en-US" dirty="0" err="1">
                <a:solidFill>
                  <a:srgbClr val="A31515"/>
                </a:solidFill>
                <a:latin typeface="Consolas" panose="020B0609020204030204" pitchFamily="49" charset="0"/>
              </a:rPr>
              <a:t>Năm</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br>
              <a:rPr lang="en-US" dirty="0">
                <a:solidFill>
                  <a:srgbClr val="000000"/>
                </a:solidFill>
                <a:latin typeface="Consolas" panose="020B0609020204030204" pitchFamily="49" charset="0"/>
              </a:rPr>
            </a:br>
            <a:r>
              <a:rPr lang="en-US" dirty="0" err="1">
                <a:solidFill>
                  <a:srgbClr val="000000"/>
                </a:solidFill>
                <a:latin typeface="Consolas" panose="020B0609020204030204" pitchFamily="49" charset="0"/>
              </a:rPr>
              <a:t>plt.ylabel</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'Thu </a:t>
            </a:r>
            <a:r>
              <a:rPr lang="en-US" dirty="0" err="1">
                <a:solidFill>
                  <a:srgbClr val="A31515"/>
                </a:solidFill>
                <a:latin typeface="Consolas" panose="020B0609020204030204" pitchFamily="49" charset="0"/>
              </a:rPr>
              <a:t>nhập</a:t>
            </a:r>
            <a:r>
              <a:rPr lang="en-US" dirty="0">
                <a:solidFill>
                  <a:srgbClr val="A31515"/>
                </a:solidFill>
                <a:latin typeface="Consolas" panose="020B0609020204030204" pitchFamily="49" charset="0"/>
              </a:rPr>
              <a:t> (</a:t>
            </a:r>
            <a:r>
              <a:rPr lang="en-US" dirty="0" err="1">
                <a:solidFill>
                  <a:srgbClr val="A31515"/>
                </a:solidFill>
                <a:latin typeface="Consolas" panose="020B0609020204030204" pitchFamily="49" charset="0"/>
              </a:rPr>
              <a:t>triệu</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br>
              <a:rPr lang="en-US" dirty="0">
                <a:solidFill>
                  <a:srgbClr val="000000"/>
                </a:solidFill>
                <a:latin typeface="Consolas" panose="020B0609020204030204" pitchFamily="49" charset="0"/>
              </a:rPr>
            </a:b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thiết</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lập</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đánh</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dấu</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cho</a:t>
            </a:r>
            <a:r>
              <a:rPr lang="en-US" dirty="0">
                <a:solidFill>
                  <a:srgbClr val="008000"/>
                </a:solidFill>
                <a:latin typeface="Consolas" panose="020B0609020204030204" pitchFamily="49" charset="0"/>
              </a:rPr>
              <a:t> </a:t>
            </a:r>
            <a:r>
              <a:rPr lang="en-US" dirty="0" err="1">
                <a:solidFill>
                  <a:srgbClr val="008000"/>
                </a:solidFill>
                <a:latin typeface="Consolas" panose="020B0609020204030204" pitchFamily="49" charset="0"/>
              </a:rPr>
              <a:t>trục</a:t>
            </a:r>
            <a:r>
              <a:rPr lang="en-US" dirty="0">
                <a:solidFill>
                  <a:srgbClr val="008000"/>
                </a:solidFill>
                <a:latin typeface="Consolas" panose="020B0609020204030204" pitchFamily="49" charset="0"/>
              </a:rPr>
              <a:t> x</a:t>
            </a:r>
            <a:br>
              <a:rPr lang="en-US" dirty="0">
                <a:solidFill>
                  <a:srgbClr val="008000"/>
                </a:solidFill>
                <a:latin typeface="Consolas" panose="020B0609020204030204" pitchFamily="49" charset="0"/>
              </a:rPr>
            </a:br>
            <a:r>
              <a:rPr lang="en-US" dirty="0" err="1">
                <a:solidFill>
                  <a:srgbClr val="000000"/>
                </a:solidFill>
                <a:latin typeface="Consolas" panose="020B0609020204030204" pitchFamily="49" charset="0"/>
              </a:rPr>
              <a:t>plt.xticks</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index+width</a:t>
            </a:r>
            <a:r>
              <a:rPr lang="en-US" dirty="0">
                <a:solidFill>
                  <a:srgbClr val="000000"/>
                </a:solidFill>
                <a:latin typeface="Consolas" panose="020B0609020204030204" pitchFamily="49" charset="0"/>
              </a:rPr>
              <a:t>/</a:t>
            </a:r>
            <a:r>
              <a:rPr lang="en-US" dirty="0">
                <a:solidFill>
                  <a:srgbClr val="098658"/>
                </a:solidFill>
                <a:latin typeface="Consolas" panose="020B0609020204030204" pitchFamily="49" charset="0"/>
              </a:rPr>
              <a:t>2</a:t>
            </a:r>
            <a:r>
              <a:rPr lang="en-US" dirty="0">
                <a:solidFill>
                  <a:srgbClr val="000000"/>
                </a:solidFill>
                <a:latin typeface="Consolas" panose="020B0609020204030204" pitchFamily="49" charset="0"/>
              </a:rPr>
              <a:t>,years)</a:t>
            </a:r>
            <a:br>
              <a:rPr lang="en-US" dirty="0">
                <a:solidFill>
                  <a:srgbClr val="000000"/>
                </a:solidFill>
                <a:latin typeface="Consolas" panose="020B0609020204030204" pitchFamily="49" charset="0"/>
              </a:rPr>
            </a:br>
            <a:r>
              <a:rPr lang="en-US" dirty="0" err="1">
                <a:solidFill>
                  <a:srgbClr val="000000"/>
                </a:solidFill>
                <a:latin typeface="Consolas" panose="020B0609020204030204" pitchFamily="49" charset="0"/>
              </a:rPr>
              <a:t>plt.legend</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loc</a:t>
            </a:r>
            <a:r>
              <a:rPr lang="en-US" dirty="0">
                <a:solidFill>
                  <a:srgbClr val="000000"/>
                </a:solidFill>
                <a:latin typeface="Consolas" panose="020B0609020204030204" pitchFamily="49" charset="0"/>
              </a:rPr>
              <a:t>=</a:t>
            </a:r>
            <a:r>
              <a:rPr lang="en-US" dirty="0">
                <a:solidFill>
                  <a:srgbClr val="A31515"/>
                </a:solidFill>
                <a:latin typeface="Consolas" panose="020B0609020204030204" pitchFamily="49" charset="0"/>
              </a:rPr>
              <a:t>'best'</a:t>
            </a:r>
            <a:r>
              <a:rPr lang="en-US" dirty="0">
                <a:solidFill>
                  <a:srgbClr val="000000"/>
                </a:solidFill>
                <a:latin typeface="Consolas" panose="020B0609020204030204" pitchFamily="49" charset="0"/>
              </a:rPr>
              <a:t>)</a:t>
            </a:r>
            <a:br>
              <a:rPr lang="en-US" dirty="0">
                <a:solidFill>
                  <a:srgbClr val="000000"/>
                </a:solidFill>
                <a:latin typeface="Consolas" panose="020B0609020204030204" pitchFamily="49" charset="0"/>
              </a:rPr>
            </a:br>
            <a:r>
              <a:rPr lang="en-US" dirty="0" err="1">
                <a:solidFill>
                  <a:srgbClr val="000000"/>
                </a:solidFill>
                <a:latin typeface="Consolas" panose="020B0609020204030204" pitchFamily="49" charset="0"/>
              </a:rPr>
              <a:t>plt.show</a:t>
            </a:r>
            <a:r>
              <a:rPr lang="en-US" dirty="0">
                <a:solidFill>
                  <a:srgbClr val="000000"/>
                </a:solidFill>
                <a:latin typeface="Consolas" panose="020B0609020204030204" pitchFamily="49" charset="0"/>
              </a:rPr>
              <a:t>()</a:t>
            </a:r>
            <a:r>
              <a:rPr lang="en-US" dirty="0"/>
              <a:t> </a:t>
            </a:r>
          </a:p>
        </p:txBody>
      </p:sp>
      <p:pic>
        <p:nvPicPr>
          <p:cNvPr id="4" name="Picture 3"/>
          <p:cNvPicPr>
            <a:picLocks noChangeAspect="1"/>
          </p:cNvPicPr>
          <p:nvPr/>
        </p:nvPicPr>
        <p:blipFill>
          <a:blip r:embed="rId2"/>
          <a:stretch>
            <a:fillRect/>
          </a:stretch>
        </p:blipFill>
        <p:spPr>
          <a:xfrm>
            <a:off x="8252047" y="691585"/>
            <a:ext cx="3769338" cy="2947512"/>
          </a:xfrm>
          <a:prstGeom prst="rect">
            <a:avLst/>
          </a:prstGeom>
        </p:spPr>
      </p:pic>
    </p:spTree>
    <p:extLst>
      <p:ext uri="{BB962C8B-B14F-4D97-AF65-F5344CB8AC3E}">
        <p14:creationId xmlns:p14="http://schemas.microsoft.com/office/powerpoint/2010/main" val="31948738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MATPLOTLID</a:t>
            </a: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202096" y="866221"/>
            <a:ext cx="8229600" cy="479356"/>
          </a:xfrm>
        </p:spPr>
        <p:txBody>
          <a:bodyPr>
            <a:noAutofit/>
          </a:bodyPr>
          <a:lstStyle/>
          <a:p>
            <a:pPr marL="0" lvl="1" indent="0" algn="just">
              <a:spcBef>
                <a:spcPts val="580"/>
              </a:spcBef>
              <a:buClr>
                <a:srgbClr val="FF5A33"/>
              </a:buClr>
              <a:buNone/>
            </a:pPr>
            <a:r>
              <a:rPr lang="en-US" sz="2500" b="1" spc="-5" dirty="0" err="1">
                <a:latin typeface="Cambria" panose="02040503050406030204" pitchFamily="18" charset="0"/>
                <a:ea typeface="Cambria" panose="02040503050406030204" pitchFamily="18" charset="0"/>
                <a:cs typeface="Segoe UI"/>
              </a:rPr>
              <a:t>Ví</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dụ</a:t>
            </a:r>
            <a:r>
              <a:rPr lang="en-US" sz="2500" b="1" spc="-5" dirty="0">
                <a:latin typeface="Cambria" panose="02040503050406030204" pitchFamily="18" charset="0"/>
                <a:ea typeface="Cambria" panose="02040503050406030204" pitchFamily="18" charset="0"/>
                <a:cs typeface="Segoe UI"/>
              </a:rPr>
              <a:t> 2: </a:t>
            </a:r>
            <a:r>
              <a:rPr lang="en-US" sz="2500" b="1" spc="-5" dirty="0" err="1">
                <a:latin typeface="Cambria" panose="02040503050406030204" pitchFamily="18" charset="0"/>
                <a:ea typeface="Cambria" panose="02040503050406030204" pitchFamily="18" charset="0"/>
                <a:cs typeface="Segoe UI"/>
              </a:rPr>
              <a:t>Vẽ</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đồ</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thị</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hình</a:t>
            </a:r>
            <a:r>
              <a:rPr lang="en-US" sz="2500" b="1" spc="-5" dirty="0">
                <a:latin typeface="Cambria" panose="02040503050406030204" pitchFamily="18" charset="0"/>
                <a:ea typeface="Cambria" panose="02040503050406030204" pitchFamily="18" charset="0"/>
                <a:cs typeface="Segoe UI"/>
              </a:rPr>
              <a:t> </a:t>
            </a:r>
            <a:r>
              <a:rPr lang="en-US" sz="2500" b="1" spc="-5" dirty="0" err="1">
                <a:latin typeface="Cambria" panose="02040503050406030204" pitchFamily="18" charset="0"/>
                <a:ea typeface="Cambria" panose="02040503050406030204" pitchFamily="18" charset="0"/>
                <a:cs typeface="Segoe UI"/>
              </a:rPr>
              <a:t>cột</a:t>
            </a:r>
            <a:r>
              <a:rPr lang="en-US" sz="2500" b="1" spc="-5" dirty="0">
                <a:latin typeface="Cambria" panose="02040503050406030204" pitchFamily="18" charset="0"/>
                <a:ea typeface="Cambria" panose="02040503050406030204" pitchFamily="18" charset="0"/>
                <a:cs typeface="Segoe UI"/>
              </a:rPr>
              <a:t>. </a:t>
            </a:r>
          </a:p>
        </p:txBody>
      </p:sp>
      <p:sp>
        <p:nvSpPr>
          <p:cNvPr id="12" name="Rectangle 1">
            <a:extLst>
              <a:ext uri="{FF2B5EF4-FFF2-40B4-BE49-F238E27FC236}">
                <a16:creationId xmlns:a16="http://schemas.microsoft.com/office/drawing/2014/main" id="{99734B03-E74A-2297-B9DA-38ACB6CCB8B3}"/>
              </a:ext>
            </a:extLst>
          </p:cNvPr>
          <p:cNvSpPr>
            <a:spLocks noChangeArrowheads="1"/>
          </p:cNvSpPr>
          <p:nvPr/>
        </p:nvSpPr>
        <p:spPr bwMode="auto">
          <a:xfrm>
            <a:off x="202096" y="1345577"/>
            <a:ext cx="6326100" cy="4801314"/>
          </a:xfrm>
          <a:prstGeom prst="rect">
            <a:avLst/>
          </a:prstGeom>
          <a:solidFill>
            <a:srgbClr val="FFFFFF"/>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vi-VN" sz="2800" dirty="0">
                <a:solidFill>
                  <a:srgbClr val="0000FF"/>
                </a:solidFill>
                <a:latin typeface="Cambria" panose="02040503050406030204" pitchFamily="18" charset="0"/>
                <a:ea typeface="Cambria" panose="02040503050406030204" pitchFamily="18" charset="0"/>
              </a:rPr>
              <a:t>import </a:t>
            </a:r>
            <a:r>
              <a:rPr lang="vi-VN" sz="2800" dirty="0">
                <a:solidFill>
                  <a:srgbClr val="000000"/>
                </a:solidFill>
                <a:latin typeface="Cambria" panose="02040503050406030204" pitchFamily="18" charset="0"/>
                <a:ea typeface="Cambria" panose="02040503050406030204" pitchFamily="18" charset="0"/>
              </a:rPr>
              <a:t>matplotlib.pyplot </a:t>
            </a:r>
            <a:r>
              <a:rPr lang="vi-VN" sz="2800" dirty="0">
                <a:solidFill>
                  <a:srgbClr val="0000FF"/>
                </a:solidFill>
                <a:latin typeface="Cambria" panose="02040503050406030204" pitchFamily="18" charset="0"/>
                <a:ea typeface="Cambria" panose="02040503050406030204" pitchFamily="18" charset="0"/>
              </a:rPr>
              <a:t>as </a:t>
            </a:r>
            <a:r>
              <a:rPr lang="vi-VN" sz="2800" dirty="0">
                <a:solidFill>
                  <a:srgbClr val="000000"/>
                </a:solidFill>
                <a:latin typeface="Cambria" panose="02040503050406030204" pitchFamily="18" charset="0"/>
                <a:ea typeface="Cambria" panose="02040503050406030204" pitchFamily="18" charset="0"/>
              </a:rPr>
              <a:t>plt</a:t>
            </a:r>
            <a:endParaRPr lang="en-US" sz="2800" dirty="0">
              <a:solidFill>
                <a:srgbClr val="000000"/>
              </a:solidFill>
              <a:latin typeface="Cambria" panose="02040503050406030204" pitchFamily="18" charset="0"/>
              <a:ea typeface="Cambria" panose="02040503050406030204" pitchFamily="18" charset="0"/>
            </a:endParaRPr>
          </a:p>
          <a:p>
            <a:pPr eaLnBrk="0" fontAlgn="base" hangingPunct="0">
              <a:spcBef>
                <a:spcPct val="0"/>
              </a:spcBef>
              <a:spcAft>
                <a:spcPct val="0"/>
              </a:spcAft>
            </a:pPr>
            <a:r>
              <a:rPr lang="en-US" sz="2800" dirty="0">
                <a:solidFill>
                  <a:srgbClr val="0000FF"/>
                </a:solidFill>
                <a:latin typeface="Cambria" panose="02040503050406030204" pitchFamily="18" charset="0"/>
                <a:ea typeface="Cambria" panose="02040503050406030204" pitchFamily="18" charset="0"/>
              </a:rPr>
              <a:t>import </a:t>
            </a:r>
            <a:r>
              <a:rPr lang="en-US" sz="2800" dirty="0" err="1">
                <a:solidFill>
                  <a:srgbClr val="000000"/>
                </a:solidFill>
                <a:latin typeface="Cambria" panose="02040503050406030204" pitchFamily="18" charset="0"/>
                <a:ea typeface="Cambria" panose="02040503050406030204" pitchFamily="18" charset="0"/>
              </a:rPr>
              <a:t>numpy</a:t>
            </a:r>
            <a:r>
              <a:rPr lang="en-US" sz="2800" dirty="0">
                <a:solidFill>
                  <a:srgbClr val="000000"/>
                </a:solidFill>
                <a:latin typeface="Cambria" panose="02040503050406030204" pitchFamily="18" charset="0"/>
                <a:ea typeface="Cambria" panose="02040503050406030204" pitchFamily="18" charset="0"/>
              </a:rPr>
              <a:t> </a:t>
            </a:r>
            <a:r>
              <a:rPr lang="en-US" sz="2800" dirty="0">
                <a:solidFill>
                  <a:srgbClr val="0000FF"/>
                </a:solidFill>
                <a:latin typeface="Cambria" panose="02040503050406030204" pitchFamily="18" charset="0"/>
                <a:ea typeface="Cambria" panose="02040503050406030204" pitchFamily="18" charset="0"/>
              </a:rPr>
              <a:t>as </a:t>
            </a:r>
            <a:r>
              <a:rPr lang="en-US" sz="2800" dirty="0">
                <a:solidFill>
                  <a:srgbClr val="000000"/>
                </a:solidFill>
                <a:latin typeface="Cambria" panose="02040503050406030204" pitchFamily="18" charset="0"/>
                <a:ea typeface="Cambria" panose="02040503050406030204" pitchFamily="18" charset="0"/>
              </a:rPr>
              <a:t>np</a:t>
            </a:r>
            <a:br>
              <a:rPr lang="vi-VN" sz="2800" dirty="0">
                <a:solidFill>
                  <a:srgbClr val="000000"/>
                </a:solidFill>
                <a:latin typeface="Cambria" panose="02040503050406030204" pitchFamily="18" charset="0"/>
                <a:ea typeface="Cambria" panose="02040503050406030204" pitchFamily="18" charset="0"/>
              </a:rPr>
            </a:b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x = [</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3</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6</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12</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y = [</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10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15</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7</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x2 = [</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4</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8</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13</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y2 = [</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4</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7</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9</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lang="vi-VN" sz="2400" dirty="0">
                <a:solidFill>
                  <a:srgbClr val="000000"/>
                </a:solidFill>
                <a:latin typeface="Cambria" panose="02040503050406030204" pitchFamily="18" charset="0"/>
                <a:ea typeface="Cambria" panose="02040503050406030204" pitchFamily="18" charset="0"/>
              </a:rPr>
              <a:t>plt</a:t>
            </a:r>
            <a:r>
              <a:rPr lang="en-US" sz="2400" dirty="0">
                <a:solidFill>
                  <a:srgbClr val="000000"/>
                </a:solidFill>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bar(x, y, </a:t>
            </a:r>
            <a:r>
              <a:rPr kumimoji="0" lang="en-US" altLang="en-US" sz="2500" b="0" i="0" u="none" strike="noStrike" cap="none" normalizeH="0" baseline="0" dirty="0">
                <a:ln>
                  <a:noFill/>
                </a:ln>
                <a:solidFill>
                  <a:srgbClr val="660099"/>
                </a:solidFill>
                <a:effectLst/>
                <a:latin typeface="Cambria" panose="02040503050406030204" pitchFamily="18" charset="0"/>
                <a:ea typeface="Cambria" panose="02040503050406030204" pitchFamily="18" charset="0"/>
              </a:rPr>
              <a:t>align </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'center'</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lang="vi-VN" sz="2400" dirty="0">
                <a:solidFill>
                  <a:srgbClr val="000000"/>
                </a:solidFill>
                <a:latin typeface="Cambria" panose="02040503050406030204" pitchFamily="18" charset="0"/>
                <a:ea typeface="Cambria" panose="02040503050406030204" pitchFamily="18" charset="0"/>
              </a:rPr>
              <a:t>plt</a:t>
            </a:r>
            <a:r>
              <a:rPr lang="en-US" sz="2400" dirty="0">
                <a:solidFill>
                  <a:srgbClr val="000000"/>
                </a:solidFill>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bar(x2, y2, </a:t>
            </a:r>
            <a:r>
              <a:rPr kumimoji="0" lang="en-US" altLang="en-US" sz="2500" b="0" i="0" u="none" strike="noStrike" cap="none" normalizeH="0" baseline="0" dirty="0">
                <a:ln>
                  <a:noFill/>
                </a:ln>
                <a:solidFill>
                  <a:srgbClr val="660099"/>
                </a:solidFill>
                <a:effectLst/>
                <a:latin typeface="Cambria" panose="02040503050406030204" pitchFamily="18" charset="0"/>
                <a:ea typeface="Cambria" panose="02040503050406030204" pitchFamily="18" charset="0"/>
              </a:rPr>
              <a:t>color </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'g'</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dirty="0">
                <a:ln>
                  <a:noFill/>
                </a:ln>
                <a:solidFill>
                  <a:srgbClr val="660099"/>
                </a:solidFill>
                <a:effectLst/>
                <a:latin typeface="Cambria" panose="02040503050406030204" pitchFamily="18" charset="0"/>
                <a:ea typeface="Cambria" panose="02040503050406030204" pitchFamily="18" charset="0"/>
              </a:rPr>
              <a:t>align </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'center'</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lang="vi-VN" sz="2400" dirty="0">
                <a:solidFill>
                  <a:srgbClr val="000000"/>
                </a:solidFill>
                <a:latin typeface="Cambria" panose="02040503050406030204" pitchFamily="18" charset="0"/>
                <a:ea typeface="Cambria" panose="02040503050406030204" pitchFamily="18" charset="0"/>
              </a:rPr>
              <a:t>plt</a:t>
            </a:r>
            <a:r>
              <a:rPr lang="en-US" sz="2400" dirty="0">
                <a:solidFill>
                  <a:srgbClr val="000000"/>
                </a:solidFill>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title(</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a:t>
            </a:r>
            <a:r>
              <a:rPr kumimoji="0" lang="en-US" altLang="en-US" sz="2500" b="1" i="0" u="none" strike="noStrike" cap="none" normalizeH="0" baseline="0" dirty="0" err="1">
                <a:ln>
                  <a:noFill/>
                </a:ln>
                <a:solidFill>
                  <a:srgbClr val="008000"/>
                </a:solidFill>
                <a:effectLst/>
                <a:latin typeface="Cambria" panose="02040503050406030204" pitchFamily="18" charset="0"/>
                <a:ea typeface="Cambria" panose="02040503050406030204" pitchFamily="18" charset="0"/>
              </a:rPr>
              <a:t>Biểu</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 </a:t>
            </a:r>
            <a:r>
              <a:rPr kumimoji="0" lang="en-US" altLang="en-US" sz="2500" b="1" i="0" u="none" strike="noStrike" cap="none" normalizeH="0" baseline="0" dirty="0" err="1">
                <a:ln>
                  <a:noFill/>
                </a:ln>
                <a:solidFill>
                  <a:srgbClr val="008000"/>
                </a:solidFill>
                <a:effectLst/>
                <a:latin typeface="Cambria" panose="02040503050406030204" pitchFamily="18" charset="0"/>
                <a:ea typeface="Cambria" panose="02040503050406030204" pitchFamily="18" charset="0"/>
              </a:rPr>
              <a:t>đồ</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 </a:t>
            </a:r>
            <a:r>
              <a:rPr kumimoji="0" lang="en-US" altLang="en-US" sz="2500" b="1" i="0" u="none" strike="noStrike" cap="none" normalizeH="0" baseline="0" dirty="0" err="1">
                <a:ln>
                  <a:noFill/>
                </a:ln>
                <a:solidFill>
                  <a:srgbClr val="008000"/>
                </a:solidFill>
                <a:effectLst/>
                <a:latin typeface="Cambria" panose="02040503050406030204" pitchFamily="18" charset="0"/>
                <a:ea typeface="Cambria" panose="02040503050406030204" pitchFamily="18" charset="0"/>
              </a:rPr>
              <a:t>hình</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 </a:t>
            </a:r>
            <a:r>
              <a:rPr kumimoji="0" lang="en-US" altLang="en-US" sz="2500" b="1" i="0" u="none" strike="noStrike" cap="none" normalizeH="0" baseline="0" dirty="0" err="1">
                <a:ln>
                  <a:noFill/>
                </a:ln>
                <a:solidFill>
                  <a:srgbClr val="008000"/>
                </a:solidFill>
                <a:effectLst/>
                <a:latin typeface="Cambria" panose="02040503050406030204" pitchFamily="18" charset="0"/>
                <a:ea typeface="Cambria" panose="02040503050406030204" pitchFamily="18" charset="0"/>
              </a:rPr>
              <a:t>cột</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lang="vi-VN" sz="2400" dirty="0">
                <a:solidFill>
                  <a:srgbClr val="000000"/>
                </a:solidFill>
                <a:latin typeface="Cambria" panose="02040503050406030204" pitchFamily="18" charset="0"/>
                <a:ea typeface="Cambria" panose="02040503050406030204" pitchFamily="18" charset="0"/>
              </a:rPr>
              <a:t>plt</a:t>
            </a:r>
            <a:r>
              <a:rPr lang="en-US" sz="2400" dirty="0">
                <a:solidFill>
                  <a:srgbClr val="000000"/>
                </a:solidFill>
                <a:latin typeface="Cambria" panose="02040503050406030204" pitchFamily="18" charset="0"/>
                <a:ea typeface="Cambria" panose="02040503050406030204" pitchFamily="18" charset="0"/>
              </a:rPr>
              <a:t>.</a:t>
            </a: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ylabel</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'Y axis'</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lang="vi-VN" sz="2400" dirty="0">
                <a:solidFill>
                  <a:srgbClr val="000000"/>
                </a:solidFill>
                <a:latin typeface="Cambria" panose="02040503050406030204" pitchFamily="18" charset="0"/>
                <a:ea typeface="Cambria" panose="02040503050406030204" pitchFamily="18" charset="0"/>
              </a:rPr>
              <a:t>plt</a:t>
            </a:r>
            <a:r>
              <a:rPr lang="en-US" sz="2400" dirty="0">
                <a:solidFill>
                  <a:srgbClr val="000000"/>
                </a:solidFill>
                <a:latin typeface="Cambria" panose="02040503050406030204" pitchFamily="18" charset="0"/>
                <a:ea typeface="Cambria" panose="02040503050406030204" pitchFamily="18" charset="0"/>
              </a:rPr>
              <a:t>.</a:t>
            </a: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xlabel</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'X axis'</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lang="vi-VN" sz="2400" dirty="0">
                <a:solidFill>
                  <a:srgbClr val="000000"/>
                </a:solidFill>
                <a:latin typeface="Cambria" panose="02040503050406030204" pitchFamily="18" charset="0"/>
                <a:ea typeface="Cambria" panose="02040503050406030204" pitchFamily="18" charset="0"/>
              </a:rPr>
              <a:t>plt</a:t>
            </a:r>
            <a:r>
              <a:rPr lang="en-US" sz="2400" dirty="0">
                <a:solidFill>
                  <a:srgbClr val="000000"/>
                </a:solidFill>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show()</a:t>
            </a:r>
            <a:endParaRPr kumimoji="0" lang="en-US" altLang="en-US" sz="25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2"/>
          <a:stretch>
            <a:fillRect/>
          </a:stretch>
        </p:blipFill>
        <p:spPr>
          <a:xfrm>
            <a:off x="6120393" y="981102"/>
            <a:ext cx="5755790" cy="3745496"/>
          </a:xfrm>
          <a:prstGeom prst="rect">
            <a:avLst/>
          </a:prstGeom>
        </p:spPr>
      </p:pic>
    </p:spTree>
    <p:extLst>
      <p:ext uri="{BB962C8B-B14F-4D97-AF65-F5344CB8AC3E}">
        <p14:creationId xmlns:p14="http://schemas.microsoft.com/office/powerpoint/2010/main" val="24469200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MATPLOTLID</a:t>
            </a:r>
          </a:p>
        </p:txBody>
      </p:sp>
      <p:sp>
        <p:nvSpPr>
          <p:cNvPr id="13" name="Content Placeholder 2">
            <a:extLst>
              <a:ext uri="{FF2B5EF4-FFF2-40B4-BE49-F238E27FC236}">
                <a16:creationId xmlns:a16="http://schemas.microsoft.com/office/drawing/2014/main" id="{3C30F577-8D9D-5F62-CEDE-D6FC5BB9C5CA}"/>
              </a:ext>
            </a:extLst>
          </p:cNvPr>
          <p:cNvSpPr txBox="1">
            <a:spLocks/>
          </p:cNvSpPr>
          <p:nvPr/>
        </p:nvSpPr>
        <p:spPr>
          <a:xfrm>
            <a:off x="79513" y="850752"/>
            <a:ext cx="8229600" cy="46028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b="1"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lgn="just">
              <a:spcBef>
                <a:spcPts val="580"/>
              </a:spcBef>
              <a:buClr>
                <a:srgbClr val="FF5A33"/>
              </a:buClr>
              <a:buNone/>
            </a:pPr>
            <a:r>
              <a:rPr lang="en-US" sz="2500" spc="-5" dirty="0" err="1">
                <a:latin typeface="Cambria" panose="02040503050406030204" pitchFamily="18" charset="0"/>
                <a:ea typeface="Cambria" panose="02040503050406030204" pitchFamily="18" charset="0"/>
                <a:cs typeface="Segoe UI"/>
              </a:rPr>
              <a:t>Ví</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dụ</a:t>
            </a:r>
            <a:r>
              <a:rPr lang="en-US" sz="2500" spc="-5" dirty="0">
                <a:latin typeface="Cambria" panose="02040503050406030204" pitchFamily="18" charset="0"/>
                <a:ea typeface="Cambria" panose="02040503050406030204" pitchFamily="18" charset="0"/>
                <a:cs typeface="Segoe UI"/>
              </a:rPr>
              <a:t> 3: </a:t>
            </a:r>
            <a:r>
              <a:rPr lang="en-US" sz="2500" spc="-5" dirty="0" err="1">
                <a:latin typeface="Cambria" panose="02040503050406030204" pitchFamily="18" charset="0"/>
                <a:ea typeface="Cambria" panose="02040503050406030204" pitchFamily="18" charset="0"/>
                <a:cs typeface="Segoe UI"/>
              </a:rPr>
              <a:t>Vẽ</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hình</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biểu</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đồ</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hình</a:t>
            </a:r>
            <a:r>
              <a:rPr lang="en-US" sz="2500" spc="-5" dirty="0">
                <a:latin typeface="Cambria" panose="02040503050406030204" pitchFamily="18" charset="0"/>
                <a:ea typeface="Cambria" panose="02040503050406030204" pitchFamily="18" charset="0"/>
                <a:cs typeface="Segoe UI"/>
              </a:rPr>
              <a:t> sin</a:t>
            </a:r>
            <a:endParaRPr lang="en-US" sz="2500" spc="-55" dirty="0">
              <a:latin typeface="Cambria" panose="02040503050406030204" pitchFamily="18" charset="0"/>
              <a:ea typeface="Cambria" panose="02040503050406030204" pitchFamily="18" charset="0"/>
              <a:cs typeface="Segoe UI"/>
            </a:endParaRPr>
          </a:p>
        </p:txBody>
      </p:sp>
      <p:sp>
        <p:nvSpPr>
          <p:cNvPr id="14" name="Rectangle 2">
            <a:extLst>
              <a:ext uri="{FF2B5EF4-FFF2-40B4-BE49-F238E27FC236}">
                <a16:creationId xmlns:a16="http://schemas.microsoft.com/office/drawing/2014/main" id="{AC8FB976-5CC8-ABCA-9A7B-B437755BF371}"/>
              </a:ext>
            </a:extLst>
          </p:cNvPr>
          <p:cNvSpPr>
            <a:spLocks noChangeArrowheads="1"/>
          </p:cNvSpPr>
          <p:nvPr/>
        </p:nvSpPr>
        <p:spPr bwMode="auto">
          <a:xfrm>
            <a:off x="157191" y="1311093"/>
            <a:ext cx="11035946" cy="2877711"/>
          </a:xfrm>
          <a:prstGeom prst="rect">
            <a:avLst/>
          </a:prstGeom>
          <a:solidFill>
            <a:srgbClr val="FFFFFF"/>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sz="2500" dirty="0">
                <a:solidFill>
                  <a:srgbClr val="0000FF"/>
                </a:solidFill>
                <a:latin typeface="Cambria" panose="02040503050406030204" pitchFamily="18" charset="0"/>
                <a:ea typeface="Cambria" panose="02040503050406030204" pitchFamily="18" charset="0"/>
              </a:rPr>
              <a:t>import </a:t>
            </a:r>
            <a:r>
              <a:rPr lang="en-US" sz="2500" dirty="0" err="1">
                <a:solidFill>
                  <a:srgbClr val="000000"/>
                </a:solidFill>
                <a:latin typeface="Cambria" panose="02040503050406030204" pitchFamily="18" charset="0"/>
                <a:ea typeface="Cambria" panose="02040503050406030204" pitchFamily="18" charset="0"/>
              </a:rPr>
              <a:t>numpy</a:t>
            </a:r>
            <a:r>
              <a:rPr lang="en-US" sz="2500" dirty="0">
                <a:solidFill>
                  <a:srgbClr val="000000"/>
                </a:solidFill>
                <a:latin typeface="Cambria" panose="02040503050406030204" pitchFamily="18" charset="0"/>
                <a:ea typeface="Cambria" panose="02040503050406030204" pitchFamily="18" charset="0"/>
              </a:rPr>
              <a:t> </a:t>
            </a:r>
            <a:r>
              <a:rPr lang="en-US" sz="2500" dirty="0">
                <a:solidFill>
                  <a:srgbClr val="0000FF"/>
                </a:solidFill>
                <a:latin typeface="Cambria" panose="02040503050406030204" pitchFamily="18" charset="0"/>
                <a:ea typeface="Cambria" panose="02040503050406030204" pitchFamily="18" charset="0"/>
              </a:rPr>
              <a:t>as </a:t>
            </a:r>
            <a:r>
              <a:rPr lang="en-US" sz="2500" dirty="0">
                <a:solidFill>
                  <a:srgbClr val="000000"/>
                </a:solidFill>
                <a:latin typeface="Cambria" panose="02040503050406030204" pitchFamily="18" charset="0"/>
                <a:ea typeface="Cambria" panose="02040503050406030204" pitchFamily="18" charset="0"/>
              </a:rPr>
              <a:t>np</a:t>
            </a:r>
            <a:br>
              <a:rPr lang="vi-VN" sz="2500" dirty="0">
                <a:solidFill>
                  <a:srgbClr val="000000"/>
                </a:solidFill>
                <a:latin typeface="Cambria" panose="02040503050406030204" pitchFamily="18" charset="0"/>
                <a:ea typeface="Cambria" panose="02040503050406030204" pitchFamily="18" charset="0"/>
              </a:rPr>
            </a:br>
            <a:r>
              <a:rPr lang="en-US" altLang="en-US" sz="2500" b="1" dirty="0">
                <a:solidFill>
                  <a:srgbClr val="000080"/>
                </a:solidFill>
                <a:latin typeface="Cambria" panose="02040503050406030204" pitchFamily="18" charset="0"/>
                <a:ea typeface="Cambria" panose="02040503050406030204" pitchFamily="18" charset="0"/>
              </a:rPr>
              <a:t>from </a:t>
            </a:r>
            <a:r>
              <a:rPr lang="en-US" altLang="en-US" sz="2500" dirty="0" err="1">
                <a:solidFill>
                  <a:srgbClr val="000000"/>
                </a:solidFill>
                <a:latin typeface="Cambria" panose="02040503050406030204" pitchFamily="18" charset="0"/>
                <a:ea typeface="Cambria" panose="02040503050406030204" pitchFamily="18" charset="0"/>
              </a:rPr>
              <a:t>matplotlib.pyplot</a:t>
            </a:r>
            <a:r>
              <a:rPr lang="en-US" altLang="en-US" sz="2500" dirty="0">
                <a:solidFill>
                  <a:srgbClr val="000000"/>
                </a:solidFill>
                <a:latin typeface="Cambria" panose="02040503050406030204" pitchFamily="18" charset="0"/>
                <a:ea typeface="Cambria" panose="02040503050406030204" pitchFamily="18" charset="0"/>
              </a:rPr>
              <a:t> </a:t>
            </a:r>
            <a:r>
              <a:rPr lang="en-US" altLang="en-US" sz="2500" b="1" dirty="0">
                <a:solidFill>
                  <a:srgbClr val="000080"/>
                </a:solidFill>
                <a:latin typeface="Cambria" panose="02040503050406030204" pitchFamily="18" charset="0"/>
                <a:ea typeface="Cambria" panose="02040503050406030204" pitchFamily="18" charset="0"/>
              </a:rPr>
              <a:t>import</a:t>
            </a:r>
            <a:r>
              <a:rPr lang="en-US" altLang="en-US" sz="2500" dirty="0">
                <a:solidFill>
                  <a:srgbClr val="000000"/>
                </a:solidFill>
                <a:latin typeface="Cambria" panose="02040503050406030204" pitchFamily="18" charset="0"/>
                <a:ea typeface="Cambria" panose="02040503050406030204" pitchFamily="18" charset="0"/>
              </a:rPr>
              <a:t> plot, show, title</a:t>
            </a:r>
            <a:br>
              <a:rPr lang="en-US" altLang="en-US" sz="2500" dirty="0">
                <a:solidFill>
                  <a:srgbClr val="000000"/>
                </a:solidFill>
                <a:latin typeface="Cambria" panose="02040503050406030204" pitchFamily="18" charset="0"/>
                <a:ea typeface="Cambria" panose="02040503050406030204" pitchFamily="18" charset="0"/>
              </a:rPr>
            </a:b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x = </a:t>
            </a: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np.arange</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3 </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np.pi</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0.1</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y = </a:t>
            </a: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np.sin</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(x)</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title(</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"sine wave form"</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plot(x, y)</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show()</a:t>
            </a:r>
            <a:endParaRPr kumimoji="0" lang="en-US" altLang="en-US" sz="25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2"/>
          <a:stretch>
            <a:fillRect/>
          </a:stretch>
        </p:blipFill>
        <p:spPr>
          <a:xfrm>
            <a:off x="5785332" y="2293256"/>
            <a:ext cx="5624151" cy="3791095"/>
          </a:xfrm>
          <a:prstGeom prst="rect">
            <a:avLst/>
          </a:prstGeom>
        </p:spPr>
      </p:pic>
    </p:spTree>
    <p:extLst>
      <p:ext uri="{BB962C8B-B14F-4D97-AF65-F5344CB8AC3E}">
        <p14:creationId xmlns:p14="http://schemas.microsoft.com/office/powerpoint/2010/main" val="15728866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MATPLOTLID</a:t>
            </a:r>
          </a:p>
        </p:txBody>
      </p:sp>
      <p:sp>
        <p:nvSpPr>
          <p:cNvPr id="13" name="Content Placeholder 2">
            <a:extLst>
              <a:ext uri="{FF2B5EF4-FFF2-40B4-BE49-F238E27FC236}">
                <a16:creationId xmlns:a16="http://schemas.microsoft.com/office/drawing/2014/main" id="{3C30F577-8D9D-5F62-CEDE-D6FC5BB9C5CA}"/>
              </a:ext>
            </a:extLst>
          </p:cNvPr>
          <p:cNvSpPr txBox="1">
            <a:spLocks/>
          </p:cNvSpPr>
          <p:nvPr/>
        </p:nvSpPr>
        <p:spPr>
          <a:xfrm>
            <a:off x="185530" y="814096"/>
            <a:ext cx="5830339" cy="76557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b="1"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lgn="just">
              <a:spcBef>
                <a:spcPts val="580"/>
              </a:spcBef>
              <a:buClr>
                <a:srgbClr val="FF5A33"/>
              </a:buClr>
              <a:buNone/>
            </a:pPr>
            <a:r>
              <a:rPr lang="en-US" sz="2500" spc="-5" dirty="0" err="1">
                <a:latin typeface="Cambria" panose="02040503050406030204" pitchFamily="18" charset="0"/>
                <a:ea typeface="Cambria" panose="02040503050406030204" pitchFamily="18" charset="0"/>
                <a:cs typeface="Segoe UI"/>
              </a:rPr>
              <a:t>Ví</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dụ</a:t>
            </a:r>
            <a:r>
              <a:rPr lang="en-US" sz="2500" spc="-5" dirty="0">
                <a:latin typeface="Cambria" panose="02040503050406030204" pitchFamily="18" charset="0"/>
                <a:ea typeface="Cambria" panose="02040503050406030204" pitchFamily="18" charset="0"/>
                <a:cs typeface="Segoe UI"/>
              </a:rPr>
              <a:t> 4: </a:t>
            </a:r>
            <a:r>
              <a:rPr lang="en-US" sz="2500" spc="-5" dirty="0" err="1">
                <a:latin typeface="Cambria" panose="02040503050406030204" pitchFamily="18" charset="0"/>
                <a:ea typeface="Cambria" panose="02040503050406030204" pitchFamily="18" charset="0"/>
                <a:cs typeface="Segoe UI"/>
              </a:rPr>
              <a:t>Vẽ</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biểu</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đồ</a:t>
            </a:r>
            <a:r>
              <a:rPr lang="en-US" sz="2500" spc="-5" dirty="0">
                <a:latin typeface="Cambria" panose="02040503050406030204" pitchFamily="18" charset="0"/>
                <a:ea typeface="Cambria" panose="02040503050406030204" pitchFamily="18" charset="0"/>
                <a:cs typeface="Segoe UI"/>
              </a:rPr>
              <a:t> histogram</a:t>
            </a:r>
            <a:endParaRPr lang="en-US" sz="2500" spc="-55" dirty="0">
              <a:latin typeface="Cambria" panose="02040503050406030204" pitchFamily="18" charset="0"/>
              <a:ea typeface="Cambria" panose="02040503050406030204" pitchFamily="18" charset="0"/>
              <a:cs typeface="Segoe UI"/>
            </a:endParaRPr>
          </a:p>
        </p:txBody>
      </p:sp>
      <p:sp>
        <p:nvSpPr>
          <p:cNvPr id="3" name="Rectangle 2"/>
          <p:cNvSpPr/>
          <p:nvPr/>
        </p:nvSpPr>
        <p:spPr>
          <a:xfrm>
            <a:off x="293783" y="1297905"/>
            <a:ext cx="6878198" cy="4678204"/>
          </a:xfrm>
          <a:prstGeom prst="rect">
            <a:avLst/>
          </a:prstGeom>
        </p:spPr>
        <p:txBody>
          <a:bodyPr wrap="square">
            <a:spAutoFit/>
          </a:bodyPr>
          <a:lstStyle/>
          <a:p>
            <a:r>
              <a:rPr lang="vi-VN" sz="2400" dirty="0">
                <a:solidFill>
                  <a:srgbClr val="0000FF"/>
                </a:solidFill>
                <a:latin typeface="Cambria" panose="02040503050406030204" pitchFamily="18" charset="0"/>
                <a:ea typeface="Cambria" panose="02040503050406030204" pitchFamily="18" charset="0"/>
              </a:rPr>
              <a:t>import </a:t>
            </a:r>
            <a:r>
              <a:rPr lang="vi-VN" sz="2400" dirty="0">
                <a:solidFill>
                  <a:srgbClr val="000000"/>
                </a:solidFill>
                <a:latin typeface="Cambria" panose="02040503050406030204" pitchFamily="18" charset="0"/>
                <a:ea typeface="Cambria" panose="02040503050406030204" pitchFamily="18" charset="0"/>
              </a:rPr>
              <a:t>matplotlib.pyplot </a:t>
            </a:r>
            <a:r>
              <a:rPr lang="vi-VN" sz="2400" dirty="0">
                <a:solidFill>
                  <a:srgbClr val="0000FF"/>
                </a:solidFill>
                <a:latin typeface="Cambria" panose="02040503050406030204" pitchFamily="18" charset="0"/>
                <a:ea typeface="Cambria" panose="02040503050406030204" pitchFamily="18" charset="0"/>
              </a:rPr>
              <a:t>as </a:t>
            </a:r>
            <a:r>
              <a:rPr lang="vi-VN" sz="2400" dirty="0">
                <a:solidFill>
                  <a:srgbClr val="000000"/>
                </a:solidFill>
                <a:latin typeface="Cambria" panose="02040503050406030204" pitchFamily="18" charset="0"/>
                <a:ea typeface="Cambria" panose="02040503050406030204" pitchFamily="18" charset="0"/>
              </a:rPr>
              <a:t>plt</a:t>
            </a:r>
            <a:endParaRPr lang="en-US" sz="2400" dirty="0">
              <a:solidFill>
                <a:srgbClr val="000000"/>
              </a:solidFill>
              <a:latin typeface="Cambria" panose="02040503050406030204" pitchFamily="18" charset="0"/>
              <a:ea typeface="Cambria" panose="02040503050406030204" pitchFamily="18" charset="0"/>
            </a:endParaRPr>
          </a:p>
          <a:p>
            <a:r>
              <a:rPr lang="en-US" sz="2400" dirty="0">
                <a:solidFill>
                  <a:srgbClr val="0000FF"/>
                </a:solidFill>
                <a:latin typeface="Cambria" panose="02040503050406030204" pitchFamily="18" charset="0"/>
                <a:ea typeface="Cambria" panose="02040503050406030204" pitchFamily="18" charset="0"/>
              </a:rPr>
              <a:t>import </a:t>
            </a:r>
            <a:r>
              <a:rPr lang="en-US" sz="2400" dirty="0" err="1">
                <a:solidFill>
                  <a:srgbClr val="000000"/>
                </a:solidFill>
                <a:latin typeface="Cambria" panose="02040503050406030204" pitchFamily="18" charset="0"/>
                <a:ea typeface="Cambria" panose="02040503050406030204" pitchFamily="18" charset="0"/>
              </a:rPr>
              <a:t>numpy</a:t>
            </a:r>
            <a:r>
              <a:rPr lang="en-US" sz="2400" dirty="0">
                <a:solidFill>
                  <a:srgbClr val="000000"/>
                </a:solidFill>
                <a:latin typeface="Cambria" panose="02040503050406030204" pitchFamily="18" charset="0"/>
                <a:ea typeface="Cambria" panose="02040503050406030204" pitchFamily="18" charset="0"/>
              </a:rPr>
              <a:t> </a:t>
            </a:r>
            <a:r>
              <a:rPr lang="en-US" sz="2400" dirty="0">
                <a:solidFill>
                  <a:srgbClr val="0000FF"/>
                </a:solidFill>
                <a:latin typeface="Cambria" panose="02040503050406030204" pitchFamily="18" charset="0"/>
                <a:ea typeface="Cambria" panose="02040503050406030204" pitchFamily="18" charset="0"/>
              </a:rPr>
              <a:t>as </a:t>
            </a:r>
            <a:r>
              <a:rPr lang="en-US" sz="2400" dirty="0">
                <a:solidFill>
                  <a:srgbClr val="000000"/>
                </a:solidFill>
                <a:latin typeface="Cambria" panose="02040503050406030204" pitchFamily="18" charset="0"/>
                <a:ea typeface="Cambria" panose="02040503050406030204" pitchFamily="18" charset="0"/>
              </a:rPr>
              <a:t>np</a:t>
            </a:r>
          </a:p>
          <a:p>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tạo</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bộ</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dữ</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liệu</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đầu</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ngẫu</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nhiên</a:t>
            </a:r>
            <a:r>
              <a:rPr lang="en-US" sz="2500" dirty="0">
                <a:solidFill>
                  <a:srgbClr val="008000"/>
                </a:solidFill>
                <a:latin typeface="Cambria" panose="02040503050406030204" pitchFamily="18" charset="0"/>
                <a:ea typeface="Cambria" panose="02040503050406030204" pitchFamily="18" charset="0"/>
              </a:rPr>
              <a:t> 1000 </a:t>
            </a:r>
            <a:r>
              <a:rPr lang="en-US" sz="2500" dirty="0" err="1">
                <a:solidFill>
                  <a:srgbClr val="008000"/>
                </a:solidFill>
                <a:latin typeface="Cambria" panose="02040503050406030204" pitchFamily="18" charset="0"/>
                <a:ea typeface="Cambria" panose="02040503050406030204" pitchFamily="18" charset="0"/>
              </a:rPr>
              <a:t>điểm</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vào</a:t>
            </a:r>
            <a:br>
              <a:rPr lang="en-US" sz="2500" dirty="0">
                <a:solidFill>
                  <a:srgbClr val="008000"/>
                </a:solidFill>
                <a:latin typeface="Cambria" panose="02040503050406030204" pitchFamily="18" charset="0"/>
                <a:ea typeface="Cambria" panose="02040503050406030204" pitchFamily="18" charset="0"/>
              </a:rPr>
            </a:br>
            <a:r>
              <a:rPr lang="en-US" sz="2500" dirty="0">
                <a:solidFill>
                  <a:srgbClr val="000000"/>
                </a:solidFill>
                <a:latin typeface="Cambria" panose="02040503050406030204" pitchFamily="18" charset="0"/>
                <a:ea typeface="Cambria" panose="02040503050406030204" pitchFamily="18" charset="0"/>
              </a:rPr>
              <a:t>x=</a:t>
            </a:r>
            <a:r>
              <a:rPr lang="en-US" sz="2500" dirty="0" err="1">
                <a:solidFill>
                  <a:srgbClr val="000000"/>
                </a:solidFill>
                <a:latin typeface="Cambria" panose="02040503050406030204" pitchFamily="18" charset="0"/>
                <a:ea typeface="Cambria" panose="02040503050406030204" pitchFamily="18" charset="0"/>
              </a:rPr>
              <a:t>np.random.randn</a:t>
            </a:r>
            <a:r>
              <a:rPr lang="en-US" sz="2500" dirty="0">
                <a:solidFill>
                  <a:srgbClr val="000000"/>
                </a:solidFill>
                <a:latin typeface="Cambria" panose="02040503050406030204" pitchFamily="18" charset="0"/>
                <a:ea typeface="Cambria" panose="02040503050406030204" pitchFamily="18" charset="0"/>
              </a:rPr>
              <a:t>(</a:t>
            </a:r>
            <a:r>
              <a:rPr lang="en-US" sz="2500" dirty="0">
                <a:solidFill>
                  <a:srgbClr val="098658"/>
                </a:solidFill>
                <a:latin typeface="Cambria" panose="02040503050406030204" pitchFamily="18" charset="0"/>
                <a:ea typeface="Cambria" panose="02040503050406030204" pitchFamily="18" charset="0"/>
              </a:rPr>
              <a:t>1000</a:t>
            </a:r>
            <a:r>
              <a:rPr lang="en-US" sz="2500" dirty="0">
                <a:solidFill>
                  <a:srgbClr val="000000"/>
                </a:solidFill>
                <a:latin typeface="Cambria" panose="02040503050406030204" pitchFamily="18" charset="0"/>
                <a:ea typeface="Cambria" panose="02040503050406030204" pitchFamily="18" charset="0"/>
              </a:rPr>
              <a:t>)</a:t>
            </a:r>
            <a:br>
              <a:rPr lang="en-US" sz="2500" dirty="0">
                <a:solidFill>
                  <a:srgbClr val="000000"/>
                </a:solidFill>
                <a:latin typeface="Cambria" panose="02040503050406030204" pitchFamily="18" charset="0"/>
                <a:ea typeface="Cambria" panose="02040503050406030204" pitchFamily="18" charset="0"/>
              </a:rPr>
            </a:b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thiết</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lập</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tiêu</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đề</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nhãn</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x,y</a:t>
            </a:r>
            <a:br>
              <a:rPr lang="en-US" sz="2500" dirty="0">
                <a:solidFill>
                  <a:srgbClr val="008000"/>
                </a:solidFill>
                <a:latin typeface="Cambria" panose="02040503050406030204" pitchFamily="18" charset="0"/>
                <a:ea typeface="Cambria" panose="02040503050406030204" pitchFamily="18" charset="0"/>
              </a:rPr>
            </a:br>
            <a:r>
              <a:rPr lang="en-US" sz="2500" dirty="0" err="1">
                <a:solidFill>
                  <a:srgbClr val="000000"/>
                </a:solidFill>
                <a:latin typeface="Cambria" panose="02040503050406030204" pitchFamily="18" charset="0"/>
                <a:ea typeface="Cambria" panose="02040503050406030204" pitchFamily="18" charset="0"/>
              </a:rPr>
              <a:t>plt.title</a:t>
            </a:r>
            <a:r>
              <a:rPr lang="en-US" sz="2500" dirty="0">
                <a:solidFill>
                  <a:srgbClr val="000000"/>
                </a:solidFill>
                <a:latin typeface="Cambria" panose="02040503050406030204" pitchFamily="18" charset="0"/>
                <a:ea typeface="Cambria" panose="02040503050406030204" pitchFamily="18" charset="0"/>
              </a:rPr>
              <a:t>(</a:t>
            </a:r>
            <a:r>
              <a:rPr lang="en-US" sz="2500" dirty="0">
                <a:solidFill>
                  <a:srgbClr val="A31515"/>
                </a:solidFill>
                <a:latin typeface="Cambria" panose="02040503050406030204" pitchFamily="18" charset="0"/>
                <a:ea typeface="Cambria" panose="02040503050406030204" pitchFamily="18" charset="0"/>
              </a:rPr>
              <a:t>'</a:t>
            </a:r>
            <a:r>
              <a:rPr lang="en-US" sz="2500" dirty="0" err="1">
                <a:solidFill>
                  <a:srgbClr val="A31515"/>
                </a:solidFill>
                <a:latin typeface="Cambria" panose="02040503050406030204" pitchFamily="18" charset="0"/>
                <a:ea typeface="Cambria" panose="02040503050406030204" pitchFamily="18" charset="0"/>
              </a:rPr>
              <a:t>Biểu</a:t>
            </a:r>
            <a:r>
              <a:rPr lang="en-US" sz="2500" dirty="0">
                <a:solidFill>
                  <a:srgbClr val="A31515"/>
                </a:solidFill>
                <a:latin typeface="Cambria" panose="02040503050406030204" pitchFamily="18" charset="0"/>
                <a:ea typeface="Cambria" panose="02040503050406030204" pitchFamily="18" charset="0"/>
              </a:rPr>
              <a:t> </a:t>
            </a:r>
            <a:r>
              <a:rPr lang="en-US" sz="2500" dirty="0" err="1">
                <a:solidFill>
                  <a:srgbClr val="A31515"/>
                </a:solidFill>
                <a:latin typeface="Cambria" panose="02040503050406030204" pitchFamily="18" charset="0"/>
                <a:ea typeface="Cambria" panose="02040503050406030204" pitchFamily="18" charset="0"/>
              </a:rPr>
              <a:t>đồ</a:t>
            </a:r>
            <a:r>
              <a:rPr lang="en-US" sz="2500" dirty="0">
                <a:solidFill>
                  <a:srgbClr val="A31515"/>
                </a:solidFill>
                <a:latin typeface="Cambria" panose="02040503050406030204" pitchFamily="18" charset="0"/>
                <a:ea typeface="Cambria" panose="02040503050406030204" pitchFamily="18" charset="0"/>
              </a:rPr>
              <a:t> Histogram'</a:t>
            </a:r>
            <a:r>
              <a:rPr lang="en-US" sz="2500" dirty="0">
                <a:solidFill>
                  <a:srgbClr val="000000"/>
                </a:solidFill>
                <a:latin typeface="Cambria" panose="02040503050406030204" pitchFamily="18" charset="0"/>
                <a:ea typeface="Cambria" panose="02040503050406030204" pitchFamily="18" charset="0"/>
              </a:rPr>
              <a:t>)</a:t>
            </a:r>
            <a:br>
              <a:rPr lang="en-US" sz="2500" dirty="0">
                <a:solidFill>
                  <a:srgbClr val="000000"/>
                </a:solidFill>
                <a:latin typeface="Cambria" panose="02040503050406030204" pitchFamily="18" charset="0"/>
                <a:ea typeface="Cambria" panose="02040503050406030204" pitchFamily="18" charset="0"/>
              </a:rPr>
            </a:br>
            <a:r>
              <a:rPr lang="en-US" sz="2500" dirty="0" err="1">
                <a:solidFill>
                  <a:srgbClr val="000000"/>
                </a:solidFill>
                <a:latin typeface="Cambria" panose="02040503050406030204" pitchFamily="18" charset="0"/>
                <a:ea typeface="Cambria" panose="02040503050406030204" pitchFamily="18" charset="0"/>
              </a:rPr>
              <a:t>plt.xlabel</a:t>
            </a:r>
            <a:r>
              <a:rPr lang="en-US" sz="2500" dirty="0">
                <a:solidFill>
                  <a:srgbClr val="000000"/>
                </a:solidFill>
                <a:latin typeface="Cambria" panose="02040503050406030204" pitchFamily="18" charset="0"/>
                <a:ea typeface="Cambria" panose="02040503050406030204" pitchFamily="18" charset="0"/>
              </a:rPr>
              <a:t>(</a:t>
            </a:r>
            <a:r>
              <a:rPr lang="en-US" sz="2500" dirty="0">
                <a:solidFill>
                  <a:srgbClr val="A31515"/>
                </a:solidFill>
                <a:latin typeface="Cambria" panose="02040503050406030204" pitchFamily="18" charset="0"/>
                <a:ea typeface="Cambria" panose="02040503050406030204" pitchFamily="18" charset="0"/>
              </a:rPr>
              <a:t>'</a:t>
            </a:r>
            <a:r>
              <a:rPr lang="en-US" sz="2500" dirty="0" err="1">
                <a:solidFill>
                  <a:srgbClr val="A31515"/>
                </a:solidFill>
                <a:latin typeface="Cambria" panose="02040503050406030204" pitchFamily="18" charset="0"/>
                <a:ea typeface="Cambria" panose="02040503050406030204" pitchFamily="18" charset="0"/>
              </a:rPr>
              <a:t>Dữ</a:t>
            </a:r>
            <a:r>
              <a:rPr lang="en-US" sz="2500" dirty="0">
                <a:solidFill>
                  <a:srgbClr val="A31515"/>
                </a:solidFill>
                <a:latin typeface="Cambria" panose="02040503050406030204" pitchFamily="18" charset="0"/>
                <a:ea typeface="Cambria" panose="02040503050406030204" pitchFamily="18" charset="0"/>
              </a:rPr>
              <a:t> </a:t>
            </a:r>
            <a:r>
              <a:rPr lang="en-US" sz="2500" dirty="0" err="1">
                <a:solidFill>
                  <a:srgbClr val="A31515"/>
                </a:solidFill>
                <a:latin typeface="Cambria" panose="02040503050406030204" pitchFamily="18" charset="0"/>
                <a:ea typeface="Cambria" panose="02040503050406030204" pitchFamily="18" charset="0"/>
              </a:rPr>
              <a:t>liệu</a:t>
            </a:r>
            <a:r>
              <a:rPr lang="en-US" sz="2500" dirty="0">
                <a:solidFill>
                  <a:srgbClr val="A31515"/>
                </a:solidFill>
                <a:latin typeface="Cambria" panose="02040503050406030204" pitchFamily="18" charset="0"/>
                <a:ea typeface="Cambria" panose="02040503050406030204" pitchFamily="18" charset="0"/>
              </a:rPr>
              <a:t> </a:t>
            </a:r>
            <a:r>
              <a:rPr lang="en-US" sz="2500" dirty="0" err="1">
                <a:solidFill>
                  <a:srgbClr val="A31515"/>
                </a:solidFill>
                <a:latin typeface="Cambria" panose="02040503050406030204" pitchFamily="18" charset="0"/>
                <a:ea typeface="Cambria" panose="02040503050406030204" pitchFamily="18" charset="0"/>
              </a:rPr>
              <a:t>ngẫu</a:t>
            </a:r>
            <a:r>
              <a:rPr lang="en-US" sz="2500" dirty="0">
                <a:solidFill>
                  <a:srgbClr val="A31515"/>
                </a:solidFill>
                <a:latin typeface="Cambria" panose="02040503050406030204" pitchFamily="18" charset="0"/>
                <a:ea typeface="Cambria" panose="02040503050406030204" pitchFamily="18" charset="0"/>
              </a:rPr>
              <a:t> </a:t>
            </a:r>
            <a:r>
              <a:rPr lang="en-US" sz="2500" dirty="0" err="1">
                <a:solidFill>
                  <a:srgbClr val="A31515"/>
                </a:solidFill>
                <a:latin typeface="Cambria" panose="02040503050406030204" pitchFamily="18" charset="0"/>
                <a:ea typeface="Cambria" panose="02040503050406030204" pitchFamily="18" charset="0"/>
              </a:rPr>
              <a:t>nhiên</a:t>
            </a:r>
            <a:r>
              <a:rPr lang="en-US" sz="2500" dirty="0">
                <a:solidFill>
                  <a:srgbClr val="A31515"/>
                </a:solidFill>
                <a:latin typeface="Cambria" panose="02040503050406030204" pitchFamily="18" charset="0"/>
                <a:ea typeface="Cambria" panose="02040503050406030204" pitchFamily="18" charset="0"/>
              </a:rPr>
              <a:t>'</a:t>
            </a:r>
            <a:r>
              <a:rPr lang="en-US" sz="2500" dirty="0">
                <a:solidFill>
                  <a:srgbClr val="000000"/>
                </a:solidFill>
                <a:latin typeface="Cambria" panose="02040503050406030204" pitchFamily="18" charset="0"/>
                <a:ea typeface="Cambria" panose="02040503050406030204" pitchFamily="18" charset="0"/>
              </a:rPr>
              <a:t>)</a:t>
            </a:r>
            <a:br>
              <a:rPr lang="en-US" sz="2500" dirty="0">
                <a:solidFill>
                  <a:srgbClr val="000000"/>
                </a:solidFill>
                <a:latin typeface="Cambria" panose="02040503050406030204" pitchFamily="18" charset="0"/>
                <a:ea typeface="Cambria" panose="02040503050406030204" pitchFamily="18" charset="0"/>
              </a:rPr>
            </a:br>
            <a:r>
              <a:rPr lang="en-US" sz="2500" dirty="0" err="1">
                <a:solidFill>
                  <a:srgbClr val="000000"/>
                </a:solidFill>
                <a:latin typeface="Cambria" panose="02040503050406030204" pitchFamily="18" charset="0"/>
                <a:ea typeface="Cambria" panose="02040503050406030204" pitchFamily="18" charset="0"/>
              </a:rPr>
              <a:t>plt.ylabel</a:t>
            </a:r>
            <a:r>
              <a:rPr lang="en-US" sz="2500" dirty="0">
                <a:solidFill>
                  <a:srgbClr val="000000"/>
                </a:solidFill>
                <a:latin typeface="Cambria" panose="02040503050406030204" pitchFamily="18" charset="0"/>
                <a:ea typeface="Cambria" panose="02040503050406030204" pitchFamily="18" charset="0"/>
              </a:rPr>
              <a:t>(</a:t>
            </a:r>
            <a:r>
              <a:rPr lang="en-US" sz="2500" dirty="0">
                <a:solidFill>
                  <a:srgbClr val="A31515"/>
                </a:solidFill>
                <a:latin typeface="Cambria" panose="02040503050406030204" pitchFamily="18" charset="0"/>
                <a:ea typeface="Cambria" panose="02040503050406030204" pitchFamily="18" charset="0"/>
              </a:rPr>
              <a:t>"</a:t>
            </a:r>
            <a:r>
              <a:rPr lang="en-US" sz="2500" dirty="0" err="1">
                <a:solidFill>
                  <a:srgbClr val="A31515"/>
                </a:solidFill>
                <a:latin typeface="Cambria" panose="02040503050406030204" pitchFamily="18" charset="0"/>
                <a:ea typeface="Cambria" panose="02040503050406030204" pitchFamily="18" charset="0"/>
              </a:rPr>
              <a:t>Tuần</a:t>
            </a:r>
            <a:r>
              <a:rPr lang="en-US" sz="2500" dirty="0">
                <a:solidFill>
                  <a:srgbClr val="A31515"/>
                </a:solidFill>
                <a:latin typeface="Cambria" panose="02040503050406030204" pitchFamily="18" charset="0"/>
                <a:ea typeface="Cambria" panose="02040503050406030204" pitchFamily="18" charset="0"/>
              </a:rPr>
              <a:t> </a:t>
            </a:r>
            <a:r>
              <a:rPr lang="en-US" sz="2500" dirty="0" err="1">
                <a:solidFill>
                  <a:srgbClr val="A31515"/>
                </a:solidFill>
                <a:latin typeface="Cambria" panose="02040503050406030204" pitchFamily="18" charset="0"/>
                <a:ea typeface="Cambria" panose="02040503050406030204" pitchFamily="18" charset="0"/>
              </a:rPr>
              <a:t>số</a:t>
            </a:r>
            <a:r>
              <a:rPr lang="en-US" sz="2500" dirty="0">
                <a:solidFill>
                  <a:srgbClr val="A31515"/>
                </a:solidFill>
                <a:latin typeface="Cambria" panose="02040503050406030204" pitchFamily="18" charset="0"/>
                <a:ea typeface="Cambria" panose="02040503050406030204" pitchFamily="18" charset="0"/>
              </a:rPr>
              <a:t>"</a:t>
            </a:r>
            <a:r>
              <a:rPr lang="en-US" sz="2500" dirty="0">
                <a:solidFill>
                  <a:srgbClr val="000000"/>
                </a:solidFill>
                <a:latin typeface="Cambria" panose="02040503050406030204" pitchFamily="18" charset="0"/>
                <a:ea typeface="Cambria" panose="02040503050406030204" pitchFamily="18" charset="0"/>
              </a:rPr>
              <a:t>)</a:t>
            </a:r>
            <a:br>
              <a:rPr lang="en-US" sz="2500" dirty="0">
                <a:solidFill>
                  <a:srgbClr val="000000"/>
                </a:solidFill>
                <a:latin typeface="Cambria" panose="02040503050406030204" pitchFamily="18" charset="0"/>
                <a:ea typeface="Cambria" panose="02040503050406030204" pitchFamily="18" charset="0"/>
              </a:rPr>
            </a:b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vẽ</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biểu</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đồ</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theo</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tần</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số</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với</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dữ</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liệu</a:t>
            </a:r>
            <a:r>
              <a:rPr lang="en-US" sz="2500" dirty="0">
                <a:solidFill>
                  <a:srgbClr val="008000"/>
                </a:solidFill>
                <a:latin typeface="Cambria" panose="02040503050406030204" pitchFamily="18" charset="0"/>
                <a:ea typeface="Cambria" panose="02040503050406030204" pitchFamily="18" charset="0"/>
              </a:rPr>
              <a:t> chia </a:t>
            </a:r>
            <a:r>
              <a:rPr lang="en-US" sz="2500" dirty="0" err="1">
                <a:solidFill>
                  <a:srgbClr val="008000"/>
                </a:solidFill>
                <a:latin typeface="Cambria" panose="02040503050406030204" pitchFamily="18" charset="0"/>
                <a:ea typeface="Cambria" panose="02040503050406030204" pitchFamily="18" charset="0"/>
              </a:rPr>
              <a:t>làm</a:t>
            </a:r>
            <a:r>
              <a:rPr lang="en-US" sz="2500" dirty="0">
                <a:solidFill>
                  <a:srgbClr val="008000"/>
                </a:solidFill>
                <a:latin typeface="Cambria" panose="02040503050406030204" pitchFamily="18" charset="0"/>
                <a:ea typeface="Cambria" panose="02040503050406030204" pitchFamily="18" charset="0"/>
              </a:rPr>
              <a:t> 50 </a:t>
            </a:r>
            <a:r>
              <a:rPr lang="en-US" sz="2500" dirty="0" err="1">
                <a:solidFill>
                  <a:srgbClr val="008000"/>
                </a:solidFill>
                <a:latin typeface="Cambria" panose="02040503050406030204" pitchFamily="18" charset="0"/>
                <a:ea typeface="Cambria" panose="02040503050406030204" pitchFamily="18" charset="0"/>
              </a:rPr>
              <a:t>tầng</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bằng</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nhau</a:t>
            </a:r>
            <a:br>
              <a:rPr lang="en-US" sz="2500" dirty="0">
                <a:solidFill>
                  <a:srgbClr val="008000"/>
                </a:solidFill>
                <a:latin typeface="Cambria" panose="02040503050406030204" pitchFamily="18" charset="0"/>
                <a:ea typeface="Cambria" panose="02040503050406030204" pitchFamily="18" charset="0"/>
              </a:rPr>
            </a:br>
            <a:r>
              <a:rPr lang="en-US" sz="2500" dirty="0" err="1">
                <a:solidFill>
                  <a:srgbClr val="000000"/>
                </a:solidFill>
                <a:latin typeface="Cambria" panose="02040503050406030204" pitchFamily="18" charset="0"/>
                <a:ea typeface="Cambria" panose="02040503050406030204" pitchFamily="18" charset="0"/>
              </a:rPr>
              <a:t>plt.hist</a:t>
            </a:r>
            <a:r>
              <a:rPr lang="en-US" sz="2500" dirty="0">
                <a:solidFill>
                  <a:srgbClr val="000000"/>
                </a:solidFill>
                <a:latin typeface="Cambria" panose="02040503050406030204" pitchFamily="18" charset="0"/>
                <a:ea typeface="Cambria" panose="02040503050406030204" pitchFamily="18" charset="0"/>
              </a:rPr>
              <a:t>(x,</a:t>
            </a:r>
            <a:r>
              <a:rPr lang="en-US" sz="2500" dirty="0">
                <a:solidFill>
                  <a:srgbClr val="098658"/>
                </a:solidFill>
                <a:latin typeface="Cambria" panose="02040503050406030204" pitchFamily="18" charset="0"/>
                <a:ea typeface="Cambria" panose="02040503050406030204" pitchFamily="18" charset="0"/>
              </a:rPr>
              <a:t>50</a:t>
            </a:r>
            <a:r>
              <a:rPr lang="en-US" sz="2500" dirty="0">
                <a:solidFill>
                  <a:srgbClr val="000000"/>
                </a:solidFill>
                <a:latin typeface="Cambria" panose="02040503050406030204" pitchFamily="18" charset="0"/>
                <a:ea typeface="Cambria" panose="02040503050406030204" pitchFamily="18" charset="0"/>
              </a:rPr>
              <a:t>)</a:t>
            </a:r>
            <a:br>
              <a:rPr lang="en-US" sz="2500" dirty="0">
                <a:solidFill>
                  <a:srgbClr val="000000"/>
                </a:solidFill>
                <a:latin typeface="Cambria" panose="02040503050406030204" pitchFamily="18" charset="0"/>
                <a:ea typeface="Cambria" panose="02040503050406030204" pitchFamily="18" charset="0"/>
              </a:rPr>
            </a:br>
            <a:r>
              <a:rPr lang="en-US" sz="2500" dirty="0" err="1">
                <a:solidFill>
                  <a:srgbClr val="000000"/>
                </a:solidFill>
                <a:latin typeface="Cambria" panose="02040503050406030204" pitchFamily="18" charset="0"/>
                <a:ea typeface="Cambria" panose="02040503050406030204" pitchFamily="18" charset="0"/>
              </a:rPr>
              <a:t>plt.show</a:t>
            </a:r>
            <a:r>
              <a:rPr lang="en-US" sz="2500" dirty="0">
                <a:solidFill>
                  <a:srgbClr val="000000"/>
                </a:solidFill>
                <a:latin typeface="Cambria" panose="02040503050406030204" pitchFamily="18" charset="0"/>
                <a:ea typeface="Cambria" panose="02040503050406030204" pitchFamily="18" charset="0"/>
              </a:rPr>
              <a:t>()</a:t>
            </a:r>
            <a:r>
              <a:rPr lang="en-US" sz="2500" dirty="0">
                <a:latin typeface="Cambria" panose="02040503050406030204" pitchFamily="18" charset="0"/>
                <a:ea typeface="Cambria" panose="02040503050406030204" pitchFamily="18" charset="0"/>
              </a:rPr>
              <a:t> </a:t>
            </a:r>
          </a:p>
        </p:txBody>
      </p:sp>
      <p:pic>
        <p:nvPicPr>
          <p:cNvPr id="4" name="Picture 3"/>
          <p:cNvPicPr>
            <a:picLocks noChangeAspect="1"/>
          </p:cNvPicPr>
          <p:nvPr/>
        </p:nvPicPr>
        <p:blipFill>
          <a:blip r:embed="rId2"/>
          <a:stretch>
            <a:fillRect/>
          </a:stretch>
        </p:blipFill>
        <p:spPr>
          <a:xfrm>
            <a:off x="7051728" y="814096"/>
            <a:ext cx="5022495" cy="4042496"/>
          </a:xfrm>
          <a:prstGeom prst="rect">
            <a:avLst/>
          </a:prstGeom>
        </p:spPr>
      </p:pic>
    </p:spTree>
    <p:extLst>
      <p:ext uri="{BB962C8B-B14F-4D97-AF65-F5344CB8AC3E}">
        <p14:creationId xmlns:p14="http://schemas.microsoft.com/office/powerpoint/2010/main" val="22624717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MATPLOTLID</a:t>
            </a:r>
          </a:p>
        </p:txBody>
      </p:sp>
      <p:sp>
        <p:nvSpPr>
          <p:cNvPr id="13" name="Content Placeholder 2">
            <a:extLst>
              <a:ext uri="{FF2B5EF4-FFF2-40B4-BE49-F238E27FC236}">
                <a16:creationId xmlns:a16="http://schemas.microsoft.com/office/drawing/2014/main" id="{3C30F577-8D9D-5F62-CEDE-D6FC5BB9C5CA}"/>
              </a:ext>
            </a:extLst>
          </p:cNvPr>
          <p:cNvSpPr txBox="1">
            <a:spLocks/>
          </p:cNvSpPr>
          <p:nvPr/>
        </p:nvSpPr>
        <p:spPr>
          <a:xfrm>
            <a:off x="185530" y="814096"/>
            <a:ext cx="5830339" cy="76557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b="1"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lgn="just">
              <a:spcBef>
                <a:spcPts val="580"/>
              </a:spcBef>
              <a:buClr>
                <a:srgbClr val="FF5A33"/>
              </a:buClr>
              <a:buNone/>
            </a:pPr>
            <a:r>
              <a:rPr lang="en-US" sz="2500" spc="-5" dirty="0" err="1">
                <a:latin typeface="Cambria" panose="02040503050406030204" pitchFamily="18" charset="0"/>
                <a:ea typeface="Cambria" panose="02040503050406030204" pitchFamily="18" charset="0"/>
                <a:cs typeface="Segoe UI"/>
              </a:rPr>
              <a:t>Ví</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dụ</a:t>
            </a:r>
            <a:r>
              <a:rPr lang="en-US" sz="2500" spc="-5" dirty="0">
                <a:latin typeface="Cambria" panose="02040503050406030204" pitchFamily="18" charset="0"/>
                <a:ea typeface="Cambria" panose="02040503050406030204" pitchFamily="18" charset="0"/>
                <a:cs typeface="Segoe UI"/>
              </a:rPr>
              <a:t> 4: </a:t>
            </a:r>
            <a:r>
              <a:rPr lang="en-US" sz="2500" spc="-5" dirty="0" err="1">
                <a:latin typeface="Cambria" panose="02040503050406030204" pitchFamily="18" charset="0"/>
                <a:ea typeface="Cambria" panose="02040503050406030204" pitchFamily="18" charset="0"/>
                <a:cs typeface="Segoe UI"/>
              </a:rPr>
              <a:t>Vẽ</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biểu</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đồ</a:t>
            </a:r>
            <a:r>
              <a:rPr lang="en-US" sz="2500" spc="-5" dirty="0">
                <a:latin typeface="Cambria" panose="02040503050406030204" pitchFamily="18" charset="0"/>
                <a:ea typeface="Cambria" panose="02040503050406030204" pitchFamily="18" charset="0"/>
                <a:cs typeface="Segoe UI"/>
              </a:rPr>
              <a:t> histogram</a:t>
            </a:r>
            <a:endParaRPr lang="en-US" sz="2500" spc="-55" dirty="0">
              <a:latin typeface="Cambria" panose="02040503050406030204" pitchFamily="18" charset="0"/>
              <a:ea typeface="Cambria" panose="02040503050406030204" pitchFamily="18" charset="0"/>
              <a:cs typeface="Segoe UI"/>
            </a:endParaRPr>
          </a:p>
        </p:txBody>
      </p:sp>
      <p:sp>
        <p:nvSpPr>
          <p:cNvPr id="15" name="Rectangle 2">
            <a:extLst>
              <a:ext uri="{FF2B5EF4-FFF2-40B4-BE49-F238E27FC236}">
                <a16:creationId xmlns:a16="http://schemas.microsoft.com/office/drawing/2014/main" id="{3D5C69BD-31F1-3506-95FA-537E3F1ABE0D}"/>
              </a:ext>
            </a:extLst>
          </p:cNvPr>
          <p:cNvSpPr>
            <a:spLocks noChangeArrowheads="1"/>
          </p:cNvSpPr>
          <p:nvPr/>
        </p:nvSpPr>
        <p:spPr bwMode="auto">
          <a:xfrm>
            <a:off x="377652" y="1041249"/>
            <a:ext cx="8554154" cy="4060535"/>
          </a:xfrm>
          <a:prstGeom prst="rect">
            <a:avLst/>
          </a:prstGeom>
          <a:solidFill>
            <a:srgbClr val="FFFFFF"/>
          </a:solidFill>
          <a:ln w="9525">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 = </a:t>
            </a: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np.array</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22</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87</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5</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43</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56</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73</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55</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54</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11</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20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51</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5</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79</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31</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27</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hist</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 </a:t>
            </a:r>
            <a:r>
              <a:rPr kumimoji="0" lang="en-US" altLang="en-US" sz="2500" b="0" i="0" u="none" strike="noStrike" cap="none" normalizeH="0" baseline="0" dirty="0">
                <a:ln>
                  <a:noFill/>
                </a:ln>
                <a:solidFill>
                  <a:srgbClr val="660099"/>
                </a:solidFill>
                <a:effectLst/>
                <a:latin typeface="Cambria" panose="02040503050406030204" pitchFamily="18" charset="0"/>
                <a:ea typeface="Cambria" panose="02040503050406030204" pitchFamily="18" charset="0"/>
              </a:rPr>
              <a:t>bins </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20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40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60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80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100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hist,bins</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 </a:t>
            </a: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np.histogram</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a,</a:t>
            </a:r>
            <a:r>
              <a:rPr kumimoji="0" lang="en-US" altLang="en-US" sz="2500" b="0" i="0" u="none" strike="noStrike" cap="none" normalizeH="0" baseline="0" dirty="0" err="1">
                <a:ln>
                  <a:noFill/>
                </a:ln>
                <a:solidFill>
                  <a:srgbClr val="660099"/>
                </a:solidFill>
                <a:effectLst/>
                <a:latin typeface="Cambria" panose="02040503050406030204" pitchFamily="18" charset="0"/>
                <a:ea typeface="Cambria" panose="02040503050406030204" pitchFamily="18" charset="0"/>
              </a:rPr>
              <a:t>bins</a:t>
            </a:r>
            <a:r>
              <a:rPr kumimoji="0" lang="en-US" altLang="en-US" sz="2500" b="0" i="0" u="none" strike="noStrike" cap="none" normalizeH="0" baseline="0" dirty="0">
                <a:ln>
                  <a:noFill/>
                </a:ln>
                <a:solidFill>
                  <a:srgbClr val="660099"/>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 [</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20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40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60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80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a:ln>
                  <a:noFill/>
                </a:ln>
                <a:solidFill>
                  <a:srgbClr val="0000FF"/>
                </a:solidFill>
                <a:effectLst/>
                <a:latin typeface="Cambria" panose="02040503050406030204" pitchFamily="18" charset="0"/>
                <a:ea typeface="Cambria" panose="02040503050406030204" pitchFamily="18" charset="0"/>
              </a:rPr>
              <a:t>100</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500" b="0" i="0" u="none" strike="noStrike" cap="none" normalizeH="0" baseline="0" dirty="0">
                <a:ln>
                  <a:noFill/>
                </a:ln>
                <a:solidFill>
                  <a:srgbClr val="000080"/>
                </a:solidFill>
                <a:effectLst/>
                <a:latin typeface="Cambria" panose="02040503050406030204" pitchFamily="18" charset="0"/>
                <a:ea typeface="Cambria" panose="02040503050406030204" pitchFamily="18" charset="0"/>
              </a:rPr>
              <a:t>print </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r>
              <a:rPr kumimoji="0" lang="en-US" altLang="en-US" sz="2500" b="0" i="0" u="none" strike="noStrike" cap="none" normalizeH="0" baseline="0" dirty="0" err="1">
                <a:ln>
                  <a:noFill/>
                </a:ln>
                <a:solidFill>
                  <a:srgbClr val="000000"/>
                </a:solidFill>
                <a:effectLst/>
                <a:latin typeface="Cambria" panose="02040503050406030204" pitchFamily="18" charset="0"/>
                <a:ea typeface="Cambria" panose="02040503050406030204" pitchFamily="18" charset="0"/>
              </a:rPr>
              <a:t>hist</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500" b="0" i="0" u="none" strike="noStrike" cap="none" normalizeH="0" baseline="0" dirty="0">
                <a:ln>
                  <a:noFill/>
                </a:ln>
                <a:solidFill>
                  <a:srgbClr val="000080"/>
                </a:solidFill>
                <a:effectLst/>
                <a:latin typeface="Cambria" panose="02040503050406030204" pitchFamily="18" charset="0"/>
                <a:ea typeface="Cambria" panose="02040503050406030204" pitchFamily="18" charset="0"/>
              </a:rPr>
              <a:t>print </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(bins)</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title(</a:t>
            </a:r>
            <a:r>
              <a:rPr kumimoji="0" lang="en-US" altLang="en-US" sz="2500" b="1" i="0" u="none" strike="noStrike" cap="none" normalizeH="0" baseline="0" dirty="0">
                <a:ln>
                  <a:noFill/>
                </a:ln>
                <a:solidFill>
                  <a:srgbClr val="008000"/>
                </a:solidFill>
                <a:effectLst/>
                <a:latin typeface="Cambria" panose="02040503050406030204" pitchFamily="18" charset="0"/>
                <a:ea typeface="Cambria" panose="02040503050406030204" pitchFamily="18" charset="0"/>
              </a:rPr>
              <a:t>"histogram"</a:t>
            </a: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a:t>
            </a:r>
            <a:b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br>
            <a:r>
              <a:rPr kumimoji="0" lang="en-US" altLang="en-US" sz="2500" b="0" i="0" u="none" strike="noStrike" cap="none" normalizeH="0" baseline="0" dirty="0">
                <a:ln>
                  <a:noFill/>
                </a:ln>
                <a:solidFill>
                  <a:srgbClr val="000000"/>
                </a:solidFill>
                <a:effectLst/>
                <a:latin typeface="Cambria" panose="02040503050406030204" pitchFamily="18" charset="0"/>
                <a:ea typeface="Cambria" panose="02040503050406030204" pitchFamily="18" charset="0"/>
              </a:rPr>
              <a:t>show()</a:t>
            </a:r>
            <a:endParaRPr kumimoji="0" lang="en-US" altLang="en-US" sz="25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2"/>
          <a:stretch>
            <a:fillRect/>
          </a:stretch>
        </p:blipFill>
        <p:spPr>
          <a:xfrm>
            <a:off x="6186096" y="2784663"/>
            <a:ext cx="4622776" cy="3351731"/>
          </a:xfrm>
          <a:prstGeom prst="rect">
            <a:avLst/>
          </a:prstGeom>
        </p:spPr>
      </p:pic>
    </p:spTree>
    <p:extLst>
      <p:ext uri="{BB962C8B-B14F-4D97-AF65-F5344CB8AC3E}">
        <p14:creationId xmlns:p14="http://schemas.microsoft.com/office/powerpoint/2010/main" val="28557603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MATPLOTLID</a:t>
            </a:r>
          </a:p>
        </p:txBody>
      </p:sp>
      <p:sp>
        <p:nvSpPr>
          <p:cNvPr id="13" name="Content Placeholder 2">
            <a:extLst>
              <a:ext uri="{FF2B5EF4-FFF2-40B4-BE49-F238E27FC236}">
                <a16:creationId xmlns:a16="http://schemas.microsoft.com/office/drawing/2014/main" id="{3C30F577-8D9D-5F62-CEDE-D6FC5BB9C5CA}"/>
              </a:ext>
            </a:extLst>
          </p:cNvPr>
          <p:cNvSpPr txBox="1">
            <a:spLocks/>
          </p:cNvSpPr>
          <p:nvPr/>
        </p:nvSpPr>
        <p:spPr>
          <a:xfrm>
            <a:off x="185530" y="814096"/>
            <a:ext cx="5830339" cy="765574"/>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b="1"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b="1" i="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i="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1" indent="0" algn="just">
              <a:spcBef>
                <a:spcPts val="580"/>
              </a:spcBef>
              <a:buClr>
                <a:srgbClr val="FF5A33"/>
              </a:buClr>
              <a:buNone/>
            </a:pPr>
            <a:r>
              <a:rPr lang="en-US" sz="2500" spc="-5" dirty="0" err="1">
                <a:latin typeface="Cambria" panose="02040503050406030204" pitchFamily="18" charset="0"/>
                <a:ea typeface="Cambria" panose="02040503050406030204" pitchFamily="18" charset="0"/>
                <a:cs typeface="Segoe UI"/>
              </a:rPr>
              <a:t>Ví</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dụ</a:t>
            </a:r>
            <a:r>
              <a:rPr lang="en-US" sz="2500" spc="-5" dirty="0">
                <a:latin typeface="Cambria" panose="02040503050406030204" pitchFamily="18" charset="0"/>
                <a:ea typeface="Cambria" panose="02040503050406030204" pitchFamily="18" charset="0"/>
                <a:cs typeface="Segoe UI"/>
              </a:rPr>
              <a:t> 5: </a:t>
            </a:r>
            <a:r>
              <a:rPr lang="en-US" sz="2500" spc="-5" dirty="0" err="1">
                <a:latin typeface="Cambria" panose="02040503050406030204" pitchFamily="18" charset="0"/>
                <a:ea typeface="Cambria" panose="02040503050406030204" pitchFamily="18" charset="0"/>
                <a:cs typeface="Segoe UI"/>
              </a:rPr>
              <a:t>Vẽ</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biểu</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đồ</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hình</a:t>
            </a:r>
            <a:r>
              <a:rPr lang="en-US" sz="2500" spc="-5" dirty="0">
                <a:latin typeface="Cambria" panose="02040503050406030204" pitchFamily="18" charset="0"/>
                <a:ea typeface="Cambria" panose="02040503050406030204" pitchFamily="18" charset="0"/>
                <a:cs typeface="Segoe UI"/>
              </a:rPr>
              <a:t> </a:t>
            </a:r>
            <a:r>
              <a:rPr lang="en-US" sz="2500" spc="-5" dirty="0" err="1">
                <a:latin typeface="Cambria" panose="02040503050406030204" pitchFamily="18" charset="0"/>
                <a:ea typeface="Cambria" panose="02040503050406030204" pitchFamily="18" charset="0"/>
                <a:cs typeface="Segoe UI"/>
              </a:rPr>
              <a:t>tròn</a:t>
            </a:r>
            <a:endParaRPr lang="en-US" sz="2500" spc="-55" dirty="0">
              <a:latin typeface="Cambria" panose="02040503050406030204" pitchFamily="18" charset="0"/>
              <a:ea typeface="Cambria" panose="02040503050406030204" pitchFamily="18" charset="0"/>
              <a:cs typeface="Segoe UI"/>
            </a:endParaRPr>
          </a:p>
        </p:txBody>
      </p:sp>
      <p:sp>
        <p:nvSpPr>
          <p:cNvPr id="2" name="Rectangle 1"/>
          <p:cNvSpPr/>
          <p:nvPr/>
        </p:nvSpPr>
        <p:spPr>
          <a:xfrm>
            <a:off x="262648" y="1239734"/>
            <a:ext cx="11822856" cy="4708981"/>
          </a:xfrm>
          <a:prstGeom prst="rect">
            <a:avLst/>
          </a:prstGeom>
        </p:spPr>
        <p:txBody>
          <a:bodyPr wrap="square">
            <a:spAutoFit/>
          </a:bodyPr>
          <a:lstStyle/>
          <a:p>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khai</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báo</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danh</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sách</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nhãn</a:t>
            </a:r>
            <a:br>
              <a:rPr lang="en-US" sz="2500" dirty="0">
                <a:solidFill>
                  <a:srgbClr val="008000"/>
                </a:solidFill>
                <a:latin typeface="Cambria" panose="02040503050406030204" pitchFamily="18" charset="0"/>
                <a:ea typeface="Cambria" panose="02040503050406030204" pitchFamily="18" charset="0"/>
              </a:rPr>
            </a:br>
            <a:r>
              <a:rPr lang="en-US" sz="2500" dirty="0">
                <a:solidFill>
                  <a:srgbClr val="000000"/>
                </a:solidFill>
                <a:latin typeface="Cambria" panose="02040503050406030204" pitchFamily="18" charset="0"/>
                <a:ea typeface="Cambria" panose="02040503050406030204" pitchFamily="18" charset="0"/>
              </a:rPr>
              <a:t>firms=[</a:t>
            </a:r>
            <a:r>
              <a:rPr lang="en-US" sz="2500" dirty="0">
                <a:solidFill>
                  <a:srgbClr val="A31515"/>
                </a:solidFill>
                <a:latin typeface="Cambria" panose="02040503050406030204" pitchFamily="18" charset="0"/>
                <a:ea typeface="Cambria" panose="02040503050406030204" pitchFamily="18" charset="0"/>
              </a:rPr>
              <a:t>'Firm </a:t>
            </a:r>
            <a:r>
              <a:rPr lang="en-US" sz="2500" dirty="0" err="1">
                <a:solidFill>
                  <a:srgbClr val="A31515"/>
                </a:solidFill>
                <a:latin typeface="Cambria" panose="02040503050406030204" pitchFamily="18" charset="0"/>
                <a:ea typeface="Cambria" panose="02040503050406030204" pitchFamily="18" charset="0"/>
              </a:rPr>
              <a:t>A'</a:t>
            </a:r>
            <a:r>
              <a:rPr lang="en-US" sz="2500" dirty="0" err="1">
                <a:solidFill>
                  <a:srgbClr val="000000"/>
                </a:solidFill>
                <a:latin typeface="Cambria" panose="02040503050406030204" pitchFamily="18" charset="0"/>
                <a:ea typeface="Cambria" panose="02040503050406030204" pitchFamily="18" charset="0"/>
              </a:rPr>
              <a:t>,</a:t>
            </a:r>
            <a:r>
              <a:rPr lang="en-US" sz="2500" dirty="0" err="1">
                <a:solidFill>
                  <a:srgbClr val="A31515"/>
                </a:solidFill>
                <a:latin typeface="Cambria" panose="02040503050406030204" pitchFamily="18" charset="0"/>
                <a:ea typeface="Cambria" panose="02040503050406030204" pitchFamily="18" charset="0"/>
              </a:rPr>
              <a:t>'Firm</a:t>
            </a:r>
            <a:r>
              <a:rPr lang="en-US" sz="2500" dirty="0">
                <a:solidFill>
                  <a:srgbClr val="A31515"/>
                </a:solidFill>
                <a:latin typeface="Cambria" panose="02040503050406030204" pitchFamily="18" charset="0"/>
                <a:ea typeface="Cambria" panose="02040503050406030204" pitchFamily="18" charset="0"/>
              </a:rPr>
              <a:t> </a:t>
            </a:r>
            <a:r>
              <a:rPr lang="en-US" sz="2500" dirty="0" err="1">
                <a:solidFill>
                  <a:srgbClr val="A31515"/>
                </a:solidFill>
                <a:latin typeface="Cambria" panose="02040503050406030204" pitchFamily="18" charset="0"/>
                <a:ea typeface="Cambria" panose="02040503050406030204" pitchFamily="18" charset="0"/>
              </a:rPr>
              <a:t>B'</a:t>
            </a:r>
            <a:r>
              <a:rPr lang="en-US" sz="2500" dirty="0" err="1">
                <a:solidFill>
                  <a:srgbClr val="000000"/>
                </a:solidFill>
                <a:latin typeface="Cambria" panose="02040503050406030204" pitchFamily="18" charset="0"/>
                <a:ea typeface="Cambria" panose="02040503050406030204" pitchFamily="18" charset="0"/>
              </a:rPr>
              <a:t>,</a:t>
            </a:r>
            <a:r>
              <a:rPr lang="en-US" sz="2500" dirty="0" err="1">
                <a:solidFill>
                  <a:srgbClr val="A31515"/>
                </a:solidFill>
                <a:latin typeface="Cambria" panose="02040503050406030204" pitchFamily="18" charset="0"/>
                <a:ea typeface="Cambria" panose="02040503050406030204" pitchFamily="18" charset="0"/>
              </a:rPr>
              <a:t>'Firm</a:t>
            </a:r>
            <a:r>
              <a:rPr lang="en-US" sz="2500" dirty="0">
                <a:solidFill>
                  <a:srgbClr val="A31515"/>
                </a:solidFill>
                <a:latin typeface="Cambria" panose="02040503050406030204" pitchFamily="18" charset="0"/>
                <a:ea typeface="Cambria" panose="02040503050406030204" pitchFamily="18" charset="0"/>
              </a:rPr>
              <a:t> </a:t>
            </a:r>
            <a:r>
              <a:rPr lang="en-US" sz="2500" dirty="0" err="1">
                <a:solidFill>
                  <a:srgbClr val="A31515"/>
                </a:solidFill>
                <a:latin typeface="Cambria" panose="02040503050406030204" pitchFamily="18" charset="0"/>
                <a:ea typeface="Cambria" panose="02040503050406030204" pitchFamily="18" charset="0"/>
              </a:rPr>
              <a:t>C'</a:t>
            </a:r>
            <a:r>
              <a:rPr lang="en-US" sz="2500" dirty="0" err="1">
                <a:solidFill>
                  <a:srgbClr val="000000"/>
                </a:solidFill>
                <a:latin typeface="Cambria" panose="02040503050406030204" pitchFamily="18" charset="0"/>
                <a:ea typeface="Cambria" panose="02040503050406030204" pitchFamily="18" charset="0"/>
              </a:rPr>
              <a:t>,</a:t>
            </a:r>
            <a:r>
              <a:rPr lang="en-US" sz="2500" dirty="0" err="1">
                <a:solidFill>
                  <a:srgbClr val="A31515"/>
                </a:solidFill>
                <a:latin typeface="Cambria" panose="02040503050406030204" pitchFamily="18" charset="0"/>
                <a:ea typeface="Cambria" panose="02040503050406030204" pitchFamily="18" charset="0"/>
              </a:rPr>
              <a:t>'Firm</a:t>
            </a:r>
            <a:r>
              <a:rPr lang="en-US" sz="2500" dirty="0">
                <a:solidFill>
                  <a:srgbClr val="A31515"/>
                </a:solidFill>
                <a:latin typeface="Cambria" panose="02040503050406030204" pitchFamily="18" charset="0"/>
                <a:ea typeface="Cambria" panose="02040503050406030204" pitchFamily="18" charset="0"/>
              </a:rPr>
              <a:t> </a:t>
            </a:r>
            <a:r>
              <a:rPr lang="en-US" sz="2500" dirty="0" err="1">
                <a:solidFill>
                  <a:srgbClr val="A31515"/>
                </a:solidFill>
                <a:latin typeface="Cambria" panose="02040503050406030204" pitchFamily="18" charset="0"/>
                <a:ea typeface="Cambria" panose="02040503050406030204" pitchFamily="18" charset="0"/>
              </a:rPr>
              <a:t>D'</a:t>
            </a:r>
            <a:r>
              <a:rPr lang="en-US" sz="2500" dirty="0" err="1">
                <a:solidFill>
                  <a:srgbClr val="000000"/>
                </a:solidFill>
                <a:latin typeface="Cambria" panose="02040503050406030204" pitchFamily="18" charset="0"/>
                <a:ea typeface="Cambria" panose="02040503050406030204" pitchFamily="18" charset="0"/>
              </a:rPr>
              <a:t>,</a:t>
            </a:r>
            <a:r>
              <a:rPr lang="en-US" sz="2500" dirty="0" err="1">
                <a:solidFill>
                  <a:srgbClr val="A31515"/>
                </a:solidFill>
                <a:latin typeface="Cambria" panose="02040503050406030204" pitchFamily="18" charset="0"/>
                <a:ea typeface="Cambria" panose="02040503050406030204" pitchFamily="18" charset="0"/>
              </a:rPr>
              <a:t>'Firm</a:t>
            </a:r>
            <a:r>
              <a:rPr lang="en-US" sz="2500" dirty="0">
                <a:solidFill>
                  <a:srgbClr val="A31515"/>
                </a:solidFill>
                <a:latin typeface="Cambria" panose="02040503050406030204" pitchFamily="18" charset="0"/>
                <a:ea typeface="Cambria" panose="02040503050406030204" pitchFamily="18" charset="0"/>
              </a:rPr>
              <a:t> E'</a:t>
            </a:r>
            <a:r>
              <a:rPr lang="en-US" sz="2500" dirty="0">
                <a:solidFill>
                  <a:srgbClr val="000000"/>
                </a:solidFill>
                <a:latin typeface="Cambria" panose="02040503050406030204" pitchFamily="18" charset="0"/>
                <a:ea typeface="Cambria" panose="02040503050406030204" pitchFamily="18" charset="0"/>
              </a:rPr>
              <a:t>]</a:t>
            </a:r>
            <a:br>
              <a:rPr lang="en-US" sz="2500" dirty="0">
                <a:solidFill>
                  <a:srgbClr val="000000"/>
                </a:solidFill>
                <a:latin typeface="Cambria" panose="02040503050406030204" pitchFamily="18" charset="0"/>
                <a:ea typeface="Cambria" panose="02040503050406030204" pitchFamily="18" charset="0"/>
              </a:rPr>
            </a:b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khai</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báo</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dữ</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liệu</a:t>
            </a:r>
            <a:br>
              <a:rPr lang="en-US" sz="2500" dirty="0">
                <a:solidFill>
                  <a:srgbClr val="008000"/>
                </a:solidFill>
                <a:latin typeface="Cambria" panose="02040503050406030204" pitchFamily="18" charset="0"/>
                <a:ea typeface="Cambria" panose="02040503050406030204" pitchFamily="18" charset="0"/>
              </a:rPr>
            </a:br>
            <a:r>
              <a:rPr lang="en-US" sz="2500" dirty="0" err="1">
                <a:solidFill>
                  <a:srgbClr val="000000"/>
                </a:solidFill>
                <a:latin typeface="Cambria" panose="02040503050406030204" pitchFamily="18" charset="0"/>
                <a:ea typeface="Cambria" panose="02040503050406030204" pitchFamily="18" charset="0"/>
              </a:rPr>
              <a:t>volumns</a:t>
            </a:r>
            <a:r>
              <a:rPr lang="en-US" sz="2500" dirty="0">
                <a:solidFill>
                  <a:srgbClr val="000000"/>
                </a:solidFill>
                <a:latin typeface="Cambria" panose="02040503050406030204" pitchFamily="18" charset="0"/>
                <a:ea typeface="Cambria" panose="02040503050406030204" pitchFamily="18" charset="0"/>
              </a:rPr>
              <a:t>=[</a:t>
            </a:r>
            <a:r>
              <a:rPr lang="en-US" sz="2500" dirty="0">
                <a:solidFill>
                  <a:srgbClr val="098658"/>
                </a:solidFill>
                <a:latin typeface="Cambria" panose="02040503050406030204" pitchFamily="18" charset="0"/>
                <a:ea typeface="Cambria" panose="02040503050406030204" pitchFamily="18" charset="0"/>
              </a:rPr>
              <a:t>20</a:t>
            </a:r>
            <a:r>
              <a:rPr lang="en-US" sz="2500" dirty="0">
                <a:solidFill>
                  <a:srgbClr val="000000"/>
                </a:solidFill>
                <a:latin typeface="Cambria" panose="02040503050406030204" pitchFamily="18" charset="0"/>
                <a:ea typeface="Cambria" panose="02040503050406030204" pitchFamily="18" charset="0"/>
              </a:rPr>
              <a:t>,</a:t>
            </a:r>
            <a:r>
              <a:rPr lang="en-US" sz="2500" dirty="0">
                <a:solidFill>
                  <a:srgbClr val="098658"/>
                </a:solidFill>
                <a:latin typeface="Cambria" panose="02040503050406030204" pitchFamily="18" charset="0"/>
                <a:ea typeface="Cambria" panose="02040503050406030204" pitchFamily="18" charset="0"/>
              </a:rPr>
              <a:t>25</a:t>
            </a:r>
            <a:r>
              <a:rPr lang="en-US" sz="2500" dirty="0">
                <a:solidFill>
                  <a:srgbClr val="000000"/>
                </a:solidFill>
                <a:latin typeface="Cambria" panose="02040503050406030204" pitchFamily="18" charset="0"/>
                <a:ea typeface="Cambria" panose="02040503050406030204" pitchFamily="18" charset="0"/>
              </a:rPr>
              <a:t>,</a:t>
            </a:r>
            <a:r>
              <a:rPr lang="en-US" sz="2500" dirty="0">
                <a:solidFill>
                  <a:srgbClr val="098658"/>
                </a:solidFill>
                <a:latin typeface="Cambria" panose="02040503050406030204" pitchFamily="18" charset="0"/>
                <a:ea typeface="Cambria" panose="02040503050406030204" pitchFamily="18" charset="0"/>
              </a:rPr>
              <a:t>10</a:t>
            </a:r>
            <a:r>
              <a:rPr lang="en-US" sz="2500" dirty="0">
                <a:solidFill>
                  <a:srgbClr val="000000"/>
                </a:solidFill>
                <a:latin typeface="Cambria" panose="02040503050406030204" pitchFamily="18" charset="0"/>
                <a:ea typeface="Cambria" panose="02040503050406030204" pitchFamily="18" charset="0"/>
              </a:rPr>
              <a:t>,</a:t>
            </a:r>
            <a:r>
              <a:rPr lang="en-US" sz="2500" dirty="0">
                <a:solidFill>
                  <a:srgbClr val="098658"/>
                </a:solidFill>
                <a:latin typeface="Cambria" panose="02040503050406030204" pitchFamily="18" charset="0"/>
                <a:ea typeface="Cambria" panose="02040503050406030204" pitchFamily="18" charset="0"/>
              </a:rPr>
              <a:t>25</a:t>
            </a:r>
            <a:r>
              <a:rPr lang="en-US" sz="2500" dirty="0">
                <a:solidFill>
                  <a:srgbClr val="000000"/>
                </a:solidFill>
                <a:latin typeface="Cambria" panose="02040503050406030204" pitchFamily="18" charset="0"/>
                <a:ea typeface="Cambria" panose="02040503050406030204" pitchFamily="18" charset="0"/>
              </a:rPr>
              <a:t>,</a:t>
            </a:r>
            <a:r>
              <a:rPr lang="en-US" sz="2500" dirty="0">
                <a:solidFill>
                  <a:srgbClr val="098658"/>
                </a:solidFill>
                <a:latin typeface="Cambria" panose="02040503050406030204" pitchFamily="18" charset="0"/>
                <a:ea typeface="Cambria" panose="02040503050406030204" pitchFamily="18" charset="0"/>
              </a:rPr>
              <a:t>20</a:t>
            </a:r>
            <a:r>
              <a:rPr lang="en-US" sz="2500" dirty="0">
                <a:solidFill>
                  <a:srgbClr val="000000"/>
                </a:solidFill>
                <a:latin typeface="Cambria" panose="02040503050406030204" pitchFamily="18" charset="0"/>
                <a:ea typeface="Cambria" panose="02040503050406030204" pitchFamily="18" charset="0"/>
              </a:rPr>
              <a:t>]</a:t>
            </a:r>
            <a:br>
              <a:rPr lang="en-US" sz="2500" dirty="0">
                <a:solidFill>
                  <a:srgbClr val="000000"/>
                </a:solidFill>
                <a:latin typeface="Cambria" panose="02040503050406030204" pitchFamily="18" charset="0"/>
                <a:ea typeface="Cambria" panose="02040503050406030204" pitchFamily="18" charset="0"/>
              </a:rPr>
            </a:b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khai</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báo</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danh</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sách</a:t>
            </a:r>
            <a:r>
              <a:rPr lang="en-US" sz="2500" dirty="0">
                <a:solidFill>
                  <a:srgbClr val="008000"/>
                </a:solidFill>
                <a:latin typeface="Cambria" panose="02040503050406030204" pitchFamily="18" charset="0"/>
                <a:ea typeface="Cambria" panose="02040503050406030204" pitchFamily="18" charset="0"/>
              </a:rPr>
              <a:t> pie </a:t>
            </a:r>
            <a:r>
              <a:rPr lang="en-US" sz="2500" dirty="0" err="1">
                <a:solidFill>
                  <a:srgbClr val="008000"/>
                </a:solidFill>
                <a:latin typeface="Cambria" panose="02040503050406030204" pitchFamily="18" charset="0"/>
                <a:ea typeface="Cambria" panose="02040503050406030204" pitchFamily="18" charset="0"/>
              </a:rPr>
              <a:t>sẽ</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tách</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rời</a:t>
            </a: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ra</a:t>
            </a:r>
            <a:br>
              <a:rPr lang="en-US" sz="2500" dirty="0">
                <a:solidFill>
                  <a:srgbClr val="008000"/>
                </a:solidFill>
                <a:latin typeface="Cambria" panose="02040503050406030204" pitchFamily="18" charset="0"/>
                <a:ea typeface="Cambria" panose="02040503050406030204" pitchFamily="18" charset="0"/>
              </a:rPr>
            </a:br>
            <a:r>
              <a:rPr lang="en-US" sz="2500" dirty="0">
                <a:solidFill>
                  <a:srgbClr val="000000"/>
                </a:solidFill>
                <a:latin typeface="Cambria" panose="02040503050406030204" pitchFamily="18" charset="0"/>
                <a:ea typeface="Cambria" panose="02040503050406030204" pitchFamily="18" charset="0"/>
              </a:rPr>
              <a:t>explode=[</a:t>
            </a:r>
            <a:r>
              <a:rPr lang="en-US" sz="2500" dirty="0">
                <a:solidFill>
                  <a:srgbClr val="098658"/>
                </a:solidFill>
                <a:latin typeface="Cambria" panose="02040503050406030204" pitchFamily="18" charset="0"/>
                <a:ea typeface="Cambria" panose="02040503050406030204" pitchFamily="18" charset="0"/>
              </a:rPr>
              <a:t>0</a:t>
            </a:r>
            <a:r>
              <a:rPr lang="en-US" sz="2500" dirty="0">
                <a:solidFill>
                  <a:srgbClr val="000000"/>
                </a:solidFill>
                <a:latin typeface="Cambria" panose="02040503050406030204" pitchFamily="18" charset="0"/>
                <a:ea typeface="Cambria" panose="02040503050406030204" pitchFamily="18" charset="0"/>
              </a:rPr>
              <a:t>,</a:t>
            </a:r>
            <a:r>
              <a:rPr lang="en-US" sz="2500" dirty="0">
                <a:solidFill>
                  <a:srgbClr val="098658"/>
                </a:solidFill>
                <a:latin typeface="Cambria" panose="02040503050406030204" pitchFamily="18" charset="0"/>
                <a:ea typeface="Cambria" panose="02040503050406030204" pitchFamily="18" charset="0"/>
              </a:rPr>
              <a:t>0</a:t>
            </a:r>
            <a:r>
              <a:rPr lang="en-US" sz="2500" dirty="0">
                <a:solidFill>
                  <a:srgbClr val="000000"/>
                </a:solidFill>
                <a:latin typeface="Cambria" panose="02040503050406030204" pitchFamily="18" charset="0"/>
                <a:ea typeface="Cambria" panose="02040503050406030204" pitchFamily="18" charset="0"/>
              </a:rPr>
              <a:t>,</a:t>
            </a:r>
            <a:r>
              <a:rPr lang="en-US" sz="2500" dirty="0">
                <a:solidFill>
                  <a:srgbClr val="098658"/>
                </a:solidFill>
                <a:latin typeface="Cambria" panose="02040503050406030204" pitchFamily="18" charset="0"/>
                <a:ea typeface="Cambria" panose="02040503050406030204" pitchFamily="18" charset="0"/>
              </a:rPr>
              <a:t>0.1</a:t>
            </a:r>
            <a:r>
              <a:rPr lang="en-US" sz="2500" dirty="0">
                <a:solidFill>
                  <a:srgbClr val="000000"/>
                </a:solidFill>
                <a:latin typeface="Cambria" panose="02040503050406030204" pitchFamily="18" charset="0"/>
                <a:ea typeface="Cambria" panose="02040503050406030204" pitchFamily="18" charset="0"/>
              </a:rPr>
              <a:t>,</a:t>
            </a:r>
            <a:r>
              <a:rPr lang="en-US" sz="2500" dirty="0">
                <a:solidFill>
                  <a:srgbClr val="098658"/>
                </a:solidFill>
                <a:latin typeface="Cambria" panose="02040503050406030204" pitchFamily="18" charset="0"/>
                <a:ea typeface="Cambria" panose="02040503050406030204" pitchFamily="18" charset="0"/>
              </a:rPr>
              <a:t>0</a:t>
            </a:r>
            <a:r>
              <a:rPr lang="en-US" sz="2500" dirty="0">
                <a:solidFill>
                  <a:srgbClr val="000000"/>
                </a:solidFill>
                <a:latin typeface="Cambria" panose="02040503050406030204" pitchFamily="18" charset="0"/>
                <a:ea typeface="Cambria" panose="02040503050406030204" pitchFamily="18" charset="0"/>
              </a:rPr>
              <a:t>,</a:t>
            </a:r>
            <a:r>
              <a:rPr lang="en-US" sz="2500" dirty="0">
                <a:solidFill>
                  <a:srgbClr val="098658"/>
                </a:solidFill>
                <a:latin typeface="Cambria" panose="02040503050406030204" pitchFamily="18" charset="0"/>
                <a:ea typeface="Cambria" panose="02040503050406030204" pitchFamily="18" charset="0"/>
              </a:rPr>
              <a:t>0</a:t>
            </a:r>
            <a:r>
              <a:rPr lang="en-US" sz="2500" dirty="0">
                <a:solidFill>
                  <a:srgbClr val="000000"/>
                </a:solidFill>
                <a:latin typeface="Cambria" panose="02040503050406030204" pitchFamily="18" charset="0"/>
                <a:ea typeface="Cambria" panose="02040503050406030204" pitchFamily="18" charset="0"/>
              </a:rPr>
              <a:t>]</a:t>
            </a:r>
          </a:p>
          <a:p>
            <a:br>
              <a:rPr lang="en-US" sz="2500" dirty="0">
                <a:solidFill>
                  <a:srgbClr val="000000"/>
                </a:solidFill>
                <a:latin typeface="Cambria" panose="02040503050406030204" pitchFamily="18" charset="0"/>
                <a:ea typeface="Cambria" panose="02040503050406030204" pitchFamily="18" charset="0"/>
              </a:rPr>
            </a:br>
            <a:r>
              <a:rPr lang="en-US" sz="2500" dirty="0">
                <a:solidFill>
                  <a:srgbClr val="008000"/>
                </a:solidFill>
                <a:latin typeface="Cambria" panose="02040503050406030204" pitchFamily="18" charset="0"/>
                <a:ea typeface="Cambria" panose="02040503050406030204" pitchFamily="18" charset="0"/>
              </a:rPr>
              <a:t># </a:t>
            </a:r>
            <a:r>
              <a:rPr lang="en-US" sz="2500" dirty="0" err="1">
                <a:solidFill>
                  <a:srgbClr val="008000"/>
                </a:solidFill>
                <a:latin typeface="Cambria" panose="02040503050406030204" pitchFamily="18" charset="0"/>
                <a:ea typeface="Cambria" panose="02040503050406030204" pitchFamily="18" charset="0"/>
              </a:rPr>
              <a:t>vẽ</a:t>
            </a:r>
            <a:br>
              <a:rPr lang="en-US" sz="2500" dirty="0">
                <a:solidFill>
                  <a:srgbClr val="008000"/>
                </a:solidFill>
                <a:latin typeface="Cambria" panose="02040503050406030204" pitchFamily="18" charset="0"/>
                <a:ea typeface="Cambria" panose="02040503050406030204" pitchFamily="18" charset="0"/>
              </a:rPr>
            </a:br>
            <a:r>
              <a:rPr lang="en-US" sz="2500" dirty="0" err="1">
                <a:solidFill>
                  <a:srgbClr val="000000"/>
                </a:solidFill>
                <a:latin typeface="Cambria" panose="02040503050406030204" pitchFamily="18" charset="0"/>
                <a:ea typeface="Cambria" panose="02040503050406030204" pitchFamily="18" charset="0"/>
              </a:rPr>
              <a:t>plt.pie</a:t>
            </a:r>
            <a:r>
              <a:rPr lang="en-US" sz="2500" dirty="0">
                <a:solidFill>
                  <a:srgbClr val="000000"/>
                </a:solidFill>
                <a:latin typeface="Cambria" panose="02040503050406030204" pitchFamily="18" charset="0"/>
                <a:ea typeface="Cambria" panose="02040503050406030204" pitchFamily="18" charset="0"/>
              </a:rPr>
              <a:t>(</a:t>
            </a:r>
            <a:r>
              <a:rPr lang="en-US" sz="2500" dirty="0" err="1">
                <a:solidFill>
                  <a:srgbClr val="000000"/>
                </a:solidFill>
                <a:latin typeface="Cambria" panose="02040503050406030204" pitchFamily="18" charset="0"/>
                <a:ea typeface="Cambria" panose="02040503050406030204" pitchFamily="18" charset="0"/>
              </a:rPr>
              <a:t>volumns,explode</a:t>
            </a:r>
            <a:r>
              <a:rPr lang="en-US" sz="2500" dirty="0">
                <a:solidFill>
                  <a:srgbClr val="000000"/>
                </a:solidFill>
                <a:latin typeface="Cambria" panose="02040503050406030204" pitchFamily="18" charset="0"/>
                <a:ea typeface="Cambria" panose="02040503050406030204" pitchFamily="18" charset="0"/>
              </a:rPr>
              <a:t>=</a:t>
            </a:r>
            <a:r>
              <a:rPr lang="en-US" sz="2500" dirty="0" err="1">
                <a:solidFill>
                  <a:srgbClr val="000000"/>
                </a:solidFill>
                <a:latin typeface="Cambria" panose="02040503050406030204" pitchFamily="18" charset="0"/>
                <a:ea typeface="Cambria" panose="02040503050406030204" pitchFamily="18" charset="0"/>
              </a:rPr>
              <a:t>explode,labels</a:t>
            </a:r>
            <a:r>
              <a:rPr lang="en-US" sz="2500" dirty="0">
                <a:solidFill>
                  <a:srgbClr val="000000"/>
                </a:solidFill>
                <a:latin typeface="Cambria" panose="02040503050406030204" pitchFamily="18" charset="0"/>
                <a:ea typeface="Cambria" panose="02040503050406030204" pitchFamily="18" charset="0"/>
              </a:rPr>
              <a:t>=</a:t>
            </a:r>
            <a:r>
              <a:rPr lang="en-US" sz="2500" dirty="0" err="1">
                <a:solidFill>
                  <a:srgbClr val="000000"/>
                </a:solidFill>
                <a:latin typeface="Cambria" panose="02040503050406030204" pitchFamily="18" charset="0"/>
                <a:ea typeface="Cambria" panose="02040503050406030204" pitchFamily="18" charset="0"/>
              </a:rPr>
              <a:t>firms,shadow</a:t>
            </a:r>
            <a:r>
              <a:rPr lang="en-US" sz="2500" dirty="0">
                <a:solidFill>
                  <a:srgbClr val="000000"/>
                </a:solidFill>
                <a:latin typeface="Cambria" panose="02040503050406030204" pitchFamily="18" charset="0"/>
                <a:ea typeface="Cambria" panose="02040503050406030204" pitchFamily="18" charset="0"/>
              </a:rPr>
              <a:t>=</a:t>
            </a:r>
            <a:r>
              <a:rPr lang="en-US" sz="2500" dirty="0" err="1">
                <a:solidFill>
                  <a:srgbClr val="0000FF"/>
                </a:solidFill>
                <a:latin typeface="Cambria" panose="02040503050406030204" pitchFamily="18" charset="0"/>
                <a:ea typeface="Cambria" panose="02040503050406030204" pitchFamily="18" charset="0"/>
              </a:rPr>
              <a:t>True</a:t>
            </a:r>
            <a:r>
              <a:rPr lang="en-US" sz="2500" dirty="0" err="1">
                <a:solidFill>
                  <a:srgbClr val="000000"/>
                </a:solidFill>
                <a:latin typeface="Cambria" panose="02040503050406030204" pitchFamily="18" charset="0"/>
                <a:ea typeface="Cambria" panose="02040503050406030204" pitchFamily="18" charset="0"/>
              </a:rPr>
              <a:t>,startangle</a:t>
            </a:r>
            <a:r>
              <a:rPr lang="en-US" sz="2500" dirty="0">
                <a:solidFill>
                  <a:srgbClr val="000000"/>
                </a:solidFill>
                <a:latin typeface="Cambria" panose="02040503050406030204" pitchFamily="18" charset="0"/>
                <a:ea typeface="Cambria" panose="02040503050406030204" pitchFamily="18" charset="0"/>
              </a:rPr>
              <a:t>=</a:t>
            </a:r>
            <a:r>
              <a:rPr lang="en-US" sz="2500" dirty="0">
                <a:solidFill>
                  <a:srgbClr val="098658"/>
                </a:solidFill>
                <a:latin typeface="Cambria" panose="02040503050406030204" pitchFamily="18" charset="0"/>
                <a:ea typeface="Cambria" panose="02040503050406030204" pitchFamily="18" charset="0"/>
              </a:rPr>
              <a:t>45</a:t>
            </a:r>
            <a:r>
              <a:rPr lang="en-US" sz="2500" dirty="0">
                <a:solidFill>
                  <a:srgbClr val="000000"/>
                </a:solidFill>
                <a:latin typeface="Cambria" panose="02040503050406030204" pitchFamily="18" charset="0"/>
                <a:ea typeface="Cambria" panose="02040503050406030204" pitchFamily="18" charset="0"/>
              </a:rPr>
              <a:t>)</a:t>
            </a:r>
            <a:br>
              <a:rPr lang="en-US" sz="2500" dirty="0">
                <a:solidFill>
                  <a:srgbClr val="000000"/>
                </a:solidFill>
                <a:latin typeface="Cambria" panose="02040503050406030204" pitchFamily="18" charset="0"/>
                <a:ea typeface="Cambria" panose="02040503050406030204" pitchFamily="18" charset="0"/>
              </a:rPr>
            </a:br>
            <a:r>
              <a:rPr lang="en-US" sz="2500" dirty="0" err="1">
                <a:solidFill>
                  <a:srgbClr val="000000"/>
                </a:solidFill>
                <a:latin typeface="Cambria" panose="02040503050406030204" pitchFamily="18" charset="0"/>
                <a:ea typeface="Cambria" panose="02040503050406030204" pitchFamily="18" charset="0"/>
              </a:rPr>
              <a:t>plt.axis</a:t>
            </a:r>
            <a:r>
              <a:rPr lang="en-US" sz="2500" dirty="0">
                <a:solidFill>
                  <a:srgbClr val="000000"/>
                </a:solidFill>
                <a:latin typeface="Cambria" panose="02040503050406030204" pitchFamily="18" charset="0"/>
                <a:ea typeface="Cambria" panose="02040503050406030204" pitchFamily="18" charset="0"/>
              </a:rPr>
              <a:t>(</a:t>
            </a:r>
            <a:r>
              <a:rPr lang="en-US" sz="2500" dirty="0">
                <a:solidFill>
                  <a:srgbClr val="A31515"/>
                </a:solidFill>
                <a:latin typeface="Cambria" panose="02040503050406030204" pitchFamily="18" charset="0"/>
                <a:ea typeface="Cambria" panose="02040503050406030204" pitchFamily="18" charset="0"/>
              </a:rPr>
              <a:t>'equal'</a:t>
            </a:r>
            <a:r>
              <a:rPr lang="en-US" sz="2500" dirty="0">
                <a:solidFill>
                  <a:srgbClr val="000000"/>
                </a:solidFill>
                <a:latin typeface="Cambria" panose="02040503050406030204" pitchFamily="18" charset="0"/>
                <a:ea typeface="Cambria" panose="02040503050406030204" pitchFamily="18" charset="0"/>
              </a:rPr>
              <a:t>)</a:t>
            </a:r>
            <a:br>
              <a:rPr lang="en-US" sz="2500" dirty="0">
                <a:solidFill>
                  <a:srgbClr val="000000"/>
                </a:solidFill>
                <a:latin typeface="Cambria" panose="02040503050406030204" pitchFamily="18" charset="0"/>
                <a:ea typeface="Cambria" panose="02040503050406030204" pitchFamily="18" charset="0"/>
              </a:rPr>
            </a:br>
            <a:r>
              <a:rPr lang="en-US" sz="2500" dirty="0" err="1">
                <a:solidFill>
                  <a:srgbClr val="000000"/>
                </a:solidFill>
                <a:latin typeface="Cambria" panose="02040503050406030204" pitchFamily="18" charset="0"/>
                <a:ea typeface="Cambria" panose="02040503050406030204" pitchFamily="18" charset="0"/>
              </a:rPr>
              <a:t>plt.legend</a:t>
            </a:r>
            <a:r>
              <a:rPr lang="en-US" sz="2500" dirty="0">
                <a:solidFill>
                  <a:srgbClr val="000000"/>
                </a:solidFill>
                <a:latin typeface="Cambria" panose="02040503050406030204" pitchFamily="18" charset="0"/>
                <a:ea typeface="Cambria" panose="02040503050406030204" pitchFamily="18" charset="0"/>
              </a:rPr>
              <a:t>(title=</a:t>
            </a:r>
            <a:r>
              <a:rPr lang="en-US" sz="2500" dirty="0">
                <a:solidFill>
                  <a:srgbClr val="A31515"/>
                </a:solidFill>
                <a:latin typeface="Cambria" panose="02040503050406030204" pitchFamily="18" charset="0"/>
                <a:ea typeface="Cambria" panose="02040503050406030204" pitchFamily="18" charset="0"/>
              </a:rPr>
              <a:t>'</a:t>
            </a:r>
            <a:r>
              <a:rPr lang="en-US" sz="2500" dirty="0" err="1">
                <a:solidFill>
                  <a:srgbClr val="A31515"/>
                </a:solidFill>
                <a:latin typeface="Cambria" panose="02040503050406030204" pitchFamily="18" charset="0"/>
                <a:ea typeface="Cambria" panose="02040503050406030204" pitchFamily="18" charset="0"/>
              </a:rPr>
              <a:t>Danh</a:t>
            </a:r>
            <a:r>
              <a:rPr lang="en-US" sz="2500" dirty="0">
                <a:solidFill>
                  <a:srgbClr val="A31515"/>
                </a:solidFill>
                <a:latin typeface="Cambria" panose="02040503050406030204" pitchFamily="18" charset="0"/>
                <a:ea typeface="Cambria" panose="02040503050406030204" pitchFamily="18" charset="0"/>
              </a:rPr>
              <a:t> </a:t>
            </a:r>
            <a:r>
              <a:rPr lang="en-US" sz="2500" dirty="0" err="1">
                <a:solidFill>
                  <a:srgbClr val="A31515"/>
                </a:solidFill>
                <a:latin typeface="Cambria" panose="02040503050406030204" pitchFamily="18" charset="0"/>
                <a:ea typeface="Cambria" panose="02040503050406030204" pitchFamily="18" charset="0"/>
              </a:rPr>
              <a:t>sách</a:t>
            </a:r>
            <a:r>
              <a:rPr lang="en-US" sz="2500" dirty="0">
                <a:solidFill>
                  <a:srgbClr val="A31515"/>
                </a:solidFill>
                <a:latin typeface="Cambria" panose="02040503050406030204" pitchFamily="18" charset="0"/>
                <a:ea typeface="Cambria" panose="02040503050406030204" pitchFamily="18" charset="0"/>
              </a:rPr>
              <a:t> </a:t>
            </a:r>
            <a:r>
              <a:rPr lang="en-US" sz="2500" dirty="0" err="1">
                <a:solidFill>
                  <a:srgbClr val="A31515"/>
                </a:solidFill>
                <a:latin typeface="Cambria" panose="02040503050406030204" pitchFamily="18" charset="0"/>
                <a:ea typeface="Cambria" panose="02040503050406030204" pitchFamily="18" charset="0"/>
              </a:rPr>
              <a:t>các</a:t>
            </a:r>
            <a:r>
              <a:rPr lang="en-US" sz="2500" dirty="0">
                <a:solidFill>
                  <a:srgbClr val="A31515"/>
                </a:solidFill>
                <a:latin typeface="Cambria" panose="02040503050406030204" pitchFamily="18" charset="0"/>
                <a:ea typeface="Cambria" panose="02040503050406030204" pitchFamily="18" charset="0"/>
              </a:rPr>
              <a:t> </a:t>
            </a:r>
            <a:r>
              <a:rPr lang="en-US" sz="2500" dirty="0" err="1">
                <a:solidFill>
                  <a:srgbClr val="A31515"/>
                </a:solidFill>
                <a:latin typeface="Cambria" panose="02040503050406030204" pitchFamily="18" charset="0"/>
                <a:ea typeface="Cambria" panose="02040503050406030204" pitchFamily="18" charset="0"/>
              </a:rPr>
              <a:t>nhà</a:t>
            </a:r>
            <a:r>
              <a:rPr lang="en-US" sz="2500" dirty="0">
                <a:solidFill>
                  <a:srgbClr val="A31515"/>
                </a:solidFill>
                <a:latin typeface="Cambria" panose="02040503050406030204" pitchFamily="18" charset="0"/>
                <a:ea typeface="Cambria" panose="02040503050406030204" pitchFamily="18" charset="0"/>
              </a:rPr>
              <a:t> </a:t>
            </a:r>
            <a:r>
              <a:rPr lang="en-US" sz="2500" dirty="0" err="1">
                <a:solidFill>
                  <a:srgbClr val="A31515"/>
                </a:solidFill>
                <a:latin typeface="Cambria" panose="02040503050406030204" pitchFamily="18" charset="0"/>
                <a:ea typeface="Cambria" panose="02040503050406030204" pitchFamily="18" charset="0"/>
              </a:rPr>
              <a:t>máy</a:t>
            </a:r>
            <a:r>
              <a:rPr lang="en-US" sz="2500" dirty="0">
                <a:solidFill>
                  <a:srgbClr val="A31515"/>
                </a:solidFill>
                <a:latin typeface="Cambria" panose="02040503050406030204" pitchFamily="18" charset="0"/>
                <a:ea typeface="Cambria" panose="02040503050406030204" pitchFamily="18" charset="0"/>
              </a:rPr>
              <a:t>'</a:t>
            </a:r>
            <a:r>
              <a:rPr lang="en-US" sz="2500" dirty="0">
                <a:solidFill>
                  <a:srgbClr val="000000"/>
                </a:solidFill>
                <a:latin typeface="Cambria" panose="02040503050406030204" pitchFamily="18" charset="0"/>
                <a:ea typeface="Cambria" panose="02040503050406030204" pitchFamily="18" charset="0"/>
              </a:rPr>
              <a:t>,</a:t>
            </a:r>
            <a:r>
              <a:rPr lang="en-US" sz="2500" dirty="0" err="1">
                <a:solidFill>
                  <a:srgbClr val="000000"/>
                </a:solidFill>
                <a:latin typeface="Cambria" panose="02040503050406030204" pitchFamily="18" charset="0"/>
                <a:ea typeface="Cambria" panose="02040503050406030204" pitchFamily="18" charset="0"/>
              </a:rPr>
              <a:t>loc</a:t>
            </a:r>
            <a:r>
              <a:rPr lang="en-US" sz="2500" dirty="0">
                <a:solidFill>
                  <a:srgbClr val="000000"/>
                </a:solidFill>
                <a:latin typeface="Cambria" panose="02040503050406030204" pitchFamily="18" charset="0"/>
                <a:ea typeface="Cambria" panose="02040503050406030204" pitchFamily="18" charset="0"/>
              </a:rPr>
              <a:t>=</a:t>
            </a:r>
            <a:r>
              <a:rPr lang="en-US" sz="2500" dirty="0">
                <a:solidFill>
                  <a:srgbClr val="A31515"/>
                </a:solidFill>
                <a:latin typeface="Cambria" panose="02040503050406030204" pitchFamily="18" charset="0"/>
                <a:ea typeface="Cambria" panose="02040503050406030204" pitchFamily="18" charset="0"/>
              </a:rPr>
              <a:t>'best'</a:t>
            </a:r>
            <a:r>
              <a:rPr lang="en-US" sz="2500" dirty="0">
                <a:solidFill>
                  <a:srgbClr val="000000"/>
                </a:solidFill>
                <a:latin typeface="Cambria" panose="02040503050406030204" pitchFamily="18" charset="0"/>
                <a:ea typeface="Cambria" panose="02040503050406030204" pitchFamily="18" charset="0"/>
              </a:rPr>
              <a:t>)</a:t>
            </a:r>
            <a:br>
              <a:rPr lang="en-US" sz="2500" dirty="0">
                <a:solidFill>
                  <a:srgbClr val="000000"/>
                </a:solidFill>
                <a:latin typeface="Cambria" panose="02040503050406030204" pitchFamily="18" charset="0"/>
                <a:ea typeface="Cambria" panose="02040503050406030204" pitchFamily="18" charset="0"/>
              </a:rPr>
            </a:br>
            <a:r>
              <a:rPr lang="en-US" sz="2500" dirty="0" err="1">
                <a:solidFill>
                  <a:srgbClr val="000000"/>
                </a:solidFill>
                <a:latin typeface="Cambria" panose="02040503050406030204" pitchFamily="18" charset="0"/>
                <a:ea typeface="Cambria" panose="02040503050406030204" pitchFamily="18" charset="0"/>
              </a:rPr>
              <a:t>plt.show</a:t>
            </a:r>
            <a:r>
              <a:rPr lang="en-US" sz="2500" dirty="0">
                <a:solidFill>
                  <a:srgbClr val="000000"/>
                </a:solidFill>
                <a:latin typeface="Cambria" panose="02040503050406030204" pitchFamily="18" charset="0"/>
                <a:ea typeface="Cambria" panose="02040503050406030204" pitchFamily="18" charset="0"/>
              </a:rPr>
              <a:t>()</a:t>
            </a:r>
            <a:r>
              <a:rPr lang="en-US" sz="2500" dirty="0">
                <a:latin typeface="Cambria" panose="02040503050406030204" pitchFamily="18" charset="0"/>
                <a:ea typeface="Cambria" panose="02040503050406030204" pitchFamily="18" charset="0"/>
              </a:rPr>
              <a:t> </a:t>
            </a:r>
          </a:p>
        </p:txBody>
      </p:sp>
      <p:pic>
        <p:nvPicPr>
          <p:cNvPr id="6" name="Picture 5"/>
          <p:cNvPicPr>
            <a:picLocks noChangeAspect="1"/>
          </p:cNvPicPr>
          <p:nvPr/>
        </p:nvPicPr>
        <p:blipFill>
          <a:blip r:embed="rId2"/>
          <a:stretch>
            <a:fillRect/>
          </a:stretch>
        </p:blipFill>
        <p:spPr>
          <a:xfrm>
            <a:off x="7048756" y="814096"/>
            <a:ext cx="5022057" cy="3307538"/>
          </a:xfrm>
          <a:prstGeom prst="rect">
            <a:avLst/>
          </a:prstGeom>
        </p:spPr>
      </p:pic>
    </p:spTree>
    <p:extLst>
      <p:ext uri="{BB962C8B-B14F-4D97-AF65-F5344CB8AC3E}">
        <p14:creationId xmlns:p14="http://schemas.microsoft.com/office/powerpoint/2010/main" val="34542341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THƯ VIỆN SKLEARN LEARNING</a:t>
            </a: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159027" y="691585"/>
            <a:ext cx="11738110" cy="5647364"/>
          </a:xfrm>
        </p:spPr>
        <p:txBody>
          <a:bodyPr>
            <a:noAutofit/>
          </a:bodyPr>
          <a:lstStyle/>
          <a:p>
            <a:pPr marL="228600" lvl="1" algn="just">
              <a:lnSpc>
                <a:spcPct val="130000"/>
              </a:lnSpc>
              <a:spcBef>
                <a:spcPts val="0"/>
              </a:spcBef>
              <a:buClr>
                <a:srgbClr val="FF5A33"/>
              </a:buClr>
              <a:buFont typeface="Wingdings" panose="05000000000000000000" pitchFamily="2" charset="2"/>
              <a:buChar char="§"/>
            </a:pPr>
            <a:r>
              <a:rPr lang="vi-VN" sz="2500" b="0" spc="-55" dirty="0">
                <a:latin typeface="Cambria" panose="02040503050406030204" pitchFamily="18" charset="0"/>
                <a:ea typeface="Cambria" panose="02040503050406030204" pitchFamily="18" charset="0"/>
                <a:cs typeface="Segoe UI"/>
              </a:rPr>
              <a:t>Scikit learning là một thư viện được sử dụng để thực hiện học máy bằng Python. Scikit learning là một thư viện mã nguồn mở được cấp phép theo BSD và có thể tái sử dụng trong nhiều ngữ cảnh khác nhau, khuyến khích sử dụng trong học thuật và thương mại. </a:t>
            </a:r>
            <a:endParaRPr lang="en-US" sz="2500" spc="-55" dirty="0">
              <a:latin typeface="Cambria" panose="02040503050406030204" pitchFamily="18" charset="0"/>
              <a:ea typeface="Cambria" panose="02040503050406030204" pitchFamily="18" charset="0"/>
              <a:cs typeface="Segoe UI"/>
            </a:endParaRPr>
          </a:p>
          <a:p>
            <a:pPr marL="228600" lvl="1" algn="just">
              <a:lnSpc>
                <a:spcPct val="130000"/>
              </a:lnSpc>
              <a:spcBef>
                <a:spcPts val="0"/>
              </a:spcBef>
              <a:buClr>
                <a:srgbClr val="FF5A33"/>
              </a:buClr>
              <a:buFont typeface="Wingdings" panose="05000000000000000000" pitchFamily="2" charset="2"/>
              <a:buChar char="§"/>
            </a:pPr>
            <a:r>
              <a:rPr lang="en-US" sz="2500" spc="-55" dirty="0" err="1">
                <a:latin typeface="Cambria" panose="02040503050406030204" pitchFamily="18" charset="0"/>
                <a:ea typeface="Cambria" panose="02040503050406030204" pitchFamily="18" charset="0"/>
                <a:cs typeface="Segoe UI"/>
              </a:rPr>
              <a:t>Scikit</a:t>
            </a:r>
            <a:r>
              <a:rPr lang="en-US" sz="2500" spc="-55" dirty="0">
                <a:latin typeface="Cambria" panose="02040503050406030204" pitchFamily="18" charset="0"/>
                <a:ea typeface="Cambria" panose="02040503050406030204" pitchFamily="18" charset="0"/>
                <a:cs typeface="Segoe UI"/>
              </a:rPr>
              <a:t>-learning </a:t>
            </a:r>
            <a:r>
              <a:rPr lang="en-US" sz="2500" spc="-55" dirty="0" err="1">
                <a:latin typeface="Cambria" panose="02040503050406030204" pitchFamily="18" charset="0"/>
                <a:ea typeface="Cambria" panose="02040503050406030204" pitchFamily="18" charset="0"/>
                <a:cs typeface="Segoe UI"/>
              </a:rPr>
              <a:t>cung</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cấp</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các</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thuật</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toán</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máy</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học</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có</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giám</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sát</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và</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không</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giám</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sát</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và</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thuật</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toán</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bán</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giám</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sát</a:t>
            </a:r>
            <a:endParaRPr lang="en-US" sz="2500" spc="-55" dirty="0">
              <a:latin typeface="Cambria" panose="02040503050406030204" pitchFamily="18" charset="0"/>
              <a:ea typeface="Cambria" panose="02040503050406030204" pitchFamily="18" charset="0"/>
              <a:cs typeface="Segoe UI"/>
            </a:endParaRPr>
          </a:p>
          <a:p>
            <a:pPr marL="228600" lvl="1" algn="just">
              <a:lnSpc>
                <a:spcPct val="130000"/>
              </a:lnSpc>
              <a:spcBef>
                <a:spcPts val="0"/>
              </a:spcBef>
              <a:buClr>
                <a:srgbClr val="FF5A33"/>
              </a:buClr>
              <a:buFont typeface="Wingdings" panose="05000000000000000000" pitchFamily="2" charset="2"/>
              <a:buChar char="§"/>
            </a:pPr>
            <a:r>
              <a:rPr lang="en-US" sz="2500" spc="-55" dirty="0">
                <a:latin typeface="Cambria" panose="02040503050406030204" pitchFamily="18" charset="0"/>
                <a:ea typeface="Cambria" panose="02040503050406030204" pitchFamily="18" charset="0"/>
                <a:cs typeface="Segoe UI"/>
              </a:rPr>
              <a:t>Linear Regression, Random Forest, Logistic-Regression, KNN (K-Nearest-Neighbors), SVM (Support-Vector-Machines), K-Means-Clustering </a:t>
            </a:r>
            <a:r>
              <a:rPr lang="en-US" sz="2500" spc="-55" dirty="0" err="1">
                <a:latin typeface="Cambria" panose="02040503050406030204" pitchFamily="18" charset="0"/>
                <a:ea typeface="Cambria" panose="02040503050406030204" pitchFamily="18" charset="0"/>
                <a:cs typeface="Segoe UI"/>
              </a:rPr>
              <a:t>và</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một</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số</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thuật</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toán</a:t>
            </a:r>
            <a:r>
              <a:rPr lang="en-US" sz="2500" spc="-55" dirty="0">
                <a:latin typeface="Cambria" panose="02040503050406030204" pitchFamily="18" charset="0"/>
                <a:ea typeface="Cambria" panose="02040503050406030204" pitchFamily="18" charset="0"/>
                <a:cs typeface="Segoe UI"/>
              </a:rPr>
              <a:t> </a:t>
            </a:r>
            <a:r>
              <a:rPr lang="en-US" sz="2500" spc="-55" dirty="0" err="1">
                <a:latin typeface="Cambria" panose="02040503050406030204" pitchFamily="18" charset="0"/>
                <a:ea typeface="Cambria" panose="02040503050406030204" pitchFamily="18" charset="0"/>
                <a:cs typeface="Segoe UI"/>
              </a:rPr>
              <a:t>khác</a:t>
            </a:r>
            <a:r>
              <a:rPr lang="en-US" sz="2500" spc="-55" dirty="0">
                <a:latin typeface="Cambria" panose="02040503050406030204" pitchFamily="18" charset="0"/>
                <a:ea typeface="Cambria" panose="02040503050406030204" pitchFamily="18" charset="0"/>
                <a:cs typeface="Segoe UI"/>
              </a:rPr>
              <a:t>.</a:t>
            </a:r>
          </a:p>
          <a:p>
            <a:pPr marL="228600" lvl="1" algn="just">
              <a:lnSpc>
                <a:spcPct val="130000"/>
              </a:lnSpc>
              <a:spcBef>
                <a:spcPts val="0"/>
              </a:spcBef>
              <a:buClr>
                <a:srgbClr val="FF5A33"/>
              </a:buClr>
              <a:buFont typeface="Wingdings" panose="05000000000000000000" pitchFamily="2" charset="2"/>
              <a:buChar char="§"/>
            </a:pPr>
            <a:r>
              <a:rPr lang="vi-VN" sz="2500" b="1" i="1" spc="-55" dirty="0">
                <a:latin typeface="Cambria" panose="02040503050406030204" pitchFamily="18" charset="0"/>
                <a:ea typeface="Cambria" panose="02040503050406030204" pitchFamily="18" charset="0"/>
                <a:cs typeface="Segoe UI"/>
              </a:rPr>
              <a:t>Ngoài ra, nó cũng chứa các gói sau: </a:t>
            </a:r>
          </a:p>
          <a:p>
            <a:pPr marL="801688" lvl="2" indent="-285750">
              <a:lnSpc>
                <a:spcPct val="130000"/>
              </a:lnSpc>
              <a:spcBef>
                <a:spcPts val="0"/>
              </a:spcBef>
              <a:buClr>
                <a:srgbClr val="FF5A33"/>
              </a:buClr>
              <a:buFont typeface="Wingdings" panose="05000000000000000000" pitchFamily="2" charset="2"/>
              <a:buChar char="§"/>
            </a:pPr>
            <a:r>
              <a:rPr lang="vi-VN" sz="2500" b="0" spc="-55" dirty="0">
                <a:latin typeface="Cambria" panose="02040503050406030204" pitchFamily="18" charset="0"/>
                <a:ea typeface="Cambria" panose="02040503050406030204" pitchFamily="18" charset="0"/>
                <a:cs typeface="Segoe UI"/>
              </a:rPr>
              <a:t>NumPy</a:t>
            </a:r>
          </a:p>
          <a:p>
            <a:pPr marL="801688" lvl="2" indent="-285750">
              <a:lnSpc>
                <a:spcPct val="130000"/>
              </a:lnSpc>
              <a:spcBef>
                <a:spcPts val="0"/>
              </a:spcBef>
              <a:buClr>
                <a:srgbClr val="FF5A33"/>
              </a:buClr>
              <a:buFont typeface="Wingdings" panose="05000000000000000000" pitchFamily="2" charset="2"/>
              <a:buChar char="§"/>
            </a:pPr>
            <a:r>
              <a:rPr lang="vi-VN" sz="2500" b="0" spc="-55" dirty="0">
                <a:latin typeface="Cambria" panose="02040503050406030204" pitchFamily="18" charset="0"/>
                <a:ea typeface="Cambria" panose="02040503050406030204" pitchFamily="18" charset="0"/>
                <a:cs typeface="Segoe UI"/>
              </a:rPr>
              <a:t>Matplotlib</a:t>
            </a:r>
          </a:p>
          <a:p>
            <a:pPr marL="801688" lvl="2" indent="-285750">
              <a:lnSpc>
                <a:spcPct val="130000"/>
              </a:lnSpc>
              <a:spcBef>
                <a:spcPts val="0"/>
              </a:spcBef>
              <a:buClr>
                <a:srgbClr val="FF5A33"/>
              </a:buClr>
              <a:buFont typeface="Wingdings" panose="05000000000000000000" pitchFamily="2" charset="2"/>
              <a:buChar char="§"/>
            </a:pPr>
            <a:r>
              <a:rPr lang="vi-VN" sz="2500" b="0" spc="-55" dirty="0">
                <a:latin typeface="Cambria" panose="02040503050406030204" pitchFamily="18" charset="0"/>
                <a:ea typeface="Cambria" panose="02040503050406030204" pitchFamily="18" charset="0"/>
                <a:cs typeface="Segoe UI"/>
              </a:rPr>
              <a:t>SciPy (Python khoa học)</a:t>
            </a:r>
            <a:endParaRPr lang="en-US" sz="2500" spc="-55" dirty="0">
              <a:latin typeface="Cambria" panose="02040503050406030204" pitchFamily="18" charset="0"/>
              <a:ea typeface="Cambria" panose="02040503050406030204" pitchFamily="18" charset="0"/>
              <a:cs typeface="Segoe UI"/>
            </a:endParaRPr>
          </a:p>
          <a:p>
            <a:pPr marL="515938" lvl="2" indent="0">
              <a:lnSpc>
                <a:spcPct val="130000"/>
              </a:lnSpc>
              <a:spcBef>
                <a:spcPts val="0"/>
              </a:spcBef>
              <a:buClr>
                <a:srgbClr val="FF5A33"/>
              </a:buClr>
              <a:buNone/>
            </a:pPr>
            <a:endParaRPr lang="en-US" sz="2500" b="0" spc="-55" dirty="0">
              <a:latin typeface="Cambria" panose="02040503050406030204" pitchFamily="18" charset="0"/>
              <a:ea typeface="Cambria" panose="02040503050406030204" pitchFamily="18" charset="0"/>
              <a:cs typeface="Segoe UI"/>
            </a:endParaRPr>
          </a:p>
        </p:txBody>
      </p:sp>
    </p:spTree>
    <p:extLst>
      <p:ext uri="{BB962C8B-B14F-4D97-AF65-F5344CB8AC3E}">
        <p14:creationId xmlns:p14="http://schemas.microsoft.com/office/powerpoint/2010/main" val="32946068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MỘT SỐ THUẬT TOÁN HỌC MÁY PHỔ BIẾN</a:t>
            </a:r>
          </a:p>
        </p:txBody>
      </p:sp>
      <p:sp>
        <p:nvSpPr>
          <p:cNvPr id="11" name="Content Placeholder 2">
            <a:extLst>
              <a:ext uri="{FF2B5EF4-FFF2-40B4-BE49-F238E27FC236}">
                <a16:creationId xmlns:a16="http://schemas.microsoft.com/office/drawing/2014/main" id="{D84E1B89-45F1-4C39-88F0-3A380DA733A9}"/>
              </a:ext>
            </a:extLst>
          </p:cNvPr>
          <p:cNvSpPr>
            <a:spLocks noGrp="1"/>
          </p:cNvSpPr>
          <p:nvPr>
            <p:ph idx="1"/>
          </p:nvPr>
        </p:nvSpPr>
        <p:spPr>
          <a:xfrm>
            <a:off x="407503" y="691585"/>
            <a:ext cx="11509513" cy="5337573"/>
          </a:xfrm>
        </p:spPr>
        <p:txBody>
          <a:bodyPr>
            <a:noAutofit/>
          </a:bodyPr>
          <a:lstStyle/>
          <a:p>
            <a:pPr marL="573088" lvl="1" indent="-514350" algn="just">
              <a:lnSpc>
                <a:spcPct val="150000"/>
              </a:lnSpc>
              <a:spcBef>
                <a:spcPts val="580"/>
              </a:spcBef>
              <a:buClr>
                <a:srgbClr val="FF5A33"/>
              </a:buClr>
              <a:buFont typeface="+mj-lt"/>
              <a:buAutoNum type="arabicPeriod"/>
            </a:pPr>
            <a:r>
              <a:rPr lang="vi-VN" sz="2500" b="1" spc="-55" dirty="0">
                <a:latin typeface="Cambria" panose="02040503050406030204" pitchFamily="18" charset="0"/>
                <a:ea typeface="Cambria" panose="02040503050406030204" pitchFamily="18" charset="0"/>
                <a:cs typeface="Segoe UI"/>
              </a:rPr>
              <a:t>Hồi quy tuyến tính</a:t>
            </a:r>
            <a:endParaRPr lang="en-US" sz="2500" b="1" spc="-55" dirty="0">
              <a:latin typeface="Cambria" panose="02040503050406030204" pitchFamily="18" charset="0"/>
              <a:ea typeface="Cambria" panose="02040503050406030204" pitchFamily="18" charset="0"/>
              <a:cs typeface="Segoe UI"/>
            </a:endParaRPr>
          </a:p>
          <a:p>
            <a:pPr marL="573088" lvl="1" indent="-514350" algn="just">
              <a:lnSpc>
                <a:spcPct val="150000"/>
              </a:lnSpc>
              <a:spcBef>
                <a:spcPts val="580"/>
              </a:spcBef>
              <a:buClr>
                <a:srgbClr val="FF5A33"/>
              </a:buClr>
              <a:buFont typeface="+mj-lt"/>
              <a:buAutoNum type="arabicPeriod"/>
            </a:pPr>
            <a:r>
              <a:rPr lang="en-US" sz="2500" b="1" kern="0" dirty="0" err="1">
                <a:effectLst/>
                <a:latin typeface="Cambria" panose="02040503050406030204" pitchFamily="18" charset="0"/>
                <a:ea typeface="Cambria" panose="02040503050406030204" pitchFamily="18" charset="0"/>
              </a:rPr>
              <a:t>Hồi</a:t>
            </a:r>
            <a:r>
              <a:rPr lang="en-US" sz="2500" b="1" kern="0" dirty="0">
                <a:effectLst/>
                <a:latin typeface="Cambria" panose="02040503050406030204" pitchFamily="18" charset="0"/>
                <a:ea typeface="Cambria" panose="02040503050406030204" pitchFamily="18" charset="0"/>
              </a:rPr>
              <a:t> </a:t>
            </a:r>
            <a:r>
              <a:rPr lang="en-US" sz="2500" b="1" kern="0" dirty="0" err="1">
                <a:effectLst/>
                <a:latin typeface="Cambria" panose="02040503050406030204" pitchFamily="18" charset="0"/>
                <a:ea typeface="Cambria" panose="02040503050406030204" pitchFamily="18" charset="0"/>
              </a:rPr>
              <a:t>quy</a:t>
            </a:r>
            <a:r>
              <a:rPr lang="en-US" sz="2500" b="1" kern="0" dirty="0">
                <a:effectLst/>
                <a:latin typeface="Cambria" panose="02040503050406030204" pitchFamily="18" charset="0"/>
                <a:ea typeface="Cambria" panose="02040503050406030204" pitchFamily="18" charset="0"/>
              </a:rPr>
              <a:t> logistic</a:t>
            </a:r>
          </a:p>
          <a:p>
            <a:pPr marL="573088" lvl="1" indent="-514350" algn="just">
              <a:lnSpc>
                <a:spcPct val="150000"/>
              </a:lnSpc>
              <a:spcBef>
                <a:spcPts val="580"/>
              </a:spcBef>
              <a:buClr>
                <a:srgbClr val="FF5A33"/>
              </a:buClr>
              <a:buFont typeface="+mj-lt"/>
              <a:buAutoNum type="arabicPeriod"/>
            </a:pPr>
            <a:r>
              <a:rPr lang="vi-VN" sz="2500" b="1" kern="0" dirty="0">
                <a:effectLst/>
                <a:latin typeface="Cambria" panose="02040503050406030204" pitchFamily="18" charset="0"/>
                <a:ea typeface="Cambria" panose="02040503050406030204" pitchFamily="18" charset="0"/>
              </a:rPr>
              <a:t>Máy vectơ hỗ trợ (SVM)</a:t>
            </a:r>
            <a:endParaRPr lang="en-US" sz="2500" b="1" kern="0" dirty="0">
              <a:effectLst/>
              <a:latin typeface="Cambria" panose="02040503050406030204" pitchFamily="18" charset="0"/>
              <a:ea typeface="Cambria" panose="02040503050406030204" pitchFamily="18" charset="0"/>
            </a:endParaRPr>
          </a:p>
          <a:p>
            <a:pPr marL="573088" lvl="1" indent="-514350" algn="just">
              <a:lnSpc>
                <a:spcPct val="150000"/>
              </a:lnSpc>
              <a:spcBef>
                <a:spcPts val="580"/>
              </a:spcBef>
              <a:buClr>
                <a:srgbClr val="FF5A33"/>
              </a:buClr>
              <a:buFont typeface="+mj-lt"/>
              <a:buAutoNum type="arabicPeriod"/>
            </a:pPr>
            <a:r>
              <a:rPr lang="en-US" sz="2500" b="1" kern="0" dirty="0">
                <a:effectLst/>
                <a:latin typeface="Cambria" panose="02040503050406030204" pitchFamily="18" charset="0"/>
                <a:ea typeface="Cambria" panose="02040503050406030204" pitchFamily="18" charset="0"/>
              </a:rPr>
              <a:t>Naive Bayes</a:t>
            </a:r>
            <a:endParaRPr lang="en-US" sz="2500" b="1" kern="1200" dirty="0">
              <a:effectLst/>
              <a:latin typeface="Cambria" panose="02040503050406030204" pitchFamily="18" charset="0"/>
              <a:ea typeface="Cambria" panose="02040503050406030204" pitchFamily="18" charset="0"/>
            </a:endParaRPr>
          </a:p>
          <a:p>
            <a:pPr marL="573088" lvl="1" indent="-514350" algn="just">
              <a:lnSpc>
                <a:spcPct val="150000"/>
              </a:lnSpc>
              <a:spcBef>
                <a:spcPts val="580"/>
              </a:spcBef>
              <a:buClr>
                <a:srgbClr val="FF5A33"/>
              </a:buClr>
              <a:buFont typeface="+mj-lt"/>
              <a:buAutoNum type="arabicPeriod"/>
            </a:pPr>
            <a:r>
              <a:rPr lang="en-US" sz="2500" b="1" kern="0" dirty="0">
                <a:effectLst/>
                <a:latin typeface="Cambria" panose="02040503050406030204" pitchFamily="18" charset="0"/>
                <a:ea typeface="Cambria" panose="02040503050406030204" pitchFamily="18" charset="0"/>
              </a:rPr>
              <a:t>K - </a:t>
            </a:r>
            <a:r>
              <a:rPr lang="en-US" sz="2500" b="1" kern="0" dirty="0" err="1">
                <a:effectLst/>
                <a:latin typeface="Cambria" panose="02040503050406030204" pitchFamily="18" charset="0"/>
                <a:ea typeface="Cambria" panose="02040503050406030204" pitchFamily="18" charset="0"/>
              </a:rPr>
              <a:t>láng</a:t>
            </a:r>
            <a:r>
              <a:rPr lang="en-US" sz="2500" b="1" kern="0" dirty="0">
                <a:effectLst/>
                <a:latin typeface="Cambria" panose="02040503050406030204" pitchFamily="18" charset="0"/>
                <a:ea typeface="Cambria" panose="02040503050406030204" pitchFamily="18" charset="0"/>
              </a:rPr>
              <a:t> </a:t>
            </a:r>
            <a:r>
              <a:rPr lang="en-US" sz="2500" b="1" kern="0" dirty="0" err="1">
                <a:effectLst/>
                <a:latin typeface="Cambria" panose="02040503050406030204" pitchFamily="18" charset="0"/>
                <a:ea typeface="Cambria" panose="02040503050406030204" pitchFamily="18" charset="0"/>
              </a:rPr>
              <a:t>giềng</a:t>
            </a:r>
            <a:r>
              <a:rPr lang="en-US" sz="2500" b="1" kern="0" dirty="0">
                <a:effectLst/>
                <a:latin typeface="Cambria" panose="02040503050406030204" pitchFamily="18" charset="0"/>
                <a:ea typeface="Cambria" panose="02040503050406030204" pitchFamily="18" charset="0"/>
              </a:rPr>
              <a:t> </a:t>
            </a:r>
            <a:r>
              <a:rPr lang="en-US" sz="2500" b="1" kern="0" dirty="0" err="1">
                <a:effectLst/>
                <a:latin typeface="Cambria" panose="02040503050406030204" pitchFamily="18" charset="0"/>
                <a:ea typeface="Cambria" panose="02040503050406030204" pitchFamily="18" charset="0"/>
              </a:rPr>
              <a:t>gần</a:t>
            </a:r>
            <a:r>
              <a:rPr lang="en-US" sz="2500" b="1" kern="0" dirty="0">
                <a:effectLst/>
                <a:latin typeface="Cambria" panose="02040503050406030204" pitchFamily="18" charset="0"/>
                <a:ea typeface="Cambria" panose="02040503050406030204" pitchFamily="18" charset="0"/>
              </a:rPr>
              <a:t> </a:t>
            </a:r>
            <a:r>
              <a:rPr lang="en-US" sz="2500" b="1" kern="0" dirty="0" err="1">
                <a:effectLst/>
                <a:latin typeface="Cambria" panose="02040503050406030204" pitchFamily="18" charset="0"/>
                <a:ea typeface="Cambria" panose="02040503050406030204" pitchFamily="18" charset="0"/>
              </a:rPr>
              <a:t>nhất</a:t>
            </a:r>
            <a:r>
              <a:rPr lang="en-US" sz="2500" b="1" kern="0" dirty="0">
                <a:effectLst/>
                <a:latin typeface="Cambria" panose="02040503050406030204" pitchFamily="18" charset="0"/>
                <a:ea typeface="Cambria" panose="02040503050406030204" pitchFamily="18" charset="0"/>
              </a:rPr>
              <a:t> (KNN)</a:t>
            </a:r>
          </a:p>
          <a:p>
            <a:pPr marL="573088" lvl="1" indent="-514350" algn="just">
              <a:lnSpc>
                <a:spcPct val="150000"/>
              </a:lnSpc>
              <a:spcBef>
                <a:spcPts val="580"/>
              </a:spcBef>
              <a:buClr>
                <a:srgbClr val="FF5A33"/>
              </a:buClr>
              <a:buFont typeface="+mj-lt"/>
              <a:buAutoNum type="arabicPeriod"/>
            </a:pPr>
            <a:r>
              <a:rPr lang="en-US" sz="2500" b="1" kern="0" dirty="0">
                <a:effectLst/>
                <a:latin typeface="Cambria" panose="02040503050406030204" pitchFamily="18" charset="0"/>
                <a:ea typeface="Cambria" panose="02040503050406030204" pitchFamily="18" charset="0"/>
              </a:rPr>
              <a:t>K - Means Clustering</a:t>
            </a:r>
            <a:endParaRPr lang="en-US" sz="2500" b="1" kern="1200" dirty="0">
              <a:effectLst/>
              <a:latin typeface="Cambria" panose="02040503050406030204" pitchFamily="18" charset="0"/>
              <a:ea typeface="Cambria" panose="02040503050406030204" pitchFamily="18" charset="0"/>
            </a:endParaRPr>
          </a:p>
          <a:p>
            <a:pPr marL="344488" lvl="1" algn="just">
              <a:lnSpc>
                <a:spcPct val="150000"/>
              </a:lnSpc>
              <a:spcBef>
                <a:spcPts val="580"/>
              </a:spcBef>
              <a:buClr>
                <a:srgbClr val="FF5A33"/>
              </a:buClr>
              <a:buFont typeface="Wingdings"/>
              <a:buChar char=""/>
            </a:pPr>
            <a:endParaRPr lang="en-US" sz="2500" b="1" kern="0" dirty="0">
              <a:effectLst/>
              <a:latin typeface="Cambria" panose="02040503050406030204" pitchFamily="18" charset="0"/>
              <a:ea typeface="Cambria" panose="02040503050406030204" pitchFamily="18" charset="0"/>
            </a:endParaRPr>
          </a:p>
          <a:p>
            <a:pPr marL="515938" lvl="2" indent="0">
              <a:lnSpc>
                <a:spcPct val="150000"/>
              </a:lnSpc>
              <a:spcBef>
                <a:spcPts val="580"/>
              </a:spcBef>
              <a:buClr>
                <a:srgbClr val="FF5A33"/>
              </a:buClr>
              <a:buNone/>
            </a:pPr>
            <a:endParaRPr lang="en-US" sz="2500" b="1" spc="-55" dirty="0">
              <a:latin typeface="Cambria" panose="02040503050406030204" pitchFamily="18" charset="0"/>
              <a:ea typeface="Cambria" panose="02040503050406030204" pitchFamily="18" charset="0"/>
              <a:cs typeface="Segoe UI"/>
            </a:endParaRPr>
          </a:p>
        </p:txBody>
      </p:sp>
    </p:spTree>
    <p:extLst>
      <p:ext uri="{BB962C8B-B14F-4D97-AF65-F5344CB8AC3E}">
        <p14:creationId xmlns:p14="http://schemas.microsoft.com/office/powerpoint/2010/main" val="40973519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MỘT SỐ THUẬT TOÁN HỌC MÁY PHỔ BIẾN</a:t>
            </a: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280930" y="691585"/>
            <a:ext cx="11705422" cy="5337573"/>
          </a:xfrm>
        </p:spPr>
        <p:txBody>
          <a:bodyPr>
            <a:noAutofit/>
          </a:bodyPr>
          <a:lstStyle/>
          <a:p>
            <a:pPr marL="0" lvl="1" indent="0" algn="just">
              <a:lnSpc>
                <a:spcPct val="150000"/>
              </a:lnSpc>
              <a:spcBef>
                <a:spcPts val="0"/>
              </a:spcBef>
              <a:buClr>
                <a:srgbClr val="FF5A33"/>
              </a:buClr>
              <a:buNone/>
            </a:pPr>
            <a:r>
              <a:rPr lang="en-US" sz="2500" b="1" spc="-55" dirty="0" err="1">
                <a:latin typeface="Cambria" panose="02040503050406030204" pitchFamily="18" charset="0"/>
                <a:ea typeface="Cambria" panose="02040503050406030204" pitchFamily="18" charset="0"/>
                <a:cs typeface="Segoe UI"/>
              </a:rPr>
              <a:t>Hồi</a:t>
            </a:r>
            <a:r>
              <a:rPr lang="en-US" sz="2500" b="1" spc="-55" dirty="0">
                <a:latin typeface="Cambria" panose="02040503050406030204" pitchFamily="18" charset="0"/>
                <a:ea typeface="Cambria" panose="02040503050406030204" pitchFamily="18" charset="0"/>
                <a:cs typeface="Segoe UI"/>
              </a:rPr>
              <a:t> </a:t>
            </a:r>
            <a:r>
              <a:rPr lang="en-US" sz="2500" b="1" spc="-55" dirty="0" err="1">
                <a:latin typeface="Cambria" panose="02040503050406030204" pitchFamily="18" charset="0"/>
                <a:ea typeface="Cambria" panose="02040503050406030204" pitchFamily="18" charset="0"/>
                <a:cs typeface="Segoe UI"/>
              </a:rPr>
              <a:t>quy</a:t>
            </a:r>
            <a:r>
              <a:rPr lang="en-US" sz="2500" b="1" spc="-55" dirty="0">
                <a:latin typeface="Cambria" panose="02040503050406030204" pitchFamily="18" charset="0"/>
                <a:ea typeface="Cambria" panose="02040503050406030204" pitchFamily="18" charset="0"/>
                <a:cs typeface="Segoe UI"/>
              </a:rPr>
              <a:t> </a:t>
            </a:r>
            <a:r>
              <a:rPr lang="en-US" sz="2500" b="1" spc="-55" dirty="0" err="1">
                <a:latin typeface="Cambria" panose="02040503050406030204" pitchFamily="18" charset="0"/>
                <a:ea typeface="Cambria" panose="02040503050406030204" pitchFamily="18" charset="0"/>
                <a:cs typeface="Segoe UI"/>
              </a:rPr>
              <a:t>tuyến</a:t>
            </a:r>
            <a:r>
              <a:rPr lang="en-US" sz="2500" b="1" spc="-55" dirty="0">
                <a:latin typeface="Cambria" panose="02040503050406030204" pitchFamily="18" charset="0"/>
                <a:ea typeface="Cambria" panose="02040503050406030204" pitchFamily="18" charset="0"/>
                <a:cs typeface="Segoe UI"/>
              </a:rPr>
              <a:t> </a:t>
            </a:r>
            <a:r>
              <a:rPr lang="en-US" sz="2500" b="1" spc="-55" dirty="0" err="1">
                <a:latin typeface="Cambria" panose="02040503050406030204" pitchFamily="18" charset="0"/>
                <a:ea typeface="Cambria" panose="02040503050406030204" pitchFamily="18" charset="0"/>
                <a:cs typeface="Segoe UI"/>
              </a:rPr>
              <a:t>tính</a:t>
            </a:r>
            <a:endParaRPr lang="en-US" sz="2500" b="1" spc="-55" dirty="0">
              <a:latin typeface="Cambria" panose="02040503050406030204" pitchFamily="18" charset="0"/>
              <a:ea typeface="Cambria" panose="02040503050406030204" pitchFamily="18" charset="0"/>
              <a:cs typeface="Segoe UI"/>
            </a:endParaRPr>
          </a:p>
          <a:p>
            <a:pPr marL="801688" lvl="2" indent="-342900" algn="just">
              <a:lnSpc>
                <a:spcPct val="150000"/>
              </a:lnSpc>
              <a:spcBef>
                <a:spcPts val="0"/>
              </a:spcBef>
              <a:buClr>
                <a:srgbClr val="FF5A33"/>
              </a:buClr>
              <a:buFont typeface="Wingdings" panose="05000000000000000000" pitchFamily="2" charset="2"/>
              <a:buChar char="§"/>
            </a:pPr>
            <a:r>
              <a:rPr lang="vi-VN" sz="2500" b="1" spc="-55" dirty="0">
                <a:latin typeface="Cambria" panose="02040503050406030204" pitchFamily="18" charset="0"/>
                <a:ea typeface="Cambria" panose="02040503050406030204" pitchFamily="18" charset="0"/>
                <a:cs typeface="Segoe UI"/>
              </a:rPr>
              <a:t>Hồi quy tuyến tính đơn giản </a:t>
            </a:r>
            <a:r>
              <a:rPr lang="vi-VN" sz="2500" b="0" spc="-55" dirty="0">
                <a:latin typeface="Cambria" panose="02040503050406030204" pitchFamily="18" charset="0"/>
                <a:ea typeface="Cambria" panose="02040503050406030204" pitchFamily="18" charset="0"/>
                <a:cs typeface="Segoe UI"/>
              </a:rPr>
              <a:t>- Một thuật toán hồi quy tuyến tính được gọi là hồi quy tuyến tính đơn giản nếu nó chỉ có một biến độc lập.</a:t>
            </a:r>
          </a:p>
          <a:p>
            <a:pPr marL="801688" lvl="2" indent="-342900" algn="just">
              <a:lnSpc>
                <a:spcPct val="150000"/>
              </a:lnSpc>
              <a:spcBef>
                <a:spcPts val="0"/>
              </a:spcBef>
              <a:buClr>
                <a:srgbClr val="FF5A33"/>
              </a:buClr>
              <a:buFont typeface="Wingdings" panose="05000000000000000000" pitchFamily="2" charset="2"/>
              <a:buChar char="§"/>
            </a:pPr>
            <a:r>
              <a:rPr lang="vi-VN" sz="2500" b="1" spc="-55" dirty="0">
                <a:latin typeface="Cambria" panose="02040503050406030204" pitchFamily="18" charset="0"/>
                <a:ea typeface="Cambria" panose="02040503050406030204" pitchFamily="18" charset="0"/>
                <a:cs typeface="Segoe UI"/>
              </a:rPr>
              <a:t>Hồi quy </a:t>
            </a:r>
            <a:r>
              <a:rPr lang="en-US" sz="2500" b="1" spc="-55" dirty="0" err="1">
                <a:latin typeface="Cambria" panose="02040503050406030204" pitchFamily="18" charset="0"/>
                <a:ea typeface="Cambria" panose="02040503050406030204" pitchFamily="18" charset="0"/>
                <a:cs typeface="Segoe UI"/>
              </a:rPr>
              <a:t>đa</a:t>
            </a:r>
            <a:r>
              <a:rPr lang="vi-VN" sz="2500" b="1" spc="-55" dirty="0">
                <a:latin typeface="Cambria" panose="02040503050406030204" pitchFamily="18" charset="0"/>
                <a:ea typeface="Cambria" panose="02040503050406030204" pitchFamily="18" charset="0"/>
                <a:cs typeface="Segoe UI"/>
              </a:rPr>
              <a:t> tuyến tính </a:t>
            </a:r>
            <a:r>
              <a:rPr lang="vi-VN" sz="2500" b="0" spc="-55" dirty="0">
                <a:latin typeface="Cambria" panose="02040503050406030204" pitchFamily="18" charset="0"/>
                <a:ea typeface="Cambria" panose="02040503050406030204" pitchFamily="18" charset="0"/>
                <a:cs typeface="Segoe UI"/>
              </a:rPr>
              <a:t>- Một thuật toán hồi quy tuyến tính được gọi là hồi quy nhiều tuyến tính nếu nó có nhiều hơn một biến độc lập.</a:t>
            </a:r>
            <a:endParaRPr lang="en-US" sz="2500" b="0" spc="-55" dirty="0">
              <a:latin typeface="Cambria" panose="02040503050406030204" pitchFamily="18" charset="0"/>
              <a:ea typeface="Cambria" panose="02040503050406030204" pitchFamily="18" charset="0"/>
              <a:cs typeface="Segoe UI"/>
            </a:endParaRPr>
          </a:p>
          <a:p>
            <a:pPr marL="58738" lvl="1" indent="0" algn="just">
              <a:lnSpc>
                <a:spcPct val="150000"/>
              </a:lnSpc>
              <a:spcBef>
                <a:spcPts val="580"/>
              </a:spcBef>
              <a:buClr>
                <a:srgbClr val="FF5A33"/>
              </a:buClr>
              <a:buNone/>
            </a:pPr>
            <a:r>
              <a:rPr lang="en-US" sz="2500" b="0" kern="0" dirty="0" err="1">
                <a:solidFill>
                  <a:srgbClr val="000000"/>
                </a:solidFill>
                <a:effectLst/>
                <a:latin typeface="Cambria" panose="02040503050406030204" pitchFamily="18" charset="0"/>
                <a:ea typeface="Cambria" panose="02040503050406030204" pitchFamily="18" charset="0"/>
              </a:rPr>
              <a:t>Hồi</a:t>
            </a:r>
            <a:r>
              <a:rPr lang="en-US" sz="2500" b="0" kern="0" dirty="0">
                <a:solidFill>
                  <a:srgbClr val="000000"/>
                </a:solidFill>
                <a:effectLst/>
                <a:latin typeface="Cambria" panose="02040503050406030204" pitchFamily="18" charset="0"/>
                <a:ea typeface="Cambria" panose="02040503050406030204" pitchFamily="18" charset="0"/>
              </a:rPr>
              <a:t> </a:t>
            </a:r>
            <a:r>
              <a:rPr lang="en-US" sz="2500" b="0" kern="0" dirty="0" err="1">
                <a:solidFill>
                  <a:srgbClr val="000000"/>
                </a:solidFill>
                <a:effectLst/>
                <a:latin typeface="Cambria" panose="02040503050406030204" pitchFamily="18" charset="0"/>
                <a:ea typeface="Cambria" panose="02040503050406030204" pitchFamily="18" charset="0"/>
              </a:rPr>
              <a:t>quy</a:t>
            </a:r>
            <a:r>
              <a:rPr lang="en-US" sz="2500" b="0" kern="0" dirty="0">
                <a:solidFill>
                  <a:srgbClr val="000000"/>
                </a:solidFill>
                <a:effectLst/>
                <a:latin typeface="Cambria" panose="02040503050406030204" pitchFamily="18" charset="0"/>
                <a:ea typeface="Cambria" panose="02040503050406030204" pitchFamily="18" charset="0"/>
              </a:rPr>
              <a:t> </a:t>
            </a:r>
            <a:r>
              <a:rPr lang="en-US" sz="2500" b="0" kern="0" dirty="0" err="1">
                <a:solidFill>
                  <a:srgbClr val="000000"/>
                </a:solidFill>
                <a:effectLst/>
                <a:latin typeface="Cambria" panose="02040503050406030204" pitchFamily="18" charset="0"/>
                <a:ea typeface="Cambria" panose="02040503050406030204" pitchFamily="18" charset="0"/>
              </a:rPr>
              <a:t>tuyến</a:t>
            </a:r>
            <a:r>
              <a:rPr lang="en-US" sz="2500" b="0" kern="0" dirty="0">
                <a:solidFill>
                  <a:srgbClr val="000000"/>
                </a:solidFill>
                <a:effectLst/>
                <a:latin typeface="Cambria" panose="02040503050406030204" pitchFamily="18" charset="0"/>
                <a:ea typeface="Cambria" panose="02040503050406030204" pitchFamily="18" charset="0"/>
              </a:rPr>
              <a:t> </a:t>
            </a:r>
            <a:r>
              <a:rPr lang="en-US" sz="2500" b="0" kern="0" dirty="0" err="1">
                <a:solidFill>
                  <a:srgbClr val="000000"/>
                </a:solidFill>
                <a:effectLst/>
                <a:latin typeface="Cambria" panose="02040503050406030204" pitchFamily="18" charset="0"/>
                <a:ea typeface="Cambria" panose="02040503050406030204" pitchFamily="18" charset="0"/>
              </a:rPr>
              <a:t>tính</a:t>
            </a:r>
            <a:r>
              <a:rPr lang="en-US" sz="2500" b="0" kern="0" dirty="0">
                <a:solidFill>
                  <a:srgbClr val="000000"/>
                </a:solidFill>
                <a:effectLst/>
                <a:latin typeface="Cambria" panose="02040503050406030204" pitchFamily="18" charset="0"/>
                <a:ea typeface="Cambria" panose="02040503050406030204" pitchFamily="18" charset="0"/>
              </a:rPr>
              <a:t> </a:t>
            </a:r>
            <a:r>
              <a:rPr lang="en-US" sz="2500" b="0" kern="0" dirty="0" err="1">
                <a:solidFill>
                  <a:srgbClr val="000000"/>
                </a:solidFill>
                <a:effectLst/>
                <a:latin typeface="Cambria" panose="02040503050406030204" pitchFamily="18" charset="0"/>
                <a:ea typeface="Cambria" panose="02040503050406030204" pitchFamily="18" charset="0"/>
              </a:rPr>
              <a:t>chủ</a:t>
            </a:r>
            <a:r>
              <a:rPr lang="en-US" sz="2500" b="0" kern="0" dirty="0">
                <a:solidFill>
                  <a:srgbClr val="000000"/>
                </a:solidFill>
                <a:effectLst/>
                <a:latin typeface="Cambria" panose="02040503050406030204" pitchFamily="18" charset="0"/>
                <a:ea typeface="Cambria" panose="02040503050406030204" pitchFamily="18" charset="0"/>
              </a:rPr>
              <a:t> </a:t>
            </a:r>
            <a:r>
              <a:rPr lang="en-US" sz="2500" b="0" kern="0" dirty="0" err="1">
                <a:solidFill>
                  <a:srgbClr val="000000"/>
                </a:solidFill>
                <a:effectLst/>
                <a:latin typeface="Cambria" panose="02040503050406030204" pitchFamily="18" charset="0"/>
                <a:ea typeface="Cambria" panose="02040503050406030204" pitchFamily="18" charset="0"/>
              </a:rPr>
              <a:t>yếu</a:t>
            </a:r>
            <a:r>
              <a:rPr lang="en-US" sz="2500" b="0" kern="0" dirty="0">
                <a:solidFill>
                  <a:srgbClr val="000000"/>
                </a:solidFill>
                <a:effectLst/>
                <a:latin typeface="Cambria" panose="02040503050406030204" pitchFamily="18" charset="0"/>
                <a:ea typeface="Cambria" panose="02040503050406030204" pitchFamily="18" charset="0"/>
              </a:rPr>
              <a:t> </a:t>
            </a:r>
            <a:r>
              <a:rPr lang="en-US" sz="2500" b="0" kern="0" dirty="0" err="1">
                <a:solidFill>
                  <a:srgbClr val="000000"/>
                </a:solidFill>
                <a:effectLst/>
                <a:latin typeface="Cambria" panose="02040503050406030204" pitchFamily="18" charset="0"/>
                <a:ea typeface="Cambria" panose="02040503050406030204" pitchFamily="18" charset="0"/>
              </a:rPr>
              <a:t>được</a:t>
            </a:r>
            <a:r>
              <a:rPr lang="en-US" sz="2500" b="0" kern="0" dirty="0">
                <a:solidFill>
                  <a:srgbClr val="000000"/>
                </a:solidFill>
                <a:effectLst/>
                <a:latin typeface="Cambria" panose="02040503050406030204" pitchFamily="18" charset="0"/>
                <a:ea typeface="Cambria" panose="02040503050406030204" pitchFamily="18" charset="0"/>
              </a:rPr>
              <a:t> </a:t>
            </a:r>
            <a:r>
              <a:rPr lang="en-US" sz="2500" b="0" kern="0" dirty="0" err="1">
                <a:solidFill>
                  <a:srgbClr val="000000"/>
                </a:solidFill>
                <a:effectLst/>
                <a:latin typeface="Cambria" panose="02040503050406030204" pitchFamily="18" charset="0"/>
                <a:ea typeface="Cambria" panose="02040503050406030204" pitchFamily="18" charset="0"/>
              </a:rPr>
              <a:t>sử</a:t>
            </a:r>
            <a:r>
              <a:rPr lang="en-US" sz="2500" b="0" kern="0" dirty="0">
                <a:solidFill>
                  <a:srgbClr val="000000"/>
                </a:solidFill>
                <a:effectLst/>
                <a:latin typeface="Cambria" panose="02040503050406030204" pitchFamily="18" charset="0"/>
                <a:ea typeface="Cambria" panose="02040503050406030204" pitchFamily="18" charset="0"/>
              </a:rPr>
              <a:t> </a:t>
            </a:r>
            <a:r>
              <a:rPr lang="en-US" sz="2500" b="0" kern="0" dirty="0" err="1">
                <a:solidFill>
                  <a:srgbClr val="000000"/>
                </a:solidFill>
                <a:effectLst/>
                <a:latin typeface="Cambria" panose="02040503050406030204" pitchFamily="18" charset="0"/>
                <a:ea typeface="Cambria" panose="02040503050406030204" pitchFamily="18" charset="0"/>
              </a:rPr>
              <a:t>dụng</a:t>
            </a:r>
            <a:r>
              <a:rPr lang="en-US" sz="2500" b="0" kern="0" dirty="0">
                <a:solidFill>
                  <a:srgbClr val="000000"/>
                </a:solidFill>
                <a:effectLst/>
                <a:latin typeface="Cambria" panose="02040503050406030204" pitchFamily="18" charset="0"/>
                <a:ea typeface="Cambria" panose="02040503050406030204" pitchFamily="18" charset="0"/>
              </a:rPr>
              <a:t> </a:t>
            </a:r>
            <a:r>
              <a:rPr lang="en-US" sz="2500" b="0" kern="0" dirty="0" err="1">
                <a:solidFill>
                  <a:srgbClr val="000000"/>
                </a:solidFill>
                <a:effectLst/>
                <a:latin typeface="Cambria" panose="02040503050406030204" pitchFamily="18" charset="0"/>
                <a:ea typeface="Cambria" panose="02040503050406030204" pitchFamily="18" charset="0"/>
              </a:rPr>
              <a:t>để</a:t>
            </a:r>
            <a:r>
              <a:rPr lang="en-US" sz="2500" b="0" kern="0" dirty="0">
                <a:solidFill>
                  <a:srgbClr val="000000"/>
                </a:solidFill>
                <a:effectLst/>
                <a:latin typeface="Cambria" panose="02040503050406030204" pitchFamily="18" charset="0"/>
                <a:ea typeface="Cambria" panose="02040503050406030204" pitchFamily="18" charset="0"/>
              </a:rPr>
              <a:t> </a:t>
            </a:r>
            <a:r>
              <a:rPr lang="en-US" sz="2500" b="0" kern="0" dirty="0" err="1">
                <a:solidFill>
                  <a:srgbClr val="000000"/>
                </a:solidFill>
                <a:effectLst/>
                <a:latin typeface="Cambria" panose="02040503050406030204" pitchFamily="18" charset="0"/>
                <a:ea typeface="Cambria" panose="02040503050406030204" pitchFamily="18" charset="0"/>
              </a:rPr>
              <a:t>ước</a:t>
            </a:r>
            <a:r>
              <a:rPr lang="en-US" sz="2500" b="0" kern="0" dirty="0">
                <a:solidFill>
                  <a:srgbClr val="000000"/>
                </a:solidFill>
                <a:effectLst/>
                <a:latin typeface="Cambria" panose="02040503050406030204" pitchFamily="18" charset="0"/>
                <a:ea typeface="Cambria" panose="02040503050406030204" pitchFamily="18" charset="0"/>
              </a:rPr>
              <a:t> </a:t>
            </a:r>
            <a:r>
              <a:rPr lang="en-US" sz="2500" b="0" kern="0" dirty="0" err="1">
                <a:solidFill>
                  <a:srgbClr val="000000"/>
                </a:solidFill>
                <a:effectLst/>
                <a:latin typeface="Cambria" panose="02040503050406030204" pitchFamily="18" charset="0"/>
                <a:ea typeface="Cambria" panose="02040503050406030204" pitchFamily="18" charset="0"/>
              </a:rPr>
              <a:t>tính</a:t>
            </a:r>
            <a:r>
              <a:rPr lang="en-US" sz="2500" b="0" kern="0" dirty="0">
                <a:solidFill>
                  <a:srgbClr val="000000"/>
                </a:solidFill>
                <a:effectLst/>
                <a:latin typeface="Cambria" panose="02040503050406030204" pitchFamily="18" charset="0"/>
                <a:ea typeface="Cambria" panose="02040503050406030204" pitchFamily="18" charset="0"/>
              </a:rPr>
              <a:t> </a:t>
            </a:r>
            <a:r>
              <a:rPr lang="en-US" sz="2500" b="0" kern="0" dirty="0" err="1">
                <a:solidFill>
                  <a:srgbClr val="000000"/>
                </a:solidFill>
                <a:effectLst/>
                <a:latin typeface="Cambria" panose="02040503050406030204" pitchFamily="18" charset="0"/>
                <a:ea typeface="Cambria" panose="02040503050406030204" pitchFamily="18" charset="0"/>
              </a:rPr>
              <a:t>các</a:t>
            </a:r>
            <a:r>
              <a:rPr lang="en-US" sz="2500" b="0" kern="0" dirty="0">
                <a:solidFill>
                  <a:srgbClr val="000000"/>
                </a:solidFill>
                <a:effectLst/>
                <a:latin typeface="Cambria" panose="02040503050406030204" pitchFamily="18" charset="0"/>
                <a:ea typeface="Cambria" panose="02040503050406030204" pitchFamily="18" charset="0"/>
              </a:rPr>
              <a:t> </a:t>
            </a:r>
            <a:r>
              <a:rPr lang="en-US" sz="2500" b="0" kern="0" dirty="0" err="1">
                <a:solidFill>
                  <a:srgbClr val="000000"/>
                </a:solidFill>
                <a:effectLst/>
                <a:latin typeface="Cambria" panose="02040503050406030204" pitchFamily="18" charset="0"/>
                <a:ea typeface="Cambria" panose="02040503050406030204" pitchFamily="18" charset="0"/>
              </a:rPr>
              <a:t>giá</a:t>
            </a:r>
            <a:r>
              <a:rPr lang="en-US" sz="2500" b="0" kern="0" dirty="0">
                <a:solidFill>
                  <a:srgbClr val="000000"/>
                </a:solidFill>
                <a:effectLst/>
                <a:latin typeface="Cambria" panose="02040503050406030204" pitchFamily="18" charset="0"/>
                <a:ea typeface="Cambria" panose="02040503050406030204" pitchFamily="18" charset="0"/>
              </a:rPr>
              <a:t> </a:t>
            </a:r>
            <a:r>
              <a:rPr lang="en-US" sz="2500" b="0" kern="0" dirty="0" err="1">
                <a:solidFill>
                  <a:srgbClr val="000000"/>
                </a:solidFill>
                <a:effectLst/>
                <a:latin typeface="Cambria" panose="02040503050406030204" pitchFamily="18" charset="0"/>
                <a:ea typeface="Cambria" panose="02040503050406030204" pitchFamily="18" charset="0"/>
              </a:rPr>
              <a:t>trị</a:t>
            </a:r>
            <a:r>
              <a:rPr lang="en-US" sz="2500" b="0" kern="0" dirty="0">
                <a:solidFill>
                  <a:srgbClr val="000000"/>
                </a:solidFill>
                <a:effectLst/>
                <a:latin typeface="Cambria" panose="02040503050406030204" pitchFamily="18" charset="0"/>
                <a:ea typeface="Cambria" panose="02040503050406030204" pitchFamily="18" charset="0"/>
              </a:rPr>
              <a:t> </a:t>
            </a:r>
            <a:r>
              <a:rPr lang="en-US" sz="2500" b="0" kern="0" dirty="0" err="1">
                <a:solidFill>
                  <a:srgbClr val="000000"/>
                </a:solidFill>
                <a:effectLst/>
                <a:latin typeface="Cambria" panose="02040503050406030204" pitchFamily="18" charset="0"/>
                <a:ea typeface="Cambria" panose="02040503050406030204" pitchFamily="18" charset="0"/>
              </a:rPr>
              <a:t>thực</a:t>
            </a:r>
            <a:r>
              <a:rPr lang="en-US" sz="2500" b="0" kern="0" dirty="0">
                <a:solidFill>
                  <a:srgbClr val="000000"/>
                </a:solidFill>
                <a:effectLst/>
                <a:latin typeface="Cambria" panose="02040503050406030204" pitchFamily="18" charset="0"/>
                <a:ea typeface="Cambria" panose="02040503050406030204" pitchFamily="18" charset="0"/>
              </a:rPr>
              <a:t> </a:t>
            </a:r>
            <a:r>
              <a:rPr lang="en-US" sz="2500" b="0" kern="0" dirty="0" err="1">
                <a:solidFill>
                  <a:srgbClr val="000000"/>
                </a:solidFill>
                <a:effectLst/>
                <a:latin typeface="Cambria" panose="02040503050406030204" pitchFamily="18" charset="0"/>
                <a:ea typeface="Cambria" panose="02040503050406030204" pitchFamily="18" charset="0"/>
              </a:rPr>
              <a:t>dựa</a:t>
            </a:r>
            <a:r>
              <a:rPr lang="en-US" sz="2500" b="0" kern="0" dirty="0">
                <a:solidFill>
                  <a:srgbClr val="000000"/>
                </a:solidFill>
                <a:effectLst/>
                <a:latin typeface="Cambria" panose="02040503050406030204" pitchFamily="18" charset="0"/>
                <a:ea typeface="Cambria" panose="02040503050406030204" pitchFamily="18" charset="0"/>
              </a:rPr>
              <a:t> </a:t>
            </a:r>
            <a:r>
              <a:rPr lang="en-US" sz="2500" b="0" kern="0" dirty="0" err="1">
                <a:solidFill>
                  <a:srgbClr val="000000"/>
                </a:solidFill>
                <a:effectLst/>
                <a:latin typeface="Cambria" panose="02040503050406030204" pitchFamily="18" charset="0"/>
                <a:ea typeface="Cambria" panose="02040503050406030204" pitchFamily="18" charset="0"/>
              </a:rPr>
              <a:t>trên</a:t>
            </a:r>
            <a:r>
              <a:rPr lang="en-US" sz="2500" b="0" kern="0" dirty="0">
                <a:solidFill>
                  <a:srgbClr val="000000"/>
                </a:solidFill>
                <a:effectLst/>
                <a:latin typeface="Cambria" panose="02040503050406030204" pitchFamily="18" charset="0"/>
                <a:ea typeface="Cambria" panose="02040503050406030204" pitchFamily="18" charset="0"/>
              </a:rPr>
              <a:t> (</a:t>
            </a:r>
            <a:r>
              <a:rPr lang="en-US" sz="2500" b="0" kern="0" dirty="0" err="1">
                <a:solidFill>
                  <a:srgbClr val="000000"/>
                </a:solidFill>
                <a:effectLst/>
                <a:latin typeface="Cambria" panose="02040503050406030204" pitchFamily="18" charset="0"/>
                <a:ea typeface="Cambria" panose="02040503050406030204" pitchFamily="18" charset="0"/>
              </a:rPr>
              <a:t>các</a:t>
            </a:r>
            <a:r>
              <a:rPr lang="en-US" sz="2500" b="0" kern="0" dirty="0">
                <a:solidFill>
                  <a:srgbClr val="000000"/>
                </a:solidFill>
                <a:effectLst/>
                <a:latin typeface="Cambria" panose="02040503050406030204" pitchFamily="18" charset="0"/>
                <a:ea typeface="Cambria" panose="02040503050406030204" pitchFamily="18" charset="0"/>
              </a:rPr>
              <a:t>) </a:t>
            </a:r>
            <a:r>
              <a:rPr lang="en-US" sz="2500" b="0" kern="0" dirty="0" err="1">
                <a:solidFill>
                  <a:srgbClr val="000000"/>
                </a:solidFill>
                <a:effectLst/>
                <a:latin typeface="Cambria" panose="02040503050406030204" pitchFamily="18" charset="0"/>
                <a:ea typeface="Cambria" panose="02040503050406030204" pitchFamily="18" charset="0"/>
              </a:rPr>
              <a:t>biến</a:t>
            </a:r>
            <a:r>
              <a:rPr lang="en-US" sz="2500" b="0" kern="0" dirty="0">
                <a:solidFill>
                  <a:srgbClr val="000000"/>
                </a:solidFill>
                <a:effectLst/>
                <a:latin typeface="Cambria" panose="02040503050406030204" pitchFamily="18" charset="0"/>
                <a:ea typeface="Cambria" panose="02040503050406030204" pitchFamily="18" charset="0"/>
              </a:rPr>
              <a:t> </a:t>
            </a:r>
            <a:r>
              <a:rPr lang="en-US" sz="2500" b="0" kern="0" dirty="0" err="1">
                <a:solidFill>
                  <a:srgbClr val="000000"/>
                </a:solidFill>
                <a:effectLst/>
                <a:latin typeface="Cambria" panose="02040503050406030204" pitchFamily="18" charset="0"/>
                <a:ea typeface="Cambria" panose="02040503050406030204" pitchFamily="18" charset="0"/>
              </a:rPr>
              <a:t>liên</a:t>
            </a:r>
            <a:r>
              <a:rPr lang="en-US" sz="2500" b="0" kern="0" dirty="0">
                <a:solidFill>
                  <a:srgbClr val="000000"/>
                </a:solidFill>
                <a:effectLst/>
                <a:latin typeface="Cambria" panose="02040503050406030204" pitchFamily="18" charset="0"/>
                <a:ea typeface="Cambria" panose="02040503050406030204" pitchFamily="18" charset="0"/>
              </a:rPr>
              <a:t> </a:t>
            </a:r>
            <a:r>
              <a:rPr lang="en-US" sz="2500" b="0" kern="0" dirty="0" err="1">
                <a:solidFill>
                  <a:srgbClr val="000000"/>
                </a:solidFill>
                <a:effectLst/>
                <a:latin typeface="Cambria" panose="02040503050406030204" pitchFamily="18" charset="0"/>
                <a:ea typeface="Cambria" panose="02040503050406030204" pitchFamily="18" charset="0"/>
              </a:rPr>
              <a:t>tục</a:t>
            </a:r>
            <a:r>
              <a:rPr lang="en-US" sz="2500" b="0" kern="0" dirty="0">
                <a:solidFill>
                  <a:srgbClr val="000000"/>
                </a:solidFill>
                <a:effectLst/>
                <a:latin typeface="Cambria" panose="02040503050406030204" pitchFamily="18" charset="0"/>
                <a:ea typeface="Cambria" panose="02040503050406030204" pitchFamily="18" charset="0"/>
              </a:rPr>
              <a:t>. </a:t>
            </a:r>
          </a:p>
        </p:txBody>
      </p:sp>
    </p:spTree>
    <p:extLst>
      <p:ext uri="{BB962C8B-B14F-4D97-AF65-F5344CB8AC3E}">
        <p14:creationId xmlns:p14="http://schemas.microsoft.com/office/powerpoint/2010/main" val="30261926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MỘT SỐ THUẬT TOÁN HỌC MÁY PHỔ BIẾN</a:t>
            </a: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280930" y="691585"/>
            <a:ext cx="11705422" cy="5337573"/>
          </a:xfrm>
        </p:spPr>
        <p:txBody>
          <a:bodyPr>
            <a:noAutofit/>
          </a:bodyPr>
          <a:lstStyle/>
          <a:p>
            <a:pPr marL="0" lvl="1" indent="0" algn="just">
              <a:lnSpc>
                <a:spcPct val="150000"/>
              </a:lnSpc>
              <a:spcBef>
                <a:spcPts val="0"/>
              </a:spcBef>
              <a:buClr>
                <a:srgbClr val="FF5A33"/>
              </a:buClr>
              <a:buNone/>
            </a:pPr>
            <a:r>
              <a:rPr lang="en-US" sz="2500" b="1" spc="-55" dirty="0" err="1">
                <a:latin typeface="Cambria" panose="02040503050406030204" pitchFamily="18" charset="0"/>
                <a:ea typeface="Cambria" panose="02040503050406030204" pitchFamily="18" charset="0"/>
                <a:cs typeface="Segoe UI"/>
              </a:rPr>
              <a:t>Ví</a:t>
            </a:r>
            <a:r>
              <a:rPr lang="en-US" sz="2500" b="1" spc="-55" dirty="0">
                <a:latin typeface="Cambria" panose="02040503050406030204" pitchFamily="18" charset="0"/>
                <a:ea typeface="Cambria" panose="02040503050406030204" pitchFamily="18" charset="0"/>
                <a:cs typeface="Segoe UI"/>
              </a:rPr>
              <a:t> </a:t>
            </a:r>
            <a:r>
              <a:rPr lang="en-US" sz="2500" b="1" spc="-55" dirty="0" err="1">
                <a:latin typeface="Cambria" panose="02040503050406030204" pitchFamily="18" charset="0"/>
                <a:ea typeface="Cambria" panose="02040503050406030204" pitchFamily="18" charset="0"/>
                <a:cs typeface="Segoe UI"/>
              </a:rPr>
              <a:t>dụ</a:t>
            </a:r>
            <a:r>
              <a:rPr lang="en-US" sz="2500" b="1" spc="-55" dirty="0">
                <a:latin typeface="Cambria" panose="02040503050406030204" pitchFamily="18" charset="0"/>
                <a:ea typeface="Cambria" panose="02040503050406030204" pitchFamily="18" charset="0"/>
                <a:cs typeface="Segoe UI"/>
              </a:rPr>
              <a:t>: </a:t>
            </a:r>
            <a:r>
              <a:rPr lang="en-US" sz="2500" b="1" spc="-55" dirty="0" err="1">
                <a:latin typeface="Cambria" panose="02040503050406030204" pitchFamily="18" charset="0"/>
                <a:ea typeface="Cambria" panose="02040503050406030204" pitchFamily="18" charset="0"/>
                <a:cs typeface="Segoe UI"/>
              </a:rPr>
              <a:t>Hồi</a:t>
            </a:r>
            <a:r>
              <a:rPr lang="en-US" sz="2500" b="1" spc="-55" dirty="0">
                <a:latin typeface="Cambria" panose="02040503050406030204" pitchFamily="18" charset="0"/>
                <a:ea typeface="Cambria" panose="02040503050406030204" pitchFamily="18" charset="0"/>
                <a:cs typeface="Segoe UI"/>
              </a:rPr>
              <a:t> </a:t>
            </a:r>
            <a:r>
              <a:rPr lang="en-US" sz="2500" b="1" spc="-55" dirty="0" err="1">
                <a:latin typeface="Cambria" panose="02040503050406030204" pitchFamily="18" charset="0"/>
                <a:ea typeface="Cambria" panose="02040503050406030204" pitchFamily="18" charset="0"/>
                <a:cs typeface="Segoe UI"/>
              </a:rPr>
              <a:t>quy</a:t>
            </a:r>
            <a:r>
              <a:rPr lang="en-US" sz="2500" b="1" spc="-55" dirty="0">
                <a:latin typeface="Cambria" panose="02040503050406030204" pitchFamily="18" charset="0"/>
                <a:ea typeface="Cambria" panose="02040503050406030204" pitchFamily="18" charset="0"/>
                <a:cs typeface="Segoe UI"/>
              </a:rPr>
              <a:t> </a:t>
            </a:r>
            <a:r>
              <a:rPr lang="en-US" sz="2500" b="1" spc="-55" dirty="0" err="1">
                <a:latin typeface="Cambria" panose="02040503050406030204" pitchFamily="18" charset="0"/>
                <a:ea typeface="Cambria" panose="02040503050406030204" pitchFamily="18" charset="0"/>
                <a:cs typeface="Segoe UI"/>
              </a:rPr>
              <a:t>tuyến</a:t>
            </a:r>
            <a:r>
              <a:rPr lang="en-US" sz="2500" b="1" spc="-55" dirty="0">
                <a:latin typeface="Cambria" panose="02040503050406030204" pitchFamily="18" charset="0"/>
                <a:ea typeface="Cambria" panose="02040503050406030204" pitchFamily="18" charset="0"/>
                <a:cs typeface="Segoe UI"/>
              </a:rPr>
              <a:t> </a:t>
            </a:r>
            <a:r>
              <a:rPr lang="en-US" sz="2500" b="1" spc="-55" dirty="0" err="1">
                <a:latin typeface="Cambria" panose="02040503050406030204" pitchFamily="18" charset="0"/>
                <a:ea typeface="Cambria" panose="02040503050406030204" pitchFamily="18" charset="0"/>
                <a:cs typeface="Segoe UI"/>
              </a:rPr>
              <a:t>tính</a:t>
            </a:r>
            <a:endParaRPr lang="en-US" sz="2500" b="1" spc="-55" dirty="0">
              <a:latin typeface="Cambria" panose="02040503050406030204" pitchFamily="18" charset="0"/>
              <a:ea typeface="Cambria" panose="02040503050406030204" pitchFamily="18" charset="0"/>
              <a:cs typeface="Segoe UI"/>
            </a:endParaRPr>
          </a:p>
          <a:p>
            <a:pPr>
              <a:lnSpc>
                <a:spcPct val="150000"/>
              </a:lnSpc>
            </a:pPr>
            <a:r>
              <a:rPr lang="en-US" sz="2500" dirty="0">
                <a:latin typeface="Cambria" panose="02040503050406030204" pitchFamily="18" charset="0"/>
                <a:ea typeface="Cambria" panose="02040503050406030204" pitchFamily="18" charset="0"/>
              </a:rPr>
              <a:t>S</a:t>
            </a:r>
            <a:r>
              <a:rPr lang="vi-VN" sz="2500" dirty="0">
                <a:latin typeface="Cambria" panose="02040503050406030204" pitchFamily="18" charset="0"/>
                <a:ea typeface="Cambria" panose="02040503050406030204" pitchFamily="18" charset="0"/>
              </a:rPr>
              <a:t>ử dụng ứng dụng Grab để đặt 1 chuyến đi từ nhà tôi đến Bờ Hồ Hoàn Kiếm dài </a:t>
            </a:r>
            <a:r>
              <a:rPr lang="vi-VN" sz="2500" b="1" dirty="0">
                <a:latin typeface="Cambria" panose="02040503050406030204" pitchFamily="18" charset="0"/>
                <a:ea typeface="Cambria" panose="02040503050406030204" pitchFamily="18" charset="0"/>
              </a:rPr>
              <a:t>5km</a:t>
            </a:r>
            <a:r>
              <a:rPr lang="vi-VN" sz="2500" dirty="0">
                <a:latin typeface="Cambria" panose="02040503050406030204" pitchFamily="18" charset="0"/>
                <a:ea typeface="Cambria" panose="02040503050406030204" pitchFamily="18" charset="0"/>
              </a:rPr>
              <a:t> nhưng xui thay ứng dụng này </a:t>
            </a:r>
            <a:r>
              <a:rPr lang="vi-VN" sz="2500" b="1" dirty="0">
                <a:latin typeface="Cambria" panose="02040503050406030204" pitchFamily="18" charset="0"/>
                <a:ea typeface="Cambria" panose="02040503050406030204" pitchFamily="18" charset="0"/>
              </a:rPr>
              <a:t>mất khả năng tính toán thành tiền</a:t>
            </a:r>
            <a:r>
              <a:rPr lang="vi-VN" sz="2500" dirty="0">
                <a:latin typeface="Cambria" panose="02040503050406030204" pitchFamily="18" charset="0"/>
                <a:ea typeface="Cambria" panose="02040503050406030204" pitchFamily="18" charset="0"/>
              </a:rPr>
              <a:t> và bác xe ôm đen đủi không thể biết được số tiền chính xác mà tôi cần phải trả.</a:t>
            </a:r>
          </a:p>
          <a:p>
            <a:pPr>
              <a:lnSpc>
                <a:spcPct val="150000"/>
              </a:lnSpc>
            </a:pPr>
            <a:r>
              <a:rPr lang="en-US" sz="2500" dirty="0">
                <a:latin typeface="Cambria" panose="02040503050406030204" pitchFamily="18" charset="0"/>
                <a:ea typeface="Cambria" panose="02040503050406030204" pitchFamily="18" charset="0"/>
              </a:rPr>
              <a:t>T</a:t>
            </a:r>
            <a:r>
              <a:rPr lang="vi-VN" sz="2500" dirty="0">
                <a:latin typeface="Cambria" panose="02040503050406030204" pitchFamily="18" charset="0"/>
                <a:ea typeface="Cambria" panose="02040503050406030204" pitchFamily="18" charset="0"/>
              </a:rPr>
              <a:t>ruy cập được vào lịch sử các chuyến đi của mình như bảng bên dưới, liệu rằng dựa trên những thông tin này tôi có thể tính được số tiền mà tôi cần trả cho </a:t>
            </a:r>
            <a:r>
              <a:rPr lang="vi-VN" sz="2500" b="1" dirty="0">
                <a:latin typeface="Cambria" panose="02040503050406030204" pitchFamily="18" charset="0"/>
                <a:ea typeface="Cambria" panose="02040503050406030204" pitchFamily="18" charset="0"/>
              </a:rPr>
              <a:t>5km</a:t>
            </a:r>
            <a:r>
              <a:rPr lang="vi-VN" sz="2500" dirty="0">
                <a:latin typeface="Cambria" panose="02040503050406030204" pitchFamily="18" charset="0"/>
                <a:ea typeface="Cambria" panose="02040503050406030204" pitchFamily="18" charset="0"/>
              </a:rPr>
              <a:t> ngày hôm nay?</a:t>
            </a:r>
          </a:p>
          <a:p>
            <a:pPr marL="0" lvl="1" indent="0" algn="just">
              <a:lnSpc>
                <a:spcPct val="150000"/>
              </a:lnSpc>
              <a:spcBef>
                <a:spcPts val="0"/>
              </a:spcBef>
              <a:buClr>
                <a:srgbClr val="FF5A33"/>
              </a:buClr>
              <a:buNone/>
            </a:pPr>
            <a:endParaRPr lang="en-US" sz="2500" b="1" spc="-55" dirty="0">
              <a:latin typeface="Cambria" panose="02040503050406030204" pitchFamily="18" charset="0"/>
              <a:ea typeface="Cambria" panose="02040503050406030204" pitchFamily="18" charset="0"/>
              <a:cs typeface="Segoe UI"/>
            </a:endParaRPr>
          </a:p>
        </p:txBody>
      </p:sp>
    </p:spTree>
    <p:extLst>
      <p:ext uri="{BB962C8B-B14F-4D97-AF65-F5344CB8AC3E}">
        <p14:creationId xmlns:p14="http://schemas.microsoft.com/office/powerpoint/2010/main" val="25885692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MỘT SỐ THUẬT TOÁN HỌC MÁY PHỔ BIẾN</a:t>
            </a: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280930" y="691585"/>
            <a:ext cx="11705422" cy="5337573"/>
          </a:xfrm>
        </p:spPr>
        <p:txBody>
          <a:bodyPr>
            <a:noAutofit/>
          </a:bodyPr>
          <a:lstStyle/>
          <a:p>
            <a:pPr marL="0" lvl="1" indent="0" algn="just">
              <a:lnSpc>
                <a:spcPct val="150000"/>
              </a:lnSpc>
              <a:spcBef>
                <a:spcPts val="0"/>
              </a:spcBef>
              <a:buClr>
                <a:srgbClr val="FF5A33"/>
              </a:buClr>
              <a:buNone/>
            </a:pPr>
            <a:r>
              <a:rPr lang="en-US" sz="2500" b="1" spc="-55" dirty="0" err="1">
                <a:latin typeface="Cambria" panose="02040503050406030204" pitchFamily="18" charset="0"/>
                <a:ea typeface="Cambria" panose="02040503050406030204" pitchFamily="18" charset="0"/>
                <a:cs typeface="Segoe UI"/>
              </a:rPr>
              <a:t>Ví</a:t>
            </a:r>
            <a:r>
              <a:rPr lang="en-US" sz="2500" b="1" spc="-55" dirty="0">
                <a:latin typeface="Cambria" panose="02040503050406030204" pitchFamily="18" charset="0"/>
                <a:ea typeface="Cambria" panose="02040503050406030204" pitchFamily="18" charset="0"/>
                <a:cs typeface="Segoe UI"/>
              </a:rPr>
              <a:t> </a:t>
            </a:r>
            <a:r>
              <a:rPr lang="en-US" sz="2500" b="1" spc="-55" dirty="0" err="1">
                <a:latin typeface="Cambria" panose="02040503050406030204" pitchFamily="18" charset="0"/>
                <a:ea typeface="Cambria" panose="02040503050406030204" pitchFamily="18" charset="0"/>
                <a:cs typeface="Segoe UI"/>
              </a:rPr>
              <a:t>dụ</a:t>
            </a:r>
            <a:r>
              <a:rPr lang="en-US" sz="2500" b="1" spc="-55" dirty="0">
                <a:latin typeface="Cambria" panose="02040503050406030204" pitchFamily="18" charset="0"/>
                <a:ea typeface="Cambria" panose="02040503050406030204" pitchFamily="18" charset="0"/>
                <a:cs typeface="Segoe UI"/>
              </a:rPr>
              <a:t>: </a:t>
            </a:r>
            <a:r>
              <a:rPr lang="en-US" sz="2500" b="1" spc="-55" dirty="0" err="1">
                <a:latin typeface="Cambria" panose="02040503050406030204" pitchFamily="18" charset="0"/>
                <a:ea typeface="Cambria" panose="02040503050406030204" pitchFamily="18" charset="0"/>
                <a:cs typeface="Segoe UI"/>
              </a:rPr>
              <a:t>Hồi</a:t>
            </a:r>
            <a:r>
              <a:rPr lang="en-US" sz="2500" b="1" spc="-55" dirty="0">
                <a:latin typeface="Cambria" panose="02040503050406030204" pitchFamily="18" charset="0"/>
                <a:ea typeface="Cambria" panose="02040503050406030204" pitchFamily="18" charset="0"/>
                <a:cs typeface="Segoe UI"/>
              </a:rPr>
              <a:t> </a:t>
            </a:r>
            <a:r>
              <a:rPr lang="en-US" sz="2500" b="1" spc="-55" dirty="0" err="1">
                <a:latin typeface="Cambria" panose="02040503050406030204" pitchFamily="18" charset="0"/>
                <a:ea typeface="Cambria" panose="02040503050406030204" pitchFamily="18" charset="0"/>
                <a:cs typeface="Segoe UI"/>
              </a:rPr>
              <a:t>quy</a:t>
            </a:r>
            <a:r>
              <a:rPr lang="en-US" sz="2500" b="1" spc="-55" dirty="0">
                <a:latin typeface="Cambria" panose="02040503050406030204" pitchFamily="18" charset="0"/>
                <a:ea typeface="Cambria" panose="02040503050406030204" pitchFamily="18" charset="0"/>
                <a:cs typeface="Segoe UI"/>
              </a:rPr>
              <a:t> </a:t>
            </a:r>
            <a:r>
              <a:rPr lang="en-US" sz="2500" b="1" spc="-55" dirty="0" err="1">
                <a:latin typeface="Cambria" panose="02040503050406030204" pitchFamily="18" charset="0"/>
                <a:ea typeface="Cambria" panose="02040503050406030204" pitchFamily="18" charset="0"/>
                <a:cs typeface="Segoe UI"/>
              </a:rPr>
              <a:t>tuyến</a:t>
            </a:r>
            <a:r>
              <a:rPr lang="en-US" sz="2500" b="1" spc="-55" dirty="0">
                <a:latin typeface="Cambria" panose="02040503050406030204" pitchFamily="18" charset="0"/>
                <a:ea typeface="Cambria" panose="02040503050406030204" pitchFamily="18" charset="0"/>
                <a:cs typeface="Segoe UI"/>
              </a:rPr>
              <a:t> </a:t>
            </a:r>
            <a:r>
              <a:rPr lang="en-US" sz="2500" b="1" spc="-55" dirty="0" err="1">
                <a:latin typeface="Cambria" panose="02040503050406030204" pitchFamily="18" charset="0"/>
                <a:ea typeface="Cambria" panose="02040503050406030204" pitchFamily="18" charset="0"/>
                <a:cs typeface="Segoe UI"/>
              </a:rPr>
              <a:t>tính</a:t>
            </a:r>
            <a:endParaRPr lang="en-US" sz="2500" b="1" spc="-55" dirty="0">
              <a:latin typeface="Cambria" panose="02040503050406030204" pitchFamily="18" charset="0"/>
              <a:ea typeface="Cambria" panose="02040503050406030204" pitchFamily="18" charset="0"/>
              <a:cs typeface="Segoe UI"/>
            </a:endParaRPr>
          </a:p>
        </p:txBody>
      </p:sp>
      <p:graphicFrame>
        <p:nvGraphicFramePr>
          <p:cNvPr id="2" name="Table 1"/>
          <p:cNvGraphicFramePr>
            <a:graphicFrameLocks noGrp="1"/>
          </p:cNvGraphicFramePr>
          <p:nvPr>
            <p:extLst>
              <p:ext uri="{D42A27DB-BD31-4B8C-83A1-F6EECF244321}">
                <p14:modId xmlns:p14="http://schemas.microsoft.com/office/powerpoint/2010/main" val="1272935062"/>
              </p:ext>
            </p:extLst>
          </p:nvPr>
        </p:nvGraphicFramePr>
        <p:xfrm>
          <a:off x="365799" y="1396198"/>
          <a:ext cx="4184167" cy="4632960"/>
        </p:xfrm>
        <a:graphic>
          <a:graphicData uri="http://schemas.openxmlformats.org/drawingml/2006/table">
            <a:tbl>
              <a:tblPr/>
              <a:tblGrid>
                <a:gridCol w="1458665">
                  <a:extLst>
                    <a:ext uri="{9D8B030D-6E8A-4147-A177-3AD203B41FA5}">
                      <a16:colId xmlns:a16="http://schemas.microsoft.com/office/drawing/2014/main" val="139754109"/>
                    </a:ext>
                  </a:extLst>
                </a:gridCol>
                <a:gridCol w="2725502">
                  <a:extLst>
                    <a:ext uri="{9D8B030D-6E8A-4147-A177-3AD203B41FA5}">
                      <a16:colId xmlns:a16="http://schemas.microsoft.com/office/drawing/2014/main" val="2757378229"/>
                    </a:ext>
                  </a:extLst>
                </a:gridCol>
              </a:tblGrid>
              <a:tr h="0">
                <a:tc>
                  <a:txBody>
                    <a:bodyPr/>
                    <a:lstStyle/>
                    <a:p>
                      <a:pPr algn="l" fontAlgn="t"/>
                      <a:r>
                        <a:rPr lang="en-US" sz="2500" b="1" dirty="0" err="1">
                          <a:effectLst/>
                          <a:latin typeface="Cambria" panose="02040503050406030204" pitchFamily="18" charset="0"/>
                          <a:ea typeface="Cambria" panose="02040503050406030204" pitchFamily="18" charset="0"/>
                        </a:rPr>
                        <a:t>Số</a:t>
                      </a:r>
                      <a:r>
                        <a:rPr lang="en-US" sz="2500" b="1" dirty="0">
                          <a:effectLst/>
                          <a:latin typeface="Cambria" panose="02040503050406030204" pitchFamily="18" charset="0"/>
                          <a:ea typeface="Cambria" panose="02040503050406030204" pitchFamily="18" charset="0"/>
                        </a:rPr>
                        <a:t> Km (Km)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fontAlgn="t"/>
                      <a:r>
                        <a:rPr lang="en-US" sz="2500" b="1" dirty="0" err="1">
                          <a:effectLst/>
                          <a:latin typeface="Cambria" panose="02040503050406030204" pitchFamily="18" charset="0"/>
                          <a:ea typeface="Cambria" panose="02040503050406030204" pitchFamily="18" charset="0"/>
                        </a:rPr>
                        <a:t>Số</a:t>
                      </a:r>
                      <a:r>
                        <a:rPr lang="en-US" sz="2500" b="1" dirty="0">
                          <a:effectLst/>
                          <a:latin typeface="Cambria" panose="02040503050406030204" pitchFamily="18" charset="0"/>
                          <a:ea typeface="Cambria" panose="02040503050406030204" pitchFamily="18" charset="0"/>
                        </a:rPr>
                        <a:t> </a:t>
                      </a:r>
                      <a:r>
                        <a:rPr lang="en-US" sz="2500" b="1" dirty="0" err="1">
                          <a:effectLst/>
                          <a:latin typeface="Cambria" panose="02040503050406030204" pitchFamily="18" charset="0"/>
                          <a:ea typeface="Cambria" panose="02040503050406030204" pitchFamily="18" charset="0"/>
                        </a:rPr>
                        <a:t>tiền</a:t>
                      </a:r>
                      <a:r>
                        <a:rPr lang="en-US" sz="2500" b="1" dirty="0">
                          <a:effectLst/>
                          <a:latin typeface="Cambria" panose="02040503050406030204" pitchFamily="18" charset="0"/>
                          <a:ea typeface="Cambria" panose="02040503050406030204" pitchFamily="18" charset="0"/>
                        </a:rPr>
                        <a:t> </a:t>
                      </a:r>
                      <a:r>
                        <a:rPr lang="en-US" sz="2500" b="1" dirty="0" err="1">
                          <a:effectLst/>
                          <a:latin typeface="Cambria" panose="02040503050406030204" pitchFamily="18" charset="0"/>
                          <a:ea typeface="Cambria" panose="02040503050406030204" pitchFamily="18" charset="0"/>
                        </a:rPr>
                        <a:t>cần</a:t>
                      </a:r>
                      <a:r>
                        <a:rPr lang="en-US" sz="2500" b="1" dirty="0">
                          <a:effectLst/>
                          <a:latin typeface="Cambria" panose="02040503050406030204" pitchFamily="18" charset="0"/>
                          <a:ea typeface="Cambria" panose="02040503050406030204" pitchFamily="18" charset="0"/>
                        </a:rPr>
                        <a:t> </a:t>
                      </a:r>
                      <a:r>
                        <a:rPr lang="en-US" sz="2500" b="1" dirty="0" err="1">
                          <a:effectLst/>
                          <a:latin typeface="Cambria" panose="02040503050406030204" pitchFamily="18" charset="0"/>
                          <a:ea typeface="Cambria" panose="02040503050406030204" pitchFamily="18" charset="0"/>
                        </a:rPr>
                        <a:t>trả</a:t>
                      </a:r>
                      <a:r>
                        <a:rPr lang="en-US" sz="2500" b="1" dirty="0">
                          <a:effectLst/>
                          <a:latin typeface="Cambria" panose="02040503050406030204" pitchFamily="18" charset="0"/>
                          <a:ea typeface="Cambria" panose="02040503050406030204" pitchFamily="18" charset="0"/>
                        </a:rPr>
                        <a:t> (1000 VND)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74132237"/>
                  </a:ext>
                </a:extLst>
              </a:tr>
              <a:tr h="0">
                <a:tc>
                  <a:txBody>
                    <a:bodyPr/>
                    <a:lstStyle/>
                    <a:p>
                      <a:pPr fontAlgn="t"/>
                      <a:r>
                        <a:rPr lang="en-US" sz="2500">
                          <a:effectLst/>
                          <a:latin typeface="Cambria" panose="02040503050406030204" pitchFamily="18" charset="0"/>
                          <a:ea typeface="Cambria" panose="020405030504060302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2500">
                          <a:effectLst/>
                          <a:latin typeface="Cambria" panose="02040503050406030204" pitchFamily="18" charset="0"/>
                          <a:ea typeface="Cambria" panose="020405030504060302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667265291"/>
                  </a:ext>
                </a:extLst>
              </a:tr>
              <a:tr h="0">
                <a:tc>
                  <a:txBody>
                    <a:bodyPr/>
                    <a:lstStyle/>
                    <a:p>
                      <a:pPr fontAlgn="t"/>
                      <a:r>
                        <a:rPr lang="en-US" sz="2500">
                          <a:effectLst/>
                          <a:latin typeface="Cambria" panose="02040503050406030204" pitchFamily="18" charset="0"/>
                          <a:ea typeface="Cambria" panose="02040503050406030204" pitchFamily="18"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2500">
                          <a:effectLst/>
                          <a:latin typeface="Cambria" panose="02040503050406030204" pitchFamily="18" charset="0"/>
                          <a:ea typeface="Cambria" panose="02040503050406030204" pitchFamily="18" charset="0"/>
                        </a:rPr>
                        <a:t>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47055338"/>
                  </a:ext>
                </a:extLst>
              </a:tr>
              <a:tr h="0">
                <a:tc>
                  <a:txBody>
                    <a:bodyPr/>
                    <a:lstStyle/>
                    <a:p>
                      <a:pPr fontAlgn="t"/>
                      <a:r>
                        <a:rPr lang="en-US" sz="2500">
                          <a:effectLst/>
                          <a:latin typeface="Cambria" panose="02040503050406030204" pitchFamily="18" charset="0"/>
                          <a:ea typeface="Cambria" panose="02040503050406030204" pitchFamily="18"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2500">
                          <a:effectLst/>
                          <a:latin typeface="Cambria" panose="02040503050406030204" pitchFamily="18" charset="0"/>
                          <a:ea typeface="Cambria" panose="02040503050406030204" pitchFamily="18" charset="0"/>
                        </a:rPr>
                        <a:t>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34357002"/>
                  </a:ext>
                </a:extLst>
              </a:tr>
              <a:tr h="0">
                <a:tc>
                  <a:txBody>
                    <a:bodyPr/>
                    <a:lstStyle/>
                    <a:p>
                      <a:pPr fontAlgn="t"/>
                      <a:r>
                        <a:rPr lang="en-US" sz="2500">
                          <a:effectLst/>
                          <a:latin typeface="Cambria" panose="02040503050406030204" pitchFamily="18" charset="0"/>
                          <a:ea typeface="Cambria" panose="020405030504060302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2500">
                          <a:effectLst/>
                          <a:latin typeface="Cambria" panose="02040503050406030204" pitchFamily="18" charset="0"/>
                          <a:ea typeface="Cambria" panose="02040503050406030204" pitchFamily="18" charset="0"/>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254398683"/>
                  </a:ext>
                </a:extLst>
              </a:tr>
              <a:tr h="0">
                <a:tc>
                  <a:txBody>
                    <a:bodyPr/>
                    <a:lstStyle/>
                    <a:p>
                      <a:pPr fontAlgn="t"/>
                      <a:r>
                        <a:rPr lang="en-US" sz="2500">
                          <a:effectLst/>
                          <a:latin typeface="Cambria" panose="02040503050406030204" pitchFamily="18" charset="0"/>
                          <a:ea typeface="Cambria" panose="020405030504060302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2500">
                          <a:effectLst/>
                          <a:latin typeface="Cambria" panose="02040503050406030204" pitchFamily="18" charset="0"/>
                          <a:ea typeface="Cambria" panose="02040503050406030204" pitchFamily="18" charset="0"/>
                        </a:rPr>
                        <a:t>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277582638"/>
                  </a:ext>
                </a:extLst>
              </a:tr>
              <a:tr h="0">
                <a:tc>
                  <a:txBody>
                    <a:bodyPr/>
                    <a:lstStyle/>
                    <a:p>
                      <a:pPr fontAlgn="t"/>
                      <a:r>
                        <a:rPr lang="en-US" sz="2500">
                          <a:effectLst/>
                          <a:latin typeface="Cambria" panose="02040503050406030204" pitchFamily="18" charset="0"/>
                          <a:ea typeface="Cambria" panose="02040503050406030204" pitchFamily="18"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2500">
                          <a:effectLst/>
                          <a:latin typeface="Cambria" panose="02040503050406030204" pitchFamily="18" charset="0"/>
                          <a:ea typeface="Cambria" panose="02040503050406030204" pitchFamily="18" charset="0"/>
                        </a:rPr>
                        <a:t>28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814029960"/>
                  </a:ext>
                </a:extLst>
              </a:tr>
              <a:tr h="0">
                <a:tc>
                  <a:txBody>
                    <a:bodyPr/>
                    <a:lstStyle/>
                    <a:p>
                      <a:pPr fontAlgn="t"/>
                      <a:r>
                        <a:rPr lang="en-US" sz="2500">
                          <a:effectLst/>
                          <a:latin typeface="Cambria" panose="02040503050406030204" pitchFamily="18" charset="0"/>
                          <a:ea typeface="Cambria" panose="020405030504060302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2500">
                          <a:effectLst/>
                          <a:latin typeface="Cambria" panose="02040503050406030204" pitchFamily="18" charset="0"/>
                          <a:ea typeface="Cambria" panose="020405030504060302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415618348"/>
                  </a:ext>
                </a:extLst>
              </a:tr>
              <a:tr h="0">
                <a:tc>
                  <a:txBody>
                    <a:bodyPr/>
                    <a:lstStyle/>
                    <a:p>
                      <a:pPr fontAlgn="t"/>
                      <a:r>
                        <a:rPr lang="en-US" sz="2500">
                          <a:effectLst/>
                          <a:latin typeface="Cambria" panose="02040503050406030204" pitchFamily="18" charset="0"/>
                          <a:ea typeface="Cambria" panose="02040503050406030204" pitchFamily="18"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t"/>
                      <a:r>
                        <a:rPr lang="en-US" sz="2500" dirty="0">
                          <a:effectLst/>
                          <a:latin typeface="Cambria" panose="02040503050406030204" pitchFamily="18" charset="0"/>
                          <a:ea typeface="Cambria" panose="02040503050406030204" pitchFamily="18" charset="0"/>
                        </a:rPr>
                        <a:t>55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668015685"/>
                  </a:ext>
                </a:extLst>
              </a:tr>
            </a:tbl>
          </a:graphicData>
        </a:graphic>
      </p:graphicFrame>
      <p:sp>
        <p:nvSpPr>
          <p:cNvPr id="3" name="Rectangle 2"/>
          <p:cNvSpPr/>
          <p:nvPr/>
        </p:nvSpPr>
        <p:spPr>
          <a:xfrm>
            <a:off x="4868990" y="1196672"/>
            <a:ext cx="7117361" cy="5093702"/>
          </a:xfrm>
          <a:prstGeom prst="rect">
            <a:avLst/>
          </a:prstGeom>
        </p:spPr>
        <p:txBody>
          <a:bodyPr wrap="square">
            <a:spAutoFit/>
          </a:bodyPr>
          <a:lstStyle/>
          <a:p>
            <a:pPr>
              <a:lnSpc>
                <a:spcPct val="130000"/>
              </a:lnSpc>
            </a:pPr>
            <a:r>
              <a:rPr lang="vi-VN" sz="2500" dirty="0">
                <a:solidFill>
                  <a:srgbClr val="1B1B1B"/>
                </a:solidFill>
                <a:latin typeface="Cambria" panose="02040503050406030204" pitchFamily="18" charset="0"/>
                <a:ea typeface="Cambria" panose="02040503050406030204" pitchFamily="18" charset="0"/>
              </a:rPr>
              <a:t>Giả sử </a:t>
            </a:r>
            <a:r>
              <a:rPr lang="vi-VN" sz="2500" b="1" dirty="0">
                <a:solidFill>
                  <a:srgbClr val="1B1B1B"/>
                </a:solidFill>
                <a:latin typeface="Cambria" panose="02040503050406030204" pitchFamily="18" charset="0"/>
                <a:ea typeface="Cambria" panose="02040503050406030204" pitchFamily="18" charset="0"/>
              </a:rPr>
              <a:t>Số KM tôi đi</a:t>
            </a:r>
            <a:r>
              <a:rPr lang="vi-VN" sz="2500" dirty="0">
                <a:solidFill>
                  <a:srgbClr val="1B1B1B"/>
                </a:solidFill>
                <a:latin typeface="Cambria" panose="02040503050406030204" pitchFamily="18" charset="0"/>
                <a:ea typeface="Cambria" panose="02040503050406030204" pitchFamily="18" charset="0"/>
              </a:rPr>
              <a:t> và </a:t>
            </a:r>
            <a:r>
              <a:rPr lang="vi-VN" sz="2500" b="1" dirty="0">
                <a:solidFill>
                  <a:srgbClr val="1B1B1B"/>
                </a:solidFill>
                <a:latin typeface="Cambria" panose="02040503050406030204" pitchFamily="18" charset="0"/>
                <a:ea typeface="Cambria" panose="02040503050406030204" pitchFamily="18" charset="0"/>
              </a:rPr>
              <a:t>số tiền cần trả Grab</a:t>
            </a:r>
            <a:r>
              <a:rPr lang="vi-VN" sz="2500" dirty="0">
                <a:solidFill>
                  <a:srgbClr val="1B1B1B"/>
                </a:solidFill>
                <a:latin typeface="Cambria" panose="02040503050406030204" pitchFamily="18" charset="0"/>
                <a:ea typeface="Cambria" panose="02040503050406030204" pitchFamily="18" charset="0"/>
              </a:rPr>
              <a:t> phụ thuộc tuyến tính vào nhau, tức là </a:t>
            </a:r>
            <a:r>
              <a:rPr lang="vi-VN" sz="2500" b="1" dirty="0">
                <a:solidFill>
                  <a:srgbClr val="1B1B1B"/>
                </a:solidFill>
                <a:latin typeface="Cambria" panose="02040503050406030204" pitchFamily="18" charset="0"/>
                <a:ea typeface="Cambria" panose="02040503050406030204" pitchFamily="18" charset="0"/>
              </a:rPr>
              <a:t>số KM tăng</a:t>
            </a:r>
            <a:r>
              <a:rPr lang="vi-VN" sz="2500" dirty="0">
                <a:solidFill>
                  <a:srgbClr val="1B1B1B"/>
                </a:solidFill>
                <a:latin typeface="Cambria" panose="02040503050406030204" pitchFamily="18" charset="0"/>
                <a:ea typeface="Cambria" panose="02040503050406030204" pitchFamily="18" charset="0"/>
              </a:rPr>
              <a:t> thì </a:t>
            </a:r>
            <a:r>
              <a:rPr lang="vi-VN" sz="2500" b="1" dirty="0">
                <a:solidFill>
                  <a:srgbClr val="1B1B1B"/>
                </a:solidFill>
                <a:latin typeface="Cambria" panose="02040503050406030204" pitchFamily="18" charset="0"/>
                <a:ea typeface="Cambria" panose="02040503050406030204" pitchFamily="18" charset="0"/>
              </a:rPr>
              <a:t>số tiền cần trả Grab tăng</a:t>
            </a:r>
            <a:r>
              <a:rPr lang="vi-VN" sz="2500" dirty="0">
                <a:solidFill>
                  <a:srgbClr val="1B1B1B"/>
                </a:solidFill>
                <a:latin typeface="Cambria" panose="02040503050406030204" pitchFamily="18" charset="0"/>
                <a:ea typeface="Cambria" panose="02040503050406030204" pitchFamily="18" charset="0"/>
              </a:rPr>
              <a:t> hoặc </a:t>
            </a:r>
            <a:r>
              <a:rPr lang="vi-VN" sz="2500" b="1" dirty="0">
                <a:solidFill>
                  <a:srgbClr val="1B1B1B"/>
                </a:solidFill>
                <a:latin typeface="Cambria" panose="02040503050406030204" pitchFamily="18" charset="0"/>
                <a:ea typeface="Cambria" panose="02040503050406030204" pitchFamily="18" charset="0"/>
              </a:rPr>
              <a:t>số KM giảm</a:t>
            </a:r>
            <a:r>
              <a:rPr lang="vi-VN" sz="2500" dirty="0">
                <a:solidFill>
                  <a:srgbClr val="1B1B1B"/>
                </a:solidFill>
                <a:latin typeface="Cambria" panose="02040503050406030204" pitchFamily="18" charset="0"/>
                <a:ea typeface="Cambria" panose="02040503050406030204" pitchFamily="18" charset="0"/>
              </a:rPr>
              <a:t> thì </a:t>
            </a:r>
            <a:r>
              <a:rPr lang="vi-VN" sz="2500" b="1" dirty="0">
                <a:solidFill>
                  <a:srgbClr val="1B1B1B"/>
                </a:solidFill>
                <a:latin typeface="Cambria" panose="02040503050406030204" pitchFamily="18" charset="0"/>
                <a:ea typeface="Cambria" panose="02040503050406030204" pitchFamily="18" charset="0"/>
              </a:rPr>
              <a:t>số tiền cần trả Grab giảm</a:t>
            </a:r>
            <a:r>
              <a:rPr lang="vi-VN" sz="2500" dirty="0">
                <a:solidFill>
                  <a:srgbClr val="1B1B1B"/>
                </a:solidFill>
                <a:latin typeface="Cambria" panose="02040503050406030204" pitchFamily="18" charset="0"/>
                <a:ea typeface="Cambria" panose="02040503050406030204" pitchFamily="18" charset="0"/>
              </a:rPr>
              <a:t>, tôi có thể tìm ra được 1 hàm biểu thị được mối quan hệ giữa 2 đại lượng này không? Câu trả lời là </a:t>
            </a:r>
            <a:r>
              <a:rPr lang="vi-VN" sz="2500" b="1" dirty="0">
                <a:solidFill>
                  <a:srgbClr val="1B1B1B"/>
                </a:solidFill>
                <a:latin typeface="Cambria" panose="02040503050406030204" pitchFamily="18" charset="0"/>
                <a:ea typeface="Cambria" panose="02040503050406030204" pitchFamily="18" charset="0"/>
              </a:rPr>
              <a:t>Có</a:t>
            </a:r>
            <a:r>
              <a:rPr lang="vi-VN" sz="2500" dirty="0">
                <a:solidFill>
                  <a:srgbClr val="1B1B1B"/>
                </a:solidFill>
                <a:latin typeface="Cambria" panose="02040503050406030204" pitchFamily="18" charset="0"/>
                <a:ea typeface="Cambria" panose="02040503050406030204" pitchFamily="18" charset="0"/>
              </a:rPr>
              <a:t>.</a:t>
            </a:r>
            <a:endParaRPr lang="en-US" sz="2500" dirty="0">
              <a:solidFill>
                <a:srgbClr val="1B1B1B"/>
              </a:solidFill>
              <a:latin typeface="Cambria" panose="02040503050406030204" pitchFamily="18" charset="0"/>
              <a:ea typeface="Cambria" panose="02040503050406030204" pitchFamily="18" charset="0"/>
            </a:endParaRPr>
          </a:p>
          <a:p>
            <a:pPr>
              <a:lnSpc>
                <a:spcPct val="130000"/>
              </a:lnSpc>
            </a:pPr>
            <a:r>
              <a:rPr lang="en-US" sz="2500" dirty="0" err="1">
                <a:solidFill>
                  <a:srgbClr val="FF0000"/>
                </a:solidFill>
                <a:latin typeface="Cambria" panose="02040503050406030204" pitchFamily="18" charset="0"/>
                <a:ea typeface="Cambria" panose="02040503050406030204" pitchFamily="18" charset="0"/>
              </a:rPr>
              <a:t>Đặt</a:t>
            </a:r>
            <a:r>
              <a:rPr lang="en-US" sz="2500" dirty="0">
                <a:solidFill>
                  <a:srgbClr val="FF0000"/>
                </a:solidFill>
                <a:latin typeface="Cambria" panose="02040503050406030204" pitchFamily="18" charset="0"/>
                <a:ea typeface="Cambria" panose="02040503050406030204" pitchFamily="18" charset="0"/>
              </a:rPr>
              <a:t>: - X </a:t>
            </a:r>
            <a:r>
              <a:rPr lang="en-US" sz="2500" dirty="0" err="1">
                <a:solidFill>
                  <a:srgbClr val="FF0000"/>
                </a:solidFill>
                <a:latin typeface="Cambria" panose="02040503050406030204" pitchFamily="18" charset="0"/>
                <a:ea typeface="Cambria" panose="02040503050406030204" pitchFamily="18" charset="0"/>
              </a:rPr>
              <a:t>là</a:t>
            </a:r>
            <a:r>
              <a:rPr lang="en-US" sz="2500" dirty="0">
                <a:solidFill>
                  <a:srgbClr val="FF0000"/>
                </a:solidFill>
                <a:latin typeface="Cambria" panose="02040503050406030204" pitchFamily="18" charset="0"/>
                <a:ea typeface="Cambria" panose="02040503050406030204" pitchFamily="18" charset="0"/>
              </a:rPr>
              <a:t> </a:t>
            </a:r>
            <a:r>
              <a:rPr lang="en-US" sz="2500" dirty="0" err="1">
                <a:solidFill>
                  <a:srgbClr val="FF0000"/>
                </a:solidFill>
                <a:latin typeface="Cambria" panose="02040503050406030204" pitchFamily="18" charset="0"/>
                <a:ea typeface="Cambria" panose="02040503050406030204" pitchFamily="18" charset="0"/>
              </a:rPr>
              <a:t>số</a:t>
            </a:r>
            <a:r>
              <a:rPr lang="en-US" sz="2500" dirty="0">
                <a:solidFill>
                  <a:srgbClr val="FF0000"/>
                </a:solidFill>
                <a:latin typeface="Cambria" panose="02040503050406030204" pitchFamily="18" charset="0"/>
                <a:ea typeface="Cambria" panose="02040503050406030204" pitchFamily="18" charset="0"/>
              </a:rPr>
              <a:t> Km </a:t>
            </a:r>
            <a:r>
              <a:rPr lang="en-US" sz="2500" dirty="0" err="1">
                <a:solidFill>
                  <a:srgbClr val="FF0000"/>
                </a:solidFill>
                <a:latin typeface="Cambria" panose="02040503050406030204" pitchFamily="18" charset="0"/>
                <a:ea typeface="Cambria" panose="02040503050406030204" pitchFamily="18" charset="0"/>
              </a:rPr>
              <a:t>tôi</a:t>
            </a:r>
            <a:r>
              <a:rPr lang="en-US" sz="2500" dirty="0">
                <a:solidFill>
                  <a:srgbClr val="FF0000"/>
                </a:solidFill>
                <a:latin typeface="Cambria" panose="02040503050406030204" pitchFamily="18" charset="0"/>
                <a:ea typeface="Cambria" panose="02040503050406030204" pitchFamily="18" charset="0"/>
              </a:rPr>
              <a:t> </a:t>
            </a:r>
            <a:r>
              <a:rPr lang="en-US" sz="2500" dirty="0" err="1">
                <a:solidFill>
                  <a:srgbClr val="FF0000"/>
                </a:solidFill>
                <a:latin typeface="Cambria" panose="02040503050406030204" pitchFamily="18" charset="0"/>
                <a:ea typeface="Cambria" panose="02040503050406030204" pitchFamily="18" charset="0"/>
              </a:rPr>
              <a:t>đi</a:t>
            </a:r>
            <a:r>
              <a:rPr lang="en-US" sz="2500" dirty="0">
                <a:solidFill>
                  <a:srgbClr val="FF0000"/>
                </a:solidFill>
                <a:latin typeface="Cambria" panose="02040503050406030204" pitchFamily="18" charset="0"/>
                <a:ea typeface="Cambria" panose="02040503050406030204" pitchFamily="18" charset="0"/>
              </a:rPr>
              <a:t> - Y </a:t>
            </a:r>
            <a:r>
              <a:rPr lang="en-US" sz="2500" dirty="0" err="1">
                <a:solidFill>
                  <a:srgbClr val="FF0000"/>
                </a:solidFill>
                <a:latin typeface="Cambria" panose="02040503050406030204" pitchFamily="18" charset="0"/>
                <a:ea typeface="Cambria" panose="02040503050406030204" pitchFamily="18" charset="0"/>
              </a:rPr>
              <a:t>là</a:t>
            </a:r>
            <a:r>
              <a:rPr lang="en-US" sz="2500" dirty="0">
                <a:solidFill>
                  <a:srgbClr val="FF0000"/>
                </a:solidFill>
                <a:latin typeface="Cambria" panose="02040503050406030204" pitchFamily="18" charset="0"/>
                <a:ea typeface="Cambria" panose="02040503050406030204" pitchFamily="18" charset="0"/>
              </a:rPr>
              <a:t> </a:t>
            </a:r>
            <a:r>
              <a:rPr lang="en-US" sz="2500" dirty="0" err="1">
                <a:solidFill>
                  <a:srgbClr val="FF0000"/>
                </a:solidFill>
                <a:latin typeface="Cambria" panose="02040503050406030204" pitchFamily="18" charset="0"/>
                <a:ea typeface="Cambria" panose="02040503050406030204" pitchFamily="18" charset="0"/>
              </a:rPr>
              <a:t>số</a:t>
            </a:r>
            <a:r>
              <a:rPr lang="en-US" sz="2500" dirty="0">
                <a:solidFill>
                  <a:srgbClr val="FF0000"/>
                </a:solidFill>
                <a:latin typeface="Cambria" panose="02040503050406030204" pitchFamily="18" charset="0"/>
                <a:ea typeface="Cambria" panose="02040503050406030204" pitchFamily="18" charset="0"/>
              </a:rPr>
              <a:t> </a:t>
            </a:r>
            <a:r>
              <a:rPr lang="en-US" sz="2500" dirty="0" err="1">
                <a:solidFill>
                  <a:srgbClr val="FF0000"/>
                </a:solidFill>
                <a:latin typeface="Cambria" panose="02040503050406030204" pitchFamily="18" charset="0"/>
                <a:ea typeface="Cambria" panose="02040503050406030204" pitchFamily="18" charset="0"/>
              </a:rPr>
              <a:t>tiền</a:t>
            </a:r>
            <a:r>
              <a:rPr lang="en-US" sz="2500" dirty="0">
                <a:solidFill>
                  <a:srgbClr val="FF0000"/>
                </a:solidFill>
                <a:latin typeface="Cambria" panose="02040503050406030204" pitchFamily="18" charset="0"/>
                <a:ea typeface="Cambria" panose="02040503050406030204" pitchFamily="18" charset="0"/>
              </a:rPr>
              <a:t> </a:t>
            </a:r>
            <a:r>
              <a:rPr lang="en-US" sz="2500" dirty="0" err="1">
                <a:solidFill>
                  <a:srgbClr val="FF0000"/>
                </a:solidFill>
                <a:latin typeface="Cambria" panose="02040503050406030204" pitchFamily="18" charset="0"/>
                <a:ea typeface="Cambria" panose="02040503050406030204" pitchFamily="18" charset="0"/>
              </a:rPr>
              <a:t>cần</a:t>
            </a:r>
            <a:r>
              <a:rPr lang="en-US" sz="2500" dirty="0">
                <a:solidFill>
                  <a:srgbClr val="FF0000"/>
                </a:solidFill>
                <a:latin typeface="Cambria" panose="02040503050406030204" pitchFamily="18" charset="0"/>
                <a:ea typeface="Cambria" panose="02040503050406030204" pitchFamily="18" charset="0"/>
              </a:rPr>
              <a:t> </a:t>
            </a:r>
            <a:r>
              <a:rPr lang="en-US" sz="2500" dirty="0" err="1">
                <a:solidFill>
                  <a:srgbClr val="FF0000"/>
                </a:solidFill>
                <a:latin typeface="Cambria" panose="02040503050406030204" pitchFamily="18" charset="0"/>
                <a:ea typeface="Cambria" panose="02040503050406030204" pitchFamily="18" charset="0"/>
              </a:rPr>
              <a:t>trả</a:t>
            </a:r>
            <a:r>
              <a:rPr lang="en-US" sz="2500" dirty="0">
                <a:solidFill>
                  <a:srgbClr val="FF0000"/>
                </a:solidFill>
                <a:latin typeface="Cambria" panose="02040503050406030204" pitchFamily="18" charset="0"/>
                <a:ea typeface="Cambria" panose="02040503050406030204" pitchFamily="18" charset="0"/>
              </a:rPr>
              <a:t> Grab</a:t>
            </a:r>
          </a:p>
          <a:p>
            <a:pPr>
              <a:lnSpc>
                <a:spcPct val="130000"/>
              </a:lnSpc>
            </a:pPr>
            <a:r>
              <a:rPr lang="vi-VN" sz="2500" dirty="0">
                <a:solidFill>
                  <a:srgbClr val="FF0000"/>
                </a:solidFill>
                <a:latin typeface="Cambria" panose="02040503050406030204" pitchFamily="18" charset="0"/>
                <a:ea typeface="Cambria" panose="02040503050406030204" pitchFamily="18" charset="0"/>
              </a:rPr>
              <a:t>Y= aX + b. </a:t>
            </a:r>
            <a:endParaRPr lang="en-US" sz="2500" dirty="0">
              <a:solidFill>
                <a:srgbClr val="FF0000"/>
              </a:solidFill>
              <a:latin typeface="Cambria" panose="02040503050406030204" pitchFamily="18" charset="0"/>
              <a:ea typeface="Cambria" panose="02040503050406030204" pitchFamily="18" charset="0"/>
            </a:endParaRPr>
          </a:p>
          <a:p>
            <a:pPr>
              <a:lnSpc>
                <a:spcPct val="130000"/>
              </a:lnSpc>
            </a:pPr>
            <a:r>
              <a:rPr lang="vi-VN" sz="2500" dirty="0">
                <a:solidFill>
                  <a:srgbClr val="FF0000"/>
                </a:solidFill>
                <a:latin typeface="Cambria" panose="02040503050406030204" pitchFamily="18" charset="0"/>
                <a:ea typeface="Cambria" panose="02040503050406030204" pitchFamily="18" charset="0"/>
              </a:rPr>
              <a:t>Bài toán quy về: Với X và Y cho trước trên bảng trên, tìm 2 tham số a và b.</a:t>
            </a:r>
            <a:endParaRPr lang="en-US" sz="2500" dirty="0">
              <a:solidFill>
                <a:srgbClr val="FF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9917456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MỘT SỐ THUẬT TOÁN HỌC MÁY PHỔ BIẾN</a:t>
            </a:r>
          </a:p>
        </p:txBody>
      </p:sp>
      <p:pic>
        <p:nvPicPr>
          <p:cNvPr id="4" name="Picture 3"/>
          <p:cNvPicPr>
            <a:picLocks noChangeAspect="1"/>
          </p:cNvPicPr>
          <p:nvPr/>
        </p:nvPicPr>
        <p:blipFill>
          <a:blip r:embed="rId2"/>
          <a:stretch>
            <a:fillRect/>
          </a:stretch>
        </p:blipFill>
        <p:spPr>
          <a:xfrm>
            <a:off x="79513" y="691585"/>
            <a:ext cx="7165784" cy="4870032"/>
          </a:xfrm>
          <a:prstGeom prst="rect">
            <a:avLst/>
          </a:prstGeom>
        </p:spPr>
      </p:pic>
      <p:sp>
        <p:nvSpPr>
          <p:cNvPr id="6" name="Rectangle 5"/>
          <p:cNvSpPr/>
          <p:nvPr/>
        </p:nvSpPr>
        <p:spPr>
          <a:xfrm>
            <a:off x="7100931" y="728891"/>
            <a:ext cx="4984574" cy="861774"/>
          </a:xfrm>
          <a:prstGeom prst="rect">
            <a:avLst/>
          </a:prstGeom>
        </p:spPr>
        <p:txBody>
          <a:bodyPr wrap="square">
            <a:spAutoFit/>
          </a:bodyPr>
          <a:lstStyle/>
          <a:p>
            <a:r>
              <a:rPr lang="vi-VN" sz="2500" dirty="0">
                <a:solidFill>
                  <a:srgbClr val="1B1B1B"/>
                </a:solidFill>
                <a:latin typeface="Cambria" panose="02040503050406030204" pitchFamily="18" charset="0"/>
                <a:ea typeface="Cambria" panose="02040503050406030204" pitchFamily="18" charset="0"/>
              </a:rPr>
              <a:t> </a:t>
            </a:r>
            <a:r>
              <a:rPr lang="vi-VN" sz="2500" b="1" dirty="0">
                <a:solidFill>
                  <a:srgbClr val="1B1B1B"/>
                </a:solidFill>
                <a:latin typeface="Cambria" panose="02040503050406030204" pitchFamily="18" charset="0"/>
                <a:ea typeface="Cambria" panose="02040503050406030204" pitchFamily="18" charset="0"/>
              </a:rPr>
              <a:t>Y= aX + b</a:t>
            </a:r>
            <a:r>
              <a:rPr lang="vi-VN" sz="2500" dirty="0">
                <a:solidFill>
                  <a:srgbClr val="1B1B1B"/>
                </a:solidFill>
                <a:latin typeface="Cambria" panose="02040503050406030204" pitchFamily="18" charset="0"/>
                <a:ea typeface="Cambria" panose="02040503050406030204" pitchFamily="18" charset="0"/>
              </a:rPr>
              <a:t>. Chú ý </a:t>
            </a:r>
            <a:r>
              <a:rPr lang="vi-VN" sz="2500" b="1" dirty="0">
                <a:solidFill>
                  <a:srgbClr val="1B1B1B"/>
                </a:solidFill>
                <a:latin typeface="Cambria" panose="02040503050406030204" pitchFamily="18" charset="0"/>
                <a:ea typeface="Cambria" panose="02040503050406030204" pitchFamily="18" charset="0"/>
              </a:rPr>
              <a:t>X</a:t>
            </a:r>
            <a:r>
              <a:rPr lang="vi-VN" sz="2500" dirty="0">
                <a:solidFill>
                  <a:srgbClr val="1B1B1B"/>
                </a:solidFill>
                <a:latin typeface="Cambria" panose="02040503050406030204" pitchFamily="18" charset="0"/>
                <a:ea typeface="Cambria" panose="02040503050406030204" pitchFamily="18" charset="0"/>
              </a:rPr>
              <a:t> và </a:t>
            </a:r>
            <a:r>
              <a:rPr lang="vi-VN" sz="2500" b="1" dirty="0">
                <a:solidFill>
                  <a:srgbClr val="1B1B1B"/>
                </a:solidFill>
                <a:latin typeface="Cambria" panose="02040503050406030204" pitchFamily="18" charset="0"/>
                <a:ea typeface="Cambria" panose="02040503050406030204" pitchFamily="18" charset="0"/>
              </a:rPr>
              <a:t>Y</a:t>
            </a:r>
            <a:r>
              <a:rPr lang="vi-VN" sz="2500" dirty="0">
                <a:solidFill>
                  <a:srgbClr val="1B1B1B"/>
                </a:solidFill>
                <a:latin typeface="Cambria" panose="02040503050406030204" pitchFamily="18" charset="0"/>
                <a:ea typeface="Cambria" panose="02040503050406030204" pitchFamily="18" charset="0"/>
              </a:rPr>
              <a:t> đều là ma trận/vector.</a:t>
            </a:r>
          </a:p>
        </p:txBody>
      </p:sp>
      <p:pic>
        <p:nvPicPr>
          <p:cNvPr id="11" name="Picture 10"/>
          <p:cNvPicPr>
            <a:picLocks noChangeAspect="1"/>
          </p:cNvPicPr>
          <p:nvPr/>
        </p:nvPicPr>
        <p:blipFill>
          <a:blip r:embed="rId3"/>
          <a:stretch>
            <a:fillRect/>
          </a:stretch>
        </p:blipFill>
        <p:spPr>
          <a:xfrm>
            <a:off x="7545022" y="1765984"/>
            <a:ext cx="4540483" cy="3149762"/>
          </a:xfrm>
          <a:prstGeom prst="rect">
            <a:avLst/>
          </a:prstGeom>
        </p:spPr>
      </p:pic>
    </p:spTree>
    <p:extLst>
      <p:ext uri="{BB962C8B-B14F-4D97-AF65-F5344CB8AC3E}">
        <p14:creationId xmlns:p14="http://schemas.microsoft.com/office/powerpoint/2010/main" val="19006578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MỘT SỐ THUẬT TOÁN HỌC MÁY PHỔ BIẾN</a:t>
            </a:r>
          </a:p>
        </p:txBody>
      </p:sp>
      <p:sp>
        <p:nvSpPr>
          <p:cNvPr id="11" name="Content Placeholder 2">
            <a:extLst>
              <a:ext uri="{FF2B5EF4-FFF2-40B4-BE49-F238E27FC236}">
                <a16:creationId xmlns:a16="http://schemas.microsoft.com/office/drawing/2014/main" id="{D84E1B89-45F1-4C39-88F0-3A380DA733A9}"/>
              </a:ext>
            </a:extLst>
          </p:cNvPr>
          <p:cNvSpPr>
            <a:spLocks noGrp="1"/>
          </p:cNvSpPr>
          <p:nvPr>
            <p:ph idx="1"/>
          </p:nvPr>
        </p:nvSpPr>
        <p:spPr>
          <a:xfrm>
            <a:off x="242371" y="691585"/>
            <a:ext cx="11674646" cy="5337573"/>
          </a:xfrm>
        </p:spPr>
        <p:txBody>
          <a:bodyPr>
            <a:noAutofit/>
          </a:bodyPr>
          <a:lstStyle/>
          <a:p>
            <a:pPr marL="58738" lvl="1" indent="0" algn="just">
              <a:lnSpc>
                <a:spcPct val="150000"/>
              </a:lnSpc>
              <a:spcBef>
                <a:spcPts val="580"/>
              </a:spcBef>
              <a:buClr>
                <a:srgbClr val="FF5A33"/>
              </a:buClr>
              <a:buNone/>
            </a:pPr>
            <a:r>
              <a:rPr lang="en-US" sz="2500" b="1" kern="0" dirty="0">
                <a:effectLst/>
                <a:latin typeface="Cambria" panose="02040503050406030204" pitchFamily="18" charset="0"/>
                <a:ea typeface="Cambria" panose="02040503050406030204" pitchFamily="18" charset="0"/>
              </a:rPr>
              <a:t>2. </a:t>
            </a:r>
            <a:r>
              <a:rPr lang="en-US" sz="2500" b="1" kern="0" dirty="0" err="1">
                <a:effectLst/>
                <a:latin typeface="Cambria" panose="02040503050406030204" pitchFamily="18" charset="0"/>
                <a:ea typeface="Cambria" panose="02040503050406030204" pitchFamily="18" charset="0"/>
              </a:rPr>
              <a:t>Hồi</a:t>
            </a:r>
            <a:r>
              <a:rPr lang="en-US" sz="2500" b="1" kern="0" dirty="0">
                <a:effectLst/>
                <a:latin typeface="Cambria" panose="02040503050406030204" pitchFamily="18" charset="0"/>
                <a:ea typeface="Cambria" panose="02040503050406030204" pitchFamily="18" charset="0"/>
              </a:rPr>
              <a:t> </a:t>
            </a:r>
            <a:r>
              <a:rPr lang="en-US" sz="2500" b="1" kern="0" dirty="0" err="1">
                <a:effectLst/>
                <a:latin typeface="Cambria" panose="02040503050406030204" pitchFamily="18" charset="0"/>
                <a:ea typeface="Cambria" panose="02040503050406030204" pitchFamily="18" charset="0"/>
              </a:rPr>
              <a:t>quy</a:t>
            </a:r>
            <a:r>
              <a:rPr lang="en-US" sz="2500" b="1" kern="0" dirty="0">
                <a:effectLst/>
                <a:latin typeface="Cambria" panose="02040503050406030204" pitchFamily="18" charset="0"/>
                <a:ea typeface="Cambria" panose="02040503050406030204" pitchFamily="18" charset="0"/>
              </a:rPr>
              <a:t> logistic</a:t>
            </a:r>
          </a:p>
          <a:p>
            <a:pPr marL="515938" lvl="2" indent="0">
              <a:lnSpc>
                <a:spcPct val="150000"/>
              </a:lnSpc>
              <a:spcBef>
                <a:spcPts val="580"/>
              </a:spcBef>
              <a:buClr>
                <a:srgbClr val="FF5A33"/>
              </a:buClr>
              <a:buNone/>
            </a:pPr>
            <a:endParaRPr lang="en-US" sz="2500" b="1" spc="-55" dirty="0">
              <a:latin typeface="Cambria" panose="02040503050406030204" pitchFamily="18" charset="0"/>
              <a:ea typeface="Cambria" panose="02040503050406030204" pitchFamily="18" charset="0"/>
              <a:cs typeface="Segoe UI"/>
            </a:endParaRPr>
          </a:p>
        </p:txBody>
      </p:sp>
      <p:sp>
        <p:nvSpPr>
          <p:cNvPr id="2" name="Rectangle 1"/>
          <p:cNvSpPr/>
          <p:nvPr/>
        </p:nvSpPr>
        <p:spPr>
          <a:xfrm>
            <a:off x="242370" y="1284944"/>
            <a:ext cx="11799065" cy="4693593"/>
          </a:xfrm>
          <a:prstGeom prst="rect">
            <a:avLst/>
          </a:prstGeom>
        </p:spPr>
        <p:txBody>
          <a:bodyPr wrap="square">
            <a:spAutoFit/>
          </a:bodyPr>
          <a:lstStyle/>
          <a:p>
            <a:pPr marL="0" marR="30480" lvl="2" indent="55563" algn="just">
              <a:lnSpc>
                <a:spcPct val="130000"/>
              </a:lnSpc>
              <a:buClr>
                <a:srgbClr val="FF0000"/>
              </a:buClr>
              <a:buFont typeface="Wingdings" panose="05000000000000000000" pitchFamily="2" charset="2"/>
              <a:buChar char="§"/>
            </a:pP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Nó</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là</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một</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thuật</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toán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phân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loại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và</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còn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được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gọi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là</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hồi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quy</a:t>
            </a:r>
            <a:r>
              <a:rPr lang="en-US" sz="2300" kern="0" dirty="0">
                <a:solidFill>
                  <a:srgbClr val="000000"/>
                </a:solidFill>
                <a:latin typeface="Cambria" panose="02040503050406030204" pitchFamily="18" charset="0"/>
                <a:ea typeface="Cambria" panose="02040503050406030204" pitchFamily="18" charset="0"/>
              </a:rPr>
              <a:t> logit</a:t>
            </a:r>
          </a:p>
          <a:p>
            <a:pPr marL="0" marR="30480" lvl="2" indent="55563" algn="just">
              <a:lnSpc>
                <a:spcPct val="130000"/>
              </a:lnSpc>
              <a:buClr>
                <a:srgbClr val="FF0000"/>
              </a:buClr>
              <a:buFont typeface="Wingdings" panose="05000000000000000000" pitchFamily="2" charset="2"/>
              <a:buChar char="§"/>
            </a:pP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Về</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cơ</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bản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hồi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quy</a:t>
            </a:r>
            <a:r>
              <a:rPr lang="en-US" sz="2300" kern="0" dirty="0">
                <a:solidFill>
                  <a:srgbClr val="000000"/>
                </a:solidFill>
                <a:latin typeface="Cambria" panose="02040503050406030204" pitchFamily="18" charset="0"/>
                <a:ea typeface="Cambria" panose="02040503050406030204" pitchFamily="18" charset="0"/>
              </a:rPr>
              <a:t> logistic </a:t>
            </a:r>
            <a:r>
              <a:rPr lang="en-US" sz="2300" kern="0" dirty="0" err="1">
                <a:solidFill>
                  <a:srgbClr val="000000"/>
                </a:solidFill>
                <a:latin typeface="Cambria" panose="02040503050406030204" pitchFamily="18" charset="0"/>
                <a:ea typeface="Cambria" panose="02040503050406030204" pitchFamily="18" charset="0"/>
              </a:rPr>
              <a:t>là</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một</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thuật</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toán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phân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loại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được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sử</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dụng</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để</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ước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tính</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các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giá</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trị</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rời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rạc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như</a:t>
            </a:r>
            <a:r>
              <a:rPr lang="en-US" sz="2300" kern="0" dirty="0">
                <a:solidFill>
                  <a:srgbClr val="000000"/>
                </a:solidFill>
                <a:latin typeface="Cambria" panose="02040503050406030204" pitchFamily="18" charset="0"/>
                <a:ea typeface="Cambria" panose="02040503050406030204" pitchFamily="18" charset="0"/>
              </a:rPr>
              <a:t> 0 </a:t>
            </a:r>
            <a:r>
              <a:rPr lang="en-US" sz="2300" kern="0" dirty="0" err="1">
                <a:solidFill>
                  <a:srgbClr val="000000"/>
                </a:solidFill>
                <a:latin typeface="Cambria" panose="02040503050406030204" pitchFamily="18" charset="0"/>
                <a:ea typeface="Cambria" panose="02040503050406030204" pitchFamily="18" charset="0"/>
              </a:rPr>
              <a:t>hoặc</a:t>
            </a:r>
            <a:r>
              <a:rPr lang="en-US" sz="2300" kern="0" dirty="0">
                <a:solidFill>
                  <a:srgbClr val="000000"/>
                </a:solidFill>
                <a:latin typeface="Cambria" panose="02040503050406030204" pitchFamily="18" charset="0"/>
                <a:ea typeface="Cambria" panose="02040503050406030204" pitchFamily="18" charset="0"/>
              </a:rPr>
              <a:t> 1, </a:t>
            </a:r>
            <a:r>
              <a:rPr lang="en-US" sz="2300" kern="0" dirty="0" err="1">
                <a:solidFill>
                  <a:srgbClr val="000000"/>
                </a:solidFill>
                <a:latin typeface="Cambria" panose="02040503050406030204" pitchFamily="18" charset="0"/>
                <a:ea typeface="Cambria" panose="02040503050406030204" pitchFamily="18" charset="0"/>
              </a:rPr>
              <a:t>đúng</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hoặc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sai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có</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hoặc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không</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dựa</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trên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một</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tập</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hợp</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các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biến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độc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lập</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nhất</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định</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Về</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cơ</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bản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dự</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đoán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xác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suất</a:t>
            </a:r>
            <a:r>
              <a:rPr lang="en-US" sz="2300" kern="0" dirty="0">
                <a:solidFill>
                  <a:srgbClr val="000000"/>
                </a:solidFill>
                <a:latin typeface="Cambria" panose="02040503050406030204" pitchFamily="18" charset="0"/>
                <a:ea typeface="Cambria" panose="02040503050406030204" pitchFamily="18" charset="0"/>
              </a:rPr>
              <a:t> do </a:t>
            </a:r>
            <a:r>
              <a:rPr lang="en-US" sz="2300" kern="0" dirty="0" err="1">
                <a:solidFill>
                  <a:srgbClr val="000000"/>
                </a:solidFill>
                <a:latin typeface="Cambria" panose="02040503050406030204" pitchFamily="18" charset="0"/>
                <a:ea typeface="Cambria" panose="02040503050406030204" pitchFamily="18" charset="0"/>
              </a:rPr>
              <a:t>đó</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đầu</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ra</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của</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nó</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nằm</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trong</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khoảng</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từ</a:t>
            </a:r>
            <a:r>
              <a:rPr lang="en-US" sz="2300" kern="0" dirty="0">
                <a:solidFill>
                  <a:srgbClr val="000000"/>
                </a:solidFill>
                <a:latin typeface="Cambria" panose="02040503050406030204" pitchFamily="18" charset="0"/>
                <a:ea typeface="Cambria" panose="02040503050406030204" pitchFamily="18" charset="0"/>
              </a:rPr>
              <a:t> 0 </a:t>
            </a:r>
            <a:r>
              <a:rPr lang="en-US" sz="2300" kern="0" dirty="0" err="1">
                <a:solidFill>
                  <a:srgbClr val="000000"/>
                </a:solidFill>
                <a:latin typeface="Cambria" panose="02040503050406030204" pitchFamily="18" charset="0"/>
                <a:ea typeface="Cambria" panose="02040503050406030204" pitchFamily="18" charset="0"/>
              </a:rPr>
              <a:t>đến</a:t>
            </a:r>
            <a:r>
              <a:rPr lang="en-US" sz="2300" kern="0" dirty="0">
                <a:solidFill>
                  <a:srgbClr val="000000"/>
                </a:solidFill>
                <a:latin typeface="Cambria" panose="02040503050406030204" pitchFamily="18" charset="0"/>
                <a:ea typeface="Cambria" panose="02040503050406030204" pitchFamily="18" charset="0"/>
              </a:rPr>
              <a:t> 1</a:t>
            </a:r>
          </a:p>
          <a:p>
            <a:pPr>
              <a:lnSpc>
                <a:spcPct val="130000"/>
              </a:lnSpc>
            </a:pPr>
            <a:r>
              <a:rPr lang="en-US" sz="2300" b="1" kern="0" dirty="0" err="1">
                <a:solidFill>
                  <a:srgbClr val="000000"/>
                </a:solidFill>
                <a:latin typeface="Cambria" panose="02040503050406030204" pitchFamily="18" charset="0"/>
                <a:ea typeface="Cambria" panose="02040503050406030204" pitchFamily="18" charset="0"/>
              </a:rPr>
              <a:t>Ví</a:t>
            </a:r>
            <a:r>
              <a:rPr lang="en-US" sz="2300" b="1" kern="0" dirty="0">
                <a:solidFill>
                  <a:srgbClr val="000000"/>
                </a:solidFill>
                <a:latin typeface="Cambria" panose="02040503050406030204" pitchFamily="18" charset="0"/>
                <a:ea typeface="Cambria" panose="02040503050406030204" pitchFamily="18" charset="0"/>
              </a:rPr>
              <a:t> </a:t>
            </a:r>
            <a:r>
              <a:rPr lang="en-US" sz="2300" b="1" kern="0" dirty="0" err="1">
                <a:solidFill>
                  <a:srgbClr val="000000"/>
                </a:solidFill>
                <a:latin typeface="Cambria" panose="02040503050406030204" pitchFamily="18" charset="0"/>
                <a:ea typeface="Cambria" panose="02040503050406030204" pitchFamily="18" charset="0"/>
              </a:rPr>
              <a:t>dụ</a:t>
            </a:r>
            <a:r>
              <a:rPr lang="en-US" sz="2300" b="1" kern="0" dirty="0">
                <a:solidFill>
                  <a:srgbClr val="000000"/>
                </a:solidFill>
                <a:latin typeface="Cambria" panose="02040503050406030204" pitchFamily="18" charset="0"/>
                <a:ea typeface="Cambria" panose="02040503050406030204" pitchFamily="18" charset="0"/>
              </a:rPr>
              <a:t> 1</a:t>
            </a:r>
            <a:r>
              <a:rPr lang="en-US" sz="2300" kern="0" dirty="0">
                <a:solidFill>
                  <a:srgbClr val="000000"/>
                </a:solidFill>
                <a:latin typeface="Cambria" panose="02040503050406030204" pitchFamily="18" charset="0"/>
                <a:ea typeface="Cambria" panose="02040503050406030204" pitchFamily="18" charset="0"/>
              </a:rPr>
              <a:t>: </a:t>
            </a:r>
          </a:p>
          <a:p>
            <a:pPr marL="342900" indent="-342900">
              <a:lnSpc>
                <a:spcPct val="130000"/>
              </a:lnSpc>
              <a:buFont typeface="Arial" panose="020B0604020202020204" pitchFamily="34" charset="0"/>
              <a:buChar char="•"/>
            </a:pPr>
            <a:r>
              <a:rPr lang="en-US" sz="2300" kern="0" dirty="0" err="1">
                <a:solidFill>
                  <a:srgbClr val="000000"/>
                </a:solidFill>
                <a:latin typeface="Cambria" panose="02040503050406030204" pitchFamily="18" charset="0"/>
                <a:ea typeface="Cambria" panose="02040503050406030204" pitchFamily="18" charset="0"/>
              </a:rPr>
              <a:t>Một</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bác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sĩ</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phân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loại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khối</a:t>
            </a:r>
            <a:r>
              <a:rPr lang="en-US" sz="2300" kern="0" dirty="0">
                <a:solidFill>
                  <a:srgbClr val="000000"/>
                </a:solidFill>
                <a:latin typeface="Cambria" panose="02040503050406030204" pitchFamily="18" charset="0"/>
                <a:ea typeface="Cambria" panose="02040503050406030204" pitchFamily="18" charset="0"/>
              </a:rPr>
              <a:t> u </a:t>
            </a:r>
            <a:r>
              <a:rPr lang="en-US" sz="2300" kern="0" dirty="0" err="1">
                <a:solidFill>
                  <a:srgbClr val="000000"/>
                </a:solidFill>
                <a:latin typeface="Cambria" panose="02040503050406030204" pitchFamily="18" charset="0"/>
                <a:ea typeface="Cambria" panose="02040503050406030204" pitchFamily="18" charset="0"/>
              </a:rPr>
              <a:t>là</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ác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tính</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hoặc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lành</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tính</a:t>
            </a:r>
            <a:r>
              <a:rPr lang="en-US" sz="2300" kern="0" dirty="0">
                <a:solidFill>
                  <a:srgbClr val="000000"/>
                </a:solidFill>
                <a:latin typeface="Cambria" panose="02040503050406030204" pitchFamily="18" charset="0"/>
                <a:ea typeface="Cambria" panose="02040503050406030204" pitchFamily="18" charset="0"/>
              </a:rPr>
              <a:t>.</a:t>
            </a:r>
          </a:p>
          <a:p>
            <a:pPr marL="342900" indent="-342900">
              <a:lnSpc>
                <a:spcPct val="130000"/>
              </a:lnSpc>
              <a:buFont typeface="Arial" panose="020B0604020202020204" pitchFamily="34" charset="0"/>
              <a:buChar char="•"/>
            </a:pPr>
            <a:r>
              <a:rPr lang="en-US" sz="2300" kern="0" dirty="0" err="1">
                <a:solidFill>
                  <a:srgbClr val="000000"/>
                </a:solidFill>
                <a:latin typeface="Cambria" panose="02040503050406030204" pitchFamily="18" charset="0"/>
                <a:ea typeface="Cambria" panose="02040503050406030204" pitchFamily="18" charset="0"/>
              </a:rPr>
              <a:t>Giao</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dịch</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ngân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hàng</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có</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thể</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là</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gian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lận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hoặc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giả</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mạo</a:t>
            </a:r>
            <a:r>
              <a:rPr lang="en-US" sz="2300" kern="0" dirty="0">
                <a:solidFill>
                  <a:srgbClr val="000000"/>
                </a:solidFill>
                <a:latin typeface="Cambria" panose="02040503050406030204" pitchFamily="18" charset="0"/>
                <a:ea typeface="Cambria" panose="02040503050406030204" pitchFamily="18" charset="0"/>
              </a:rPr>
              <a:t>.</a:t>
            </a:r>
          </a:p>
          <a:p>
            <a:pPr marL="342900" marR="30480" lvl="2" indent="-342900" algn="just">
              <a:lnSpc>
                <a:spcPct val="130000"/>
              </a:lnSpc>
              <a:buClr>
                <a:srgbClr val="FF0000"/>
              </a:buClr>
              <a:buFont typeface="Arial" panose="020B0604020202020204" pitchFamily="34" charset="0"/>
              <a:buChar char="•"/>
            </a:pPr>
            <a:r>
              <a:rPr lang="en-US" sz="2300" kern="0" dirty="0">
                <a:solidFill>
                  <a:srgbClr val="000000"/>
                </a:solidFill>
                <a:latin typeface="Cambria" panose="02040503050406030204" pitchFamily="18" charset="0"/>
                <a:ea typeface="Cambria" panose="02040503050406030204" pitchFamily="18" charset="0"/>
                <a:sym typeface="Wingdings" panose="05000000000000000000" pitchFamily="2" charset="2"/>
              </a:rPr>
              <a:t>Hay </a:t>
            </a:r>
            <a:r>
              <a:rPr lang="en-US" sz="2300" kern="0" dirty="0" err="1">
                <a:solidFill>
                  <a:srgbClr val="000000"/>
                </a:solidFill>
                <a:latin typeface="Cambria" panose="02040503050406030204" pitchFamily="18" charset="0"/>
                <a:ea typeface="Cambria" panose="02040503050406030204" pitchFamily="18" charset="0"/>
              </a:rPr>
              <a:t>huấn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luyện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máy</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móc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giải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quyết</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vấn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đề</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phân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loại</a:t>
            </a:r>
            <a:r>
              <a:rPr lang="en-US" sz="2300" kern="0" dirty="0">
                <a:solidFill>
                  <a:srgbClr val="000000"/>
                </a:solidFill>
                <a:latin typeface="Cambria" panose="02040503050406030204" pitchFamily="18" charset="0"/>
                <a:ea typeface="Cambria" panose="02040503050406030204" pitchFamily="18" charset="0"/>
              </a:rPr>
              <a:t> </a:t>
            </a:r>
            <a:r>
              <a:rPr lang="vi-VN" sz="2300" kern="0" dirty="0">
                <a:solidFill>
                  <a:srgbClr val="000000"/>
                </a:solidFill>
                <a:latin typeface="Cambria" panose="02040503050406030204" pitchFamily="18" charset="0"/>
                <a:ea typeface="Cambria" panose="02040503050406030204" pitchFamily="18" charset="0"/>
              </a:rPr>
              <a:t>Ứng dụng </a:t>
            </a:r>
            <a:r>
              <a:rPr lang="en-US" sz="2300" kern="0" dirty="0" err="1">
                <a:solidFill>
                  <a:srgbClr val="000000"/>
                </a:solidFill>
                <a:latin typeface="Cambria" panose="02040503050406030204" pitchFamily="18" charset="0"/>
                <a:ea typeface="Cambria" panose="02040503050406030204" pitchFamily="18" charset="0"/>
              </a:rPr>
              <a:t>thư</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tín</a:t>
            </a:r>
            <a:r>
              <a:rPr lang="vi-VN" sz="2300" kern="0" dirty="0">
                <a:solidFill>
                  <a:srgbClr val="000000"/>
                </a:solidFill>
                <a:latin typeface="Cambria" panose="02040503050406030204" pitchFamily="18" charset="0"/>
                <a:ea typeface="Cambria" panose="02040503050406030204" pitchFamily="18" charset="0"/>
              </a:rPr>
              <a:t> email trên máy </a:t>
            </a:r>
            <a:r>
              <a:rPr lang="en-US" sz="2300" kern="0" dirty="0" err="1">
                <a:solidFill>
                  <a:srgbClr val="000000"/>
                </a:solidFill>
                <a:latin typeface="Cambria" panose="02040503050406030204" pitchFamily="18" charset="0"/>
                <a:ea typeface="Cambria" panose="02040503050406030204" pitchFamily="18" charset="0"/>
              </a:rPr>
              <a:t>tính</a:t>
            </a:r>
            <a:r>
              <a:rPr lang="en-US" sz="2300" kern="0" dirty="0">
                <a:solidFill>
                  <a:srgbClr val="000000"/>
                </a:solidFill>
                <a:latin typeface="Cambria" panose="02040503050406030204" pitchFamily="18" charset="0"/>
                <a:ea typeface="Cambria" panose="02040503050406030204" pitchFamily="18" charset="0"/>
              </a:rPr>
              <a:t> </a:t>
            </a:r>
            <a:r>
              <a:rPr lang="vi-VN" sz="2300" kern="0" dirty="0">
                <a:solidFill>
                  <a:srgbClr val="000000"/>
                </a:solidFill>
                <a:latin typeface="Cambria" panose="02040503050406030204" pitchFamily="18" charset="0"/>
                <a:ea typeface="Cambria" panose="02040503050406030204" pitchFamily="18" charset="0"/>
              </a:rPr>
              <a:t>thư đến là “thư rác” hoặc “không phải thư rác” và nó thực hiện điều đó với độ chính xác khá lớn</a:t>
            </a:r>
            <a:endParaRPr lang="en-US" sz="2300" kern="0" dirty="0">
              <a:solidFill>
                <a:srgbClr val="00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180483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MỘT SỐ THUẬT TOÁN HỌC MÁY PHỔ BIẾN</a:t>
            </a:r>
          </a:p>
        </p:txBody>
      </p:sp>
      <p:sp>
        <p:nvSpPr>
          <p:cNvPr id="11" name="Content Placeholder 2">
            <a:extLst>
              <a:ext uri="{FF2B5EF4-FFF2-40B4-BE49-F238E27FC236}">
                <a16:creationId xmlns:a16="http://schemas.microsoft.com/office/drawing/2014/main" id="{D84E1B89-45F1-4C39-88F0-3A380DA733A9}"/>
              </a:ext>
            </a:extLst>
          </p:cNvPr>
          <p:cNvSpPr>
            <a:spLocks noGrp="1"/>
          </p:cNvSpPr>
          <p:nvPr>
            <p:ph idx="1"/>
          </p:nvPr>
        </p:nvSpPr>
        <p:spPr>
          <a:xfrm>
            <a:off x="242371" y="691585"/>
            <a:ext cx="11674646" cy="5337573"/>
          </a:xfrm>
        </p:spPr>
        <p:txBody>
          <a:bodyPr>
            <a:noAutofit/>
          </a:bodyPr>
          <a:lstStyle/>
          <a:p>
            <a:pPr marL="58738" lvl="1" indent="0" algn="just">
              <a:lnSpc>
                <a:spcPct val="150000"/>
              </a:lnSpc>
              <a:spcBef>
                <a:spcPts val="580"/>
              </a:spcBef>
              <a:buClr>
                <a:srgbClr val="FF5A33"/>
              </a:buClr>
              <a:buNone/>
            </a:pPr>
            <a:r>
              <a:rPr lang="en-US" sz="2500" b="1" kern="0" dirty="0">
                <a:effectLst/>
                <a:latin typeface="Cambria" panose="02040503050406030204" pitchFamily="18" charset="0"/>
                <a:ea typeface="Cambria" panose="02040503050406030204" pitchFamily="18" charset="0"/>
              </a:rPr>
              <a:t>2. </a:t>
            </a:r>
            <a:r>
              <a:rPr lang="en-US" sz="2500" b="1" kern="0" dirty="0" err="1">
                <a:effectLst/>
                <a:latin typeface="Cambria" panose="02040503050406030204" pitchFamily="18" charset="0"/>
                <a:ea typeface="Cambria" panose="02040503050406030204" pitchFamily="18" charset="0"/>
              </a:rPr>
              <a:t>Hồi</a:t>
            </a:r>
            <a:r>
              <a:rPr lang="en-US" sz="2500" b="1" kern="0" dirty="0">
                <a:effectLst/>
                <a:latin typeface="Cambria" panose="02040503050406030204" pitchFamily="18" charset="0"/>
                <a:ea typeface="Cambria" panose="02040503050406030204" pitchFamily="18" charset="0"/>
              </a:rPr>
              <a:t> </a:t>
            </a:r>
            <a:r>
              <a:rPr lang="en-US" sz="2500" b="1" kern="0" dirty="0" err="1">
                <a:effectLst/>
                <a:latin typeface="Cambria" panose="02040503050406030204" pitchFamily="18" charset="0"/>
                <a:ea typeface="Cambria" panose="02040503050406030204" pitchFamily="18" charset="0"/>
              </a:rPr>
              <a:t>quy</a:t>
            </a:r>
            <a:r>
              <a:rPr lang="en-US" sz="2500" b="1" kern="0" dirty="0">
                <a:effectLst/>
                <a:latin typeface="Cambria" panose="02040503050406030204" pitchFamily="18" charset="0"/>
                <a:ea typeface="Cambria" panose="02040503050406030204" pitchFamily="18" charset="0"/>
              </a:rPr>
              <a:t> logistic</a:t>
            </a:r>
          </a:p>
          <a:p>
            <a:pPr marL="515938" lvl="2" indent="0">
              <a:lnSpc>
                <a:spcPct val="150000"/>
              </a:lnSpc>
              <a:spcBef>
                <a:spcPts val="580"/>
              </a:spcBef>
              <a:buClr>
                <a:srgbClr val="FF5A33"/>
              </a:buClr>
              <a:buNone/>
            </a:pPr>
            <a:endParaRPr lang="en-US" sz="2500" b="1" spc="-55" dirty="0">
              <a:latin typeface="Cambria" panose="02040503050406030204" pitchFamily="18" charset="0"/>
              <a:ea typeface="Cambria" panose="02040503050406030204" pitchFamily="18" charset="0"/>
              <a:cs typeface="Segoe UI"/>
            </a:endParaRPr>
          </a:p>
        </p:txBody>
      </p:sp>
      <p:sp>
        <p:nvSpPr>
          <p:cNvPr id="2" name="Rectangle 1"/>
          <p:cNvSpPr/>
          <p:nvPr/>
        </p:nvSpPr>
        <p:spPr>
          <a:xfrm>
            <a:off x="242370" y="1284944"/>
            <a:ext cx="11799065" cy="3313215"/>
          </a:xfrm>
          <a:prstGeom prst="rect">
            <a:avLst/>
          </a:prstGeom>
        </p:spPr>
        <p:txBody>
          <a:bodyPr wrap="square">
            <a:spAutoFit/>
          </a:bodyPr>
          <a:lstStyle/>
          <a:p>
            <a:pPr>
              <a:lnSpc>
                <a:spcPct val="130000"/>
              </a:lnSpc>
            </a:pPr>
            <a:r>
              <a:rPr lang="en-US" sz="2300" b="1" kern="0" dirty="0" err="1">
                <a:solidFill>
                  <a:srgbClr val="000000"/>
                </a:solidFill>
                <a:latin typeface="Cambria" panose="02040503050406030204" pitchFamily="18" charset="0"/>
                <a:ea typeface="Cambria" panose="02040503050406030204" pitchFamily="18" charset="0"/>
              </a:rPr>
              <a:t>Ví</a:t>
            </a:r>
            <a:r>
              <a:rPr lang="en-US" sz="2300" b="1" kern="0" dirty="0">
                <a:solidFill>
                  <a:srgbClr val="000000"/>
                </a:solidFill>
                <a:latin typeface="Cambria" panose="02040503050406030204" pitchFamily="18" charset="0"/>
                <a:ea typeface="Cambria" panose="02040503050406030204" pitchFamily="18" charset="0"/>
              </a:rPr>
              <a:t> </a:t>
            </a:r>
            <a:r>
              <a:rPr lang="en-US" sz="2300" b="1" kern="0" dirty="0" err="1">
                <a:solidFill>
                  <a:srgbClr val="000000"/>
                </a:solidFill>
                <a:latin typeface="Cambria" panose="02040503050406030204" pitchFamily="18" charset="0"/>
                <a:ea typeface="Cambria" panose="02040503050406030204" pitchFamily="18" charset="0"/>
              </a:rPr>
              <a:t>dụ</a:t>
            </a:r>
            <a:r>
              <a:rPr lang="en-US" sz="2300" b="1" kern="0" dirty="0">
                <a:solidFill>
                  <a:srgbClr val="000000"/>
                </a:solidFill>
                <a:latin typeface="Cambria" panose="02040503050406030204" pitchFamily="18" charset="0"/>
                <a:ea typeface="Cambria" panose="02040503050406030204" pitchFamily="18" charset="0"/>
              </a:rPr>
              <a:t> 2: </a:t>
            </a:r>
            <a:r>
              <a:rPr lang="vi-VN" sz="2300" kern="0" dirty="0">
                <a:solidFill>
                  <a:srgbClr val="000000"/>
                </a:solidFill>
                <a:latin typeface="Cambria" panose="02040503050406030204" pitchFamily="18" charset="0"/>
                <a:ea typeface="Cambria" panose="02040503050406030204" pitchFamily="18" charset="0"/>
              </a:rPr>
              <a:t>Cơ sở dữ liệu người dùng – Tập dữ liệu này chứa thông tin của người dùng từ cơ sở dữ liệu công ty</a:t>
            </a:r>
            <a:r>
              <a:rPr lang="en-US" sz="2300" kern="0" dirty="0">
                <a:solidFill>
                  <a:srgbClr val="000000"/>
                </a:solidFill>
                <a:latin typeface="Cambria" panose="02040503050406030204" pitchFamily="18" charset="0"/>
                <a:ea typeface="Cambria" panose="02040503050406030204" pitchFamily="18" charset="0"/>
              </a:rPr>
              <a:t>:</a:t>
            </a:r>
            <a:r>
              <a:rPr lang="vi-VN" sz="2300" kern="0" dirty="0">
                <a:solidFill>
                  <a:srgbClr val="000000"/>
                </a:solidFill>
                <a:latin typeface="Cambria" panose="02040503050406030204" pitchFamily="18" charset="0"/>
                <a:ea typeface="Cambria" panose="02040503050406030204" pitchFamily="18" charset="0"/>
              </a:rPr>
              <a:t> chứa thông tin về UserID, Giới tính, Tuổi, Ước tính giá trị, Đã mua. </a:t>
            </a:r>
            <a:r>
              <a:rPr lang="en-US" sz="2300" kern="0" dirty="0">
                <a:solidFill>
                  <a:srgbClr val="000000"/>
                </a:solidFill>
                <a:latin typeface="Cambria" panose="02040503050406030204" pitchFamily="18" charset="0"/>
                <a:ea typeface="Cambria" panose="02040503050406030204" pitchFamily="18" charset="0"/>
              </a:rPr>
              <a:t>S</a:t>
            </a:r>
            <a:r>
              <a:rPr lang="vi-VN" sz="2300" kern="0" dirty="0">
                <a:solidFill>
                  <a:srgbClr val="000000"/>
                </a:solidFill>
                <a:latin typeface="Cambria" panose="02040503050406030204" pitchFamily="18" charset="0"/>
                <a:ea typeface="Cambria" panose="02040503050406030204" pitchFamily="18" charset="0"/>
              </a:rPr>
              <a:t>ử dụng tập dữ liệu này để dự đoán rằng người dùng có mua sản phẩm mới ra mắt của công ty hay không</a:t>
            </a:r>
            <a:r>
              <a:rPr lang="en-US" sz="2300" kern="0" dirty="0">
                <a:solidFill>
                  <a:srgbClr val="000000"/>
                </a:solidFill>
                <a:latin typeface="Cambria" panose="02040503050406030204" pitchFamily="18" charset="0"/>
                <a:ea typeface="Cambria" panose="02040503050406030204" pitchFamily="18" charset="0"/>
              </a:rPr>
              <a:t>?</a:t>
            </a:r>
          </a:p>
          <a:p>
            <a:pPr>
              <a:lnSpc>
                <a:spcPct val="130000"/>
              </a:lnSpc>
            </a:pPr>
            <a:r>
              <a:rPr lang="en-US" sz="2300" b="1" kern="0" dirty="0" err="1">
                <a:solidFill>
                  <a:srgbClr val="000000"/>
                </a:solidFill>
                <a:latin typeface="Cambria" panose="02040503050406030204" pitchFamily="18" charset="0"/>
                <a:ea typeface="Cambria" panose="02040503050406030204" pitchFamily="18" charset="0"/>
              </a:rPr>
              <a:t>Dữ</a:t>
            </a:r>
            <a:r>
              <a:rPr lang="en-US" sz="2300" b="1" kern="0" dirty="0">
                <a:solidFill>
                  <a:srgbClr val="000000"/>
                </a:solidFill>
                <a:latin typeface="Cambria" panose="02040503050406030204" pitchFamily="18" charset="0"/>
                <a:ea typeface="Cambria" panose="02040503050406030204" pitchFamily="18" charset="0"/>
              </a:rPr>
              <a:t> </a:t>
            </a:r>
            <a:r>
              <a:rPr lang="en-US" sz="2300" b="1" kern="0" dirty="0" err="1">
                <a:solidFill>
                  <a:srgbClr val="000000"/>
                </a:solidFill>
                <a:latin typeface="Cambria" panose="02040503050406030204" pitchFamily="18" charset="0"/>
                <a:ea typeface="Cambria" panose="02040503050406030204" pitchFamily="18" charset="0"/>
              </a:rPr>
              <a:t>liệu</a:t>
            </a:r>
            <a:r>
              <a:rPr lang="en-US" sz="2300" b="1" kern="0" dirty="0">
                <a:solidFill>
                  <a:srgbClr val="000000"/>
                </a:solidFill>
                <a:latin typeface="Cambria" panose="02040503050406030204" pitchFamily="18" charset="0"/>
                <a:ea typeface="Cambria" panose="02040503050406030204" pitchFamily="18" charset="0"/>
              </a:rPr>
              <a:t> file Data</a:t>
            </a:r>
          </a:p>
          <a:p>
            <a:pPr>
              <a:lnSpc>
                <a:spcPct val="130000"/>
              </a:lnSpc>
            </a:pPr>
            <a:r>
              <a:rPr lang="vi-VN" sz="2300" b="1" kern="0" dirty="0">
                <a:solidFill>
                  <a:srgbClr val="000000"/>
                </a:solidFill>
                <a:latin typeface="Cambria" panose="02040503050406030204" pitchFamily="18" charset="0"/>
                <a:ea typeface="Cambria" panose="02040503050406030204" pitchFamily="18" charset="0"/>
              </a:rPr>
              <a:t>Hãy tạo mô hình Hồi quy logistic,</a:t>
            </a:r>
            <a:endParaRPr lang="en-US" sz="2300" b="1" kern="0" dirty="0">
              <a:solidFill>
                <a:srgbClr val="000000"/>
              </a:solidFill>
              <a:latin typeface="Cambria" panose="02040503050406030204" pitchFamily="18" charset="0"/>
              <a:ea typeface="Cambria" panose="02040503050406030204" pitchFamily="18" charset="0"/>
            </a:endParaRPr>
          </a:p>
          <a:p>
            <a:pPr>
              <a:lnSpc>
                <a:spcPct val="130000"/>
              </a:lnSpc>
            </a:pPr>
            <a:r>
              <a:rPr lang="vi-VN" sz="2300" b="1" kern="0" dirty="0">
                <a:solidFill>
                  <a:srgbClr val="000000"/>
                </a:solidFill>
                <a:latin typeface="Cambria" panose="02040503050406030204" pitchFamily="18" charset="0"/>
                <a:ea typeface="Cambria" panose="02040503050406030204" pitchFamily="18" charset="0"/>
              </a:rPr>
              <a:t>dự đoán liệu người dùng có mua sản phẩm hay không</a:t>
            </a:r>
            <a:r>
              <a:rPr lang="vi-VN" sz="2300" kern="0" dirty="0">
                <a:solidFill>
                  <a:srgbClr val="000000"/>
                </a:solidFill>
                <a:latin typeface="Cambria" panose="02040503050406030204" pitchFamily="18" charset="0"/>
                <a:ea typeface="Cambria" panose="02040503050406030204" pitchFamily="18" charset="0"/>
              </a:rPr>
              <a:t>.</a:t>
            </a:r>
            <a:endParaRPr lang="en-US" sz="2300" kern="0" dirty="0">
              <a:solidFill>
                <a:srgbClr val="000000"/>
              </a:solidFill>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2"/>
          <a:stretch>
            <a:fillRect/>
          </a:stretch>
        </p:blipFill>
        <p:spPr>
          <a:xfrm>
            <a:off x="7788925" y="2813533"/>
            <a:ext cx="3851394" cy="3215625"/>
          </a:xfrm>
          <a:prstGeom prst="rect">
            <a:avLst/>
          </a:prstGeom>
        </p:spPr>
      </p:pic>
    </p:spTree>
    <p:extLst>
      <p:ext uri="{BB962C8B-B14F-4D97-AF65-F5344CB8AC3E}">
        <p14:creationId xmlns:p14="http://schemas.microsoft.com/office/powerpoint/2010/main" val="232961376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MỘT SỐ THUẬT TOÁN HỌC MÁY PHỔ BIẾN</a:t>
            </a:r>
          </a:p>
        </p:txBody>
      </p:sp>
      <p:sp>
        <p:nvSpPr>
          <p:cNvPr id="11" name="Content Placeholder 2">
            <a:extLst>
              <a:ext uri="{FF2B5EF4-FFF2-40B4-BE49-F238E27FC236}">
                <a16:creationId xmlns:a16="http://schemas.microsoft.com/office/drawing/2014/main" id="{D84E1B89-45F1-4C39-88F0-3A380DA733A9}"/>
              </a:ext>
            </a:extLst>
          </p:cNvPr>
          <p:cNvSpPr>
            <a:spLocks noGrp="1"/>
          </p:cNvSpPr>
          <p:nvPr>
            <p:ph idx="1"/>
          </p:nvPr>
        </p:nvSpPr>
        <p:spPr>
          <a:xfrm>
            <a:off x="220337" y="691585"/>
            <a:ext cx="11696679" cy="5337573"/>
          </a:xfrm>
        </p:spPr>
        <p:txBody>
          <a:bodyPr>
            <a:noAutofit/>
          </a:bodyPr>
          <a:lstStyle/>
          <a:p>
            <a:pPr marL="58738" lvl="1" indent="0" algn="just">
              <a:lnSpc>
                <a:spcPct val="150000"/>
              </a:lnSpc>
              <a:spcBef>
                <a:spcPts val="580"/>
              </a:spcBef>
              <a:buClr>
                <a:srgbClr val="FF5A33"/>
              </a:buClr>
              <a:buNone/>
            </a:pPr>
            <a:r>
              <a:rPr lang="en-US" sz="2500" b="1" kern="0" dirty="0">
                <a:effectLst/>
                <a:latin typeface="Cambria" panose="02040503050406030204" pitchFamily="18" charset="0"/>
                <a:ea typeface="Cambria" panose="02040503050406030204" pitchFamily="18" charset="0"/>
              </a:rPr>
              <a:t>3. </a:t>
            </a:r>
            <a:r>
              <a:rPr lang="vi-VN" sz="2500" b="1" kern="0" dirty="0">
                <a:latin typeface="Cambria" panose="02040503050406030204" pitchFamily="18" charset="0"/>
                <a:ea typeface="Cambria" panose="02040503050406030204" pitchFamily="18" charset="0"/>
              </a:rPr>
              <a:t>Máy vectơ hỗ trợ (SVM)</a:t>
            </a:r>
            <a:endParaRPr lang="en-US" sz="2500" b="1" kern="0" dirty="0">
              <a:latin typeface="Cambria" panose="02040503050406030204" pitchFamily="18" charset="0"/>
              <a:ea typeface="Cambria" panose="02040503050406030204" pitchFamily="18" charset="0"/>
            </a:endParaRPr>
          </a:p>
          <a:p>
            <a:pPr marL="58738" lvl="1" indent="0" algn="just">
              <a:lnSpc>
                <a:spcPct val="150000"/>
              </a:lnSpc>
              <a:spcBef>
                <a:spcPts val="580"/>
              </a:spcBef>
              <a:buClr>
                <a:srgbClr val="FF5A33"/>
              </a:buClr>
              <a:buNone/>
            </a:pPr>
            <a:r>
              <a:rPr lang="en-US" sz="2500" kern="0" dirty="0">
                <a:solidFill>
                  <a:srgbClr val="000000"/>
                </a:solidFill>
                <a:latin typeface="Cambria" panose="02040503050406030204" pitchFamily="18" charset="0"/>
                <a:ea typeface="Cambria" panose="02040503050406030204" pitchFamily="18" charset="0"/>
              </a:rPr>
              <a:t>	Đ</a:t>
            </a:r>
            <a:r>
              <a:rPr lang="vi-VN" sz="2500" kern="0" dirty="0">
                <a:solidFill>
                  <a:srgbClr val="000000"/>
                </a:solidFill>
                <a:latin typeface="Cambria" panose="02040503050406030204" pitchFamily="18" charset="0"/>
                <a:ea typeface="Cambria" panose="02040503050406030204" pitchFamily="18" charset="0"/>
              </a:rPr>
              <a:t>ược sử dụng cho cả vấn đề phân loại và hồi quy. Nhưng chủ yếu nó được sử dụng cho các bài toán phân loại. </a:t>
            </a:r>
            <a:endParaRPr lang="en-US" sz="2500" kern="0" dirty="0">
              <a:solidFill>
                <a:srgbClr val="000000"/>
              </a:solidFill>
              <a:latin typeface="Cambria" panose="02040503050406030204" pitchFamily="18" charset="0"/>
              <a:ea typeface="Cambria" panose="02040503050406030204" pitchFamily="18" charset="0"/>
            </a:endParaRPr>
          </a:p>
          <a:p>
            <a:pPr marL="58738" lvl="1" indent="0" algn="just">
              <a:lnSpc>
                <a:spcPct val="150000"/>
              </a:lnSpc>
              <a:spcBef>
                <a:spcPts val="580"/>
              </a:spcBef>
              <a:buClr>
                <a:srgbClr val="FF5A33"/>
              </a:buClr>
              <a:buNone/>
            </a:pPr>
            <a:r>
              <a:rPr lang="vi-VN" sz="2500" kern="0" dirty="0">
                <a:solidFill>
                  <a:srgbClr val="000000"/>
                </a:solidFill>
                <a:latin typeface="Cambria" panose="02040503050406030204" pitchFamily="18" charset="0"/>
                <a:ea typeface="Cambria" panose="02040503050406030204" pitchFamily="18" charset="0"/>
              </a:rPr>
              <a:t>Khái niệm chính của SVM là vẽ mỗi mục dữ liệu dưới dạng một điểm trong không gian n chiều với giá trị của mỗi đối tượng là giá trị của một tọa độ cụ thể. </a:t>
            </a:r>
            <a:endParaRPr lang="en-US" sz="2500" kern="0" dirty="0">
              <a:solidFill>
                <a:srgbClr val="000000"/>
              </a:solidFill>
              <a:latin typeface="Cambria" panose="02040503050406030204" pitchFamily="18" charset="0"/>
              <a:ea typeface="Cambria" panose="02040503050406030204" pitchFamily="18" charset="0"/>
            </a:endParaRPr>
          </a:p>
          <a:p>
            <a:pPr marL="58738" lvl="1" indent="0" algn="just">
              <a:lnSpc>
                <a:spcPct val="150000"/>
              </a:lnSpc>
              <a:spcBef>
                <a:spcPts val="580"/>
              </a:spcBef>
              <a:buClr>
                <a:srgbClr val="FF5A33"/>
              </a:buClr>
              <a:buNone/>
            </a:pPr>
            <a:r>
              <a:rPr lang="en-US" sz="2500" kern="0" dirty="0" err="1">
                <a:solidFill>
                  <a:srgbClr val="000000"/>
                </a:solidFill>
                <a:latin typeface="Cambria" panose="02040503050406030204" pitchFamily="18" charset="0"/>
                <a:ea typeface="Cambria" panose="02040503050406030204" pitchFamily="18" charset="0"/>
              </a:rPr>
              <a:t>Điều</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kiện</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tiên</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quyết</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phải</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biết</a:t>
            </a:r>
            <a:r>
              <a:rPr lang="en-US" sz="2500" kern="0" dirty="0">
                <a:solidFill>
                  <a:srgbClr val="000000"/>
                </a:solidFill>
                <a:latin typeface="Cambria" panose="02040503050406030204" pitchFamily="18" charset="0"/>
                <a:ea typeface="Cambria" panose="02040503050406030204" pitchFamily="18" charset="0"/>
              </a:rPr>
              <a:t>: </a:t>
            </a:r>
            <a:r>
              <a:rPr lang="en-US" sz="2500" b="1" kern="0" dirty="0" err="1">
                <a:solidFill>
                  <a:srgbClr val="000000"/>
                </a:solidFill>
                <a:latin typeface="Cambria" panose="02040503050406030204" pitchFamily="18" charset="0"/>
                <a:ea typeface="Cambria" panose="02040503050406030204" pitchFamily="18" charset="0"/>
              </a:rPr>
              <a:t>Numpy</a:t>
            </a:r>
            <a:r>
              <a:rPr lang="en-US" sz="2500" b="1" kern="0" dirty="0">
                <a:solidFill>
                  <a:srgbClr val="000000"/>
                </a:solidFill>
                <a:latin typeface="Cambria" panose="02040503050406030204" pitchFamily="18" charset="0"/>
                <a:ea typeface="Cambria" panose="02040503050406030204" pitchFamily="18" charset="0"/>
              </a:rPr>
              <a:t>, Pandas, </a:t>
            </a:r>
            <a:r>
              <a:rPr lang="en-US" sz="2500" b="1" kern="0" dirty="0" err="1">
                <a:solidFill>
                  <a:srgbClr val="000000"/>
                </a:solidFill>
                <a:latin typeface="Cambria" panose="02040503050406030204" pitchFamily="18" charset="0"/>
                <a:ea typeface="Cambria" panose="02040503050406030204" pitchFamily="18" charset="0"/>
              </a:rPr>
              <a:t>matplot</a:t>
            </a:r>
            <a:r>
              <a:rPr lang="en-US" sz="2500" b="1" kern="0" dirty="0">
                <a:solidFill>
                  <a:srgbClr val="000000"/>
                </a:solidFill>
                <a:latin typeface="Cambria" panose="02040503050406030204" pitchFamily="18" charset="0"/>
                <a:ea typeface="Cambria" panose="02040503050406030204" pitchFamily="18" charset="0"/>
              </a:rPr>
              <a:t>-lib, </a:t>
            </a:r>
            <a:r>
              <a:rPr lang="en-US" sz="2500" b="1" kern="0" dirty="0" err="1">
                <a:solidFill>
                  <a:srgbClr val="000000"/>
                </a:solidFill>
                <a:latin typeface="Cambria" panose="02040503050406030204" pitchFamily="18" charset="0"/>
                <a:ea typeface="Cambria" panose="02040503050406030204" pitchFamily="18" charset="0"/>
              </a:rPr>
              <a:t>scikit</a:t>
            </a:r>
            <a:r>
              <a:rPr lang="en-US" sz="2500" b="1" kern="0" dirty="0">
                <a:solidFill>
                  <a:srgbClr val="000000"/>
                </a:solidFill>
                <a:latin typeface="Cambria" panose="02040503050406030204" pitchFamily="18" charset="0"/>
                <a:ea typeface="Cambria" panose="02040503050406030204" pitchFamily="18" charset="0"/>
              </a:rPr>
              <a:t>-learning</a:t>
            </a:r>
          </a:p>
          <a:p>
            <a:pPr marL="58738" lvl="1" indent="0" algn="just">
              <a:lnSpc>
                <a:spcPct val="150000"/>
              </a:lnSpc>
              <a:spcBef>
                <a:spcPts val="580"/>
              </a:spcBef>
              <a:buClr>
                <a:srgbClr val="FF5A33"/>
              </a:buClr>
              <a:buNone/>
            </a:pPr>
            <a:endParaRPr lang="en-US" sz="2500" b="1" kern="0" dirty="0">
              <a:effectLst/>
              <a:latin typeface="Cambria" panose="02040503050406030204" pitchFamily="18" charset="0"/>
              <a:ea typeface="Cambria" panose="02040503050406030204" pitchFamily="18" charset="0"/>
            </a:endParaRPr>
          </a:p>
          <a:p>
            <a:pPr marL="515938" lvl="2" indent="0">
              <a:lnSpc>
                <a:spcPct val="150000"/>
              </a:lnSpc>
              <a:spcBef>
                <a:spcPts val="580"/>
              </a:spcBef>
              <a:buClr>
                <a:srgbClr val="FF5A33"/>
              </a:buClr>
              <a:buNone/>
            </a:pPr>
            <a:endParaRPr lang="en-US" sz="2500" b="1" spc="-55" dirty="0">
              <a:latin typeface="Cambria" panose="02040503050406030204" pitchFamily="18" charset="0"/>
              <a:ea typeface="Cambria" panose="02040503050406030204" pitchFamily="18" charset="0"/>
              <a:cs typeface="Segoe UI"/>
            </a:endParaRPr>
          </a:p>
        </p:txBody>
      </p:sp>
    </p:spTree>
    <p:extLst>
      <p:ext uri="{BB962C8B-B14F-4D97-AF65-F5344CB8AC3E}">
        <p14:creationId xmlns:p14="http://schemas.microsoft.com/office/powerpoint/2010/main" val="22306342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MỘT SỐ THUẬT TOÁN HỌC MÁY PHỔ BIẾN</a:t>
            </a:r>
          </a:p>
        </p:txBody>
      </p:sp>
      <p:sp>
        <p:nvSpPr>
          <p:cNvPr id="11" name="Content Placeholder 2">
            <a:extLst>
              <a:ext uri="{FF2B5EF4-FFF2-40B4-BE49-F238E27FC236}">
                <a16:creationId xmlns:a16="http://schemas.microsoft.com/office/drawing/2014/main" id="{D84E1B89-45F1-4C39-88F0-3A380DA733A9}"/>
              </a:ext>
            </a:extLst>
          </p:cNvPr>
          <p:cNvSpPr>
            <a:spLocks noGrp="1"/>
          </p:cNvSpPr>
          <p:nvPr>
            <p:ph idx="1"/>
          </p:nvPr>
        </p:nvSpPr>
        <p:spPr>
          <a:xfrm>
            <a:off x="407503" y="691585"/>
            <a:ext cx="11509513" cy="5337573"/>
          </a:xfrm>
        </p:spPr>
        <p:txBody>
          <a:bodyPr>
            <a:noAutofit/>
          </a:bodyPr>
          <a:lstStyle/>
          <a:p>
            <a:pPr marL="58738" lvl="1" indent="0" algn="just">
              <a:lnSpc>
                <a:spcPct val="150000"/>
              </a:lnSpc>
              <a:spcBef>
                <a:spcPts val="580"/>
              </a:spcBef>
              <a:buClr>
                <a:srgbClr val="FF5A33"/>
              </a:buClr>
              <a:buNone/>
            </a:pPr>
            <a:r>
              <a:rPr lang="en-US" sz="2500" b="1" kern="0" dirty="0">
                <a:effectLst/>
                <a:latin typeface="Cambria" panose="02040503050406030204" pitchFamily="18" charset="0"/>
                <a:ea typeface="Cambria" panose="02040503050406030204" pitchFamily="18" charset="0"/>
              </a:rPr>
              <a:t>4</a:t>
            </a:r>
            <a:r>
              <a:rPr lang="en-US" sz="2500" b="1" kern="0" dirty="0">
                <a:latin typeface="Cambria" panose="02040503050406030204" pitchFamily="18" charset="0"/>
                <a:ea typeface="Cambria" panose="02040503050406030204" pitchFamily="18" charset="0"/>
              </a:rPr>
              <a:t>. Naive Bayes</a:t>
            </a:r>
          </a:p>
          <a:p>
            <a:pPr marL="58738" lvl="1" indent="0" algn="just">
              <a:lnSpc>
                <a:spcPct val="130000"/>
              </a:lnSpc>
              <a:spcBef>
                <a:spcPts val="0"/>
              </a:spcBef>
              <a:buClr>
                <a:srgbClr val="FF5A33"/>
              </a:buClr>
              <a:buNone/>
            </a:pPr>
            <a:r>
              <a:rPr lang="vi-VN" sz="2500" kern="0" dirty="0">
                <a:latin typeface="Cambria" panose="02040503050406030204" pitchFamily="18" charset="0"/>
                <a:ea typeface="Cambria" panose="02040503050406030204" pitchFamily="18" charset="0"/>
              </a:rPr>
              <a:t>Nó cũng là một kỹ thuật phân loại. Logic đằng sau kỹ thuật phân loại này là sử dụng định lý Bayes để xây dựng các bộ phân loại. </a:t>
            </a:r>
            <a:endParaRPr lang="en-US" sz="2500" kern="0" dirty="0">
              <a:latin typeface="Cambria" panose="02040503050406030204" pitchFamily="18" charset="0"/>
              <a:ea typeface="Cambria" panose="02040503050406030204" pitchFamily="18" charset="0"/>
            </a:endParaRPr>
          </a:p>
          <a:p>
            <a:pPr marL="58738" lvl="1" indent="0" algn="just">
              <a:lnSpc>
                <a:spcPct val="130000"/>
              </a:lnSpc>
              <a:spcBef>
                <a:spcPts val="0"/>
              </a:spcBef>
              <a:buClr>
                <a:srgbClr val="FF5A33"/>
              </a:buClr>
              <a:buNone/>
            </a:pPr>
            <a:r>
              <a:rPr lang="vi-VN" sz="2500" kern="0" dirty="0">
                <a:latin typeface="Cambria" panose="02040503050406030204" pitchFamily="18" charset="0"/>
                <a:ea typeface="Cambria" panose="02040503050406030204" pitchFamily="18" charset="0"/>
              </a:rPr>
              <a:t>Giả định là các yếu tố dự đoán là độc lập. Nói một cách đơn giản, nó giả định rằng sự hiện diện của một đối tượng cụ thể trong một lớp không liên quan đến sự hiện diện của bất kỳ đối tượng địa lý nào khác. </a:t>
            </a:r>
            <a:endParaRPr lang="en-US" sz="2500" kern="0" dirty="0">
              <a:latin typeface="Cambria" panose="02040503050406030204" pitchFamily="18" charset="0"/>
              <a:ea typeface="Cambria" panose="02040503050406030204" pitchFamily="18" charset="0"/>
            </a:endParaRPr>
          </a:p>
          <a:p>
            <a:pPr marL="58738" lvl="1" indent="0" algn="just">
              <a:lnSpc>
                <a:spcPct val="130000"/>
              </a:lnSpc>
              <a:spcBef>
                <a:spcPts val="0"/>
              </a:spcBef>
              <a:buClr>
                <a:srgbClr val="FF5A33"/>
              </a:buClr>
              <a:buNone/>
            </a:pPr>
            <a:r>
              <a:rPr lang="vi-VN" sz="2500" kern="0" dirty="0">
                <a:latin typeface="Cambria" panose="02040503050406030204" pitchFamily="18" charset="0"/>
                <a:ea typeface="Cambria" panose="02040503050406030204" pitchFamily="18" charset="0"/>
              </a:rPr>
              <a:t>Dưới đây là phương trình cho định lý Bayes</a:t>
            </a:r>
            <a:r>
              <a:rPr lang="en-US" sz="2500" kern="0" dirty="0">
                <a:latin typeface="Cambria" panose="02040503050406030204" pitchFamily="18" charset="0"/>
                <a:ea typeface="Cambria" panose="02040503050406030204" pitchFamily="18" charset="0"/>
              </a:rPr>
              <a:t>. </a:t>
            </a:r>
            <a:r>
              <a:rPr lang="en-US" sz="2500" kern="0" dirty="0" err="1">
                <a:latin typeface="Cambria" panose="02040503050406030204" pitchFamily="18" charset="0"/>
                <a:ea typeface="Cambria" panose="02040503050406030204" pitchFamily="18" charset="0"/>
              </a:rPr>
              <a:t>Mô</a:t>
            </a:r>
            <a:r>
              <a:rPr lang="en-US" sz="2500" kern="0" dirty="0">
                <a:latin typeface="Cambria" panose="02040503050406030204" pitchFamily="18" charset="0"/>
                <a:ea typeface="Cambria" panose="02040503050406030204" pitchFamily="18" charset="0"/>
              </a:rPr>
              <a:t> </a:t>
            </a:r>
            <a:r>
              <a:rPr lang="en-US" sz="2500" kern="0" dirty="0" err="1">
                <a:latin typeface="Cambria" panose="02040503050406030204" pitchFamily="18" charset="0"/>
                <a:ea typeface="Cambria" panose="02040503050406030204" pitchFamily="18" charset="0"/>
              </a:rPr>
              <a:t>hình</a:t>
            </a:r>
            <a:r>
              <a:rPr lang="en-US" sz="2500" kern="0" dirty="0">
                <a:latin typeface="Cambria" panose="02040503050406030204" pitchFamily="18" charset="0"/>
                <a:ea typeface="Cambria" panose="02040503050406030204" pitchFamily="18" charset="0"/>
              </a:rPr>
              <a:t> Naive Bayes </a:t>
            </a:r>
            <a:r>
              <a:rPr lang="en-US" sz="2500" kern="0" dirty="0" err="1">
                <a:latin typeface="Cambria" panose="02040503050406030204" pitchFamily="18" charset="0"/>
                <a:ea typeface="Cambria" panose="02040503050406030204" pitchFamily="18" charset="0"/>
              </a:rPr>
              <a:t>rất</a:t>
            </a:r>
            <a:r>
              <a:rPr lang="en-US" sz="2500" kern="0" dirty="0">
                <a:latin typeface="Cambria" panose="02040503050406030204" pitchFamily="18" charset="0"/>
                <a:ea typeface="Cambria" panose="02040503050406030204" pitchFamily="18" charset="0"/>
              </a:rPr>
              <a:t> </a:t>
            </a:r>
            <a:r>
              <a:rPr lang="en-US" sz="2500" kern="0" dirty="0" err="1">
                <a:latin typeface="Cambria" panose="02040503050406030204" pitchFamily="18" charset="0"/>
                <a:ea typeface="Cambria" panose="02040503050406030204" pitchFamily="18" charset="0"/>
              </a:rPr>
              <a:t>dễ</a:t>
            </a:r>
            <a:r>
              <a:rPr lang="en-US" sz="2500" kern="0" dirty="0">
                <a:latin typeface="Cambria" panose="02040503050406030204" pitchFamily="18" charset="0"/>
                <a:ea typeface="Cambria" panose="02040503050406030204" pitchFamily="18" charset="0"/>
              </a:rPr>
              <a:t> </a:t>
            </a:r>
            <a:r>
              <a:rPr lang="en-US" sz="2500" kern="0" dirty="0" err="1">
                <a:latin typeface="Cambria" panose="02040503050406030204" pitchFamily="18" charset="0"/>
                <a:ea typeface="Cambria" panose="02040503050406030204" pitchFamily="18" charset="0"/>
              </a:rPr>
              <a:t>xây</a:t>
            </a:r>
            <a:r>
              <a:rPr lang="en-US" sz="2500" kern="0" dirty="0">
                <a:latin typeface="Cambria" panose="02040503050406030204" pitchFamily="18" charset="0"/>
                <a:ea typeface="Cambria" panose="02040503050406030204" pitchFamily="18" charset="0"/>
              </a:rPr>
              <a:t> </a:t>
            </a:r>
            <a:r>
              <a:rPr lang="en-US" sz="2500" kern="0" dirty="0" err="1">
                <a:latin typeface="Cambria" panose="02040503050406030204" pitchFamily="18" charset="0"/>
                <a:ea typeface="Cambria" panose="02040503050406030204" pitchFamily="18" charset="0"/>
              </a:rPr>
              <a:t>dựng</a:t>
            </a:r>
            <a:r>
              <a:rPr lang="en-US" sz="2500" kern="0" dirty="0">
                <a:latin typeface="Cambria" panose="02040503050406030204" pitchFamily="18" charset="0"/>
                <a:ea typeface="Cambria" panose="02040503050406030204" pitchFamily="18" charset="0"/>
              </a:rPr>
              <a:t> </a:t>
            </a:r>
            <a:r>
              <a:rPr lang="en-US" sz="2500" kern="0" dirty="0" err="1">
                <a:latin typeface="Cambria" panose="02040503050406030204" pitchFamily="18" charset="0"/>
                <a:ea typeface="Cambria" panose="02040503050406030204" pitchFamily="18" charset="0"/>
              </a:rPr>
              <a:t>và</a:t>
            </a:r>
            <a:r>
              <a:rPr lang="en-US" sz="2500" kern="0" dirty="0">
                <a:latin typeface="Cambria" panose="02040503050406030204" pitchFamily="18" charset="0"/>
                <a:ea typeface="Cambria" panose="02040503050406030204" pitchFamily="18" charset="0"/>
              </a:rPr>
              <a:t> </a:t>
            </a:r>
            <a:r>
              <a:rPr lang="en-US" sz="2500" kern="0" dirty="0" err="1">
                <a:latin typeface="Cambria" panose="02040503050406030204" pitchFamily="18" charset="0"/>
                <a:ea typeface="Cambria" panose="02040503050406030204" pitchFamily="18" charset="0"/>
              </a:rPr>
              <a:t>đặc</a:t>
            </a:r>
            <a:r>
              <a:rPr lang="en-US" sz="2500" kern="0" dirty="0">
                <a:latin typeface="Cambria" panose="02040503050406030204" pitchFamily="18" charset="0"/>
                <a:ea typeface="Cambria" panose="02040503050406030204" pitchFamily="18" charset="0"/>
              </a:rPr>
              <a:t> </a:t>
            </a:r>
            <a:r>
              <a:rPr lang="en-US" sz="2500" kern="0" dirty="0" err="1">
                <a:latin typeface="Cambria" panose="02040503050406030204" pitchFamily="18" charset="0"/>
                <a:ea typeface="Cambria" panose="02040503050406030204" pitchFamily="18" charset="0"/>
              </a:rPr>
              <a:t>biệt</a:t>
            </a:r>
            <a:r>
              <a:rPr lang="en-US" sz="2500" kern="0" dirty="0">
                <a:latin typeface="Cambria" panose="02040503050406030204" pitchFamily="18" charset="0"/>
                <a:ea typeface="Cambria" panose="02040503050406030204" pitchFamily="18" charset="0"/>
              </a:rPr>
              <a:t> </a:t>
            </a:r>
            <a:r>
              <a:rPr lang="en-US" sz="2500" kern="0" dirty="0" err="1">
                <a:latin typeface="Cambria" panose="02040503050406030204" pitchFamily="18" charset="0"/>
                <a:ea typeface="Cambria" panose="02040503050406030204" pitchFamily="18" charset="0"/>
              </a:rPr>
              <a:t>hữu</a:t>
            </a:r>
            <a:r>
              <a:rPr lang="en-US" sz="2500" kern="0" dirty="0">
                <a:latin typeface="Cambria" panose="02040503050406030204" pitchFamily="18" charset="0"/>
                <a:ea typeface="Cambria" panose="02040503050406030204" pitchFamily="18" charset="0"/>
              </a:rPr>
              <a:t> </a:t>
            </a:r>
            <a:r>
              <a:rPr lang="en-US" sz="2500" kern="0" dirty="0" err="1">
                <a:latin typeface="Cambria" panose="02040503050406030204" pitchFamily="18" charset="0"/>
                <a:ea typeface="Cambria" panose="02040503050406030204" pitchFamily="18" charset="0"/>
              </a:rPr>
              <a:t>ích</a:t>
            </a:r>
            <a:r>
              <a:rPr lang="en-US" sz="2500" kern="0" dirty="0">
                <a:latin typeface="Cambria" panose="02040503050406030204" pitchFamily="18" charset="0"/>
                <a:ea typeface="Cambria" panose="02040503050406030204" pitchFamily="18" charset="0"/>
              </a:rPr>
              <a:t> </a:t>
            </a:r>
            <a:r>
              <a:rPr lang="en-US" sz="2500" kern="0" dirty="0" err="1">
                <a:latin typeface="Cambria" panose="02040503050406030204" pitchFamily="18" charset="0"/>
                <a:ea typeface="Cambria" panose="02040503050406030204" pitchFamily="18" charset="0"/>
              </a:rPr>
              <a:t>cho</a:t>
            </a:r>
            <a:r>
              <a:rPr lang="en-US" sz="2500" kern="0" dirty="0">
                <a:latin typeface="Cambria" panose="02040503050406030204" pitchFamily="18" charset="0"/>
                <a:ea typeface="Cambria" panose="02040503050406030204" pitchFamily="18" charset="0"/>
              </a:rPr>
              <a:t> </a:t>
            </a:r>
            <a:r>
              <a:rPr lang="en-US" sz="2500" kern="0" dirty="0" err="1">
                <a:latin typeface="Cambria" panose="02040503050406030204" pitchFamily="18" charset="0"/>
                <a:ea typeface="Cambria" panose="02040503050406030204" pitchFamily="18" charset="0"/>
              </a:rPr>
              <a:t>các</a:t>
            </a:r>
            <a:r>
              <a:rPr lang="en-US" sz="2500" kern="0" dirty="0">
                <a:latin typeface="Cambria" panose="02040503050406030204" pitchFamily="18" charset="0"/>
                <a:ea typeface="Cambria" panose="02040503050406030204" pitchFamily="18" charset="0"/>
              </a:rPr>
              <a:t> </a:t>
            </a:r>
            <a:r>
              <a:rPr lang="en-US" sz="2500" kern="0" dirty="0" err="1">
                <a:latin typeface="Cambria" panose="02040503050406030204" pitchFamily="18" charset="0"/>
                <a:ea typeface="Cambria" panose="02040503050406030204" pitchFamily="18" charset="0"/>
              </a:rPr>
              <a:t>tập</a:t>
            </a:r>
            <a:r>
              <a:rPr lang="en-US" sz="2500" kern="0" dirty="0">
                <a:latin typeface="Cambria" panose="02040503050406030204" pitchFamily="18" charset="0"/>
                <a:ea typeface="Cambria" panose="02040503050406030204" pitchFamily="18" charset="0"/>
              </a:rPr>
              <a:t> </a:t>
            </a:r>
            <a:r>
              <a:rPr lang="en-US" sz="2500" kern="0" dirty="0" err="1">
                <a:latin typeface="Cambria" panose="02040503050406030204" pitchFamily="18" charset="0"/>
                <a:ea typeface="Cambria" panose="02040503050406030204" pitchFamily="18" charset="0"/>
              </a:rPr>
              <a:t>dữ</a:t>
            </a:r>
            <a:r>
              <a:rPr lang="en-US" sz="2500" kern="0" dirty="0">
                <a:latin typeface="Cambria" panose="02040503050406030204" pitchFamily="18" charset="0"/>
                <a:ea typeface="Cambria" panose="02040503050406030204" pitchFamily="18" charset="0"/>
              </a:rPr>
              <a:t> </a:t>
            </a:r>
            <a:r>
              <a:rPr lang="en-US" sz="2500" kern="0" dirty="0" err="1">
                <a:latin typeface="Cambria" panose="02040503050406030204" pitchFamily="18" charset="0"/>
                <a:ea typeface="Cambria" panose="02040503050406030204" pitchFamily="18" charset="0"/>
              </a:rPr>
              <a:t>liệu</a:t>
            </a:r>
            <a:r>
              <a:rPr lang="en-US" sz="2500" kern="0" dirty="0">
                <a:latin typeface="Cambria" panose="02040503050406030204" pitchFamily="18" charset="0"/>
                <a:ea typeface="Cambria" panose="02040503050406030204" pitchFamily="18" charset="0"/>
              </a:rPr>
              <a:t> </a:t>
            </a:r>
            <a:r>
              <a:rPr lang="en-US" sz="2500" kern="0" dirty="0" err="1">
                <a:latin typeface="Cambria" panose="02040503050406030204" pitchFamily="18" charset="0"/>
                <a:ea typeface="Cambria" panose="02040503050406030204" pitchFamily="18" charset="0"/>
              </a:rPr>
              <a:t>lớn</a:t>
            </a:r>
            <a:endParaRPr lang="en-US" sz="2500" kern="0" dirty="0">
              <a:latin typeface="Cambria" panose="02040503050406030204" pitchFamily="18" charset="0"/>
              <a:ea typeface="Cambria" panose="02040503050406030204" pitchFamily="18" charset="0"/>
            </a:endParaRPr>
          </a:p>
          <a:p>
            <a:pPr marL="58738" lvl="1" indent="0" algn="just">
              <a:lnSpc>
                <a:spcPct val="150000"/>
              </a:lnSpc>
              <a:spcBef>
                <a:spcPts val="580"/>
              </a:spcBef>
              <a:buClr>
                <a:srgbClr val="FF5A33"/>
              </a:buClr>
              <a:buNone/>
            </a:pPr>
            <a:endParaRPr lang="en-US" sz="2500" b="1" dirty="0">
              <a:latin typeface="Cambria" panose="02040503050406030204" pitchFamily="18" charset="0"/>
              <a:ea typeface="Cambria" panose="02040503050406030204" pitchFamily="18" charset="0"/>
            </a:endParaRPr>
          </a:p>
          <a:p>
            <a:pPr marL="58738" lvl="1" indent="0" algn="just">
              <a:lnSpc>
                <a:spcPct val="150000"/>
              </a:lnSpc>
              <a:spcBef>
                <a:spcPts val="580"/>
              </a:spcBef>
              <a:buClr>
                <a:srgbClr val="FF5A33"/>
              </a:buClr>
              <a:buNone/>
            </a:pPr>
            <a:endParaRPr lang="en-US" sz="2500" b="1" kern="0" dirty="0">
              <a:effectLst/>
              <a:latin typeface="Cambria" panose="02040503050406030204" pitchFamily="18" charset="0"/>
              <a:ea typeface="Cambria" panose="02040503050406030204" pitchFamily="18" charset="0"/>
            </a:endParaRPr>
          </a:p>
          <a:p>
            <a:pPr marL="515938" lvl="2" indent="0">
              <a:lnSpc>
                <a:spcPct val="150000"/>
              </a:lnSpc>
              <a:spcBef>
                <a:spcPts val="580"/>
              </a:spcBef>
              <a:buClr>
                <a:srgbClr val="FF5A33"/>
              </a:buClr>
              <a:buNone/>
            </a:pPr>
            <a:endParaRPr lang="en-US" sz="2500" b="1" spc="-55" dirty="0">
              <a:latin typeface="Cambria" panose="02040503050406030204" pitchFamily="18" charset="0"/>
              <a:ea typeface="Cambria" panose="02040503050406030204" pitchFamily="18" charset="0"/>
              <a:cs typeface="Segoe UI"/>
            </a:endParaRPr>
          </a:p>
        </p:txBody>
      </p:sp>
      <p:sp>
        <p:nvSpPr>
          <p:cNvPr id="2" name="Rectangle 1"/>
          <p:cNvSpPr/>
          <p:nvPr/>
        </p:nvSpPr>
        <p:spPr>
          <a:xfrm>
            <a:off x="407503" y="4818266"/>
            <a:ext cx="11611899" cy="1246495"/>
          </a:xfrm>
          <a:prstGeom prst="rect">
            <a:avLst/>
          </a:prstGeom>
        </p:spPr>
        <p:txBody>
          <a:bodyPr wrap="square">
            <a:spAutoFit/>
          </a:bodyPr>
          <a:lstStyle/>
          <a:p>
            <a:r>
              <a:rPr lang="en-US" sz="2500" b="1" kern="0" dirty="0" err="1">
                <a:latin typeface="Cambria" panose="02040503050406030204" pitchFamily="18" charset="0"/>
                <a:ea typeface="Cambria" panose="02040503050406030204" pitchFamily="18" charset="0"/>
              </a:rPr>
              <a:t>Ví</a:t>
            </a:r>
            <a:r>
              <a:rPr lang="en-US" sz="2500" b="1" kern="0" dirty="0">
                <a:latin typeface="Cambria" panose="02040503050406030204" pitchFamily="18" charset="0"/>
                <a:ea typeface="Cambria" panose="02040503050406030204" pitchFamily="18" charset="0"/>
              </a:rPr>
              <a:t> </a:t>
            </a:r>
            <a:r>
              <a:rPr lang="en-US" sz="2500" b="1" kern="0" dirty="0" err="1">
                <a:latin typeface="Cambria" panose="02040503050406030204" pitchFamily="18" charset="0"/>
                <a:ea typeface="Cambria" panose="02040503050406030204" pitchFamily="18" charset="0"/>
              </a:rPr>
              <a:t>dụ</a:t>
            </a:r>
            <a:r>
              <a:rPr lang="en-US" sz="2500" b="1" kern="0" dirty="0">
                <a:latin typeface="Cambria" panose="02040503050406030204" pitchFamily="18" charset="0"/>
                <a:ea typeface="Cambria" panose="02040503050406030204" pitchFamily="18" charset="0"/>
              </a:rPr>
              <a:t>: </a:t>
            </a:r>
            <a:r>
              <a:rPr lang="vi-VN" sz="2500" kern="0" dirty="0">
                <a:latin typeface="Cambria" panose="02040503050406030204" pitchFamily="18" charset="0"/>
                <a:ea typeface="Cambria" panose="02040503050406030204" pitchFamily="18" charset="0"/>
              </a:rPr>
              <a:t>Hãy xem xét một tập dữ liệu hư cấu mô tả các điều kiện thời tiết để chơi gôn. Với điều kiện thời tiết, mỗi bộ phân loại các điều kiện là phù hợp (“Có”) hoặc không phù hợp (“Không”) để đánh gôn.</a:t>
            </a:r>
            <a:endParaRPr lang="en-US" sz="2500" kern="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328009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MỘT SỐ THUẬT TOÁN HỌC MÁY PHỔ BIẾN</a:t>
            </a:r>
          </a:p>
        </p:txBody>
      </p:sp>
      <p:sp>
        <p:nvSpPr>
          <p:cNvPr id="11" name="Content Placeholder 2">
            <a:extLst>
              <a:ext uri="{FF2B5EF4-FFF2-40B4-BE49-F238E27FC236}">
                <a16:creationId xmlns:a16="http://schemas.microsoft.com/office/drawing/2014/main" id="{D84E1B89-45F1-4C39-88F0-3A380DA733A9}"/>
              </a:ext>
            </a:extLst>
          </p:cNvPr>
          <p:cNvSpPr>
            <a:spLocks noGrp="1"/>
          </p:cNvSpPr>
          <p:nvPr>
            <p:ph idx="1"/>
          </p:nvPr>
        </p:nvSpPr>
        <p:spPr>
          <a:xfrm>
            <a:off x="198305" y="691585"/>
            <a:ext cx="11718712" cy="5337573"/>
          </a:xfrm>
        </p:spPr>
        <p:txBody>
          <a:bodyPr>
            <a:noAutofit/>
          </a:bodyPr>
          <a:lstStyle/>
          <a:p>
            <a:pPr marL="58738" lvl="1" indent="0" algn="just">
              <a:lnSpc>
                <a:spcPct val="130000"/>
              </a:lnSpc>
              <a:spcBef>
                <a:spcPts val="0"/>
              </a:spcBef>
              <a:buClr>
                <a:srgbClr val="FF5A33"/>
              </a:buClr>
              <a:buNone/>
            </a:pPr>
            <a:r>
              <a:rPr lang="en-US" sz="2500" b="1" kern="0" dirty="0">
                <a:effectLst/>
                <a:latin typeface="Cambria" panose="02040503050406030204" pitchFamily="18" charset="0"/>
                <a:ea typeface="Cambria" panose="02040503050406030204" pitchFamily="18" charset="0"/>
              </a:rPr>
              <a:t>5</a:t>
            </a:r>
            <a:r>
              <a:rPr lang="en-US" sz="2500" b="1" kern="0" dirty="0">
                <a:latin typeface="Cambria" panose="02040503050406030204" pitchFamily="18" charset="0"/>
                <a:ea typeface="Cambria" panose="02040503050406030204" pitchFamily="18" charset="0"/>
              </a:rPr>
              <a:t>. K - </a:t>
            </a:r>
            <a:r>
              <a:rPr lang="en-US" sz="2500" b="1" kern="0" dirty="0" err="1">
                <a:latin typeface="Cambria" panose="02040503050406030204" pitchFamily="18" charset="0"/>
                <a:ea typeface="Cambria" panose="02040503050406030204" pitchFamily="18" charset="0"/>
              </a:rPr>
              <a:t>láng</a:t>
            </a:r>
            <a:r>
              <a:rPr lang="en-US" sz="2500" b="1" kern="0" dirty="0">
                <a:latin typeface="Cambria" panose="02040503050406030204" pitchFamily="18" charset="0"/>
                <a:ea typeface="Cambria" panose="02040503050406030204" pitchFamily="18" charset="0"/>
              </a:rPr>
              <a:t> </a:t>
            </a:r>
            <a:r>
              <a:rPr lang="en-US" sz="2500" b="1" kern="0" dirty="0" err="1">
                <a:latin typeface="Cambria" panose="02040503050406030204" pitchFamily="18" charset="0"/>
                <a:ea typeface="Cambria" panose="02040503050406030204" pitchFamily="18" charset="0"/>
              </a:rPr>
              <a:t>giềng</a:t>
            </a:r>
            <a:r>
              <a:rPr lang="en-US" sz="2500" b="1" kern="0" dirty="0">
                <a:latin typeface="Cambria" panose="02040503050406030204" pitchFamily="18" charset="0"/>
                <a:ea typeface="Cambria" panose="02040503050406030204" pitchFamily="18" charset="0"/>
              </a:rPr>
              <a:t> </a:t>
            </a:r>
            <a:r>
              <a:rPr lang="en-US" sz="2500" b="1" kern="0" dirty="0" err="1">
                <a:latin typeface="Cambria" panose="02040503050406030204" pitchFamily="18" charset="0"/>
                <a:ea typeface="Cambria" panose="02040503050406030204" pitchFamily="18" charset="0"/>
              </a:rPr>
              <a:t>gần</a:t>
            </a:r>
            <a:r>
              <a:rPr lang="en-US" sz="2500" b="1" kern="0" dirty="0">
                <a:latin typeface="Cambria" panose="02040503050406030204" pitchFamily="18" charset="0"/>
                <a:ea typeface="Cambria" panose="02040503050406030204" pitchFamily="18" charset="0"/>
              </a:rPr>
              <a:t> </a:t>
            </a:r>
            <a:r>
              <a:rPr lang="en-US" sz="2500" b="1" kern="0" dirty="0" err="1">
                <a:latin typeface="Cambria" panose="02040503050406030204" pitchFamily="18" charset="0"/>
                <a:ea typeface="Cambria" panose="02040503050406030204" pitchFamily="18" charset="0"/>
              </a:rPr>
              <a:t>nhất</a:t>
            </a:r>
            <a:r>
              <a:rPr lang="en-US" sz="2500" b="1" kern="0" dirty="0">
                <a:latin typeface="Cambria" panose="02040503050406030204" pitchFamily="18" charset="0"/>
                <a:ea typeface="Cambria" panose="02040503050406030204" pitchFamily="18" charset="0"/>
              </a:rPr>
              <a:t> (KNN)</a:t>
            </a:r>
          </a:p>
          <a:p>
            <a:pPr marR="30480" algn="just">
              <a:lnSpc>
                <a:spcPct val="150000"/>
              </a:lnSpc>
              <a:spcBef>
                <a:spcPts val="0"/>
              </a:spcBef>
              <a:buFont typeface="Wingdings" panose="05000000000000000000" pitchFamily="2" charset="2"/>
              <a:buChar char="§"/>
            </a:pPr>
            <a:r>
              <a:rPr lang="en-US" sz="2500" kern="0" dirty="0" err="1">
                <a:solidFill>
                  <a:srgbClr val="000000"/>
                </a:solidFill>
                <a:latin typeface="Cambria" panose="02040503050406030204" pitchFamily="18" charset="0"/>
                <a:ea typeface="Cambria" panose="02040503050406030204" pitchFamily="18" charset="0"/>
              </a:rPr>
              <a:t>Được</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sử</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dụng</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để</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phân</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loại</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và</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hồi</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quy</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các</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vấn</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đề</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Nó</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được</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sử</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dụng</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rộng</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rãi</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để</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giải</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quyết</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các</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vấn</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đề</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phân</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loại</a:t>
            </a:r>
            <a:r>
              <a:rPr lang="en-US" sz="2500" kern="0" dirty="0">
                <a:solidFill>
                  <a:srgbClr val="000000"/>
                </a:solidFill>
                <a:latin typeface="Cambria" panose="02040503050406030204" pitchFamily="18" charset="0"/>
                <a:ea typeface="Cambria" panose="02040503050406030204" pitchFamily="18" charset="0"/>
              </a:rPr>
              <a:t>. </a:t>
            </a:r>
          </a:p>
          <a:p>
            <a:pPr marR="30480" algn="just">
              <a:lnSpc>
                <a:spcPct val="150000"/>
              </a:lnSpc>
              <a:spcBef>
                <a:spcPts val="0"/>
              </a:spcBef>
              <a:buFont typeface="Wingdings" panose="05000000000000000000" pitchFamily="2" charset="2"/>
              <a:buChar char="§"/>
            </a:pPr>
            <a:r>
              <a:rPr lang="en-US" sz="2500" kern="0" dirty="0" err="1">
                <a:solidFill>
                  <a:srgbClr val="000000"/>
                </a:solidFill>
                <a:latin typeface="Cambria" panose="02040503050406030204" pitchFamily="18" charset="0"/>
                <a:ea typeface="Cambria" panose="02040503050406030204" pitchFamily="18" charset="0"/>
              </a:rPr>
              <a:t>Khái</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niệm</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chính</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của</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thuật</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toán</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này</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là</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nó</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được</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sử</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dụng</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để</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lưu</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trữ</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tất</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cả</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các</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trường</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hợp</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có</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sẵn</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và</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phân</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loại</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các</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trường</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hợp</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mới</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theo</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đa</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số</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phiếu</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bầu</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của</a:t>
            </a:r>
            <a:r>
              <a:rPr lang="en-US" sz="2500" kern="0" dirty="0">
                <a:solidFill>
                  <a:srgbClr val="000000"/>
                </a:solidFill>
                <a:latin typeface="Cambria" panose="02040503050406030204" pitchFamily="18" charset="0"/>
                <a:ea typeface="Cambria" panose="02040503050406030204" pitchFamily="18" charset="0"/>
              </a:rPr>
              <a:t> k </a:t>
            </a:r>
            <a:r>
              <a:rPr lang="en-US" sz="2500" kern="0" dirty="0" err="1">
                <a:solidFill>
                  <a:srgbClr val="000000"/>
                </a:solidFill>
                <a:latin typeface="Cambria" panose="02040503050406030204" pitchFamily="18" charset="0"/>
                <a:ea typeface="Cambria" panose="02040503050406030204" pitchFamily="18" charset="0"/>
              </a:rPr>
              <a:t>hàng</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xóm</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của</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nó</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Sau</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đó</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trường</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hợp</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được</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gán</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cho</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lớp</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phổ</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biến</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nhất</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trong</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số</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các</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hàng</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xóm</a:t>
            </a:r>
            <a:r>
              <a:rPr lang="en-US" sz="2500" kern="0" dirty="0">
                <a:solidFill>
                  <a:srgbClr val="000000"/>
                </a:solidFill>
                <a:latin typeface="Cambria" panose="02040503050406030204" pitchFamily="18" charset="0"/>
                <a:ea typeface="Cambria" panose="02040503050406030204" pitchFamily="18" charset="0"/>
              </a:rPr>
              <a:t> K </a:t>
            </a:r>
            <a:r>
              <a:rPr lang="en-US" sz="2500" kern="0" dirty="0" err="1">
                <a:solidFill>
                  <a:srgbClr val="000000"/>
                </a:solidFill>
                <a:latin typeface="Cambria" panose="02040503050406030204" pitchFamily="18" charset="0"/>
                <a:ea typeface="Cambria" panose="02040503050406030204" pitchFamily="18" charset="0"/>
              </a:rPr>
              <a:t>gần</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nhất</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của</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nó</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được</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đo</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bằng</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hàm</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khoảng</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cách</a:t>
            </a:r>
            <a:r>
              <a:rPr lang="en-US" sz="2500" kern="0" dirty="0">
                <a:solidFill>
                  <a:srgbClr val="000000"/>
                </a:solidFill>
                <a:latin typeface="Cambria" panose="02040503050406030204" pitchFamily="18" charset="0"/>
                <a:ea typeface="Cambria" panose="02040503050406030204" pitchFamily="18" charset="0"/>
              </a:rPr>
              <a:t>. </a:t>
            </a:r>
          </a:p>
          <a:p>
            <a:pPr marR="30480" algn="just">
              <a:lnSpc>
                <a:spcPct val="150000"/>
              </a:lnSpc>
              <a:spcBef>
                <a:spcPts val="0"/>
              </a:spcBef>
              <a:buFont typeface="Wingdings" panose="05000000000000000000" pitchFamily="2" charset="2"/>
              <a:buChar char="§"/>
            </a:pPr>
            <a:r>
              <a:rPr lang="en-US" sz="2500" kern="0" dirty="0" err="1">
                <a:solidFill>
                  <a:srgbClr val="000000"/>
                </a:solidFill>
                <a:latin typeface="Cambria" panose="02040503050406030204" pitchFamily="18" charset="0"/>
                <a:ea typeface="Cambria" panose="02040503050406030204" pitchFamily="18" charset="0"/>
              </a:rPr>
              <a:t>Hàm</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khoảng</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cách</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có</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thể</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là</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khoảng</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cách</a:t>
            </a:r>
            <a:r>
              <a:rPr lang="en-US" sz="2500" kern="0" dirty="0">
                <a:solidFill>
                  <a:srgbClr val="000000"/>
                </a:solidFill>
                <a:latin typeface="Cambria" panose="02040503050406030204" pitchFamily="18" charset="0"/>
                <a:ea typeface="Cambria" panose="02040503050406030204" pitchFamily="18" charset="0"/>
              </a:rPr>
              <a:t> Euclidean, </a:t>
            </a:r>
            <a:r>
              <a:rPr lang="en-US" sz="2500" kern="0" dirty="0" err="1">
                <a:solidFill>
                  <a:srgbClr val="000000"/>
                </a:solidFill>
                <a:latin typeface="Cambria" panose="02040503050406030204" pitchFamily="18" charset="0"/>
                <a:ea typeface="Cambria" panose="02040503050406030204" pitchFamily="18" charset="0"/>
              </a:rPr>
              <a:t>Minkowski</a:t>
            </a:r>
            <a:r>
              <a:rPr lang="en-US" sz="2500" kern="0" dirty="0">
                <a:solidFill>
                  <a:srgbClr val="000000"/>
                </a:solidFill>
                <a:latin typeface="Cambria" panose="02040503050406030204" pitchFamily="18" charset="0"/>
                <a:ea typeface="Cambria" panose="02040503050406030204" pitchFamily="18" charset="0"/>
              </a:rPr>
              <a:t> </a:t>
            </a:r>
            <a:r>
              <a:rPr lang="en-US" sz="2500" kern="0" dirty="0" err="1">
                <a:solidFill>
                  <a:srgbClr val="000000"/>
                </a:solidFill>
                <a:latin typeface="Cambria" panose="02040503050406030204" pitchFamily="18" charset="0"/>
                <a:ea typeface="Cambria" panose="02040503050406030204" pitchFamily="18" charset="0"/>
              </a:rPr>
              <a:t>và</a:t>
            </a:r>
            <a:r>
              <a:rPr lang="en-US" sz="2500" kern="0" dirty="0">
                <a:solidFill>
                  <a:srgbClr val="000000"/>
                </a:solidFill>
                <a:latin typeface="Cambria" panose="02040503050406030204" pitchFamily="18" charset="0"/>
                <a:ea typeface="Cambria" panose="02040503050406030204" pitchFamily="18" charset="0"/>
              </a:rPr>
              <a:t> Hamming. </a:t>
            </a:r>
          </a:p>
          <a:p>
            <a:pPr marL="58738" lvl="1" indent="0" algn="just">
              <a:lnSpc>
                <a:spcPct val="130000"/>
              </a:lnSpc>
              <a:spcBef>
                <a:spcPts val="0"/>
              </a:spcBef>
              <a:buClr>
                <a:srgbClr val="FF5A33"/>
              </a:buClr>
              <a:buNone/>
            </a:pPr>
            <a:endParaRPr lang="en-US" sz="2500" b="1" dirty="0">
              <a:latin typeface="Cambria" panose="02040503050406030204" pitchFamily="18" charset="0"/>
              <a:ea typeface="Cambria" panose="02040503050406030204" pitchFamily="18" charset="0"/>
            </a:endParaRPr>
          </a:p>
          <a:p>
            <a:pPr marL="58738" lvl="1" indent="0" algn="just">
              <a:lnSpc>
                <a:spcPct val="130000"/>
              </a:lnSpc>
              <a:spcBef>
                <a:spcPts val="0"/>
              </a:spcBef>
              <a:buClr>
                <a:srgbClr val="FF5A33"/>
              </a:buClr>
              <a:buNone/>
            </a:pPr>
            <a:endParaRPr lang="en-US" sz="2500" b="1" kern="0" dirty="0">
              <a:effectLst/>
              <a:latin typeface="Cambria" panose="02040503050406030204" pitchFamily="18" charset="0"/>
              <a:ea typeface="Cambria" panose="02040503050406030204" pitchFamily="18" charset="0"/>
            </a:endParaRPr>
          </a:p>
          <a:p>
            <a:pPr marL="515938" lvl="2" indent="0">
              <a:lnSpc>
                <a:spcPct val="130000"/>
              </a:lnSpc>
              <a:spcBef>
                <a:spcPts val="0"/>
              </a:spcBef>
              <a:buClr>
                <a:srgbClr val="FF5A33"/>
              </a:buClr>
              <a:buNone/>
            </a:pPr>
            <a:endParaRPr lang="en-US" sz="2500" b="1" spc="-55" dirty="0">
              <a:latin typeface="Cambria" panose="02040503050406030204" pitchFamily="18" charset="0"/>
              <a:ea typeface="Cambria" panose="02040503050406030204" pitchFamily="18" charset="0"/>
              <a:cs typeface="Segoe UI"/>
            </a:endParaRPr>
          </a:p>
        </p:txBody>
      </p:sp>
    </p:spTree>
    <p:extLst>
      <p:ext uri="{BB962C8B-B14F-4D97-AF65-F5344CB8AC3E}">
        <p14:creationId xmlns:p14="http://schemas.microsoft.com/office/powerpoint/2010/main" val="32780992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MỘT SỐ THUẬT TOÁN HỌC MÁY PHỔ BIẾN</a:t>
            </a:r>
          </a:p>
        </p:txBody>
      </p:sp>
      <p:sp>
        <p:nvSpPr>
          <p:cNvPr id="11" name="Content Placeholder 2">
            <a:extLst>
              <a:ext uri="{FF2B5EF4-FFF2-40B4-BE49-F238E27FC236}">
                <a16:creationId xmlns:a16="http://schemas.microsoft.com/office/drawing/2014/main" id="{D84E1B89-45F1-4C39-88F0-3A380DA733A9}"/>
              </a:ext>
            </a:extLst>
          </p:cNvPr>
          <p:cNvSpPr>
            <a:spLocks noGrp="1"/>
          </p:cNvSpPr>
          <p:nvPr>
            <p:ph idx="1"/>
          </p:nvPr>
        </p:nvSpPr>
        <p:spPr>
          <a:xfrm>
            <a:off x="198305" y="691585"/>
            <a:ext cx="11718712" cy="5337573"/>
          </a:xfrm>
        </p:spPr>
        <p:txBody>
          <a:bodyPr>
            <a:noAutofit/>
          </a:bodyPr>
          <a:lstStyle/>
          <a:p>
            <a:pPr marL="58738" lvl="1" indent="0" algn="just">
              <a:lnSpc>
                <a:spcPct val="130000"/>
              </a:lnSpc>
              <a:spcBef>
                <a:spcPts val="0"/>
              </a:spcBef>
              <a:buClr>
                <a:srgbClr val="FF5A33"/>
              </a:buClr>
              <a:buNone/>
            </a:pPr>
            <a:r>
              <a:rPr lang="en-US" sz="2500" b="1" kern="0" dirty="0">
                <a:effectLst/>
                <a:latin typeface="Cambria" panose="02040503050406030204" pitchFamily="18" charset="0"/>
                <a:ea typeface="Cambria" panose="02040503050406030204" pitchFamily="18" charset="0"/>
              </a:rPr>
              <a:t>5</a:t>
            </a:r>
            <a:r>
              <a:rPr lang="en-US" sz="2500" b="1" kern="0" dirty="0">
                <a:latin typeface="Cambria" panose="02040503050406030204" pitchFamily="18" charset="0"/>
                <a:ea typeface="Cambria" panose="02040503050406030204" pitchFamily="18" charset="0"/>
              </a:rPr>
              <a:t>. K - </a:t>
            </a:r>
            <a:r>
              <a:rPr lang="en-US" sz="2500" b="1" kern="0" dirty="0" err="1">
                <a:latin typeface="Cambria" panose="02040503050406030204" pitchFamily="18" charset="0"/>
                <a:ea typeface="Cambria" panose="02040503050406030204" pitchFamily="18" charset="0"/>
              </a:rPr>
              <a:t>láng</a:t>
            </a:r>
            <a:r>
              <a:rPr lang="en-US" sz="2500" b="1" kern="0" dirty="0">
                <a:latin typeface="Cambria" panose="02040503050406030204" pitchFamily="18" charset="0"/>
                <a:ea typeface="Cambria" panose="02040503050406030204" pitchFamily="18" charset="0"/>
              </a:rPr>
              <a:t> </a:t>
            </a:r>
            <a:r>
              <a:rPr lang="en-US" sz="2500" b="1" kern="0" dirty="0" err="1">
                <a:latin typeface="Cambria" panose="02040503050406030204" pitchFamily="18" charset="0"/>
                <a:ea typeface="Cambria" panose="02040503050406030204" pitchFamily="18" charset="0"/>
              </a:rPr>
              <a:t>giềng</a:t>
            </a:r>
            <a:r>
              <a:rPr lang="en-US" sz="2500" b="1" kern="0" dirty="0">
                <a:latin typeface="Cambria" panose="02040503050406030204" pitchFamily="18" charset="0"/>
                <a:ea typeface="Cambria" panose="02040503050406030204" pitchFamily="18" charset="0"/>
              </a:rPr>
              <a:t> </a:t>
            </a:r>
            <a:r>
              <a:rPr lang="en-US" sz="2500" b="1" kern="0" dirty="0" err="1">
                <a:latin typeface="Cambria" panose="02040503050406030204" pitchFamily="18" charset="0"/>
                <a:ea typeface="Cambria" panose="02040503050406030204" pitchFamily="18" charset="0"/>
              </a:rPr>
              <a:t>gần</a:t>
            </a:r>
            <a:r>
              <a:rPr lang="en-US" sz="2500" b="1" kern="0" dirty="0">
                <a:latin typeface="Cambria" panose="02040503050406030204" pitchFamily="18" charset="0"/>
                <a:ea typeface="Cambria" panose="02040503050406030204" pitchFamily="18" charset="0"/>
              </a:rPr>
              <a:t> </a:t>
            </a:r>
            <a:r>
              <a:rPr lang="en-US" sz="2500" b="1" kern="0" dirty="0" err="1">
                <a:latin typeface="Cambria" panose="02040503050406030204" pitchFamily="18" charset="0"/>
                <a:ea typeface="Cambria" panose="02040503050406030204" pitchFamily="18" charset="0"/>
              </a:rPr>
              <a:t>nhất</a:t>
            </a:r>
            <a:r>
              <a:rPr lang="en-US" sz="2500" b="1" kern="0" dirty="0">
                <a:latin typeface="Cambria" panose="02040503050406030204" pitchFamily="18" charset="0"/>
                <a:ea typeface="Cambria" panose="02040503050406030204" pitchFamily="18" charset="0"/>
              </a:rPr>
              <a:t> (KNN)</a:t>
            </a:r>
          </a:p>
          <a:p>
            <a:pPr marL="0" marR="30480" indent="0" algn="just">
              <a:lnSpc>
                <a:spcPct val="150000"/>
              </a:lnSpc>
              <a:spcBef>
                <a:spcPts val="0"/>
              </a:spcBef>
              <a:buNone/>
            </a:pPr>
            <a:r>
              <a:rPr lang="en-US" sz="2300" b="1" kern="0" dirty="0" err="1">
                <a:solidFill>
                  <a:srgbClr val="000000"/>
                </a:solidFill>
                <a:latin typeface="Cambria" panose="02040503050406030204" pitchFamily="18" charset="0"/>
                <a:ea typeface="Cambria" panose="02040503050406030204" pitchFamily="18" charset="0"/>
              </a:rPr>
              <a:t>Hãy</a:t>
            </a:r>
            <a:r>
              <a:rPr lang="en-US" sz="2300" b="1" kern="0" dirty="0">
                <a:solidFill>
                  <a:srgbClr val="000000"/>
                </a:solidFill>
                <a:latin typeface="Cambria" panose="02040503050406030204" pitchFamily="18" charset="0"/>
                <a:ea typeface="Cambria" panose="02040503050406030204" pitchFamily="18" charset="0"/>
              </a:rPr>
              <a:t> </a:t>
            </a:r>
            <a:r>
              <a:rPr lang="en-US" sz="2300" b="1" kern="0" dirty="0" err="1">
                <a:solidFill>
                  <a:srgbClr val="000000"/>
                </a:solidFill>
                <a:latin typeface="Cambria" panose="02040503050406030204" pitchFamily="18" charset="0"/>
                <a:ea typeface="Cambria" panose="02040503050406030204" pitchFamily="18" charset="0"/>
              </a:rPr>
              <a:t>xem</a:t>
            </a:r>
            <a:r>
              <a:rPr lang="en-US" sz="2300" b="1" kern="0" dirty="0">
                <a:solidFill>
                  <a:srgbClr val="000000"/>
                </a:solidFill>
                <a:latin typeface="Cambria" panose="02040503050406030204" pitchFamily="18" charset="0"/>
                <a:ea typeface="Cambria" panose="02040503050406030204" pitchFamily="18" charset="0"/>
              </a:rPr>
              <a:t> </a:t>
            </a:r>
            <a:r>
              <a:rPr lang="en-US" sz="2300" b="1" kern="0" dirty="0" err="1">
                <a:solidFill>
                  <a:srgbClr val="000000"/>
                </a:solidFill>
                <a:latin typeface="Cambria" panose="02040503050406030204" pitchFamily="18" charset="0"/>
                <a:ea typeface="Cambria" panose="02040503050406030204" pitchFamily="18" charset="0"/>
              </a:rPr>
              <a:t>xét</a:t>
            </a:r>
            <a:r>
              <a:rPr lang="en-US" sz="2300" b="1" kern="0" dirty="0">
                <a:solidFill>
                  <a:srgbClr val="000000"/>
                </a:solidFill>
                <a:latin typeface="Cambria" panose="02040503050406030204" pitchFamily="18" charset="0"/>
                <a:ea typeface="Cambria" panose="02040503050406030204" pitchFamily="18" charset="0"/>
              </a:rPr>
              <a:t> </a:t>
            </a:r>
            <a:r>
              <a:rPr lang="en-US" sz="2300" b="1" kern="0" dirty="0" err="1">
                <a:solidFill>
                  <a:srgbClr val="000000"/>
                </a:solidFill>
                <a:latin typeface="Cambria" panose="02040503050406030204" pitchFamily="18" charset="0"/>
                <a:ea typeface="Cambria" panose="02040503050406030204" pitchFamily="18" charset="0"/>
              </a:rPr>
              <a:t>những</a:t>
            </a:r>
            <a:r>
              <a:rPr lang="en-US" sz="2300" b="1" kern="0" dirty="0">
                <a:solidFill>
                  <a:srgbClr val="000000"/>
                </a:solidFill>
                <a:latin typeface="Cambria" panose="02040503050406030204" pitchFamily="18" charset="0"/>
                <a:ea typeface="Cambria" panose="02040503050406030204" pitchFamily="18" charset="0"/>
              </a:rPr>
              <a:t> </a:t>
            </a:r>
            <a:r>
              <a:rPr lang="en-US" sz="2300" b="1" kern="0" dirty="0" err="1">
                <a:solidFill>
                  <a:srgbClr val="000000"/>
                </a:solidFill>
                <a:latin typeface="Cambria" panose="02040503050406030204" pitchFamily="18" charset="0"/>
                <a:ea typeface="Cambria" panose="02040503050406030204" pitchFamily="18" charset="0"/>
              </a:rPr>
              <a:t>điều</a:t>
            </a:r>
            <a:r>
              <a:rPr lang="en-US" sz="2300" b="1" kern="0" dirty="0">
                <a:solidFill>
                  <a:srgbClr val="000000"/>
                </a:solidFill>
                <a:latin typeface="Cambria" panose="02040503050406030204" pitchFamily="18" charset="0"/>
                <a:ea typeface="Cambria" panose="02040503050406030204" pitchFamily="18" charset="0"/>
              </a:rPr>
              <a:t> </a:t>
            </a:r>
            <a:r>
              <a:rPr lang="en-US" sz="2300" b="1" kern="0" dirty="0" err="1">
                <a:solidFill>
                  <a:srgbClr val="000000"/>
                </a:solidFill>
                <a:latin typeface="Cambria" panose="02040503050406030204" pitchFamily="18" charset="0"/>
                <a:ea typeface="Cambria" panose="02040503050406030204" pitchFamily="18" charset="0"/>
              </a:rPr>
              <a:t>sau</a:t>
            </a:r>
            <a:r>
              <a:rPr lang="en-US" sz="2300" b="1" kern="0" dirty="0">
                <a:solidFill>
                  <a:srgbClr val="000000"/>
                </a:solidFill>
                <a:latin typeface="Cambria" panose="02040503050406030204" pitchFamily="18" charset="0"/>
                <a:ea typeface="Cambria" panose="02040503050406030204" pitchFamily="18" charset="0"/>
              </a:rPr>
              <a:t> </a:t>
            </a:r>
            <a:r>
              <a:rPr lang="en-US" sz="2300" b="1" kern="0" dirty="0" err="1">
                <a:solidFill>
                  <a:srgbClr val="000000"/>
                </a:solidFill>
                <a:latin typeface="Cambria" panose="02040503050406030204" pitchFamily="18" charset="0"/>
                <a:ea typeface="Cambria" panose="02040503050406030204" pitchFamily="18" charset="0"/>
              </a:rPr>
              <a:t>để</a:t>
            </a:r>
            <a:r>
              <a:rPr lang="en-US" sz="2300" b="1" kern="0" dirty="0">
                <a:solidFill>
                  <a:srgbClr val="000000"/>
                </a:solidFill>
                <a:latin typeface="Cambria" panose="02040503050406030204" pitchFamily="18" charset="0"/>
                <a:ea typeface="Cambria" panose="02040503050406030204" pitchFamily="18" charset="0"/>
              </a:rPr>
              <a:t> </a:t>
            </a:r>
            <a:r>
              <a:rPr lang="en-US" sz="2300" b="1" kern="0" dirty="0" err="1">
                <a:solidFill>
                  <a:srgbClr val="000000"/>
                </a:solidFill>
                <a:latin typeface="Cambria" panose="02040503050406030204" pitchFamily="18" charset="0"/>
                <a:ea typeface="Cambria" panose="02040503050406030204" pitchFamily="18" charset="0"/>
              </a:rPr>
              <a:t>sử</a:t>
            </a:r>
            <a:r>
              <a:rPr lang="en-US" sz="2300" b="1" kern="0" dirty="0">
                <a:solidFill>
                  <a:srgbClr val="000000"/>
                </a:solidFill>
                <a:latin typeface="Cambria" panose="02040503050406030204" pitchFamily="18" charset="0"/>
                <a:ea typeface="Cambria" panose="02040503050406030204" pitchFamily="18" charset="0"/>
              </a:rPr>
              <a:t> </a:t>
            </a:r>
            <a:r>
              <a:rPr lang="en-US" sz="2300" b="1" kern="0" dirty="0" err="1">
                <a:solidFill>
                  <a:srgbClr val="000000"/>
                </a:solidFill>
                <a:latin typeface="Cambria" panose="02040503050406030204" pitchFamily="18" charset="0"/>
                <a:ea typeface="Cambria" panose="02040503050406030204" pitchFamily="18" charset="0"/>
              </a:rPr>
              <a:t>dụng</a:t>
            </a:r>
            <a:r>
              <a:rPr lang="en-US" sz="2300" b="1" kern="0" dirty="0">
                <a:solidFill>
                  <a:srgbClr val="000000"/>
                </a:solidFill>
                <a:latin typeface="Cambria" panose="02040503050406030204" pitchFamily="18" charset="0"/>
                <a:ea typeface="Cambria" panose="02040503050406030204" pitchFamily="18" charset="0"/>
              </a:rPr>
              <a:t> KNN </a:t>
            </a:r>
            <a:endParaRPr lang="en-US" sz="2300" b="1" dirty="0">
              <a:latin typeface="Cambria" panose="02040503050406030204" pitchFamily="18" charset="0"/>
              <a:ea typeface="Cambria" panose="02040503050406030204" pitchFamily="18" charset="0"/>
            </a:endParaRPr>
          </a:p>
          <a:p>
            <a:pPr marR="30480" lvl="0" algn="just">
              <a:lnSpc>
                <a:spcPct val="150000"/>
              </a:lnSpc>
              <a:spcBef>
                <a:spcPts val="0"/>
              </a:spcBef>
              <a:buClr>
                <a:srgbClr val="FF0000"/>
              </a:buClr>
              <a:buSzPct val="100000"/>
              <a:buFont typeface="Wingdings" panose="05000000000000000000" pitchFamily="2" charset="2"/>
              <a:buChar char="§"/>
              <a:tabLst>
                <a:tab pos="457200" algn="l"/>
              </a:tabLst>
            </a:pPr>
            <a:r>
              <a:rPr lang="en-US" sz="2300" kern="0" dirty="0" err="1">
                <a:solidFill>
                  <a:srgbClr val="000000"/>
                </a:solidFill>
                <a:latin typeface="Cambria" panose="02040503050406030204" pitchFamily="18" charset="0"/>
                <a:ea typeface="Cambria" panose="02040503050406030204" pitchFamily="18" charset="0"/>
              </a:rPr>
              <a:t>Về</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mặt</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tính</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toán</a:t>
            </a:r>
            <a:r>
              <a:rPr lang="en-US" sz="2300" kern="0" dirty="0">
                <a:solidFill>
                  <a:srgbClr val="000000"/>
                </a:solidFill>
                <a:latin typeface="Cambria" panose="02040503050406030204" pitchFamily="18" charset="0"/>
                <a:ea typeface="Cambria" panose="02040503050406030204" pitchFamily="18" charset="0"/>
              </a:rPr>
              <a:t> KNN </a:t>
            </a:r>
            <a:r>
              <a:rPr lang="en-US" sz="2300" kern="0" dirty="0" err="1">
                <a:solidFill>
                  <a:srgbClr val="000000"/>
                </a:solidFill>
                <a:latin typeface="Cambria" panose="02040503050406030204" pitchFamily="18" charset="0"/>
                <a:ea typeface="Cambria" panose="02040503050406030204" pitchFamily="18" charset="0"/>
              </a:rPr>
              <a:t>đắt</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hơn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các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thuật</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toán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khác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được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sử</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dụng</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cho</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các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bài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toán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phân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loại</a:t>
            </a:r>
            <a:r>
              <a:rPr lang="en-US" sz="2300" kern="0" dirty="0">
                <a:solidFill>
                  <a:srgbClr val="000000"/>
                </a:solidFill>
                <a:latin typeface="Cambria" panose="02040503050406030204" pitchFamily="18" charset="0"/>
                <a:ea typeface="Cambria" panose="02040503050406030204" pitchFamily="18" charset="0"/>
              </a:rPr>
              <a:t>.</a:t>
            </a:r>
            <a:endParaRPr lang="en-US" sz="2300" dirty="0">
              <a:latin typeface="Cambria" panose="02040503050406030204" pitchFamily="18" charset="0"/>
              <a:ea typeface="Cambria" panose="02040503050406030204" pitchFamily="18" charset="0"/>
            </a:endParaRPr>
          </a:p>
          <a:p>
            <a:pPr marR="30480" lvl="0" algn="just">
              <a:lnSpc>
                <a:spcPct val="150000"/>
              </a:lnSpc>
              <a:spcBef>
                <a:spcPts val="0"/>
              </a:spcBef>
              <a:buClr>
                <a:srgbClr val="FF0000"/>
              </a:buClr>
              <a:buSzPct val="100000"/>
              <a:buFont typeface="Wingdings" panose="05000000000000000000" pitchFamily="2" charset="2"/>
              <a:buChar char="§"/>
              <a:tabLst>
                <a:tab pos="457200" algn="l"/>
              </a:tabLst>
            </a:pPr>
            <a:r>
              <a:rPr lang="en-US" sz="2300" kern="0" dirty="0" err="1">
                <a:solidFill>
                  <a:srgbClr val="000000"/>
                </a:solidFill>
                <a:latin typeface="Cambria" panose="02040503050406030204" pitchFamily="18" charset="0"/>
                <a:ea typeface="Cambria" panose="02040503050406030204" pitchFamily="18" charset="0"/>
              </a:rPr>
              <a:t>Việc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chuẩn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hóa</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các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biến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cần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thiết</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nếu</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không</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các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biến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phạm</a:t>
            </a:r>
            <a:r>
              <a:rPr lang="en-US" sz="2300" kern="0" dirty="0">
                <a:solidFill>
                  <a:srgbClr val="000000"/>
                </a:solidFill>
                <a:latin typeface="Cambria" panose="02040503050406030204" pitchFamily="18" charset="0"/>
                <a:ea typeface="Cambria" panose="02040503050406030204" pitchFamily="18" charset="0"/>
              </a:rPr>
              <a:t> vi </a:t>
            </a:r>
            <a:r>
              <a:rPr lang="en-US" sz="2300" kern="0" dirty="0" err="1">
                <a:solidFill>
                  <a:srgbClr val="000000"/>
                </a:solidFill>
                <a:latin typeface="Cambria" panose="02040503050406030204" pitchFamily="18" charset="0"/>
                <a:ea typeface="Cambria" panose="02040503050406030204" pitchFamily="18" charset="0"/>
              </a:rPr>
              <a:t>cao</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hơn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có</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thể</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làm</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sai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lệch</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nó</a:t>
            </a:r>
            <a:r>
              <a:rPr lang="en-US" sz="2300" kern="0" dirty="0">
                <a:solidFill>
                  <a:srgbClr val="000000"/>
                </a:solidFill>
                <a:latin typeface="Cambria" panose="02040503050406030204" pitchFamily="18" charset="0"/>
                <a:ea typeface="Cambria" panose="02040503050406030204" pitchFamily="18" charset="0"/>
              </a:rPr>
              <a:t>.</a:t>
            </a:r>
            <a:endParaRPr lang="en-US" sz="2300" dirty="0">
              <a:latin typeface="Cambria" panose="02040503050406030204" pitchFamily="18" charset="0"/>
              <a:ea typeface="Cambria" panose="02040503050406030204" pitchFamily="18" charset="0"/>
            </a:endParaRPr>
          </a:p>
          <a:p>
            <a:pPr marR="30480" lvl="0" algn="just">
              <a:lnSpc>
                <a:spcPct val="150000"/>
              </a:lnSpc>
              <a:spcBef>
                <a:spcPts val="0"/>
              </a:spcBef>
              <a:buClr>
                <a:srgbClr val="FF0000"/>
              </a:buClr>
              <a:buSzPct val="100000"/>
              <a:buFont typeface="Wingdings" panose="05000000000000000000" pitchFamily="2" charset="2"/>
              <a:buChar char="§"/>
              <a:tabLst>
                <a:tab pos="457200" algn="l"/>
              </a:tabLst>
            </a:pPr>
            <a:r>
              <a:rPr lang="en-US" sz="2300" kern="0" dirty="0" err="1">
                <a:solidFill>
                  <a:srgbClr val="000000"/>
                </a:solidFill>
                <a:latin typeface="Cambria" panose="02040503050406030204" pitchFamily="18" charset="0"/>
                <a:ea typeface="Cambria" panose="02040503050406030204" pitchFamily="18" charset="0"/>
              </a:rPr>
              <a:t>Trong</a:t>
            </a:r>
            <a:r>
              <a:rPr lang="en-US" sz="2300" kern="0" dirty="0">
                <a:solidFill>
                  <a:srgbClr val="000000"/>
                </a:solidFill>
                <a:latin typeface="Cambria" panose="02040503050406030204" pitchFamily="18" charset="0"/>
                <a:ea typeface="Cambria" panose="02040503050406030204" pitchFamily="18" charset="0"/>
              </a:rPr>
              <a:t> KNN, </a:t>
            </a:r>
            <a:r>
              <a:rPr lang="en-US" sz="2300" kern="0" dirty="0" err="1">
                <a:solidFill>
                  <a:srgbClr val="000000"/>
                </a:solidFill>
                <a:latin typeface="Cambria" panose="02040503050406030204" pitchFamily="18" charset="0"/>
                <a:ea typeface="Cambria" panose="02040503050406030204" pitchFamily="18" charset="0"/>
              </a:rPr>
              <a:t>chúng</a:t>
            </a:r>
            <a:r>
              <a:rPr lang="en-US" sz="2300" kern="0" dirty="0">
                <a:solidFill>
                  <a:srgbClr val="000000"/>
                </a:solidFill>
                <a:latin typeface="Cambria" panose="02040503050406030204" pitchFamily="18" charset="0"/>
                <a:ea typeface="Cambria" panose="02040503050406030204" pitchFamily="18" charset="0"/>
              </a:rPr>
              <a:t> ta </a:t>
            </a:r>
            <a:r>
              <a:rPr lang="en-US" sz="2300" kern="0" dirty="0" err="1">
                <a:solidFill>
                  <a:srgbClr val="000000"/>
                </a:solidFill>
                <a:latin typeface="Cambria" panose="02040503050406030204" pitchFamily="18" charset="0"/>
                <a:ea typeface="Cambria" panose="02040503050406030204" pitchFamily="18" charset="0"/>
              </a:rPr>
              <a:t>cần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làm</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việc</a:t>
            </a:r>
            <a:r>
              <a:rPr lang="en-US" sz="2300" kern="0" dirty="0">
                <a:solidFill>
                  <a:srgbClr val="000000"/>
                </a:solidFill>
                <a:latin typeface="Cambria" panose="02040503050406030204" pitchFamily="18" charset="0"/>
                <a:ea typeface="Cambria" panose="02040503050406030204" pitchFamily="18" charset="0"/>
              </a:rPr>
              <a:t> ở </a:t>
            </a:r>
            <a:r>
              <a:rPr lang="en-US" sz="2300" kern="0" dirty="0" err="1">
                <a:solidFill>
                  <a:srgbClr val="000000"/>
                </a:solidFill>
                <a:latin typeface="Cambria" panose="02040503050406030204" pitchFamily="18" charset="0"/>
                <a:ea typeface="Cambria" panose="02040503050406030204" pitchFamily="18" charset="0"/>
              </a:rPr>
              <a:t>giai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đoạn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tiền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xử</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lý</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như</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loại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bỏ</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nhiễu</a:t>
            </a:r>
            <a:r>
              <a:rPr lang="en-US" sz="2300" kern="0" dirty="0">
                <a:solidFill>
                  <a:srgbClr val="000000"/>
                </a:solidFill>
                <a:latin typeface="Cambria" panose="02040503050406030204" pitchFamily="18" charset="0"/>
                <a:ea typeface="Cambria" panose="02040503050406030204" pitchFamily="18" charset="0"/>
              </a:rPr>
              <a:t>.</a:t>
            </a:r>
            <a:endParaRPr lang="en-US" sz="2300" dirty="0">
              <a:latin typeface="Cambria" panose="02040503050406030204" pitchFamily="18" charset="0"/>
              <a:ea typeface="Cambria" panose="02040503050406030204" pitchFamily="18" charset="0"/>
            </a:endParaRPr>
          </a:p>
          <a:p>
            <a:pPr marL="58738" lvl="1" indent="0" algn="just">
              <a:lnSpc>
                <a:spcPct val="150000"/>
              </a:lnSpc>
              <a:spcBef>
                <a:spcPts val="0"/>
              </a:spcBef>
              <a:buClr>
                <a:srgbClr val="FF5A33"/>
              </a:buClr>
              <a:buNone/>
            </a:pPr>
            <a:r>
              <a:rPr lang="en-US" sz="2300" b="1" kern="0" dirty="0" err="1">
                <a:latin typeface="Cambria" panose="02040503050406030204" pitchFamily="18" charset="0"/>
                <a:ea typeface="Cambria" panose="02040503050406030204" pitchFamily="18" charset="0"/>
              </a:rPr>
              <a:t>Ví</a:t>
            </a:r>
            <a:r>
              <a:rPr lang="en-US" sz="2300" b="1" kern="0" dirty="0">
                <a:latin typeface="Cambria" panose="02040503050406030204" pitchFamily="18" charset="0"/>
                <a:ea typeface="Cambria" panose="02040503050406030204" pitchFamily="18" charset="0"/>
              </a:rPr>
              <a:t> </a:t>
            </a:r>
            <a:r>
              <a:rPr lang="en-US" sz="2300" b="1" kern="0" dirty="0" err="1">
                <a:latin typeface="Cambria" panose="02040503050406030204" pitchFamily="18" charset="0"/>
                <a:ea typeface="Cambria" panose="02040503050406030204" pitchFamily="18" charset="0"/>
              </a:rPr>
              <a:t>dụ</a:t>
            </a:r>
            <a:r>
              <a:rPr lang="en-US" sz="2300" b="1" kern="0" dirty="0">
                <a:latin typeface="Cambria" panose="02040503050406030204" pitchFamily="18" charset="0"/>
                <a:ea typeface="Cambria" panose="02040503050406030204" pitchFamily="18" charset="0"/>
              </a:rPr>
              <a:t>: </a:t>
            </a:r>
            <a:r>
              <a:rPr lang="vi-VN" sz="2300" kern="0" dirty="0">
                <a:latin typeface="Cambria" panose="02040503050406030204" pitchFamily="18" charset="0"/>
                <a:ea typeface="Cambria" panose="02040503050406030204" pitchFamily="18" charset="0"/>
              </a:rPr>
              <a:t>Giả sử một nhóm triển khai dịch vụ </a:t>
            </a:r>
            <a:r>
              <a:rPr lang="vi-VN" sz="2300" kern="0" dirty="0">
                <a:latin typeface="Cambria" panose="02040503050406030204" pitchFamily="18" charset="0"/>
                <a:ea typeface="Cambria" panose="02040503050406030204" pitchFamily="18" charset="0"/>
                <a:hlinkClick r:id="rId2"/>
              </a:rPr>
              <a:t>Quản Lý Ca</a:t>
            </a:r>
            <a:r>
              <a:rPr lang="vi-VN" sz="2300" kern="0" dirty="0">
                <a:latin typeface="Cambria" panose="02040503050406030204" pitchFamily="18" charset="0"/>
                <a:ea typeface="Cambria" panose="02040503050406030204" pitchFamily="18" charset="0"/>
              </a:rPr>
              <a:t> ở thị trường Việt Nam hiện tại có hai vị trí là Sale và Tech. Hai vị trí này được đánh số điểm "Kỹ thuật" và "Kỹ năng mềm" khác nhau, từ những số điểm tôi sẽ gắn nhãn cho từng thành viên  </a:t>
            </a:r>
            <a:endParaRPr lang="en-US" sz="2300" b="1" dirty="0">
              <a:latin typeface="Cambria" panose="02040503050406030204" pitchFamily="18" charset="0"/>
              <a:ea typeface="Cambria" panose="02040503050406030204" pitchFamily="18" charset="0"/>
            </a:endParaRPr>
          </a:p>
          <a:p>
            <a:pPr marL="58738" lvl="1" indent="0" algn="just">
              <a:lnSpc>
                <a:spcPct val="130000"/>
              </a:lnSpc>
              <a:spcBef>
                <a:spcPts val="0"/>
              </a:spcBef>
              <a:buClr>
                <a:srgbClr val="FF5A33"/>
              </a:buClr>
              <a:buNone/>
            </a:pPr>
            <a:endParaRPr lang="en-US" sz="2500" b="1" dirty="0">
              <a:latin typeface="Cambria" panose="02040503050406030204" pitchFamily="18" charset="0"/>
              <a:ea typeface="Cambria" panose="02040503050406030204" pitchFamily="18" charset="0"/>
            </a:endParaRPr>
          </a:p>
          <a:p>
            <a:pPr marL="58738" lvl="1" indent="0" algn="just">
              <a:lnSpc>
                <a:spcPct val="130000"/>
              </a:lnSpc>
              <a:spcBef>
                <a:spcPts val="0"/>
              </a:spcBef>
              <a:buClr>
                <a:srgbClr val="FF5A33"/>
              </a:buClr>
              <a:buNone/>
            </a:pPr>
            <a:endParaRPr lang="en-US" sz="2500" b="1" kern="0" dirty="0">
              <a:effectLst/>
              <a:latin typeface="Cambria" panose="02040503050406030204" pitchFamily="18" charset="0"/>
              <a:ea typeface="Cambria" panose="02040503050406030204" pitchFamily="18" charset="0"/>
            </a:endParaRPr>
          </a:p>
          <a:p>
            <a:pPr marL="515938" lvl="2" indent="0">
              <a:lnSpc>
                <a:spcPct val="130000"/>
              </a:lnSpc>
              <a:spcBef>
                <a:spcPts val="0"/>
              </a:spcBef>
              <a:buClr>
                <a:srgbClr val="FF5A33"/>
              </a:buClr>
              <a:buNone/>
            </a:pPr>
            <a:endParaRPr lang="en-US" sz="2500" b="1" spc="-55" dirty="0">
              <a:latin typeface="Cambria" panose="02040503050406030204" pitchFamily="18" charset="0"/>
              <a:ea typeface="Cambria" panose="02040503050406030204" pitchFamily="18" charset="0"/>
              <a:cs typeface="Segoe UI"/>
            </a:endParaRPr>
          </a:p>
        </p:txBody>
      </p:sp>
    </p:spTree>
    <p:extLst>
      <p:ext uri="{BB962C8B-B14F-4D97-AF65-F5344CB8AC3E}">
        <p14:creationId xmlns:p14="http://schemas.microsoft.com/office/powerpoint/2010/main" val="42384564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MỘT SỐ THUẬT TOÁN HỌC MÁY PHỔ BIẾN</a:t>
            </a:r>
          </a:p>
        </p:txBody>
      </p:sp>
      <p:sp>
        <p:nvSpPr>
          <p:cNvPr id="11" name="Content Placeholder 2">
            <a:extLst>
              <a:ext uri="{FF2B5EF4-FFF2-40B4-BE49-F238E27FC236}">
                <a16:creationId xmlns:a16="http://schemas.microsoft.com/office/drawing/2014/main" id="{D84E1B89-45F1-4C39-88F0-3A380DA733A9}"/>
              </a:ext>
            </a:extLst>
          </p:cNvPr>
          <p:cNvSpPr>
            <a:spLocks noGrp="1"/>
          </p:cNvSpPr>
          <p:nvPr>
            <p:ph idx="1"/>
          </p:nvPr>
        </p:nvSpPr>
        <p:spPr>
          <a:xfrm>
            <a:off x="187287" y="691585"/>
            <a:ext cx="11729729" cy="5683549"/>
          </a:xfrm>
        </p:spPr>
        <p:txBody>
          <a:bodyPr>
            <a:noAutofit/>
          </a:bodyPr>
          <a:lstStyle/>
          <a:p>
            <a:pPr marL="58738" lvl="1" indent="0" algn="just">
              <a:lnSpc>
                <a:spcPct val="150000"/>
              </a:lnSpc>
              <a:spcBef>
                <a:spcPts val="580"/>
              </a:spcBef>
              <a:buClr>
                <a:srgbClr val="FF5A33"/>
              </a:buClr>
              <a:buNone/>
            </a:pPr>
            <a:r>
              <a:rPr lang="en-US" sz="2500" b="1" kern="0" dirty="0">
                <a:effectLst/>
                <a:latin typeface="Cambria" panose="02040503050406030204" pitchFamily="18" charset="0"/>
                <a:ea typeface="Cambria" panose="02040503050406030204" pitchFamily="18" charset="0"/>
              </a:rPr>
              <a:t>6</a:t>
            </a:r>
            <a:r>
              <a:rPr lang="en-US" sz="2500" b="1" kern="0" dirty="0">
                <a:latin typeface="Cambria" panose="02040503050406030204" pitchFamily="18" charset="0"/>
                <a:ea typeface="Cambria" panose="02040503050406030204" pitchFamily="18" charset="0"/>
              </a:rPr>
              <a:t>. K - Means Clustering</a:t>
            </a:r>
            <a:endParaRPr lang="en-US" sz="2500" b="1" dirty="0">
              <a:latin typeface="Cambria" panose="02040503050406030204" pitchFamily="18" charset="0"/>
              <a:ea typeface="Cambria" panose="02040503050406030204" pitchFamily="18" charset="0"/>
            </a:endParaRPr>
          </a:p>
          <a:p>
            <a:pPr marL="0" marR="30480" indent="0" algn="just">
              <a:lnSpc>
                <a:spcPct val="130000"/>
              </a:lnSpc>
              <a:spcBef>
                <a:spcPts val="0"/>
              </a:spcBef>
              <a:buNone/>
            </a:pPr>
            <a:r>
              <a:rPr lang="en-US" sz="2300" kern="0" dirty="0" err="1">
                <a:solidFill>
                  <a:srgbClr val="000000"/>
                </a:solidFill>
                <a:latin typeface="Cambria" panose="02040503050406030204" pitchFamily="18" charset="0"/>
                <a:ea typeface="Cambria" panose="02040503050406030204" pitchFamily="18" charset="0"/>
              </a:rPr>
              <a:t>Được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sử</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dụng</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để</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giải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quyết</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các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vấn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đề</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phân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cụm</a:t>
            </a:r>
            <a:r>
              <a:rPr lang="en-US" sz="2300" kern="0" dirty="0">
                <a:solidFill>
                  <a:srgbClr val="000000"/>
                </a:solidFill>
                <a:latin typeface="Cambria" panose="02040503050406030204" pitchFamily="18" charset="0"/>
                <a:ea typeface="Cambria" panose="02040503050406030204" pitchFamily="18" charset="0"/>
              </a:rPr>
              <a:t>. </a:t>
            </a:r>
          </a:p>
          <a:p>
            <a:pPr marL="0" marR="30480" indent="0" algn="just">
              <a:lnSpc>
                <a:spcPct val="130000"/>
              </a:lnSpc>
              <a:spcBef>
                <a:spcPts val="0"/>
              </a:spcBef>
              <a:buNone/>
            </a:pPr>
            <a:r>
              <a:rPr lang="en-US" sz="2300" kern="0" dirty="0" err="1">
                <a:solidFill>
                  <a:srgbClr val="000000"/>
                </a:solidFill>
                <a:latin typeface="Cambria" panose="02040503050406030204" pitchFamily="18" charset="0"/>
                <a:ea typeface="Cambria" panose="02040503050406030204" pitchFamily="18" charset="0"/>
              </a:rPr>
              <a:t>Về</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cơ</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bản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nó</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là</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một</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kiểu</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học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tập</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không</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có</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giám</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sát</a:t>
            </a:r>
            <a:r>
              <a:rPr lang="en-US" sz="2300" kern="0" dirty="0">
                <a:solidFill>
                  <a:srgbClr val="000000"/>
                </a:solidFill>
                <a:latin typeface="Cambria" panose="02040503050406030204" pitchFamily="18" charset="0"/>
                <a:ea typeface="Cambria" panose="02040503050406030204" pitchFamily="18" charset="0"/>
              </a:rPr>
              <a:t>. Logic </a:t>
            </a:r>
            <a:r>
              <a:rPr lang="en-US" sz="2300" kern="0" dirty="0" err="1">
                <a:solidFill>
                  <a:srgbClr val="000000"/>
                </a:solidFill>
                <a:latin typeface="Cambria" panose="02040503050406030204" pitchFamily="18" charset="0"/>
                <a:ea typeface="Cambria" panose="02040503050406030204" pitchFamily="18" charset="0"/>
              </a:rPr>
              <a:t>chính</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của</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thuật</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toán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phân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cụm</a:t>
            </a:r>
            <a:r>
              <a:rPr lang="en-US" sz="2300" kern="0" dirty="0">
                <a:solidFill>
                  <a:srgbClr val="000000"/>
                </a:solidFill>
                <a:latin typeface="Cambria" panose="02040503050406030204" pitchFamily="18" charset="0"/>
                <a:ea typeface="Cambria" panose="02040503050406030204" pitchFamily="18" charset="0"/>
              </a:rPr>
              <a:t> K-Means </a:t>
            </a:r>
            <a:r>
              <a:rPr lang="en-US" sz="2300" kern="0" dirty="0" err="1">
                <a:solidFill>
                  <a:srgbClr val="000000"/>
                </a:solidFill>
                <a:latin typeface="Cambria" panose="02040503050406030204" pitchFamily="18" charset="0"/>
                <a:ea typeface="Cambria" panose="02040503050406030204" pitchFamily="18" charset="0"/>
              </a:rPr>
              <a:t>là</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phân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loại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tập</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dữ</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liệu</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thông</a:t>
            </a:r>
            <a:r>
              <a:rPr lang="en-US" sz="2300" kern="0" dirty="0">
                <a:solidFill>
                  <a:srgbClr val="000000"/>
                </a:solidFill>
                <a:latin typeface="Cambria" panose="02040503050406030204" pitchFamily="18" charset="0"/>
                <a:ea typeface="Cambria" panose="02040503050406030204" pitchFamily="18" charset="0"/>
              </a:rPr>
              <a:t> qua </a:t>
            </a:r>
            <a:r>
              <a:rPr lang="en-US" sz="2300" kern="0" dirty="0" err="1">
                <a:solidFill>
                  <a:srgbClr val="000000"/>
                </a:solidFill>
                <a:latin typeface="Cambria" panose="02040503050406030204" pitchFamily="18" charset="0"/>
                <a:ea typeface="Cambria" panose="02040503050406030204" pitchFamily="18" charset="0"/>
              </a:rPr>
              <a:t>một</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số</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cụm</a:t>
            </a:r>
            <a:r>
              <a:rPr lang="en-US" sz="2300" kern="0" dirty="0">
                <a:solidFill>
                  <a:srgbClr val="000000"/>
                </a:solidFill>
                <a:latin typeface="Cambria" panose="02040503050406030204" pitchFamily="18" charset="0"/>
                <a:ea typeface="Cambria" panose="02040503050406030204" pitchFamily="18" charset="0"/>
              </a:rPr>
              <a:t>. </a:t>
            </a:r>
          </a:p>
          <a:p>
            <a:pPr marL="0" marR="30480" indent="0" algn="just">
              <a:lnSpc>
                <a:spcPct val="130000"/>
              </a:lnSpc>
              <a:spcBef>
                <a:spcPts val="0"/>
              </a:spcBef>
              <a:buNone/>
            </a:pPr>
            <a:r>
              <a:rPr lang="en-US" sz="2300" kern="0" dirty="0" err="1">
                <a:solidFill>
                  <a:srgbClr val="000000"/>
                </a:solidFill>
                <a:latin typeface="Cambria" panose="02040503050406030204" pitchFamily="18" charset="0"/>
                <a:ea typeface="Cambria" panose="02040503050406030204" pitchFamily="18" charset="0"/>
              </a:rPr>
              <a:t>Các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bước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sau</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để</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tạo</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cụm</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bằng</a:t>
            </a:r>
            <a:r>
              <a:rPr lang="en-US" sz="2300" kern="0" dirty="0">
                <a:solidFill>
                  <a:srgbClr val="000000"/>
                </a:solidFill>
                <a:latin typeface="Cambria" panose="02040503050406030204" pitchFamily="18" charset="0"/>
                <a:ea typeface="Cambria" panose="02040503050406030204" pitchFamily="18" charset="0"/>
              </a:rPr>
              <a:t> K-means –clustering</a:t>
            </a:r>
            <a:endParaRPr lang="en-US" sz="2300" dirty="0">
              <a:latin typeface="Cambria" panose="02040503050406030204" pitchFamily="18" charset="0"/>
              <a:ea typeface="Cambria" panose="02040503050406030204" pitchFamily="18" charset="0"/>
            </a:endParaRPr>
          </a:p>
          <a:p>
            <a:pPr marR="30480" lvl="1" indent="-342900" algn="just">
              <a:lnSpc>
                <a:spcPct val="130000"/>
              </a:lnSpc>
              <a:spcBef>
                <a:spcPts val="0"/>
              </a:spcBef>
              <a:buClr>
                <a:srgbClr val="FF0000"/>
              </a:buClr>
              <a:buSzPct val="100000"/>
              <a:tabLst>
                <a:tab pos="457200" algn="l"/>
              </a:tabLst>
            </a:pPr>
            <a:r>
              <a:rPr lang="en-US" sz="2300" kern="0" dirty="0">
                <a:solidFill>
                  <a:srgbClr val="000000"/>
                </a:solidFill>
                <a:latin typeface="Cambria" panose="02040503050406030204" pitchFamily="18" charset="0"/>
                <a:ea typeface="Cambria" panose="02040503050406030204" pitchFamily="18" charset="0"/>
              </a:rPr>
              <a:t>K-mean </a:t>
            </a:r>
            <a:r>
              <a:rPr lang="en-US" sz="2300" kern="0" dirty="0" err="1">
                <a:solidFill>
                  <a:srgbClr val="000000"/>
                </a:solidFill>
                <a:latin typeface="Cambria" panose="02040503050406030204" pitchFamily="18" charset="0"/>
                <a:ea typeface="Cambria" panose="02040503050406030204" pitchFamily="18" charset="0"/>
              </a:rPr>
              <a:t>chọn</a:t>
            </a:r>
            <a:r>
              <a:rPr lang="en-US" sz="2300" kern="0" dirty="0">
                <a:solidFill>
                  <a:srgbClr val="000000"/>
                </a:solidFill>
                <a:latin typeface="Cambria" panose="02040503050406030204" pitchFamily="18" charset="0"/>
                <a:ea typeface="Cambria" panose="02040503050406030204" pitchFamily="18" charset="0"/>
              </a:rPr>
              <a:t> k </a:t>
            </a:r>
            <a:r>
              <a:rPr lang="en-US" sz="2300" kern="0" dirty="0" err="1">
                <a:solidFill>
                  <a:srgbClr val="000000"/>
                </a:solidFill>
                <a:latin typeface="Cambria" panose="02040503050406030204" pitchFamily="18" charset="0"/>
                <a:ea typeface="Cambria" panose="02040503050406030204" pitchFamily="18" charset="0"/>
              </a:rPr>
              <a:t>số</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điểm</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cho</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mỗi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cụm</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được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gọi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là</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trung</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tâm</a:t>
            </a:r>
            <a:r>
              <a:rPr lang="en-US" sz="2300" kern="0" dirty="0">
                <a:solidFill>
                  <a:srgbClr val="000000"/>
                </a:solidFill>
                <a:latin typeface="Cambria" panose="02040503050406030204" pitchFamily="18" charset="0"/>
                <a:ea typeface="Cambria" panose="02040503050406030204" pitchFamily="18" charset="0"/>
              </a:rPr>
              <a:t>.</a:t>
            </a:r>
            <a:endParaRPr lang="en-US" sz="2300" dirty="0">
              <a:latin typeface="Cambria" panose="02040503050406030204" pitchFamily="18" charset="0"/>
              <a:ea typeface="Cambria" panose="02040503050406030204" pitchFamily="18" charset="0"/>
            </a:endParaRPr>
          </a:p>
          <a:p>
            <a:pPr marR="30480" lvl="1" indent="-342900" algn="just">
              <a:lnSpc>
                <a:spcPct val="130000"/>
              </a:lnSpc>
              <a:spcBef>
                <a:spcPts val="0"/>
              </a:spcBef>
              <a:buClr>
                <a:srgbClr val="FF0000"/>
              </a:buClr>
              <a:buSzPct val="100000"/>
              <a:tabLst>
                <a:tab pos="457200" algn="l"/>
              </a:tabLst>
            </a:pPr>
            <a:r>
              <a:rPr lang="en-US" sz="2300" kern="0" dirty="0" err="1">
                <a:solidFill>
                  <a:srgbClr val="000000"/>
                </a:solidFill>
                <a:latin typeface="Cambria" panose="02040503050406030204" pitchFamily="18" charset="0"/>
                <a:ea typeface="Cambria" panose="02040503050406030204" pitchFamily="18" charset="0"/>
              </a:rPr>
              <a:t>Mỗi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điểm</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dữ</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liệu</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tạo</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thành</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một</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cụm</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với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các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tâm</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gần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nhất</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tức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là</a:t>
            </a:r>
            <a:r>
              <a:rPr lang="en-US" sz="2300" kern="0" dirty="0">
                <a:solidFill>
                  <a:srgbClr val="000000"/>
                </a:solidFill>
                <a:latin typeface="Cambria" panose="02040503050406030204" pitchFamily="18" charset="0"/>
                <a:ea typeface="Cambria" panose="02040503050406030204" pitchFamily="18" charset="0"/>
              </a:rPr>
              <a:t> k </a:t>
            </a:r>
            <a:r>
              <a:rPr lang="en-US" sz="2300" kern="0" dirty="0" err="1">
                <a:solidFill>
                  <a:srgbClr val="000000"/>
                </a:solidFill>
                <a:latin typeface="Cambria" panose="02040503050406030204" pitchFamily="18" charset="0"/>
                <a:ea typeface="Cambria" panose="02040503050406030204" pitchFamily="18" charset="0"/>
              </a:rPr>
              <a:t>cụm</a:t>
            </a:r>
            <a:r>
              <a:rPr lang="en-US" sz="2300" kern="0" dirty="0">
                <a:solidFill>
                  <a:srgbClr val="000000"/>
                </a:solidFill>
                <a:latin typeface="Cambria" panose="02040503050406030204" pitchFamily="18" charset="0"/>
                <a:ea typeface="Cambria" panose="02040503050406030204" pitchFamily="18" charset="0"/>
              </a:rPr>
              <a:t>.</a:t>
            </a:r>
            <a:endParaRPr lang="en-US" sz="2300" dirty="0">
              <a:latin typeface="Cambria" panose="02040503050406030204" pitchFamily="18" charset="0"/>
              <a:ea typeface="Cambria" panose="02040503050406030204" pitchFamily="18" charset="0"/>
            </a:endParaRPr>
          </a:p>
          <a:p>
            <a:pPr marR="30480" lvl="1" indent="-342900" algn="just">
              <a:lnSpc>
                <a:spcPct val="130000"/>
              </a:lnSpc>
              <a:spcBef>
                <a:spcPts val="0"/>
              </a:spcBef>
              <a:buClr>
                <a:srgbClr val="FF0000"/>
              </a:buClr>
              <a:buSzPct val="100000"/>
              <a:tabLst>
                <a:tab pos="457200" algn="l"/>
              </a:tabLst>
            </a:pPr>
            <a:r>
              <a:rPr lang="en-US" sz="2300" kern="0" dirty="0" err="1">
                <a:solidFill>
                  <a:srgbClr val="000000"/>
                </a:solidFill>
                <a:latin typeface="Cambria" panose="02040503050406030204" pitchFamily="18" charset="0"/>
                <a:ea typeface="Cambria" panose="02040503050406030204" pitchFamily="18" charset="0"/>
              </a:rPr>
              <a:t>Tìm</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ra</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các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trọng</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tâm</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của</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mỗi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cụm</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dựa</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trên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các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thành</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viên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cụm</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hiện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có</a:t>
            </a:r>
            <a:r>
              <a:rPr lang="en-US" sz="2300" kern="0" dirty="0">
                <a:solidFill>
                  <a:srgbClr val="000000"/>
                </a:solidFill>
                <a:latin typeface="Cambria" panose="02040503050406030204" pitchFamily="18" charset="0"/>
                <a:ea typeface="Cambria" panose="02040503050406030204" pitchFamily="18" charset="0"/>
              </a:rPr>
              <a:t>.</a:t>
            </a:r>
            <a:endParaRPr lang="en-US" sz="2300" dirty="0">
              <a:latin typeface="Cambria" panose="02040503050406030204" pitchFamily="18" charset="0"/>
              <a:ea typeface="Cambria" panose="02040503050406030204" pitchFamily="18" charset="0"/>
            </a:endParaRPr>
          </a:p>
          <a:p>
            <a:pPr lvl="1" indent="-342900" algn="just">
              <a:lnSpc>
                <a:spcPct val="130000"/>
              </a:lnSpc>
              <a:spcBef>
                <a:spcPts val="0"/>
              </a:spcBef>
              <a:buClr>
                <a:srgbClr val="FF0000"/>
              </a:buClr>
              <a:buSzPct val="100000"/>
            </a:pPr>
            <a:r>
              <a:rPr lang="en-US" sz="2300" kern="0" dirty="0" err="1">
                <a:solidFill>
                  <a:srgbClr val="000000"/>
                </a:solidFill>
                <a:latin typeface="Cambria" panose="02040503050406030204" pitchFamily="18" charset="0"/>
                <a:ea typeface="Cambria" panose="02040503050406030204" pitchFamily="18" charset="0"/>
              </a:rPr>
              <a:t>Lặp</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lại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các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bước</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này</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cho</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đến</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khi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sự</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hội</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tụ</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xảy</a:t>
            </a:r>
            <a:r>
              <a:rPr lang="en-US" sz="2300" kern="0" dirty="0">
                <a:solidFill>
                  <a:srgbClr val="000000"/>
                </a:solidFill>
                <a:latin typeface="Cambria" panose="02040503050406030204" pitchFamily="18" charset="0"/>
                <a:ea typeface="Cambria" panose="02040503050406030204" pitchFamily="18" charset="0"/>
              </a:rPr>
              <a:t> </a:t>
            </a:r>
            <a:r>
              <a:rPr lang="en-US" sz="2300" kern="0" dirty="0" err="1">
                <a:solidFill>
                  <a:srgbClr val="000000"/>
                </a:solidFill>
                <a:latin typeface="Cambria" panose="02040503050406030204" pitchFamily="18" charset="0"/>
                <a:ea typeface="Cambria" panose="02040503050406030204" pitchFamily="18" charset="0"/>
              </a:rPr>
              <a:t>ra.</a:t>
            </a:r>
            <a:r>
              <a:rPr lang="en-US" sz="2300" kern="0" dirty="0">
                <a:solidFill>
                  <a:srgbClr val="000000"/>
                </a:solidFill>
                <a:latin typeface="Cambria" panose="02040503050406030204" pitchFamily="18" charset="0"/>
                <a:ea typeface="Cambria" panose="02040503050406030204" pitchFamily="18" charset="0"/>
              </a:rPr>
              <a:t> </a:t>
            </a:r>
          </a:p>
          <a:p>
            <a:pPr marL="342900" lvl="1" indent="-287338" algn="just">
              <a:lnSpc>
                <a:spcPct val="130000"/>
              </a:lnSpc>
              <a:spcBef>
                <a:spcPts val="0"/>
              </a:spcBef>
              <a:buClr>
                <a:srgbClr val="FF0000"/>
              </a:buClr>
              <a:buSzPct val="100000"/>
              <a:buNone/>
            </a:pPr>
            <a:r>
              <a:rPr lang="en-US" sz="2300" b="1" dirty="0" err="1">
                <a:latin typeface="Cambria" panose="02040503050406030204" pitchFamily="18" charset="0"/>
                <a:ea typeface="Cambria" panose="02040503050406030204" pitchFamily="18" charset="0"/>
              </a:rPr>
              <a:t>Điều</a:t>
            </a:r>
            <a:r>
              <a:rPr lang="en-US" sz="2300" b="1" dirty="0">
                <a:latin typeface="Cambria" panose="02040503050406030204" pitchFamily="18" charset="0"/>
                <a:ea typeface="Cambria" panose="02040503050406030204" pitchFamily="18" charset="0"/>
              </a:rPr>
              <a:t> </a:t>
            </a:r>
            <a:r>
              <a:rPr lang="en-US" sz="2300" b="1" dirty="0" err="1">
                <a:latin typeface="Cambria" panose="02040503050406030204" pitchFamily="18" charset="0"/>
                <a:ea typeface="Cambria" panose="02040503050406030204" pitchFamily="18" charset="0"/>
              </a:rPr>
              <a:t>kiện</a:t>
            </a:r>
            <a:r>
              <a:rPr lang="en-US" sz="2300" b="1" dirty="0">
                <a:latin typeface="Cambria" panose="02040503050406030204" pitchFamily="18" charset="0"/>
                <a:ea typeface="Cambria" panose="02040503050406030204" pitchFamily="18" charset="0"/>
              </a:rPr>
              <a:t> </a:t>
            </a:r>
            <a:r>
              <a:rPr lang="en-US" sz="2300" b="1" dirty="0" err="1">
                <a:latin typeface="Cambria" panose="02040503050406030204" pitchFamily="18" charset="0"/>
                <a:ea typeface="Cambria" panose="02040503050406030204" pitchFamily="18" charset="0"/>
              </a:rPr>
              <a:t>tiên</a:t>
            </a:r>
            <a:r>
              <a:rPr lang="en-US" sz="2300" b="1" dirty="0">
                <a:latin typeface="Cambria" panose="02040503050406030204" pitchFamily="18" charset="0"/>
                <a:ea typeface="Cambria" panose="02040503050406030204" pitchFamily="18" charset="0"/>
              </a:rPr>
              <a:t> </a:t>
            </a:r>
            <a:r>
              <a:rPr lang="en-US" sz="2300" b="1" dirty="0" err="1">
                <a:latin typeface="Cambria" panose="02040503050406030204" pitchFamily="18" charset="0"/>
                <a:ea typeface="Cambria" panose="02040503050406030204" pitchFamily="18" charset="0"/>
              </a:rPr>
              <a:t>quyết</a:t>
            </a:r>
            <a:r>
              <a:rPr lang="en-US" sz="2300" b="1" dirty="0">
                <a:latin typeface="Cambria" panose="02040503050406030204" pitchFamily="18" charset="0"/>
                <a:ea typeface="Cambria" panose="02040503050406030204" pitchFamily="18" charset="0"/>
              </a:rPr>
              <a:t>: </a:t>
            </a:r>
            <a:r>
              <a:rPr lang="en-US" sz="2300" b="1" dirty="0" err="1">
                <a:latin typeface="Cambria" panose="02040503050406030204" pitchFamily="18" charset="0"/>
                <a:ea typeface="Cambria" panose="02040503050406030204" pitchFamily="18" charset="0"/>
              </a:rPr>
              <a:t>Numpy</a:t>
            </a:r>
            <a:r>
              <a:rPr lang="en-US" sz="2300" b="1" dirty="0">
                <a:latin typeface="Cambria" panose="02040503050406030204" pitchFamily="18" charset="0"/>
                <a:ea typeface="Cambria" panose="02040503050406030204" pitchFamily="18" charset="0"/>
              </a:rPr>
              <a:t>, </a:t>
            </a:r>
            <a:r>
              <a:rPr lang="en-US" sz="2300" b="1" dirty="0" err="1">
                <a:latin typeface="Cambria" panose="02040503050406030204" pitchFamily="18" charset="0"/>
                <a:ea typeface="Cambria" panose="02040503050406030204" pitchFamily="18" charset="0"/>
              </a:rPr>
              <a:t>OpenCV</a:t>
            </a:r>
            <a:r>
              <a:rPr lang="en-US" sz="2300" b="1" dirty="0">
                <a:latin typeface="Cambria" panose="02040503050406030204" pitchFamily="18" charset="0"/>
                <a:ea typeface="Cambria" panose="02040503050406030204" pitchFamily="18" charset="0"/>
              </a:rPr>
              <a:t>, </a:t>
            </a:r>
            <a:r>
              <a:rPr lang="en-US" sz="2300" b="1" dirty="0" err="1">
                <a:latin typeface="Cambria" panose="02040503050406030204" pitchFamily="18" charset="0"/>
                <a:ea typeface="Cambria" panose="02040503050406030204" pitchFamily="18" charset="0"/>
              </a:rPr>
              <a:t>matplot</a:t>
            </a:r>
            <a:r>
              <a:rPr lang="en-US" sz="2300" b="1" dirty="0">
                <a:latin typeface="Cambria" panose="02040503050406030204" pitchFamily="18" charset="0"/>
                <a:ea typeface="Cambria" panose="02040503050406030204" pitchFamily="18" charset="0"/>
              </a:rPr>
              <a:t>-lib</a:t>
            </a:r>
          </a:p>
          <a:p>
            <a:pPr marL="0" indent="0">
              <a:lnSpc>
                <a:spcPct val="130000"/>
              </a:lnSpc>
              <a:spcBef>
                <a:spcPts val="0"/>
              </a:spcBef>
              <a:buNone/>
            </a:pPr>
            <a:r>
              <a:rPr lang="en-US" sz="2300" b="1" kern="0" dirty="0" err="1">
                <a:solidFill>
                  <a:srgbClr val="000000"/>
                </a:solidFill>
                <a:latin typeface="Cambria" panose="02040503050406030204" pitchFamily="18" charset="0"/>
                <a:ea typeface="Cambria" panose="02040503050406030204" pitchFamily="18" charset="0"/>
              </a:rPr>
              <a:t>Ví</a:t>
            </a:r>
            <a:r>
              <a:rPr lang="en-US" sz="2300" b="1" kern="0" dirty="0">
                <a:solidFill>
                  <a:srgbClr val="000000"/>
                </a:solidFill>
                <a:latin typeface="Cambria" panose="02040503050406030204" pitchFamily="18" charset="0"/>
                <a:ea typeface="Cambria" panose="02040503050406030204" pitchFamily="18" charset="0"/>
              </a:rPr>
              <a:t> </a:t>
            </a:r>
            <a:r>
              <a:rPr lang="en-US" sz="2300" b="1" kern="0" dirty="0" err="1">
                <a:solidFill>
                  <a:srgbClr val="000000"/>
                </a:solidFill>
                <a:latin typeface="Cambria" panose="02040503050406030204" pitchFamily="18" charset="0"/>
                <a:ea typeface="Cambria" panose="02040503050406030204" pitchFamily="18" charset="0"/>
              </a:rPr>
              <a:t>dụ</a:t>
            </a:r>
            <a:r>
              <a:rPr lang="en-US" sz="2300" kern="0" dirty="0">
                <a:solidFill>
                  <a:srgbClr val="000000"/>
                </a:solidFill>
                <a:latin typeface="Cambria" panose="02040503050406030204" pitchFamily="18" charset="0"/>
                <a:ea typeface="Cambria" panose="02040503050406030204" pitchFamily="18" charset="0"/>
              </a:rPr>
              <a:t>: </a:t>
            </a:r>
            <a:r>
              <a:rPr lang="vi-VN" sz="2300" kern="0" dirty="0">
                <a:solidFill>
                  <a:srgbClr val="000000"/>
                </a:solidFill>
                <a:latin typeface="Cambria" panose="02040503050406030204" pitchFamily="18" charset="0"/>
                <a:ea typeface="Cambria" panose="02040503050406030204" pitchFamily="18" charset="0"/>
              </a:rPr>
              <a:t>Xác định Dữ liệu Ung thư</a:t>
            </a:r>
            <a:r>
              <a:rPr lang="en-US" sz="2300" kern="0" dirty="0">
                <a:solidFill>
                  <a:srgbClr val="000000"/>
                </a:solidFill>
                <a:latin typeface="Cambria" panose="02040503050406030204" pitchFamily="18" charset="0"/>
                <a:ea typeface="Cambria" panose="02040503050406030204" pitchFamily="18" charset="0"/>
              </a:rPr>
              <a:t>; </a:t>
            </a:r>
            <a:r>
              <a:rPr lang="vi-VN" sz="2300" kern="0" dirty="0">
                <a:solidFill>
                  <a:srgbClr val="000000"/>
                </a:solidFill>
                <a:latin typeface="Cambria" panose="02040503050406030204" pitchFamily="18" charset="0"/>
                <a:ea typeface="Cambria" panose="02040503050406030204" pitchFamily="18" charset="0"/>
              </a:rPr>
              <a:t>Dự đoán Kết quả Học tập của Học sinh</a:t>
            </a:r>
            <a:r>
              <a:rPr lang="en-US" sz="2300" kern="0" dirty="0">
                <a:solidFill>
                  <a:srgbClr val="000000"/>
                </a:solidFill>
                <a:latin typeface="Cambria" panose="02040503050406030204" pitchFamily="18" charset="0"/>
                <a:ea typeface="Cambria" panose="02040503050406030204" pitchFamily="18" charset="0"/>
              </a:rPr>
              <a:t>; </a:t>
            </a:r>
            <a:r>
              <a:rPr lang="vi-VN" sz="2300" kern="0" dirty="0">
                <a:solidFill>
                  <a:srgbClr val="000000"/>
                </a:solidFill>
                <a:latin typeface="Cambria" panose="02040503050406030204" pitchFamily="18" charset="0"/>
                <a:ea typeface="Cambria" panose="02040503050406030204" pitchFamily="18" charset="0"/>
              </a:rPr>
              <a:t>Dự đoán Hoạt động Ma túy.</a:t>
            </a:r>
          </a:p>
          <a:p>
            <a:pPr marL="342900" lvl="1" indent="-287338" algn="just">
              <a:lnSpc>
                <a:spcPct val="130000"/>
              </a:lnSpc>
              <a:spcBef>
                <a:spcPts val="0"/>
              </a:spcBef>
              <a:buClr>
                <a:srgbClr val="FF0000"/>
              </a:buClr>
              <a:buSzPct val="100000"/>
              <a:buNone/>
            </a:pPr>
            <a:endParaRPr lang="en-US" sz="2500" b="1" kern="0" dirty="0">
              <a:effectLst/>
              <a:latin typeface="Cambria" panose="02040503050406030204" pitchFamily="18" charset="0"/>
              <a:ea typeface="Cambria" panose="02040503050406030204" pitchFamily="18" charset="0"/>
            </a:endParaRPr>
          </a:p>
          <a:p>
            <a:pPr marL="515938" lvl="2" indent="0">
              <a:lnSpc>
                <a:spcPct val="150000"/>
              </a:lnSpc>
              <a:spcBef>
                <a:spcPts val="580"/>
              </a:spcBef>
              <a:buClr>
                <a:srgbClr val="FF5A33"/>
              </a:buClr>
              <a:buNone/>
            </a:pPr>
            <a:endParaRPr lang="en-US" sz="2300" b="1" spc="-55" dirty="0">
              <a:latin typeface="Cambria" panose="02040503050406030204" pitchFamily="18" charset="0"/>
              <a:ea typeface="Cambria" panose="02040503050406030204" pitchFamily="18" charset="0"/>
              <a:cs typeface="Segoe UI"/>
            </a:endParaRPr>
          </a:p>
        </p:txBody>
      </p:sp>
    </p:spTree>
    <p:extLst>
      <p:ext uri="{BB962C8B-B14F-4D97-AF65-F5344CB8AC3E}">
        <p14:creationId xmlns:p14="http://schemas.microsoft.com/office/powerpoint/2010/main" val="341271126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ĐỀ MÔ ỨNG DỤNG 1</a:t>
            </a:r>
          </a:p>
        </p:txBody>
      </p:sp>
      <p:sp>
        <p:nvSpPr>
          <p:cNvPr id="10" name="Content Placeholder 2">
            <a:extLst>
              <a:ext uri="{FF2B5EF4-FFF2-40B4-BE49-F238E27FC236}">
                <a16:creationId xmlns:a16="http://schemas.microsoft.com/office/drawing/2014/main" id="{D84E1B89-45F1-4C39-88F0-3A380DA733A9}"/>
              </a:ext>
            </a:extLst>
          </p:cNvPr>
          <p:cNvSpPr>
            <a:spLocks noGrp="1"/>
          </p:cNvSpPr>
          <p:nvPr>
            <p:ph idx="1"/>
          </p:nvPr>
        </p:nvSpPr>
        <p:spPr>
          <a:xfrm>
            <a:off x="120547" y="709537"/>
            <a:ext cx="11950906" cy="5665597"/>
          </a:xfrm>
        </p:spPr>
        <p:txBody>
          <a:bodyPr>
            <a:noAutofit/>
          </a:bodyPr>
          <a:lstStyle/>
          <a:p>
            <a:pPr marL="58738" lvl="1" indent="0" algn="just">
              <a:lnSpc>
                <a:spcPct val="120000"/>
              </a:lnSpc>
              <a:spcBef>
                <a:spcPts val="0"/>
              </a:spcBef>
              <a:buClr>
                <a:srgbClr val="FF5A33"/>
              </a:buClr>
              <a:buNone/>
            </a:pPr>
            <a:r>
              <a:rPr lang="en-US" sz="2500" b="0" spc="-55" dirty="0">
                <a:latin typeface="Cambria" panose="02040503050406030204" pitchFamily="18" charset="0"/>
                <a:ea typeface="Cambria" panose="02040503050406030204" pitchFamily="18" charset="0"/>
                <a:cs typeface="Segoe UI"/>
              </a:rPr>
              <a:t>P</a:t>
            </a:r>
            <a:r>
              <a:rPr lang="vi-VN" sz="2500" b="0" spc="-55" dirty="0">
                <a:latin typeface="Cambria" panose="02040503050406030204" pitchFamily="18" charset="0"/>
                <a:ea typeface="Cambria" panose="02040503050406030204" pitchFamily="18" charset="0"/>
                <a:cs typeface="Segoe UI"/>
              </a:rPr>
              <a:t>ython còn dùng để phân tích dữ liệu được lưu trữ trong file excel hoặc </a:t>
            </a:r>
            <a:r>
              <a:rPr lang="vi-VN" sz="2500" spc="-55" dirty="0">
                <a:solidFill>
                  <a:srgbClr val="FF0000"/>
                </a:solidFill>
                <a:latin typeface="Cambria" panose="02040503050406030204" pitchFamily="18" charset="0"/>
                <a:ea typeface="Cambria" panose="02040503050406030204" pitchFamily="18" charset="0"/>
                <a:cs typeface="Segoe UI"/>
              </a:rPr>
              <a:t>csv</a:t>
            </a:r>
            <a:r>
              <a:rPr lang="vi-VN" sz="2500" b="0" spc="-55" dirty="0">
                <a:latin typeface="Cambria" panose="02040503050406030204" pitchFamily="18" charset="0"/>
                <a:ea typeface="Cambria" panose="02040503050406030204" pitchFamily="18" charset="0"/>
                <a:cs typeface="Segoe UI"/>
              </a:rPr>
              <a:t> và nhiều loại file dữ liệu khác </a:t>
            </a:r>
            <a:endParaRPr lang="en-US" sz="2500" b="0" spc="-55" dirty="0">
              <a:latin typeface="Cambria" panose="02040503050406030204" pitchFamily="18" charset="0"/>
              <a:ea typeface="Cambria" panose="02040503050406030204" pitchFamily="18" charset="0"/>
              <a:cs typeface="Segoe UI"/>
            </a:endParaRPr>
          </a:p>
          <a:p>
            <a:pPr marL="58738" lvl="1" indent="0" algn="just">
              <a:lnSpc>
                <a:spcPct val="120000"/>
              </a:lnSpc>
              <a:spcBef>
                <a:spcPts val="0"/>
              </a:spcBef>
              <a:buClr>
                <a:srgbClr val="FF5A33"/>
              </a:buClr>
              <a:buNone/>
            </a:pPr>
            <a:r>
              <a:rPr lang="en-US" sz="2500" b="1" i="1" spc="-55" dirty="0" err="1">
                <a:latin typeface="Cambria" panose="02040503050406030204" pitchFamily="18" charset="0"/>
                <a:ea typeface="Cambria" panose="02040503050406030204" pitchFamily="18" charset="0"/>
                <a:cs typeface="Segoe UI"/>
              </a:rPr>
              <a:t>Giả</a:t>
            </a:r>
            <a:r>
              <a:rPr lang="en-US" sz="2500" b="1" i="1" spc="-55" dirty="0">
                <a:latin typeface="Cambria" panose="02040503050406030204" pitchFamily="18" charset="0"/>
                <a:ea typeface="Cambria" panose="02040503050406030204" pitchFamily="18" charset="0"/>
                <a:cs typeface="Segoe UI"/>
              </a:rPr>
              <a:t> </a:t>
            </a:r>
            <a:r>
              <a:rPr lang="en-US" sz="2500" b="1" i="1" spc="-55" dirty="0" err="1">
                <a:latin typeface="Cambria" panose="02040503050406030204" pitchFamily="18" charset="0"/>
                <a:ea typeface="Cambria" panose="02040503050406030204" pitchFamily="18" charset="0"/>
                <a:cs typeface="Segoe UI"/>
              </a:rPr>
              <a:t>sử</a:t>
            </a:r>
            <a:r>
              <a:rPr lang="en-US" sz="2500" b="1" i="1" spc="-55" dirty="0">
                <a:latin typeface="Cambria" panose="02040503050406030204" pitchFamily="18" charset="0"/>
                <a:ea typeface="Cambria" panose="02040503050406030204" pitchFamily="18" charset="0"/>
                <a:cs typeface="Segoe UI"/>
              </a:rPr>
              <a:t> b</a:t>
            </a:r>
            <a:r>
              <a:rPr lang="vi-VN" sz="2500" b="1" i="1" spc="-55" dirty="0">
                <a:latin typeface="Cambria" panose="02040503050406030204" pitchFamily="18" charset="0"/>
                <a:ea typeface="Cambria" panose="02040503050406030204" pitchFamily="18" charset="0"/>
                <a:cs typeface="Segoe UI"/>
              </a:rPr>
              <a:t>ài toán đặt ra như sau: </a:t>
            </a:r>
            <a:endParaRPr lang="en-US" sz="2500" b="1" i="1" spc="-55" dirty="0">
              <a:latin typeface="Cambria" panose="02040503050406030204" pitchFamily="18" charset="0"/>
              <a:ea typeface="Cambria" panose="02040503050406030204" pitchFamily="18" charset="0"/>
              <a:cs typeface="Segoe UI"/>
            </a:endParaRPr>
          </a:p>
          <a:p>
            <a:pPr marL="58738" lvl="1" indent="0" algn="just">
              <a:lnSpc>
                <a:spcPct val="120000"/>
              </a:lnSpc>
              <a:spcBef>
                <a:spcPts val="0"/>
              </a:spcBef>
              <a:buClr>
                <a:srgbClr val="FF5A33"/>
              </a:buClr>
              <a:buNone/>
            </a:pPr>
            <a:r>
              <a:rPr lang="vi-VN" sz="2500" b="0" spc="-55" dirty="0">
                <a:latin typeface="Cambria" panose="02040503050406030204" pitchFamily="18" charset="0"/>
                <a:ea typeface="Cambria" panose="02040503050406030204" pitchFamily="18" charset="0"/>
                <a:cs typeface="Segoe UI"/>
              </a:rPr>
              <a:t>Sinh viên khi ra trường thường thắc mắc </a:t>
            </a:r>
            <a:r>
              <a:rPr lang="en-US" sz="2500" b="0" spc="-55" dirty="0" err="1">
                <a:latin typeface="Cambria" panose="02040503050406030204" pitchFamily="18" charset="0"/>
                <a:ea typeface="Cambria" panose="02040503050406030204" pitchFamily="18" charset="0"/>
                <a:cs typeface="Segoe UI"/>
              </a:rPr>
              <a:t>về</a:t>
            </a:r>
            <a:r>
              <a:rPr lang="vi-VN" sz="2500" b="0" spc="-55" dirty="0">
                <a:latin typeface="Cambria" panose="02040503050406030204" pitchFamily="18" charset="0"/>
                <a:ea typeface="Cambria" panose="02040503050406030204" pitchFamily="18" charset="0"/>
                <a:cs typeface="Segoe UI"/>
              </a:rPr>
              <a:t> đề xuất mức lương bao nhiêu là hợp lý: </a:t>
            </a:r>
            <a:endParaRPr lang="en-US" sz="2500" b="0" spc="-55" dirty="0">
              <a:latin typeface="Cambria" panose="02040503050406030204" pitchFamily="18" charset="0"/>
              <a:ea typeface="Cambria" panose="02040503050406030204" pitchFamily="18" charset="0"/>
              <a:cs typeface="Segoe UI"/>
            </a:endParaRPr>
          </a:p>
          <a:p>
            <a:pPr marL="58738" lvl="1" indent="0" algn="just">
              <a:lnSpc>
                <a:spcPct val="120000"/>
              </a:lnSpc>
              <a:spcBef>
                <a:spcPts val="0"/>
              </a:spcBef>
              <a:buClr>
                <a:srgbClr val="FF5A33"/>
              </a:buClr>
              <a:buNone/>
            </a:pPr>
            <a:r>
              <a:rPr lang="en-US" sz="2500" b="0" spc="-55" dirty="0">
                <a:latin typeface="Cambria" panose="02040503050406030204" pitchFamily="18" charset="0"/>
                <a:ea typeface="Cambria" panose="02040503050406030204" pitchFamily="18" charset="0"/>
                <a:cs typeface="Segoe UI"/>
              </a:rPr>
              <a:t>	- </a:t>
            </a:r>
            <a:r>
              <a:rPr lang="vi-VN" sz="2500" b="0" spc="-55" dirty="0">
                <a:latin typeface="Cambria" panose="02040503050406030204" pitchFamily="18" charset="0"/>
                <a:ea typeface="Cambria" panose="02040503050406030204" pitchFamily="18" charset="0"/>
                <a:cs typeface="Segoe UI"/>
              </a:rPr>
              <a:t>Nếu cao quá thì sẽ khó được nhà tuyển dụng chấp nhận và mất luôn cơ hội làm việc, </a:t>
            </a:r>
            <a:endParaRPr lang="en-US" sz="2500" b="0" spc="-55" dirty="0">
              <a:latin typeface="Cambria" panose="02040503050406030204" pitchFamily="18" charset="0"/>
              <a:ea typeface="Cambria" panose="02040503050406030204" pitchFamily="18" charset="0"/>
              <a:cs typeface="Segoe UI"/>
            </a:endParaRPr>
          </a:p>
          <a:p>
            <a:pPr marL="58738" lvl="1" indent="0" algn="just">
              <a:lnSpc>
                <a:spcPct val="120000"/>
              </a:lnSpc>
              <a:spcBef>
                <a:spcPts val="0"/>
              </a:spcBef>
              <a:buClr>
                <a:srgbClr val="FF5A33"/>
              </a:buClr>
              <a:buNone/>
            </a:pPr>
            <a:r>
              <a:rPr lang="en-US" sz="2500" b="0" spc="-55" dirty="0">
                <a:latin typeface="Cambria" panose="02040503050406030204" pitchFamily="18" charset="0"/>
                <a:ea typeface="Cambria" panose="02040503050406030204" pitchFamily="18" charset="0"/>
                <a:cs typeface="Segoe UI"/>
              </a:rPr>
              <a:t>	- N</a:t>
            </a:r>
            <a:r>
              <a:rPr lang="vi-VN" sz="2500" b="0" spc="-55" dirty="0">
                <a:latin typeface="Cambria" panose="02040503050406030204" pitchFamily="18" charset="0"/>
                <a:ea typeface="Cambria" panose="02040503050406030204" pitchFamily="18" charset="0"/>
                <a:cs typeface="Segoe UI"/>
              </a:rPr>
              <a:t>ếu thấp quá thì sẽ thiệt thòi. </a:t>
            </a:r>
            <a:endParaRPr lang="en-US" sz="2500" b="0" spc="-55" dirty="0">
              <a:latin typeface="Cambria" panose="02040503050406030204" pitchFamily="18" charset="0"/>
              <a:ea typeface="Cambria" panose="02040503050406030204" pitchFamily="18" charset="0"/>
              <a:cs typeface="Segoe UI"/>
            </a:endParaRPr>
          </a:p>
          <a:p>
            <a:pPr marL="58738" lvl="1" indent="0" algn="just">
              <a:lnSpc>
                <a:spcPct val="120000"/>
              </a:lnSpc>
              <a:spcBef>
                <a:spcPts val="0"/>
              </a:spcBef>
              <a:buClr>
                <a:srgbClr val="FF5A33"/>
              </a:buClr>
              <a:buNone/>
            </a:pPr>
            <a:r>
              <a:rPr lang="vi-VN" sz="2500" b="0" spc="-55" dirty="0">
                <a:latin typeface="Cambria" panose="02040503050406030204" pitchFamily="18" charset="0"/>
                <a:ea typeface="Cambria" panose="02040503050406030204" pitchFamily="18" charset="0"/>
                <a:cs typeface="Segoe UI"/>
              </a:rPr>
              <a:t>Để giúp trả lời câu hỏi này, chúng ta sẽ phân tích thông tin dựa trên dữ liệu khảo sát mức lương của nhân viên có kinh nghiệm từ 0-10 năm của một số ngành. Các thông tin được thu thập bao gồm</a:t>
            </a:r>
            <a:r>
              <a:rPr lang="en-US" sz="2500" b="0" spc="-55" dirty="0">
                <a:latin typeface="Cambria" panose="02040503050406030204" pitchFamily="18" charset="0"/>
                <a:ea typeface="Cambria" panose="02040503050406030204" pitchFamily="18" charset="0"/>
                <a:cs typeface="Segoe UI"/>
              </a:rPr>
              <a:t>:</a:t>
            </a:r>
            <a:endParaRPr lang="vi-VN" sz="2500" b="0" spc="-55" dirty="0">
              <a:latin typeface="Cambria" panose="02040503050406030204" pitchFamily="18" charset="0"/>
              <a:ea typeface="Cambria" panose="02040503050406030204" pitchFamily="18" charset="0"/>
              <a:cs typeface="Segoe UI"/>
            </a:endParaRPr>
          </a:p>
          <a:p>
            <a:pPr marL="801688" lvl="2" indent="-342900" algn="just">
              <a:lnSpc>
                <a:spcPct val="120000"/>
              </a:lnSpc>
              <a:spcBef>
                <a:spcPts val="0"/>
              </a:spcBef>
              <a:buClr>
                <a:srgbClr val="FF5A33"/>
              </a:buClr>
              <a:buFont typeface="Wingdings" panose="05000000000000000000" pitchFamily="2" charset="2"/>
              <a:buChar char="§"/>
            </a:pPr>
            <a:r>
              <a:rPr lang="en-US" sz="2500" b="1" spc="-55" dirty="0" err="1">
                <a:latin typeface="Cambria" panose="02040503050406030204" pitchFamily="18" charset="0"/>
                <a:ea typeface="Cambria" panose="02040503050406030204" pitchFamily="18" charset="0"/>
                <a:cs typeface="Segoe UI"/>
              </a:rPr>
              <a:t>SoNamKN</a:t>
            </a:r>
            <a:r>
              <a:rPr lang="vi-VN" sz="2500" b="1" spc="-55" dirty="0">
                <a:latin typeface="Cambria" panose="02040503050406030204" pitchFamily="18" charset="0"/>
                <a:ea typeface="Cambria" panose="02040503050406030204" pitchFamily="18" charset="0"/>
                <a:cs typeface="Segoe UI"/>
              </a:rPr>
              <a:t>:</a:t>
            </a:r>
            <a:r>
              <a:rPr lang="vi-VN" sz="2500" b="0" spc="-55" dirty="0">
                <a:latin typeface="Cambria" panose="02040503050406030204" pitchFamily="18" charset="0"/>
                <a:ea typeface="Cambria" panose="02040503050406030204" pitchFamily="18" charset="0"/>
                <a:cs typeface="Segoe UI"/>
              </a:rPr>
              <a:t> Số năm kinh nghiệm</a:t>
            </a:r>
          </a:p>
          <a:p>
            <a:pPr marL="801688" lvl="2" indent="-342900" algn="just">
              <a:lnSpc>
                <a:spcPct val="120000"/>
              </a:lnSpc>
              <a:spcBef>
                <a:spcPts val="0"/>
              </a:spcBef>
              <a:buClr>
                <a:srgbClr val="FF5A33"/>
              </a:buClr>
              <a:buFont typeface="Wingdings" panose="05000000000000000000" pitchFamily="2" charset="2"/>
              <a:buChar char="§"/>
            </a:pPr>
            <a:r>
              <a:rPr lang="vi-VN" sz="2500" b="1" spc="-55" dirty="0">
                <a:latin typeface="Cambria" panose="02040503050406030204" pitchFamily="18" charset="0"/>
                <a:ea typeface="Cambria" panose="02040503050406030204" pitchFamily="18" charset="0"/>
                <a:cs typeface="Segoe UI"/>
              </a:rPr>
              <a:t>NganhNghe</a:t>
            </a:r>
            <a:r>
              <a:rPr lang="vi-VN" sz="2500" b="0" spc="-55" dirty="0">
                <a:latin typeface="Cambria" panose="02040503050406030204" pitchFamily="18" charset="0"/>
                <a:ea typeface="Cambria" panose="02040503050406030204" pitchFamily="18" charset="0"/>
                <a:cs typeface="Segoe UI"/>
              </a:rPr>
              <a:t>: ngành nghề</a:t>
            </a:r>
          </a:p>
          <a:p>
            <a:pPr marL="801688" lvl="2" indent="-342900" algn="just">
              <a:lnSpc>
                <a:spcPct val="120000"/>
              </a:lnSpc>
              <a:spcBef>
                <a:spcPts val="0"/>
              </a:spcBef>
              <a:buClr>
                <a:srgbClr val="FF5A33"/>
              </a:buClr>
              <a:buFont typeface="Wingdings" panose="05000000000000000000" pitchFamily="2" charset="2"/>
              <a:buChar char="§"/>
            </a:pPr>
            <a:r>
              <a:rPr lang="vi-VN" sz="2500" b="1" spc="-55" dirty="0">
                <a:latin typeface="Cambria" panose="02040503050406030204" pitchFamily="18" charset="0"/>
                <a:ea typeface="Cambria" panose="02040503050406030204" pitchFamily="18" charset="0"/>
                <a:cs typeface="Segoe UI"/>
              </a:rPr>
              <a:t>Luong</a:t>
            </a:r>
            <a:r>
              <a:rPr lang="vi-VN" sz="2500" b="0" spc="-55" dirty="0">
                <a:latin typeface="Cambria" panose="02040503050406030204" pitchFamily="18" charset="0"/>
                <a:ea typeface="Cambria" panose="02040503050406030204" pitchFamily="18" charset="0"/>
                <a:cs typeface="Segoe UI"/>
              </a:rPr>
              <a:t>: Lương (triệu)</a:t>
            </a:r>
            <a:endParaRPr lang="en-US" sz="2500" b="0" spc="-55" dirty="0">
              <a:latin typeface="Cambria" panose="02040503050406030204" pitchFamily="18" charset="0"/>
              <a:ea typeface="Cambria" panose="02040503050406030204" pitchFamily="18" charset="0"/>
              <a:cs typeface="Segoe UI"/>
            </a:endParaRPr>
          </a:p>
        </p:txBody>
      </p:sp>
    </p:spTree>
    <p:extLst>
      <p:ext uri="{BB962C8B-B14F-4D97-AF65-F5344CB8AC3E}">
        <p14:creationId xmlns:p14="http://schemas.microsoft.com/office/powerpoint/2010/main" val="193024023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ĐỀ MÔ ỨNG DỤNG 1</a:t>
            </a:r>
          </a:p>
        </p:txBody>
      </p:sp>
      <p:pic>
        <p:nvPicPr>
          <p:cNvPr id="11" name="Picture 10">
            <a:extLst>
              <a:ext uri="{FF2B5EF4-FFF2-40B4-BE49-F238E27FC236}">
                <a16:creationId xmlns:a16="http://schemas.microsoft.com/office/drawing/2014/main" id="{597BA119-CA07-DDFA-6F0B-8C108FC85959}"/>
              </a:ext>
            </a:extLst>
          </p:cNvPr>
          <p:cNvPicPr>
            <a:picLocks noChangeAspect="1"/>
          </p:cNvPicPr>
          <p:nvPr/>
        </p:nvPicPr>
        <p:blipFill rotWithShape="1">
          <a:blip r:embed="rId2"/>
          <a:srcRect l="14167" t="11482" r="32500" b="38147"/>
          <a:stretch/>
        </p:blipFill>
        <p:spPr>
          <a:xfrm>
            <a:off x="749147" y="773199"/>
            <a:ext cx="10323539" cy="5484381"/>
          </a:xfrm>
          <a:prstGeom prst="rect">
            <a:avLst/>
          </a:prstGeom>
        </p:spPr>
      </p:pic>
    </p:spTree>
    <p:extLst>
      <p:ext uri="{BB962C8B-B14F-4D97-AF65-F5344CB8AC3E}">
        <p14:creationId xmlns:p14="http://schemas.microsoft.com/office/powerpoint/2010/main" val="237889566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ĐỀ MÔ ỨNG DỤNG 1</a:t>
            </a:r>
          </a:p>
        </p:txBody>
      </p:sp>
      <p:pic>
        <p:nvPicPr>
          <p:cNvPr id="5" name="Picture 4">
            <a:extLst>
              <a:ext uri="{FF2B5EF4-FFF2-40B4-BE49-F238E27FC236}">
                <a16:creationId xmlns:a16="http://schemas.microsoft.com/office/drawing/2014/main" id="{7531078F-3A6C-041A-442C-8937D544F4A2}"/>
              </a:ext>
            </a:extLst>
          </p:cNvPr>
          <p:cNvPicPr>
            <a:picLocks noChangeAspect="1"/>
          </p:cNvPicPr>
          <p:nvPr/>
        </p:nvPicPr>
        <p:blipFill rotWithShape="1">
          <a:blip r:embed="rId2"/>
          <a:srcRect l="14167" t="11481" r="44167" b="29260"/>
          <a:stretch/>
        </p:blipFill>
        <p:spPr>
          <a:xfrm>
            <a:off x="462708" y="856840"/>
            <a:ext cx="6775373" cy="5420299"/>
          </a:xfrm>
          <a:prstGeom prst="rect">
            <a:avLst/>
          </a:prstGeom>
        </p:spPr>
      </p:pic>
    </p:spTree>
    <p:extLst>
      <p:ext uri="{BB962C8B-B14F-4D97-AF65-F5344CB8AC3E}">
        <p14:creationId xmlns:p14="http://schemas.microsoft.com/office/powerpoint/2010/main" val="5684341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ĐỀ MÔ ỨNG DỤNG 1</a:t>
            </a:r>
          </a:p>
        </p:txBody>
      </p:sp>
      <p:sp>
        <p:nvSpPr>
          <p:cNvPr id="2" name="TextBox 1"/>
          <p:cNvSpPr txBox="1"/>
          <p:nvPr/>
        </p:nvSpPr>
        <p:spPr>
          <a:xfrm>
            <a:off x="3172858" y="1927952"/>
            <a:ext cx="5144877"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CHI TIẾT BÀI TOÁN 1</a:t>
            </a:r>
          </a:p>
        </p:txBody>
      </p:sp>
    </p:spTree>
    <p:extLst>
      <p:ext uri="{BB962C8B-B14F-4D97-AF65-F5344CB8AC3E}">
        <p14:creationId xmlns:p14="http://schemas.microsoft.com/office/powerpoint/2010/main" val="32516496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ĐỀ MÔ ỨNG DỤNG 1</a:t>
            </a:r>
          </a:p>
        </p:txBody>
      </p:sp>
      <p:sp>
        <p:nvSpPr>
          <p:cNvPr id="2" name="TextBox 1"/>
          <p:cNvSpPr txBox="1"/>
          <p:nvPr/>
        </p:nvSpPr>
        <p:spPr>
          <a:xfrm>
            <a:off x="220337" y="815248"/>
            <a:ext cx="11843133" cy="1246495"/>
          </a:xfrm>
          <a:prstGeom prst="rect">
            <a:avLst/>
          </a:prstGeom>
          <a:noFill/>
        </p:spPr>
        <p:txBody>
          <a:bodyPr wrap="square" rtlCol="0">
            <a:spAutoFit/>
          </a:bodyPr>
          <a:lstStyle/>
          <a:p>
            <a:r>
              <a:rPr lang="en-US" sz="2500" dirty="0" err="1">
                <a:latin typeface="Cambria" panose="02040503050406030204" pitchFamily="18" charset="0"/>
                <a:ea typeface="Cambria" panose="02040503050406030204" pitchFamily="18" charset="0"/>
              </a:rPr>
              <a:t>Đọc</a:t>
            </a:r>
            <a:r>
              <a:rPr lang="en-US" sz="2500" dirty="0">
                <a:latin typeface="Cambria" panose="02040503050406030204" pitchFamily="18" charset="0"/>
                <a:ea typeface="Cambria" panose="02040503050406030204" pitchFamily="18" charset="0"/>
              </a:rPr>
              <a:t> </a:t>
            </a:r>
            <a:r>
              <a:rPr lang="en-US" sz="2500" dirty="0" err="1">
                <a:latin typeface="Cambria" panose="02040503050406030204" pitchFamily="18" charset="0"/>
                <a:ea typeface="Cambria" panose="02040503050406030204" pitchFamily="18" charset="0"/>
              </a:rPr>
              <a:t>dữ</a:t>
            </a:r>
            <a:r>
              <a:rPr lang="en-US" sz="2500" dirty="0">
                <a:latin typeface="Cambria" panose="02040503050406030204" pitchFamily="18" charset="0"/>
                <a:ea typeface="Cambria" panose="02040503050406030204" pitchFamily="18" charset="0"/>
              </a:rPr>
              <a:t> </a:t>
            </a:r>
            <a:r>
              <a:rPr lang="en-US" sz="2500" dirty="0" err="1">
                <a:latin typeface="Cambria" panose="02040503050406030204" pitchFamily="18" charset="0"/>
                <a:ea typeface="Cambria" panose="02040503050406030204" pitchFamily="18" charset="0"/>
              </a:rPr>
              <a:t>liệu</a:t>
            </a:r>
            <a:r>
              <a:rPr lang="en-US" sz="2500" dirty="0">
                <a:latin typeface="Cambria" panose="02040503050406030204" pitchFamily="18" charset="0"/>
                <a:ea typeface="Cambria" panose="02040503050406030204" pitchFamily="18" charset="0"/>
              </a:rPr>
              <a:t> </a:t>
            </a:r>
            <a:r>
              <a:rPr lang="en-US" sz="2500" dirty="0" err="1">
                <a:latin typeface="Cambria" panose="02040503050406030204" pitchFamily="18" charset="0"/>
                <a:ea typeface="Cambria" panose="02040503050406030204" pitchFamily="18" charset="0"/>
              </a:rPr>
              <a:t>vào</a:t>
            </a:r>
            <a:r>
              <a:rPr lang="en-US" sz="2500" dirty="0">
                <a:latin typeface="Cambria" panose="02040503050406030204" pitchFamily="18" charset="0"/>
                <a:ea typeface="Cambria" panose="02040503050406030204" pitchFamily="18" charset="0"/>
              </a:rPr>
              <a:t> </a:t>
            </a:r>
            <a:r>
              <a:rPr lang="en-US" sz="2500" dirty="0" err="1">
                <a:latin typeface="Cambria" panose="02040503050406030204" pitchFamily="18" charset="0"/>
                <a:ea typeface="Cambria" panose="02040503050406030204" pitchFamily="18" charset="0"/>
              </a:rPr>
              <a:t>biến</a:t>
            </a:r>
            <a:r>
              <a:rPr lang="en-US" sz="2500" dirty="0">
                <a:latin typeface="Cambria" panose="02040503050406030204" pitchFamily="18" charset="0"/>
                <a:ea typeface="Cambria" panose="02040503050406030204" pitchFamily="18" charset="0"/>
              </a:rPr>
              <a:t> </a:t>
            </a:r>
            <a:r>
              <a:rPr lang="en-US" sz="2500" b="1" dirty="0">
                <a:latin typeface="Cambria" panose="02040503050406030204" pitchFamily="18" charset="0"/>
                <a:ea typeface="Cambria" panose="02040503050406030204" pitchFamily="18" charset="0"/>
              </a:rPr>
              <a:t>dataset</a:t>
            </a:r>
            <a:r>
              <a:rPr lang="en-US" sz="2500" dirty="0">
                <a:latin typeface="Cambria" panose="02040503050406030204" pitchFamily="18" charset="0"/>
                <a:ea typeface="Cambria" panose="02040503050406030204" pitchFamily="18" charset="0"/>
              </a:rPr>
              <a:t> </a:t>
            </a:r>
            <a:r>
              <a:rPr lang="en-US" sz="2500" dirty="0" err="1">
                <a:latin typeface="Cambria" panose="02040503050406030204" pitchFamily="18" charset="0"/>
                <a:ea typeface="Cambria" panose="02040503050406030204" pitchFamily="18" charset="0"/>
              </a:rPr>
              <a:t>từ</a:t>
            </a:r>
            <a:r>
              <a:rPr lang="en-US" sz="2500" dirty="0">
                <a:latin typeface="Cambria" panose="02040503050406030204" pitchFamily="18" charset="0"/>
                <a:ea typeface="Cambria" panose="02040503050406030204" pitchFamily="18" charset="0"/>
              </a:rPr>
              <a:t> file “</a:t>
            </a:r>
            <a:r>
              <a:rPr lang="en-US" sz="2500" b="1" dirty="0">
                <a:latin typeface="Cambria" panose="02040503050406030204" pitchFamily="18" charset="0"/>
                <a:ea typeface="Cambria" panose="02040503050406030204" pitchFamily="18" charset="0"/>
              </a:rPr>
              <a:t>work_data.csv</a:t>
            </a:r>
            <a:r>
              <a:rPr lang="en-US" sz="2500" dirty="0">
                <a:latin typeface="Cambria" panose="02040503050406030204" pitchFamily="18" charset="0"/>
                <a:ea typeface="Cambria" panose="02040503050406030204" pitchFamily="18" charset="0"/>
              </a:rPr>
              <a:t>”: </a:t>
            </a:r>
            <a:r>
              <a:rPr lang="en-US" sz="2500" b="1" dirty="0">
                <a:solidFill>
                  <a:srgbClr val="FF0000"/>
                </a:solidFill>
                <a:latin typeface="Cambria" panose="02040503050406030204" pitchFamily="18" charset="0"/>
                <a:ea typeface="Cambria" panose="02040503050406030204" pitchFamily="18" charset="0"/>
              </a:rPr>
              <a:t>dataset = </a:t>
            </a:r>
            <a:r>
              <a:rPr lang="en-US" sz="2500" b="1" dirty="0" err="1">
                <a:solidFill>
                  <a:srgbClr val="FF0000"/>
                </a:solidFill>
                <a:latin typeface="Cambria" panose="02040503050406030204" pitchFamily="18" charset="0"/>
                <a:ea typeface="Cambria" panose="02040503050406030204" pitchFamily="18" charset="0"/>
              </a:rPr>
              <a:t>pd.read_csv</a:t>
            </a:r>
            <a:r>
              <a:rPr lang="en-US" sz="2500" b="1" dirty="0">
                <a:solidFill>
                  <a:srgbClr val="FF0000"/>
                </a:solidFill>
                <a:latin typeface="Cambria" panose="02040503050406030204" pitchFamily="18" charset="0"/>
                <a:ea typeface="Cambria" panose="02040503050406030204" pitchFamily="18" charset="0"/>
              </a:rPr>
              <a:t>("work_data.csv") </a:t>
            </a:r>
          </a:p>
          <a:p>
            <a:r>
              <a:rPr lang="en-US" sz="2500" dirty="0" err="1">
                <a:latin typeface="Cambria" panose="02040503050406030204" pitchFamily="18" charset="0"/>
                <a:ea typeface="Cambria" panose="02040503050406030204" pitchFamily="18" charset="0"/>
              </a:rPr>
              <a:t>Xem</a:t>
            </a:r>
            <a:r>
              <a:rPr lang="en-US" sz="2500" dirty="0">
                <a:latin typeface="Cambria" panose="02040503050406030204" pitchFamily="18" charset="0"/>
                <a:ea typeface="Cambria" panose="02040503050406030204" pitchFamily="18" charset="0"/>
              </a:rPr>
              <a:t> 6 </a:t>
            </a:r>
            <a:r>
              <a:rPr lang="en-US" sz="2500" dirty="0" err="1">
                <a:latin typeface="Cambria" panose="02040503050406030204" pitchFamily="18" charset="0"/>
                <a:ea typeface="Cambria" panose="02040503050406030204" pitchFamily="18" charset="0"/>
              </a:rPr>
              <a:t>dòng</a:t>
            </a:r>
            <a:r>
              <a:rPr lang="en-US" sz="2500" dirty="0">
                <a:latin typeface="Cambria" panose="02040503050406030204" pitchFamily="18" charset="0"/>
                <a:ea typeface="Cambria" panose="02040503050406030204" pitchFamily="18" charset="0"/>
              </a:rPr>
              <a:t> </a:t>
            </a:r>
            <a:r>
              <a:rPr lang="en-US" sz="2500" dirty="0" err="1">
                <a:latin typeface="Cambria" panose="02040503050406030204" pitchFamily="18" charset="0"/>
                <a:ea typeface="Cambria" panose="02040503050406030204" pitchFamily="18" charset="0"/>
              </a:rPr>
              <a:t>đầu</a:t>
            </a:r>
            <a:r>
              <a:rPr lang="en-US" sz="2500" dirty="0">
                <a:latin typeface="Cambria" panose="02040503050406030204" pitchFamily="18" charset="0"/>
                <a:ea typeface="Cambria" panose="02040503050406030204" pitchFamily="18" charset="0"/>
              </a:rPr>
              <a:t> </a:t>
            </a:r>
            <a:r>
              <a:rPr lang="en-US" sz="2500" dirty="0" err="1">
                <a:latin typeface="Cambria" panose="02040503050406030204" pitchFamily="18" charset="0"/>
                <a:ea typeface="Cambria" panose="02040503050406030204" pitchFamily="18" charset="0"/>
              </a:rPr>
              <a:t>tiên</a:t>
            </a:r>
            <a:r>
              <a:rPr lang="en-US" sz="2500" dirty="0">
                <a:latin typeface="Cambria" panose="02040503050406030204" pitchFamily="18" charset="0"/>
                <a:ea typeface="Cambria" panose="02040503050406030204" pitchFamily="18" charset="0"/>
              </a:rPr>
              <a:t> </a:t>
            </a:r>
            <a:r>
              <a:rPr lang="en-US" sz="2500" dirty="0" err="1">
                <a:latin typeface="Cambria" panose="02040503050406030204" pitchFamily="18" charset="0"/>
                <a:ea typeface="Cambria" panose="02040503050406030204" pitchFamily="18" charset="0"/>
              </a:rPr>
              <a:t>của</a:t>
            </a:r>
            <a:r>
              <a:rPr lang="en-US" sz="2500" dirty="0">
                <a:latin typeface="Cambria" panose="02040503050406030204" pitchFamily="18" charset="0"/>
                <a:ea typeface="Cambria" panose="02040503050406030204" pitchFamily="18" charset="0"/>
              </a:rPr>
              <a:t> </a:t>
            </a:r>
            <a:r>
              <a:rPr lang="en-US" sz="2500" dirty="0" err="1">
                <a:latin typeface="Cambria" panose="02040503050406030204" pitchFamily="18" charset="0"/>
                <a:ea typeface="Cambria" panose="02040503050406030204" pitchFamily="18" charset="0"/>
              </a:rPr>
              <a:t>bảng</a:t>
            </a:r>
            <a:r>
              <a:rPr lang="en-US" sz="2500" dirty="0">
                <a:latin typeface="Cambria" panose="02040503050406030204" pitchFamily="18" charset="0"/>
                <a:ea typeface="Cambria" panose="02040503050406030204" pitchFamily="18" charset="0"/>
              </a:rPr>
              <a:t> </a:t>
            </a:r>
            <a:r>
              <a:rPr lang="en-US" sz="2500" dirty="0" err="1">
                <a:latin typeface="Cambria" panose="02040503050406030204" pitchFamily="18" charset="0"/>
                <a:ea typeface="Cambria" panose="02040503050406030204" pitchFamily="18" charset="0"/>
              </a:rPr>
              <a:t>dữ</a:t>
            </a:r>
            <a:r>
              <a:rPr lang="en-US" sz="2500" dirty="0">
                <a:latin typeface="Cambria" panose="02040503050406030204" pitchFamily="18" charset="0"/>
                <a:ea typeface="Cambria" panose="02040503050406030204" pitchFamily="18" charset="0"/>
              </a:rPr>
              <a:t> </a:t>
            </a:r>
            <a:r>
              <a:rPr lang="en-US" sz="2500" dirty="0" err="1">
                <a:latin typeface="Cambria" panose="02040503050406030204" pitchFamily="18" charset="0"/>
                <a:ea typeface="Cambria" panose="02040503050406030204" pitchFamily="18" charset="0"/>
              </a:rPr>
              <a:t>liệu</a:t>
            </a:r>
            <a:r>
              <a:rPr lang="en-US" sz="2500" dirty="0">
                <a:latin typeface="Cambria" panose="02040503050406030204" pitchFamily="18" charset="0"/>
                <a:ea typeface="Cambria" panose="02040503050406030204" pitchFamily="18" charset="0"/>
              </a:rPr>
              <a:t>: </a:t>
            </a:r>
            <a:r>
              <a:rPr lang="en-US" sz="2500" b="1" dirty="0" err="1">
                <a:solidFill>
                  <a:srgbClr val="FF0000"/>
                </a:solidFill>
                <a:latin typeface="Cambria" panose="02040503050406030204" pitchFamily="18" charset="0"/>
                <a:ea typeface="Cambria" panose="02040503050406030204" pitchFamily="18" charset="0"/>
              </a:rPr>
              <a:t>dataset.head</a:t>
            </a:r>
            <a:r>
              <a:rPr lang="en-US" sz="2500" b="1" dirty="0">
                <a:solidFill>
                  <a:srgbClr val="FF0000"/>
                </a:solidFill>
                <a:latin typeface="Cambria" panose="02040503050406030204" pitchFamily="18" charset="0"/>
                <a:ea typeface="Cambria" panose="02040503050406030204" pitchFamily="18" charset="0"/>
              </a:rPr>
              <a:t>(6)</a:t>
            </a:r>
          </a:p>
        </p:txBody>
      </p:sp>
      <p:pic>
        <p:nvPicPr>
          <p:cNvPr id="3" name="Picture 2"/>
          <p:cNvPicPr>
            <a:picLocks noChangeAspect="1"/>
          </p:cNvPicPr>
          <p:nvPr/>
        </p:nvPicPr>
        <p:blipFill>
          <a:blip r:embed="rId2"/>
          <a:stretch>
            <a:fillRect/>
          </a:stretch>
        </p:blipFill>
        <p:spPr>
          <a:xfrm>
            <a:off x="1630497" y="2061743"/>
            <a:ext cx="9279907" cy="4121785"/>
          </a:xfrm>
          <a:prstGeom prst="rect">
            <a:avLst/>
          </a:prstGeom>
        </p:spPr>
      </p:pic>
    </p:spTree>
    <p:extLst>
      <p:ext uri="{BB962C8B-B14F-4D97-AF65-F5344CB8AC3E}">
        <p14:creationId xmlns:p14="http://schemas.microsoft.com/office/powerpoint/2010/main" val="145176456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ĐỀ MÔ ỨNG DỤNG 1</a:t>
            </a:r>
          </a:p>
        </p:txBody>
      </p:sp>
      <p:sp>
        <p:nvSpPr>
          <p:cNvPr id="2" name="TextBox 1"/>
          <p:cNvSpPr txBox="1"/>
          <p:nvPr/>
        </p:nvSpPr>
        <p:spPr>
          <a:xfrm>
            <a:off x="220337" y="815248"/>
            <a:ext cx="5188945" cy="4131900"/>
          </a:xfrm>
          <a:prstGeom prst="rect">
            <a:avLst/>
          </a:prstGeom>
          <a:noFill/>
        </p:spPr>
        <p:txBody>
          <a:bodyPr wrap="square" rtlCol="0">
            <a:spAutoFit/>
          </a:bodyPr>
          <a:lstStyle/>
          <a:p>
            <a:pPr>
              <a:lnSpc>
                <a:spcPct val="150000"/>
              </a:lnSpc>
            </a:pPr>
            <a:r>
              <a:rPr lang="vi-VN" sz="2500" dirty="0">
                <a:latin typeface="Cambria" panose="02040503050406030204" pitchFamily="18" charset="0"/>
                <a:ea typeface="Cambria" panose="02040503050406030204" pitchFamily="18" charset="0"/>
              </a:rPr>
              <a:t># số lượng quan sát</a:t>
            </a:r>
          </a:p>
          <a:p>
            <a:pPr>
              <a:lnSpc>
                <a:spcPct val="150000"/>
              </a:lnSpc>
            </a:pPr>
            <a:r>
              <a:rPr lang="vi-VN" sz="2500" b="1" dirty="0">
                <a:solidFill>
                  <a:srgbClr val="FF0000"/>
                </a:solidFill>
                <a:latin typeface="Cambria" panose="02040503050406030204" pitchFamily="18" charset="0"/>
                <a:ea typeface="Cambria" panose="02040503050406030204" pitchFamily="18" charset="0"/>
              </a:rPr>
              <a:t>dataset.shape[1] </a:t>
            </a:r>
            <a:endParaRPr lang="en-US" sz="2500" b="1" dirty="0">
              <a:solidFill>
                <a:srgbClr val="FF0000"/>
              </a:solidFill>
              <a:latin typeface="Cambria" panose="02040503050406030204" pitchFamily="18" charset="0"/>
              <a:ea typeface="Cambria" panose="02040503050406030204" pitchFamily="18" charset="0"/>
            </a:endParaRPr>
          </a:p>
          <a:p>
            <a:pPr>
              <a:lnSpc>
                <a:spcPct val="150000"/>
              </a:lnSpc>
            </a:pPr>
            <a:r>
              <a:rPr lang="vi-VN" sz="2500" dirty="0">
                <a:latin typeface="Cambria" panose="02040503050406030204" pitchFamily="18" charset="0"/>
                <a:ea typeface="Cambria" panose="02040503050406030204" pitchFamily="18" charset="0"/>
              </a:rPr>
              <a:t># trả về một DataFrame mới với số hàng được hiển thị ra các thông số:giá trị TB, độ lệch chuẩn, min, max và tỷ lệ phần trăm của các cột</a:t>
            </a:r>
          </a:p>
          <a:p>
            <a:pPr>
              <a:lnSpc>
                <a:spcPct val="150000"/>
              </a:lnSpc>
            </a:pPr>
            <a:r>
              <a:rPr lang="vi-VN" sz="2500" b="1" dirty="0">
                <a:solidFill>
                  <a:srgbClr val="FF0000"/>
                </a:solidFill>
                <a:latin typeface="Cambria" panose="02040503050406030204" pitchFamily="18" charset="0"/>
                <a:ea typeface="Cambria" panose="02040503050406030204" pitchFamily="18" charset="0"/>
              </a:rPr>
              <a:t>dataset.describe() </a:t>
            </a:r>
            <a:endParaRPr lang="en-US" sz="2500" b="1" dirty="0">
              <a:solidFill>
                <a:srgbClr val="FF0000"/>
              </a:solidFill>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2"/>
          <a:stretch>
            <a:fillRect/>
          </a:stretch>
        </p:blipFill>
        <p:spPr>
          <a:xfrm>
            <a:off x="5167125" y="815248"/>
            <a:ext cx="6658492" cy="4351663"/>
          </a:xfrm>
          <a:prstGeom prst="rect">
            <a:avLst/>
          </a:prstGeom>
        </p:spPr>
      </p:pic>
    </p:spTree>
    <p:extLst>
      <p:ext uri="{BB962C8B-B14F-4D97-AF65-F5344CB8AC3E}">
        <p14:creationId xmlns:p14="http://schemas.microsoft.com/office/powerpoint/2010/main" val="11797375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ĐỀ MÔ ỨNG DỤNG 1</a:t>
            </a:r>
          </a:p>
        </p:txBody>
      </p:sp>
      <p:sp>
        <p:nvSpPr>
          <p:cNvPr id="5" name="TextBox 4"/>
          <p:cNvSpPr txBox="1"/>
          <p:nvPr/>
        </p:nvSpPr>
        <p:spPr>
          <a:xfrm>
            <a:off x="231354" y="826265"/>
            <a:ext cx="11688897" cy="477054"/>
          </a:xfrm>
          <a:prstGeom prst="rect">
            <a:avLst/>
          </a:prstGeom>
          <a:noFill/>
        </p:spPr>
        <p:txBody>
          <a:bodyPr wrap="square" rtlCol="0">
            <a:spAutoFit/>
          </a:bodyPr>
          <a:lstStyle/>
          <a:p>
            <a:r>
              <a:rPr lang="en-US" sz="2500" b="1" dirty="0" err="1">
                <a:latin typeface="Cambria" panose="02040503050406030204" pitchFamily="18" charset="0"/>
                <a:ea typeface="Cambria" panose="02040503050406030204" pitchFamily="18" charset="0"/>
              </a:rPr>
              <a:t>Xem</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kết</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cấu</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bộ</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dữ</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liệu</a:t>
            </a:r>
            <a:endParaRPr lang="en-US" sz="2500" b="1" dirty="0">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2"/>
          <a:stretch>
            <a:fillRect/>
          </a:stretch>
        </p:blipFill>
        <p:spPr>
          <a:xfrm>
            <a:off x="535803" y="1473602"/>
            <a:ext cx="9937654" cy="4739911"/>
          </a:xfrm>
          <a:prstGeom prst="rect">
            <a:avLst/>
          </a:prstGeom>
        </p:spPr>
      </p:pic>
    </p:spTree>
    <p:extLst>
      <p:ext uri="{BB962C8B-B14F-4D97-AF65-F5344CB8AC3E}">
        <p14:creationId xmlns:p14="http://schemas.microsoft.com/office/powerpoint/2010/main" val="30791611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ĐỀ MÔ ỨNG DỤNG 1</a:t>
            </a:r>
          </a:p>
        </p:txBody>
      </p:sp>
      <p:sp>
        <p:nvSpPr>
          <p:cNvPr id="5" name="TextBox 4"/>
          <p:cNvSpPr txBox="1"/>
          <p:nvPr/>
        </p:nvSpPr>
        <p:spPr>
          <a:xfrm>
            <a:off x="231354" y="826265"/>
            <a:ext cx="11688897" cy="477054"/>
          </a:xfrm>
          <a:prstGeom prst="rect">
            <a:avLst/>
          </a:prstGeom>
          <a:noFill/>
        </p:spPr>
        <p:txBody>
          <a:bodyPr wrap="square" rtlCol="0">
            <a:spAutoFit/>
          </a:bodyPr>
          <a:lstStyle/>
          <a:p>
            <a:r>
              <a:rPr lang="en-US" sz="2500" b="1" dirty="0" err="1">
                <a:latin typeface="Cambria" panose="02040503050406030204" pitchFamily="18" charset="0"/>
                <a:ea typeface="Cambria" panose="02040503050406030204" pitchFamily="18" charset="0"/>
              </a:rPr>
              <a:t>Vẽ</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biểu</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đồ</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theo</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số</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năm</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kinh</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nghiệm</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và</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lương</a:t>
            </a:r>
            <a:endParaRPr lang="en-US" sz="2500" b="1" dirty="0">
              <a:latin typeface="Cambria" panose="02040503050406030204" pitchFamily="18" charset="0"/>
              <a:ea typeface="Cambria" panose="02040503050406030204" pitchFamily="18" charset="0"/>
            </a:endParaRPr>
          </a:p>
        </p:txBody>
      </p:sp>
      <p:pic>
        <p:nvPicPr>
          <p:cNvPr id="10" name="Picture 9"/>
          <p:cNvPicPr>
            <a:picLocks noChangeAspect="1"/>
          </p:cNvPicPr>
          <p:nvPr/>
        </p:nvPicPr>
        <p:blipFill>
          <a:blip r:embed="rId2"/>
          <a:stretch>
            <a:fillRect/>
          </a:stretch>
        </p:blipFill>
        <p:spPr>
          <a:xfrm>
            <a:off x="231354" y="1314119"/>
            <a:ext cx="7834979" cy="1880773"/>
          </a:xfrm>
          <a:prstGeom prst="rect">
            <a:avLst/>
          </a:prstGeom>
        </p:spPr>
      </p:pic>
      <p:pic>
        <p:nvPicPr>
          <p:cNvPr id="11" name="Picture 10"/>
          <p:cNvPicPr>
            <a:picLocks noChangeAspect="1"/>
          </p:cNvPicPr>
          <p:nvPr/>
        </p:nvPicPr>
        <p:blipFill>
          <a:blip r:embed="rId3"/>
          <a:stretch>
            <a:fillRect/>
          </a:stretch>
        </p:blipFill>
        <p:spPr>
          <a:xfrm>
            <a:off x="5230047" y="2172214"/>
            <a:ext cx="5386999" cy="3997232"/>
          </a:xfrm>
          <a:prstGeom prst="rect">
            <a:avLst/>
          </a:prstGeom>
        </p:spPr>
      </p:pic>
    </p:spTree>
    <p:extLst>
      <p:ext uri="{BB962C8B-B14F-4D97-AF65-F5344CB8AC3E}">
        <p14:creationId xmlns:p14="http://schemas.microsoft.com/office/powerpoint/2010/main" val="187674315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ĐỀ MÔ ỨNG DỤNG 1</a:t>
            </a:r>
          </a:p>
        </p:txBody>
      </p:sp>
      <p:sp>
        <p:nvSpPr>
          <p:cNvPr id="5" name="TextBox 4"/>
          <p:cNvSpPr txBox="1"/>
          <p:nvPr/>
        </p:nvSpPr>
        <p:spPr>
          <a:xfrm>
            <a:off x="231354" y="826265"/>
            <a:ext cx="11688897" cy="477054"/>
          </a:xfrm>
          <a:prstGeom prst="rect">
            <a:avLst/>
          </a:prstGeom>
          <a:noFill/>
        </p:spPr>
        <p:txBody>
          <a:bodyPr wrap="square" rtlCol="0">
            <a:spAutoFit/>
          </a:bodyPr>
          <a:lstStyle/>
          <a:p>
            <a:r>
              <a:rPr lang="en-US" sz="2500" b="1" dirty="0" err="1">
                <a:latin typeface="Cambria" panose="02040503050406030204" pitchFamily="18" charset="0"/>
                <a:ea typeface="Cambria" panose="02040503050406030204" pitchFamily="18" charset="0"/>
              </a:rPr>
              <a:t>Vẽ</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biểu</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đồ</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theo</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lương</a:t>
            </a:r>
            <a:endParaRPr lang="en-US" sz="2500" b="1" dirty="0">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2"/>
          <a:stretch>
            <a:fillRect/>
          </a:stretch>
        </p:blipFill>
        <p:spPr>
          <a:xfrm>
            <a:off x="2629153" y="1473602"/>
            <a:ext cx="5754682" cy="4807708"/>
          </a:xfrm>
          <a:prstGeom prst="rect">
            <a:avLst/>
          </a:prstGeom>
        </p:spPr>
      </p:pic>
    </p:spTree>
    <p:extLst>
      <p:ext uri="{BB962C8B-B14F-4D97-AF65-F5344CB8AC3E}">
        <p14:creationId xmlns:p14="http://schemas.microsoft.com/office/powerpoint/2010/main" val="179841993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ĐỀ MÔ ỨNG DỤNG 1</a:t>
            </a:r>
          </a:p>
        </p:txBody>
      </p:sp>
      <p:sp>
        <p:nvSpPr>
          <p:cNvPr id="10" name="TextBox 9"/>
          <p:cNvSpPr txBox="1"/>
          <p:nvPr/>
        </p:nvSpPr>
        <p:spPr>
          <a:xfrm>
            <a:off x="231354" y="826265"/>
            <a:ext cx="11688897" cy="477054"/>
          </a:xfrm>
          <a:prstGeom prst="rect">
            <a:avLst/>
          </a:prstGeom>
          <a:noFill/>
        </p:spPr>
        <p:txBody>
          <a:bodyPr wrap="square" rtlCol="0">
            <a:spAutoFit/>
          </a:bodyPr>
          <a:lstStyle/>
          <a:p>
            <a:r>
              <a:rPr lang="en-US" sz="2500" b="1" dirty="0" err="1">
                <a:latin typeface="Cambria" panose="02040503050406030204" pitchFamily="18" charset="0"/>
                <a:ea typeface="Cambria" panose="02040503050406030204" pitchFamily="18" charset="0"/>
              </a:rPr>
              <a:t>Tính</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trung</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bình</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lương</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theo</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ngành</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nghề</a:t>
            </a:r>
            <a:endParaRPr lang="en-US" sz="2500" b="1" dirty="0">
              <a:latin typeface="Cambria" panose="02040503050406030204" pitchFamily="18" charset="0"/>
              <a:ea typeface="Cambria" panose="02040503050406030204" pitchFamily="18" charset="0"/>
            </a:endParaRPr>
          </a:p>
        </p:txBody>
      </p:sp>
      <p:pic>
        <p:nvPicPr>
          <p:cNvPr id="2" name="Picture 1"/>
          <p:cNvPicPr>
            <a:picLocks noChangeAspect="1"/>
          </p:cNvPicPr>
          <p:nvPr/>
        </p:nvPicPr>
        <p:blipFill>
          <a:blip r:embed="rId2"/>
          <a:stretch>
            <a:fillRect/>
          </a:stretch>
        </p:blipFill>
        <p:spPr>
          <a:xfrm>
            <a:off x="231354" y="1473602"/>
            <a:ext cx="10410940" cy="3285231"/>
          </a:xfrm>
          <a:prstGeom prst="rect">
            <a:avLst/>
          </a:prstGeom>
        </p:spPr>
      </p:pic>
    </p:spTree>
    <p:extLst>
      <p:ext uri="{BB962C8B-B14F-4D97-AF65-F5344CB8AC3E}">
        <p14:creationId xmlns:p14="http://schemas.microsoft.com/office/powerpoint/2010/main" val="186159595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ĐỀ MÔ ỨNG DỤNG 1</a:t>
            </a:r>
          </a:p>
        </p:txBody>
      </p:sp>
      <p:sp>
        <p:nvSpPr>
          <p:cNvPr id="10" name="TextBox 9"/>
          <p:cNvSpPr txBox="1"/>
          <p:nvPr/>
        </p:nvSpPr>
        <p:spPr>
          <a:xfrm>
            <a:off x="231354" y="826265"/>
            <a:ext cx="11688897" cy="477054"/>
          </a:xfrm>
          <a:prstGeom prst="rect">
            <a:avLst/>
          </a:prstGeom>
          <a:noFill/>
        </p:spPr>
        <p:txBody>
          <a:bodyPr wrap="square" rtlCol="0">
            <a:spAutoFit/>
          </a:bodyPr>
          <a:lstStyle/>
          <a:p>
            <a:r>
              <a:rPr lang="en-US" sz="2500" b="1" dirty="0" err="1">
                <a:latin typeface="Cambria" panose="02040503050406030204" pitchFamily="18" charset="0"/>
                <a:ea typeface="Cambria" panose="02040503050406030204" pitchFamily="18" charset="0"/>
              </a:rPr>
              <a:t>Vẽ</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đồ</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thị</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phân</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bổ</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lương</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nhân</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viên</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kế</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toán</a:t>
            </a:r>
            <a:endParaRPr lang="en-US" sz="2500" b="1" dirty="0">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2"/>
          <a:stretch>
            <a:fillRect/>
          </a:stretch>
        </p:blipFill>
        <p:spPr>
          <a:xfrm>
            <a:off x="231354" y="1303318"/>
            <a:ext cx="7914448" cy="1439881"/>
          </a:xfrm>
          <a:prstGeom prst="rect">
            <a:avLst/>
          </a:prstGeom>
        </p:spPr>
      </p:pic>
      <p:pic>
        <p:nvPicPr>
          <p:cNvPr id="11" name="Picture 10"/>
          <p:cNvPicPr>
            <a:picLocks noChangeAspect="1"/>
          </p:cNvPicPr>
          <p:nvPr/>
        </p:nvPicPr>
        <p:blipFill>
          <a:blip r:embed="rId3"/>
          <a:stretch>
            <a:fillRect/>
          </a:stretch>
        </p:blipFill>
        <p:spPr>
          <a:xfrm>
            <a:off x="5720719" y="1932130"/>
            <a:ext cx="6199532" cy="4314433"/>
          </a:xfrm>
          <a:prstGeom prst="rect">
            <a:avLst/>
          </a:prstGeom>
        </p:spPr>
      </p:pic>
    </p:spTree>
    <p:extLst>
      <p:ext uri="{BB962C8B-B14F-4D97-AF65-F5344CB8AC3E}">
        <p14:creationId xmlns:p14="http://schemas.microsoft.com/office/powerpoint/2010/main" val="35054935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ĐỀ MÔ ỨNG DỤNG 2</a:t>
            </a:r>
          </a:p>
        </p:txBody>
      </p:sp>
      <p:sp>
        <p:nvSpPr>
          <p:cNvPr id="11" name="Content Placeholder 2">
            <a:extLst>
              <a:ext uri="{FF2B5EF4-FFF2-40B4-BE49-F238E27FC236}">
                <a16:creationId xmlns:a16="http://schemas.microsoft.com/office/drawing/2014/main" id="{D84E1B89-45F1-4C39-88F0-3A380DA733A9}"/>
              </a:ext>
            </a:extLst>
          </p:cNvPr>
          <p:cNvSpPr>
            <a:spLocks noGrp="1"/>
          </p:cNvSpPr>
          <p:nvPr>
            <p:ph idx="1"/>
          </p:nvPr>
        </p:nvSpPr>
        <p:spPr>
          <a:xfrm>
            <a:off x="79513" y="846771"/>
            <a:ext cx="11994974" cy="5337573"/>
          </a:xfrm>
        </p:spPr>
        <p:txBody>
          <a:bodyPr>
            <a:noAutofit/>
          </a:bodyPr>
          <a:lstStyle/>
          <a:p>
            <a:pPr marL="115888" lvl="1" indent="0" algn="just">
              <a:lnSpc>
                <a:spcPct val="150000"/>
              </a:lnSpc>
              <a:spcBef>
                <a:spcPts val="580"/>
              </a:spcBef>
              <a:buClr>
                <a:srgbClr val="FF5A33"/>
              </a:buClr>
              <a:buNone/>
            </a:pPr>
            <a:r>
              <a:rPr lang="en-US" sz="2500" spc="-55" dirty="0">
                <a:latin typeface="Cambria" panose="02040503050406030204" pitchFamily="18" charset="0"/>
                <a:ea typeface="Cambria" panose="02040503050406030204" pitchFamily="18" charset="0"/>
                <a:cs typeface="Segoe UI"/>
              </a:rPr>
              <a:t>	</a:t>
            </a:r>
            <a:r>
              <a:rPr lang="vi-VN" sz="2500" b="0" spc="-55" dirty="0">
                <a:latin typeface="Cambria" panose="02040503050406030204" pitchFamily="18" charset="0"/>
                <a:ea typeface="Cambria" panose="02040503050406030204" pitchFamily="18" charset="0"/>
                <a:cs typeface="Segoe UI"/>
              </a:rPr>
              <a:t>Xây dựng model dự đoán tiền lương theo số năm kinh nghiệm</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theo</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dữ</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liệu</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đã</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phân</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tích</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trong</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ứng</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dụng</a:t>
            </a:r>
            <a:r>
              <a:rPr lang="en-US" sz="2500" b="0" spc="-55" dirty="0">
                <a:latin typeface="Cambria" panose="02040503050406030204" pitchFamily="18" charset="0"/>
                <a:ea typeface="Cambria" panose="02040503050406030204" pitchFamily="18" charset="0"/>
                <a:cs typeface="Segoe UI"/>
              </a:rPr>
              <a:t> 1</a:t>
            </a:r>
          </a:p>
          <a:p>
            <a:pPr marL="115888" lvl="1" indent="0" algn="just">
              <a:lnSpc>
                <a:spcPct val="150000"/>
              </a:lnSpc>
              <a:spcBef>
                <a:spcPts val="580"/>
              </a:spcBef>
              <a:buClr>
                <a:srgbClr val="FF5A33"/>
              </a:buClr>
              <a:buNone/>
            </a:pPr>
            <a:r>
              <a:rPr lang="en-US" sz="2500" b="1" spc="-55" dirty="0" err="1">
                <a:latin typeface="Cambria" panose="02040503050406030204" pitchFamily="18" charset="0"/>
                <a:ea typeface="Cambria" panose="02040503050406030204" pitchFamily="18" charset="0"/>
                <a:cs typeface="Segoe UI"/>
              </a:rPr>
              <a:t>Các</a:t>
            </a:r>
            <a:r>
              <a:rPr lang="en-US" sz="2500" b="1" spc="-55" dirty="0">
                <a:latin typeface="Cambria" panose="02040503050406030204" pitchFamily="18" charset="0"/>
                <a:ea typeface="Cambria" panose="02040503050406030204" pitchFamily="18" charset="0"/>
                <a:cs typeface="Segoe UI"/>
              </a:rPr>
              <a:t> </a:t>
            </a:r>
            <a:r>
              <a:rPr lang="en-US" sz="2500" b="1" spc="-55" dirty="0" err="1">
                <a:latin typeface="Cambria" panose="02040503050406030204" pitchFamily="18" charset="0"/>
                <a:ea typeface="Cambria" panose="02040503050406030204" pitchFamily="18" charset="0"/>
                <a:cs typeface="Segoe UI"/>
              </a:rPr>
              <a:t>bước</a:t>
            </a:r>
            <a:r>
              <a:rPr lang="en-US" sz="2500" b="1" spc="-55" dirty="0">
                <a:latin typeface="Cambria" panose="02040503050406030204" pitchFamily="18" charset="0"/>
                <a:ea typeface="Cambria" panose="02040503050406030204" pitchFamily="18" charset="0"/>
                <a:cs typeface="Segoe UI"/>
              </a:rPr>
              <a:t> </a:t>
            </a:r>
            <a:r>
              <a:rPr lang="en-US" sz="2500" b="1" spc="-55" dirty="0" err="1">
                <a:latin typeface="Cambria" panose="02040503050406030204" pitchFamily="18" charset="0"/>
                <a:ea typeface="Cambria" panose="02040503050406030204" pitchFamily="18" charset="0"/>
                <a:cs typeface="Segoe UI"/>
              </a:rPr>
              <a:t>thực</a:t>
            </a:r>
            <a:r>
              <a:rPr lang="en-US" sz="2500" b="1" spc="-55" dirty="0">
                <a:latin typeface="Cambria" panose="02040503050406030204" pitchFamily="18" charset="0"/>
                <a:ea typeface="Cambria" panose="02040503050406030204" pitchFamily="18" charset="0"/>
                <a:cs typeface="Segoe UI"/>
              </a:rPr>
              <a:t> </a:t>
            </a:r>
            <a:r>
              <a:rPr lang="en-US" sz="2500" b="1" spc="-55" dirty="0" err="1">
                <a:latin typeface="Cambria" panose="02040503050406030204" pitchFamily="18" charset="0"/>
                <a:ea typeface="Cambria" panose="02040503050406030204" pitchFamily="18" charset="0"/>
                <a:cs typeface="Segoe UI"/>
              </a:rPr>
              <a:t>hiện</a:t>
            </a:r>
            <a:r>
              <a:rPr lang="en-US" sz="2500" b="1" spc="-55" dirty="0">
                <a:latin typeface="Cambria" panose="02040503050406030204" pitchFamily="18" charset="0"/>
                <a:ea typeface="Cambria" panose="02040503050406030204" pitchFamily="18" charset="0"/>
                <a:cs typeface="Segoe UI"/>
              </a:rPr>
              <a:t>:</a:t>
            </a:r>
          </a:p>
          <a:p>
            <a:pPr marL="801688" lvl="2" indent="-342900" algn="just">
              <a:lnSpc>
                <a:spcPct val="150000"/>
              </a:lnSpc>
              <a:spcBef>
                <a:spcPts val="580"/>
              </a:spcBef>
              <a:buClr>
                <a:srgbClr val="FF5A33"/>
              </a:buClr>
              <a:buFont typeface="Wingdings" panose="05000000000000000000" pitchFamily="2" charset="2"/>
              <a:buChar char="§"/>
            </a:pPr>
            <a:r>
              <a:rPr lang="en-US" sz="2500" b="0" spc="-55" dirty="0" err="1">
                <a:latin typeface="Cambria" panose="02040503050406030204" pitchFamily="18" charset="0"/>
                <a:ea typeface="Cambria" panose="02040503050406030204" pitchFamily="18" charset="0"/>
                <a:cs typeface="Segoe UI"/>
              </a:rPr>
              <a:t>Huấn</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luyện</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mô</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hình</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sử</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dụng</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mô</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hình</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hồi</a:t>
            </a:r>
            <a:r>
              <a:rPr lang="en-US" sz="2500" b="0" spc="-55" dirty="0">
                <a:latin typeface="Cambria" panose="02040503050406030204" pitchFamily="18" charset="0"/>
                <a:ea typeface="Cambria" panose="02040503050406030204" pitchFamily="18" charset="0"/>
                <a:cs typeface="Segoe UI"/>
              </a:rPr>
              <a:t> qui </a:t>
            </a:r>
            <a:r>
              <a:rPr lang="en-US" sz="2500" b="0" spc="-55" dirty="0" err="1">
                <a:latin typeface="Cambria" panose="02040503050406030204" pitchFamily="18" charset="0"/>
                <a:ea typeface="Cambria" panose="02040503050406030204" pitchFamily="18" charset="0"/>
                <a:cs typeface="Segoe UI"/>
              </a:rPr>
              <a:t>tuyến</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tính</a:t>
            </a:r>
            <a:endParaRPr lang="en-US" sz="2500" b="0" spc="-55" dirty="0">
              <a:latin typeface="Cambria" panose="02040503050406030204" pitchFamily="18" charset="0"/>
              <a:ea typeface="Cambria" panose="02040503050406030204" pitchFamily="18" charset="0"/>
              <a:cs typeface="Segoe UI"/>
            </a:endParaRPr>
          </a:p>
          <a:p>
            <a:pPr marL="801688" lvl="2" indent="-342900" algn="just">
              <a:lnSpc>
                <a:spcPct val="150000"/>
              </a:lnSpc>
              <a:spcBef>
                <a:spcPts val="580"/>
              </a:spcBef>
              <a:buClr>
                <a:srgbClr val="FF5A33"/>
              </a:buClr>
              <a:buFont typeface="Wingdings" panose="05000000000000000000" pitchFamily="2" charset="2"/>
              <a:buChar char="§"/>
            </a:pPr>
            <a:r>
              <a:rPr lang="en-US" sz="2500" b="0" spc="-55" dirty="0" err="1">
                <a:latin typeface="Cambria" panose="02040503050406030204" pitchFamily="18" charset="0"/>
                <a:ea typeface="Cambria" panose="02040503050406030204" pitchFamily="18" charset="0"/>
                <a:cs typeface="Segoe UI"/>
              </a:rPr>
              <a:t>Đánh</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giá</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tính</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chính</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xác</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của</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mô</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hình</a:t>
            </a:r>
            <a:endParaRPr lang="en-US" sz="2500" b="0" spc="-55" dirty="0">
              <a:latin typeface="Cambria" panose="02040503050406030204" pitchFamily="18" charset="0"/>
              <a:ea typeface="Cambria" panose="02040503050406030204" pitchFamily="18" charset="0"/>
              <a:cs typeface="Segoe UI"/>
            </a:endParaRPr>
          </a:p>
          <a:p>
            <a:pPr marL="801688" lvl="2" indent="-342900" algn="just">
              <a:lnSpc>
                <a:spcPct val="150000"/>
              </a:lnSpc>
              <a:spcBef>
                <a:spcPts val="580"/>
              </a:spcBef>
              <a:buClr>
                <a:srgbClr val="FF5A33"/>
              </a:buClr>
              <a:buFont typeface="Wingdings" panose="05000000000000000000" pitchFamily="2" charset="2"/>
              <a:buChar char="§"/>
            </a:pPr>
            <a:r>
              <a:rPr lang="en-US" sz="2500" b="0" spc="-55" dirty="0" err="1">
                <a:latin typeface="Cambria" panose="02040503050406030204" pitchFamily="18" charset="0"/>
                <a:ea typeface="Cambria" panose="02040503050406030204" pitchFamily="18" charset="0"/>
                <a:cs typeface="Segoe UI"/>
              </a:rPr>
              <a:t>Lưu</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mô</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hình</a:t>
            </a:r>
            <a:endParaRPr lang="en-US" sz="2500" b="0" spc="-55" dirty="0">
              <a:latin typeface="Cambria" panose="02040503050406030204" pitchFamily="18" charset="0"/>
              <a:ea typeface="Cambria" panose="02040503050406030204" pitchFamily="18" charset="0"/>
              <a:cs typeface="Segoe UI"/>
            </a:endParaRPr>
          </a:p>
          <a:p>
            <a:pPr marL="801688" lvl="2" indent="-342900" algn="just">
              <a:lnSpc>
                <a:spcPct val="150000"/>
              </a:lnSpc>
              <a:spcBef>
                <a:spcPts val="580"/>
              </a:spcBef>
              <a:buClr>
                <a:srgbClr val="FF5A33"/>
              </a:buClr>
              <a:buFont typeface="Wingdings" panose="05000000000000000000" pitchFamily="2" charset="2"/>
              <a:buChar char="§"/>
            </a:pPr>
            <a:r>
              <a:rPr lang="en-US" sz="2500" b="0" spc="-55" dirty="0" err="1">
                <a:latin typeface="Cambria" panose="02040503050406030204" pitchFamily="18" charset="0"/>
                <a:ea typeface="Cambria" panose="02040503050406030204" pitchFamily="18" charset="0"/>
                <a:cs typeface="Segoe UI"/>
              </a:rPr>
              <a:t>Sử</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dụng</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mô</a:t>
            </a:r>
            <a:r>
              <a:rPr lang="en-US" sz="2500" b="0" spc="-55" dirty="0">
                <a:latin typeface="Cambria" panose="02040503050406030204" pitchFamily="18" charset="0"/>
                <a:ea typeface="Cambria" panose="02040503050406030204" pitchFamily="18" charset="0"/>
                <a:cs typeface="Segoe UI"/>
              </a:rPr>
              <a:t> </a:t>
            </a:r>
            <a:r>
              <a:rPr lang="en-US" sz="2500" b="0" spc="-55" dirty="0" err="1">
                <a:latin typeface="Cambria" panose="02040503050406030204" pitchFamily="18" charset="0"/>
                <a:ea typeface="Cambria" panose="02040503050406030204" pitchFamily="18" charset="0"/>
                <a:cs typeface="Segoe UI"/>
              </a:rPr>
              <a:t>hình</a:t>
            </a:r>
            <a:endParaRPr lang="en-US" sz="2500" b="0" spc="-55" dirty="0">
              <a:latin typeface="Cambria" panose="02040503050406030204" pitchFamily="18" charset="0"/>
              <a:ea typeface="Cambria" panose="02040503050406030204" pitchFamily="18" charset="0"/>
              <a:cs typeface="Segoe UI"/>
            </a:endParaRPr>
          </a:p>
          <a:p>
            <a:pPr marL="344488" lvl="1" algn="just">
              <a:lnSpc>
                <a:spcPct val="150000"/>
              </a:lnSpc>
              <a:spcBef>
                <a:spcPts val="580"/>
              </a:spcBef>
              <a:buClr>
                <a:srgbClr val="FF5A33"/>
              </a:buClr>
              <a:buFont typeface="Wingdings"/>
              <a:buChar char=""/>
            </a:pPr>
            <a:endParaRPr lang="en-US" sz="2500" b="0" spc="-55" dirty="0">
              <a:latin typeface="Cambria" panose="02040503050406030204" pitchFamily="18" charset="0"/>
              <a:ea typeface="Cambria" panose="02040503050406030204" pitchFamily="18" charset="0"/>
              <a:cs typeface="Segoe UI"/>
            </a:endParaRPr>
          </a:p>
          <a:p>
            <a:pPr marL="58738" lvl="1" indent="0" algn="just">
              <a:lnSpc>
                <a:spcPct val="150000"/>
              </a:lnSpc>
              <a:spcBef>
                <a:spcPts val="580"/>
              </a:spcBef>
              <a:buClr>
                <a:srgbClr val="FF5A33"/>
              </a:buClr>
              <a:buNone/>
            </a:pPr>
            <a:endParaRPr lang="en-US" sz="2500" b="0" spc="-55" dirty="0">
              <a:latin typeface="Cambria" panose="02040503050406030204" pitchFamily="18" charset="0"/>
              <a:ea typeface="Cambria" panose="02040503050406030204" pitchFamily="18" charset="0"/>
              <a:cs typeface="Segoe UI"/>
            </a:endParaRPr>
          </a:p>
        </p:txBody>
      </p:sp>
    </p:spTree>
    <p:extLst>
      <p:ext uri="{BB962C8B-B14F-4D97-AF65-F5344CB8AC3E}">
        <p14:creationId xmlns:p14="http://schemas.microsoft.com/office/powerpoint/2010/main" val="7806021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ĐỀ MÔ ỨNG DỤNG 2</a:t>
            </a:r>
          </a:p>
        </p:txBody>
      </p:sp>
      <p:pic>
        <p:nvPicPr>
          <p:cNvPr id="10" name="Picture 9">
            <a:extLst>
              <a:ext uri="{FF2B5EF4-FFF2-40B4-BE49-F238E27FC236}">
                <a16:creationId xmlns:a16="http://schemas.microsoft.com/office/drawing/2014/main" id="{CAA3BB25-D2A1-1AD5-DC59-72520FCD146E}"/>
              </a:ext>
            </a:extLst>
          </p:cNvPr>
          <p:cNvPicPr>
            <a:picLocks noChangeAspect="1"/>
          </p:cNvPicPr>
          <p:nvPr/>
        </p:nvPicPr>
        <p:blipFill rotWithShape="1">
          <a:blip r:embed="rId2"/>
          <a:srcRect l="21667" t="11480" r="20000" b="32641"/>
          <a:stretch/>
        </p:blipFill>
        <p:spPr>
          <a:xfrm>
            <a:off x="117769" y="838200"/>
            <a:ext cx="8950031" cy="5257800"/>
          </a:xfrm>
          <a:prstGeom prst="rect">
            <a:avLst/>
          </a:prstGeom>
        </p:spPr>
      </p:pic>
    </p:spTree>
    <p:extLst>
      <p:ext uri="{BB962C8B-B14F-4D97-AF65-F5344CB8AC3E}">
        <p14:creationId xmlns:p14="http://schemas.microsoft.com/office/powerpoint/2010/main" val="140975019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ĐỀ MÔ ỨNG DỤNG 2</a:t>
            </a:r>
          </a:p>
        </p:txBody>
      </p:sp>
      <p:pic>
        <p:nvPicPr>
          <p:cNvPr id="6" name="Picture 5">
            <a:extLst>
              <a:ext uri="{FF2B5EF4-FFF2-40B4-BE49-F238E27FC236}">
                <a16:creationId xmlns:a16="http://schemas.microsoft.com/office/drawing/2014/main" id="{FDE19AA6-E91A-94C2-B4D7-9539B16CF6E4}"/>
              </a:ext>
            </a:extLst>
          </p:cNvPr>
          <p:cNvPicPr>
            <a:picLocks noChangeAspect="1"/>
          </p:cNvPicPr>
          <p:nvPr/>
        </p:nvPicPr>
        <p:blipFill rotWithShape="1">
          <a:blip r:embed="rId2"/>
          <a:srcRect l="21667" t="12963" r="25833" b="21852"/>
          <a:stretch/>
        </p:blipFill>
        <p:spPr>
          <a:xfrm>
            <a:off x="366173" y="660936"/>
            <a:ext cx="8181693" cy="5714198"/>
          </a:xfrm>
          <a:prstGeom prst="rect">
            <a:avLst/>
          </a:prstGeom>
        </p:spPr>
      </p:pic>
    </p:spTree>
    <p:extLst>
      <p:ext uri="{BB962C8B-B14F-4D97-AF65-F5344CB8AC3E}">
        <p14:creationId xmlns:p14="http://schemas.microsoft.com/office/powerpoint/2010/main" val="13058083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ĐỀ MÔ ỨNG DỤNG 2</a:t>
            </a:r>
          </a:p>
        </p:txBody>
      </p:sp>
      <p:pic>
        <p:nvPicPr>
          <p:cNvPr id="10" name="Picture 9">
            <a:extLst>
              <a:ext uri="{FF2B5EF4-FFF2-40B4-BE49-F238E27FC236}">
                <a16:creationId xmlns:a16="http://schemas.microsoft.com/office/drawing/2014/main" id="{1175D5F6-C32B-DEAB-F7DE-CB3622A54CD0}"/>
              </a:ext>
            </a:extLst>
          </p:cNvPr>
          <p:cNvPicPr>
            <a:picLocks noChangeAspect="1"/>
          </p:cNvPicPr>
          <p:nvPr/>
        </p:nvPicPr>
        <p:blipFill rotWithShape="1">
          <a:blip r:embed="rId2"/>
          <a:srcRect l="21666" t="30741" r="40070" b="33704"/>
          <a:stretch/>
        </p:blipFill>
        <p:spPr>
          <a:xfrm>
            <a:off x="190959" y="844627"/>
            <a:ext cx="7696200" cy="4022725"/>
          </a:xfrm>
          <a:prstGeom prst="rect">
            <a:avLst/>
          </a:prstGeom>
        </p:spPr>
      </p:pic>
    </p:spTree>
    <p:extLst>
      <p:ext uri="{BB962C8B-B14F-4D97-AF65-F5344CB8AC3E}">
        <p14:creationId xmlns:p14="http://schemas.microsoft.com/office/powerpoint/2010/main" val="181739596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ĐỀ MÔ ỨNG DỤNG 1</a:t>
            </a:r>
          </a:p>
        </p:txBody>
      </p:sp>
      <p:sp>
        <p:nvSpPr>
          <p:cNvPr id="2" name="TextBox 1"/>
          <p:cNvSpPr txBox="1"/>
          <p:nvPr/>
        </p:nvSpPr>
        <p:spPr>
          <a:xfrm>
            <a:off x="3172858" y="1927952"/>
            <a:ext cx="5144877" cy="707886"/>
          </a:xfrm>
          <a:prstGeom prst="rect">
            <a:avLst/>
          </a:prstGeom>
          <a:noFill/>
        </p:spPr>
        <p:txBody>
          <a:bodyPr wrap="square" rtlCol="0">
            <a:spAutoFit/>
          </a:bodyPr>
          <a:lstStyle/>
          <a:p>
            <a:pPr algn="ctr"/>
            <a:r>
              <a:rPr lang="en-US" sz="4000" b="1" dirty="0">
                <a:latin typeface="Cambria" panose="02040503050406030204" pitchFamily="18" charset="0"/>
                <a:ea typeface="Cambria" panose="02040503050406030204" pitchFamily="18" charset="0"/>
              </a:rPr>
              <a:t>CHI TIẾT BÀI TOÁN 2</a:t>
            </a:r>
          </a:p>
        </p:txBody>
      </p:sp>
    </p:spTree>
    <p:extLst>
      <p:ext uri="{BB962C8B-B14F-4D97-AF65-F5344CB8AC3E}">
        <p14:creationId xmlns:p14="http://schemas.microsoft.com/office/powerpoint/2010/main" val="120438714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ĐỀ MÔ ỨNG DỤNG 2</a:t>
            </a:r>
          </a:p>
        </p:txBody>
      </p:sp>
      <p:sp>
        <p:nvSpPr>
          <p:cNvPr id="2" name="Rectangle 1"/>
          <p:cNvSpPr/>
          <p:nvPr/>
        </p:nvSpPr>
        <p:spPr>
          <a:xfrm>
            <a:off x="79513" y="891445"/>
            <a:ext cx="11818704" cy="477054"/>
          </a:xfrm>
          <a:prstGeom prst="rect">
            <a:avLst/>
          </a:prstGeom>
        </p:spPr>
        <p:txBody>
          <a:bodyPr wrap="square">
            <a:spAutoFit/>
          </a:bodyPr>
          <a:lstStyle/>
          <a:p>
            <a:r>
              <a:rPr lang="vi-VN" sz="2500" b="1" dirty="0">
                <a:solidFill>
                  <a:srgbClr val="000000"/>
                </a:solidFill>
                <a:latin typeface="Cambria" panose="02040503050406030204" pitchFamily="18" charset="0"/>
                <a:ea typeface="Cambria" panose="02040503050406030204" pitchFamily="18" charset="0"/>
              </a:rPr>
              <a:t>Xây dựng model dự đoán tiền lương theo số năm kinh nghiệm</a:t>
            </a:r>
            <a:endParaRPr lang="vi-VN" sz="2500" b="1" i="0" dirty="0">
              <a:solidFill>
                <a:srgbClr val="000000"/>
              </a:solidFill>
              <a:effectLst/>
              <a:latin typeface="Cambria" panose="02040503050406030204" pitchFamily="18" charset="0"/>
              <a:ea typeface="Cambria" panose="02040503050406030204" pitchFamily="18" charset="0"/>
            </a:endParaRPr>
          </a:p>
        </p:txBody>
      </p:sp>
      <p:pic>
        <p:nvPicPr>
          <p:cNvPr id="3" name="Picture 2"/>
          <p:cNvPicPr>
            <a:picLocks noChangeAspect="1"/>
          </p:cNvPicPr>
          <p:nvPr/>
        </p:nvPicPr>
        <p:blipFill>
          <a:blip r:embed="rId2"/>
          <a:stretch>
            <a:fillRect/>
          </a:stretch>
        </p:blipFill>
        <p:spPr>
          <a:xfrm>
            <a:off x="79513" y="1445617"/>
            <a:ext cx="11945769" cy="4591626"/>
          </a:xfrm>
          <a:prstGeom prst="rect">
            <a:avLst/>
          </a:prstGeom>
        </p:spPr>
      </p:pic>
    </p:spTree>
    <p:extLst>
      <p:ext uri="{BB962C8B-B14F-4D97-AF65-F5344CB8AC3E}">
        <p14:creationId xmlns:p14="http://schemas.microsoft.com/office/powerpoint/2010/main" val="356906348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ĐỀ MÔ ỨNG DỤNG 2</a:t>
            </a:r>
          </a:p>
        </p:txBody>
      </p:sp>
      <p:sp>
        <p:nvSpPr>
          <p:cNvPr id="2" name="Rectangle 1"/>
          <p:cNvSpPr/>
          <p:nvPr/>
        </p:nvSpPr>
        <p:spPr>
          <a:xfrm>
            <a:off x="79513" y="891445"/>
            <a:ext cx="11818704" cy="477054"/>
          </a:xfrm>
          <a:prstGeom prst="rect">
            <a:avLst/>
          </a:prstGeom>
        </p:spPr>
        <p:txBody>
          <a:bodyPr wrap="square">
            <a:spAutoFit/>
          </a:bodyPr>
          <a:lstStyle/>
          <a:p>
            <a:r>
              <a:rPr lang="en-US" sz="2500" b="1" dirty="0" err="1">
                <a:latin typeface="Cambria" panose="02040503050406030204" pitchFamily="18" charset="0"/>
                <a:ea typeface="Cambria" panose="02040503050406030204" pitchFamily="18" charset="0"/>
              </a:rPr>
              <a:t>Đánh</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giá</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tính</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chính</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xác</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của</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mô</a:t>
            </a:r>
            <a:r>
              <a:rPr lang="en-US" sz="2500" b="1" dirty="0">
                <a:latin typeface="Cambria" panose="02040503050406030204" pitchFamily="18" charset="0"/>
                <a:ea typeface="Cambria" panose="02040503050406030204" pitchFamily="18" charset="0"/>
              </a:rPr>
              <a:t> </a:t>
            </a:r>
            <a:r>
              <a:rPr lang="en-US" sz="2500" b="1" dirty="0" err="1">
                <a:latin typeface="Cambria" panose="02040503050406030204" pitchFamily="18" charset="0"/>
                <a:ea typeface="Cambria" panose="02040503050406030204" pitchFamily="18" charset="0"/>
              </a:rPr>
              <a:t>hình</a:t>
            </a:r>
            <a:endParaRPr lang="en-US" sz="2500" b="1" dirty="0">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a:blip r:embed="rId2"/>
          <a:stretch>
            <a:fillRect/>
          </a:stretch>
        </p:blipFill>
        <p:spPr>
          <a:xfrm>
            <a:off x="214392" y="1346465"/>
            <a:ext cx="11784573" cy="4477349"/>
          </a:xfrm>
          <a:prstGeom prst="rect">
            <a:avLst/>
          </a:prstGeom>
        </p:spPr>
      </p:pic>
    </p:spTree>
    <p:extLst>
      <p:ext uri="{BB962C8B-B14F-4D97-AF65-F5344CB8AC3E}">
        <p14:creationId xmlns:p14="http://schemas.microsoft.com/office/powerpoint/2010/main" val="271643368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ĐỀ MÔ ỨNG DỤNG 2</a:t>
            </a:r>
          </a:p>
        </p:txBody>
      </p:sp>
      <p:pic>
        <p:nvPicPr>
          <p:cNvPr id="4" name="Picture 3"/>
          <p:cNvPicPr>
            <a:picLocks noChangeAspect="1"/>
          </p:cNvPicPr>
          <p:nvPr/>
        </p:nvPicPr>
        <p:blipFill>
          <a:blip r:embed="rId2"/>
          <a:stretch>
            <a:fillRect/>
          </a:stretch>
        </p:blipFill>
        <p:spPr>
          <a:xfrm>
            <a:off x="254657" y="851872"/>
            <a:ext cx="6392012" cy="1020996"/>
          </a:xfrm>
          <a:prstGeom prst="rect">
            <a:avLst/>
          </a:prstGeom>
        </p:spPr>
      </p:pic>
      <p:pic>
        <p:nvPicPr>
          <p:cNvPr id="5" name="Picture 4"/>
          <p:cNvPicPr>
            <a:picLocks noChangeAspect="1"/>
          </p:cNvPicPr>
          <p:nvPr/>
        </p:nvPicPr>
        <p:blipFill>
          <a:blip r:embed="rId3"/>
          <a:stretch>
            <a:fillRect/>
          </a:stretch>
        </p:blipFill>
        <p:spPr>
          <a:xfrm>
            <a:off x="2770882" y="1712065"/>
            <a:ext cx="6460979" cy="4663069"/>
          </a:xfrm>
          <a:prstGeom prst="rect">
            <a:avLst/>
          </a:prstGeom>
        </p:spPr>
      </p:pic>
    </p:spTree>
    <p:extLst>
      <p:ext uri="{BB962C8B-B14F-4D97-AF65-F5344CB8AC3E}">
        <p14:creationId xmlns:p14="http://schemas.microsoft.com/office/powerpoint/2010/main" val="337683389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dirty="0">
                <a:solidFill>
                  <a:schemeClr val="bg1"/>
                </a:solidFill>
                <a:latin typeface="Cambria" panose="02040503050406030204" pitchFamily="18" charset="0"/>
              </a:rPr>
              <a:t>ĐỀ MÔ ỨNG DỤNG 2</a:t>
            </a:r>
          </a:p>
        </p:txBody>
      </p:sp>
      <p:sp>
        <p:nvSpPr>
          <p:cNvPr id="2" name="Rectangle 1"/>
          <p:cNvSpPr/>
          <p:nvPr/>
        </p:nvSpPr>
        <p:spPr>
          <a:xfrm>
            <a:off x="79513" y="891445"/>
            <a:ext cx="11818704" cy="477054"/>
          </a:xfrm>
          <a:prstGeom prst="rect">
            <a:avLst/>
          </a:prstGeom>
        </p:spPr>
        <p:txBody>
          <a:bodyPr wrap="square">
            <a:spAutoFit/>
          </a:bodyPr>
          <a:lstStyle/>
          <a:p>
            <a:r>
              <a:rPr lang="vi-VN" sz="2500" b="1" dirty="0">
                <a:latin typeface="Cambria" panose="02040503050406030204" pitchFamily="18" charset="0"/>
                <a:ea typeface="Cambria" panose="02040503050406030204" pitchFamily="18" charset="0"/>
              </a:rPr>
              <a:t>Hướng dẫn lưu trữ và sử dụng mô hình sau đã huấn luyện</a:t>
            </a:r>
          </a:p>
        </p:txBody>
      </p:sp>
      <p:pic>
        <p:nvPicPr>
          <p:cNvPr id="3" name="Picture 2"/>
          <p:cNvPicPr>
            <a:picLocks noChangeAspect="1"/>
          </p:cNvPicPr>
          <p:nvPr/>
        </p:nvPicPr>
        <p:blipFill>
          <a:blip r:embed="rId2"/>
          <a:stretch>
            <a:fillRect/>
          </a:stretch>
        </p:blipFill>
        <p:spPr>
          <a:xfrm>
            <a:off x="1188787" y="1368498"/>
            <a:ext cx="9123001" cy="4770519"/>
          </a:xfrm>
          <a:prstGeom prst="rect">
            <a:avLst/>
          </a:prstGeom>
        </p:spPr>
      </p:pic>
    </p:spTree>
    <p:extLst>
      <p:ext uri="{BB962C8B-B14F-4D97-AF65-F5344CB8AC3E}">
        <p14:creationId xmlns:p14="http://schemas.microsoft.com/office/powerpoint/2010/main" val="419599497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6410739"/>
            <a:ext cx="12192000" cy="447262"/>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latin typeface="Cambria" panose="02040503050406030204" pitchFamily="18" charset="0"/>
                <a:ea typeface="Cambria" panose="02040503050406030204" pitchFamily="18" charset="0"/>
              </a:rPr>
              <a:t>Bài</a:t>
            </a:r>
            <a:r>
              <a:rPr lang="en-US" dirty="0">
                <a:latin typeface="Cambria" panose="02040503050406030204" pitchFamily="18" charset="0"/>
                <a:ea typeface="Cambria" panose="02040503050406030204" pitchFamily="18" charset="0"/>
              </a:rPr>
              <a:t> 5 – </a:t>
            </a:r>
            <a:r>
              <a:rPr lang="en-US" spc="-5" dirty="0" err="1">
                <a:latin typeface="Cambria" panose="02040503050406030204" pitchFamily="18" charset="0"/>
                <a:ea typeface="Cambria" panose="02040503050406030204" pitchFamily="18" charset="0"/>
                <a:cs typeface="Arial"/>
              </a:rPr>
              <a:t>Một</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số</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ứng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dụng</a:t>
            </a:r>
            <a:r>
              <a:rPr lang="en-US" spc="-5" dirty="0">
                <a:latin typeface="Cambria" panose="02040503050406030204" pitchFamily="18" charset="0"/>
                <a:ea typeface="Cambria" panose="02040503050406030204" pitchFamily="18" charset="0"/>
                <a:cs typeface="Arial"/>
              </a:rPr>
              <a:t> </a:t>
            </a:r>
            <a:r>
              <a:rPr lang="en-US" spc="-5" dirty="0" err="1">
                <a:latin typeface="Cambria" panose="02040503050406030204" pitchFamily="18" charset="0"/>
                <a:ea typeface="Cambria" panose="02040503050406030204" pitchFamily="18" charset="0"/>
                <a:cs typeface="Arial"/>
              </a:rPr>
              <a:t>của</a:t>
            </a:r>
            <a:r>
              <a:rPr lang="en-US" spc="-5" dirty="0">
                <a:latin typeface="Cambria" panose="02040503050406030204" pitchFamily="18" charset="0"/>
                <a:ea typeface="Cambria" panose="02040503050406030204" pitchFamily="18" charset="0"/>
                <a:cs typeface="Arial"/>
              </a:rPr>
              <a:t> Python</a:t>
            </a:r>
            <a:endParaRPr lang="en-US" dirty="0">
              <a:latin typeface="Cambria" panose="02040503050406030204" pitchFamily="18" charset="0"/>
              <a:ea typeface="Cambria" panose="02040503050406030204" pitchFamily="18" charset="0"/>
              <a:cs typeface="Arial"/>
            </a:endParaRPr>
          </a:p>
        </p:txBody>
      </p:sp>
      <p:sp>
        <p:nvSpPr>
          <p:cNvPr id="8" name="Rectangle 7"/>
          <p:cNvSpPr/>
          <p:nvPr/>
        </p:nvSpPr>
        <p:spPr>
          <a:xfrm>
            <a:off x="0" y="-1"/>
            <a:ext cx="12192000" cy="655983"/>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9513" y="35602"/>
            <a:ext cx="12192000" cy="584775"/>
          </a:xfrm>
          <a:prstGeom prst="rect">
            <a:avLst/>
          </a:prstGeom>
          <a:noFill/>
        </p:spPr>
        <p:txBody>
          <a:bodyPr wrap="square" rtlCol="0">
            <a:spAutoFit/>
          </a:bodyPr>
          <a:lstStyle/>
          <a:p>
            <a:r>
              <a:rPr lang="en-US" sz="3200" b="1">
                <a:solidFill>
                  <a:schemeClr val="bg1"/>
                </a:solidFill>
                <a:latin typeface="Cambria" panose="02040503050406030204" pitchFamily="18" charset="0"/>
              </a:rPr>
              <a:t>BÀI TẬP THỰC HÀNH</a:t>
            </a:r>
          </a:p>
        </p:txBody>
      </p:sp>
      <p:sp>
        <p:nvSpPr>
          <p:cNvPr id="11" name="object 9"/>
          <p:cNvSpPr>
            <a:spLocks noChangeArrowheads="1"/>
          </p:cNvSpPr>
          <p:nvPr/>
        </p:nvSpPr>
        <p:spPr bwMode="auto">
          <a:xfrm>
            <a:off x="1129748" y="930965"/>
            <a:ext cx="2368550" cy="4972050"/>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p:txBody>
      </p:sp>
      <p:sp>
        <p:nvSpPr>
          <p:cNvPr id="12" name="TextBox 2"/>
          <p:cNvSpPr txBox="1">
            <a:spLocks noChangeArrowheads="1"/>
          </p:cNvSpPr>
          <p:nvPr/>
        </p:nvSpPr>
        <p:spPr bwMode="auto">
          <a:xfrm>
            <a:off x="4217464" y="2979362"/>
            <a:ext cx="6788386"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Times New Roman" panose="02020603050405020304" pitchFamily="18" charset="0"/>
              </a:defRPr>
            </a:lvl1pPr>
            <a:lvl2pPr marL="639763" indent="-246063">
              <a:spcBef>
                <a:spcPct val="20000"/>
              </a:spcBef>
              <a:buClr>
                <a:schemeClr val="accent1"/>
              </a:buClr>
              <a:buSzPct val="85000"/>
              <a:buFont typeface="Wingdings 2" panose="05020102010507070707" pitchFamily="18" charset="2"/>
              <a:buChar char=""/>
              <a:defRPr sz="2400">
                <a:solidFill>
                  <a:schemeClr val="tx1"/>
                </a:solidFill>
                <a:latin typeface="Times New Roman" panose="02020603050405020304" pitchFamily="18" charset="0"/>
              </a:defRPr>
            </a:lvl2pPr>
            <a:lvl3pPr indent="-246063">
              <a:spcBef>
                <a:spcPct val="20000"/>
              </a:spcBef>
              <a:buClr>
                <a:schemeClr val="accent2"/>
              </a:buClr>
              <a:buSzPct val="70000"/>
              <a:buFont typeface="Wingdings 2" panose="05020102010507070707" pitchFamily="18" charset="2"/>
              <a:buChar char=""/>
              <a:defRPr sz="2100">
                <a:solidFill>
                  <a:schemeClr val="tx1"/>
                </a:solidFill>
                <a:latin typeface="Times New Roman" panose="02020603050405020304" pitchFamily="18" charset="0"/>
              </a:defRPr>
            </a:lvl3pPr>
            <a:lvl4pPr marL="1187450" indent="-209550">
              <a:spcBef>
                <a:spcPct val="20000"/>
              </a:spcBef>
              <a:buClr>
                <a:srgbClr val="0BD0D9"/>
              </a:buClr>
              <a:buSzPct val="65000"/>
              <a:buFont typeface="Wingdings 2" panose="05020102010507070707" pitchFamily="18" charset="2"/>
              <a:buChar char=""/>
              <a:defRPr sz="2000">
                <a:solidFill>
                  <a:schemeClr val="tx1"/>
                </a:solidFill>
                <a:latin typeface="Times New Roman" panose="02020603050405020304" pitchFamily="18" charset="0"/>
              </a:defRPr>
            </a:lvl4pPr>
            <a:lvl5pPr marL="1462088" indent="-209550">
              <a:spcBef>
                <a:spcPct val="20000"/>
              </a:spcBef>
              <a:buClr>
                <a:srgbClr val="10CF9B"/>
              </a:buClr>
              <a:buSzPct val="65000"/>
              <a:buFont typeface="Wingdings 2" panose="05020102010507070707" pitchFamily="18" charset="2"/>
              <a:buChar char=""/>
              <a:defRPr sz="2000">
                <a:solidFill>
                  <a:schemeClr val="tx1"/>
                </a:solidFill>
                <a:latin typeface="Times New Roman" panose="02020603050405020304" pitchFamily="18" charset="0"/>
              </a:defRPr>
            </a:lvl5pPr>
            <a:lvl6pPr marL="1919288" indent="-20955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Times New Roman" panose="02020603050405020304" pitchFamily="18" charset="0"/>
              </a:defRPr>
            </a:lvl6pPr>
            <a:lvl7pPr marL="2376488" indent="-20955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Times New Roman" panose="02020603050405020304" pitchFamily="18" charset="0"/>
              </a:defRPr>
            </a:lvl7pPr>
            <a:lvl8pPr marL="2833688" indent="-20955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Times New Roman" panose="02020603050405020304" pitchFamily="18" charset="0"/>
              </a:defRPr>
            </a:lvl8pPr>
            <a:lvl9pPr marL="3290888" indent="-20955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Times New Roman" panose="02020603050405020304" pitchFamily="18" charset="0"/>
              </a:defRPr>
            </a:lvl9pPr>
          </a:lstStyle>
          <a:p>
            <a:pPr algn="ctr" eaLnBrk="1" hangingPunct="1">
              <a:spcBef>
                <a:spcPct val="0"/>
              </a:spcBef>
              <a:buClrTx/>
              <a:buSzTx/>
              <a:buFontTx/>
              <a:buNone/>
            </a:pPr>
            <a:r>
              <a:rPr lang="en-US" altLang="en-US" sz="3000" b="1" dirty="0" err="1">
                <a:solidFill>
                  <a:srgbClr val="FF0000"/>
                </a:solidFill>
                <a:latin typeface="Cambria" panose="02040503050406030204" pitchFamily="18" charset="0"/>
                <a:ea typeface="Cambria" panose="02040503050406030204" pitchFamily="18" charset="0"/>
                <a:cs typeface="Tahoma" panose="020B0604030504040204" pitchFamily="34" charset="0"/>
              </a:rPr>
              <a:t>Xem</a:t>
            </a:r>
            <a:r>
              <a:rPr lang="en-US" altLang="en-US" sz="3000" b="1" dirty="0">
                <a:solidFill>
                  <a:srgbClr val="FF0000"/>
                </a:solidFill>
                <a:latin typeface="Cambria" panose="02040503050406030204" pitchFamily="18" charset="0"/>
                <a:ea typeface="Cambria" panose="02040503050406030204" pitchFamily="18" charset="0"/>
                <a:cs typeface="Tahoma" panose="020B0604030504040204" pitchFamily="34" charset="0"/>
              </a:rPr>
              <a:t> </a:t>
            </a:r>
            <a:r>
              <a:rPr lang="en-US" altLang="en-US" sz="3000" b="1" dirty="0" err="1">
                <a:solidFill>
                  <a:srgbClr val="FF0000"/>
                </a:solidFill>
                <a:latin typeface="Cambria" panose="02040503050406030204" pitchFamily="18" charset="0"/>
                <a:ea typeface="Cambria" panose="02040503050406030204" pitchFamily="18" charset="0"/>
                <a:cs typeface="Tahoma" panose="020B0604030504040204" pitchFamily="34" charset="0"/>
              </a:rPr>
              <a:t>bài</a:t>
            </a:r>
            <a:r>
              <a:rPr lang="en-US" altLang="en-US" sz="3000" b="1" dirty="0">
                <a:solidFill>
                  <a:srgbClr val="FF0000"/>
                </a:solidFill>
                <a:latin typeface="Cambria" panose="02040503050406030204" pitchFamily="18" charset="0"/>
                <a:ea typeface="Cambria" panose="02040503050406030204" pitchFamily="18" charset="0"/>
                <a:cs typeface="Tahoma" panose="020B0604030504040204" pitchFamily="34" charset="0"/>
              </a:rPr>
              <a:t> </a:t>
            </a:r>
            <a:r>
              <a:rPr lang="en-US" altLang="en-US" sz="3000" b="1" err="1">
                <a:solidFill>
                  <a:srgbClr val="FF0000"/>
                </a:solidFill>
                <a:latin typeface="Cambria" panose="02040503050406030204" pitchFamily="18" charset="0"/>
                <a:ea typeface="Cambria" panose="02040503050406030204" pitchFamily="18" charset="0"/>
                <a:cs typeface="Tahoma" panose="020B0604030504040204" pitchFamily="34" charset="0"/>
              </a:rPr>
              <a:t>tập</a:t>
            </a:r>
            <a:r>
              <a:rPr lang="en-US" altLang="en-US" sz="3000" b="1">
                <a:solidFill>
                  <a:srgbClr val="FF0000"/>
                </a:solidFill>
                <a:latin typeface="Cambria" panose="02040503050406030204" pitchFamily="18" charset="0"/>
                <a:ea typeface="Cambria" panose="02040503050406030204" pitchFamily="18" charset="0"/>
                <a:cs typeface="Tahoma" panose="020B0604030504040204" pitchFamily="34" charset="0"/>
              </a:rPr>
              <a:t> 7 </a:t>
            </a:r>
            <a:r>
              <a:rPr lang="en-US" altLang="en-US" sz="3000" b="1" dirty="0">
                <a:solidFill>
                  <a:srgbClr val="FF0000"/>
                </a:solidFill>
                <a:latin typeface="Cambria" panose="02040503050406030204" pitchFamily="18" charset="0"/>
                <a:ea typeface="Cambria" panose="02040503050406030204" pitchFamily="18" charset="0"/>
                <a:cs typeface="Tahoma" panose="020B0604030504040204" pitchFamily="34" charset="0"/>
              </a:rPr>
              <a:t>do </a:t>
            </a:r>
            <a:r>
              <a:rPr lang="en-US" altLang="en-US" sz="3000" b="1" dirty="0" err="1">
                <a:solidFill>
                  <a:srgbClr val="FF0000"/>
                </a:solidFill>
                <a:latin typeface="Cambria" panose="02040503050406030204" pitchFamily="18" charset="0"/>
                <a:ea typeface="Cambria" panose="02040503050406030204" pitchFamily="18" charset="0"/>
                <a:cs typeface="Tahoma" panose="020B0604030504040204" pitchFamily="34" charset="0"/>
              </a:rPr>
              <a:t>giáo</a:t>
            </a:r>
            <a:r>
              <a:rPr lang="en-US" altLang="en-US" sz="3000" b="1" dirty="0">
                <a:solidFill>
                  <a:srgbClr val="FF0000"/>
                </a:solidFill>
                <a:latin typeface="Cambria" panose="02040503050406030204" pitchFamily="18" charset="0"/>
                <a:ea typeface="Cambria" panose="02040503050406030204" pitchFamily="18" charset="0"/>
                <a:cs typeface="Tahoma" panose="020B0604030504040204" pitchFamily="34" charset="0"/>
              </a:rPr>
              <a:t> </a:t>
            </a:r>
            <a:r>
              <a:rPr lang="en-US" altLang="en-US" sz="3000" b="1" dirty="0" err="1">
                <a:solidFill>
                  <a:srgbClr val="FF0000"/>
                </a:solidFill>
                <a:latin typeface="Cambria" panose="02040503050406030204" pitchFamily="18" charset="0"/>
                <a:ea typeface="Cambria" panose="02040503050406030204" pitchFamily="18" charset="0"/>
                <a:cs typeface="Tahoma" panose="020B0604030504040204" pitchFamily="34" charset="0"/>
              </a:rPr>
              <a:t>viên</a:t>
            </a:r>
            <a:r>
              <a:rPr lang="en-US" altLang="en-US" sz="3000" b="1" dirty="0">
                <a:solidFill>
                  <a:srgbClr val="FF0000"/>
                </a:solidFill>
                <a:latin typeface="Cambria" panose="02040503050406030204" pitchFamily="18" charset="0"/>
                <a:ea typeface="Cambria" panose="02040503050406030204" pitchFamily="18" charset="0"/>
                <a:cs typeface="Tahoma" panose="020B0604030504040204" pitchFamily="34" charset="0"/>
              </a:rPr>
              <a:t> </a:t>
            </a:r>
            <a:r>
              <a:rPr lang="en-US" altLang="en-US" sz="3000" b="1" dirty="0" err="1">
                <a:solidFill>
                  <a:srgbClr val="FF0000"/>
                </a:solidFill>
                <a:latin typeface="Cambria" panose="02040503050406030204" pitchFamily="18" charset="0"/>
                <a:ea typeface="Cambria" panose="02040503050406030204" pitchFamily="18" charset="0"/>
                <a:cs typeface="Tahoma" panose="020B0604030504040204" pitchFamily="34" charset="0"/>
              </a:rPr>
              <a:t>cung</a:t>
            </a:r>
            <a:r>
              <a:rPr lang="en-US" altLang="en-US" sz="3000" b="1" dirty="0">
                <a:solidFill>
                  <a:srgbClr val="FF0000"/>
                </a:solidFill>
                <a:latin typeface="Cambria" panose="02040503050406030204" pitchFamily="18" charset="0"/>
                <a:ea typeface="Cambria" panose="02040503050406030204" pitchFamily="18" charset="0"/>
                <a:cs typeface="Tahoma" panose="020B0604030504040204" pitchFamily="34" charset="0"/>
              </a:rPr>
              <a:t> </a:t>
            </a:r>
            <a:r>
              <a:rPr lang="en-US" altLang="en-US" sz="3000" b="1" dirty="0" err="1">
                <a:solidFill>
                  <a:srgbClr val="FF0000"/>
                </a:solidFill>
                <a:latin typeface="Cambria" panose="02040503050406030204" pitchFamily="18" charset="0"/>
                <a:ea typeface="Cambria" panose="02040503050406030204" pitchFamily="18" charset="0"/>
                <a:cs typeface="Tahoma" panose="020B0604030504040204" pitchFamily="34" charset="0"/>
              </a:rPr>
              <a:t>cấp</a:t>
            </a:r>
            <a:endParaRPr lang="en-US" altLang="en-US" sz="3000" b="1" dirty="0">
              <a:solidFill>
                <a:srgbClr val="FF0000"/>
              </a:solidFill>
              <a:latin typeface="Cambria" panose="02040503050406030204" pitchFamily="18" charset="0"/>
              <a:ea typeface="Cambria" panose="02040503050406030204" pitchFamily="18" charset="0"/>
              <a:cs typeface="Tahoma" panose="020B0604030504040204" pitchFamily="34" charset="0"/>
            </a:endParaRPr>
          </a:p>
        </p:txBody>
      </p:sp>
      <p:pic>
        <p:nvPicPr>
          <p:cNvPr id="10" name="Picture 9">
            <a:extLst>
              <a:ext uri="{FF2B5EF4-FFF2-40B4-BE49-F238E27FC236}">
                <a16:creationId xmlns:a16="http://schemas.microsoft.com/office/drawing/2014/main" id="{87A475F0-D933-4B37-A9D6-DFD6D783A8A7}"/>
              </a:ext>
            </a:extLst>
          </p:cNvPr>
          <p:cNvPicPr>
            <a:picLocks noChangeAspect="1"/>
          </p:cNvPicPr>
          <p:nvPr/>
        </p:nvPicPr>
        <p:blipFill>
          <a:blip r:embed="rId3"/>
          <a:stretch>
            <a:fillRect/>
          </a:stretch>
        </p:blipFill>
        <p:spPr>
          <a:xfrm>
            <a:off x="10098157" y="691585"/>
            <a:ext cx="1974036" cy="1974036"/>
          </a:xfrm>
          <a:prstGeom prst="rect">
            <a:avLst/>
          </a:prstGeom>
        </p:spPr>
      </p:pic>
    </p:spTree>
    <p:extLst>
      <p:ext uri="{BB962C8B-B14F-4D97-AF65-F5344CB8AC3E}">
        <p14:creationId xmlns:p14="http://schemas.microsoft.com/office/powerpoint/2010/main" val="11058585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4081</TotalTime>
  <Words>8704</Words>
  <Application>Microsoft Office PowerPoint</Application>
  <PresentationFormat>Widescreen</PresentationFormat>
  <Paragraphs>659</Paragraphs>
  <Slides>87</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87</vt:i4>
      </vt:variant>
    </vt:vector>
  </HeadingPairs>
  <TitlesOfParts>
    <vt:vector size="95" baseType="lpstr">
      <vt:lpstr>Arial</vt:lpstr>
      <vt:lpstr>Calibri</vt:lpstr>
      <vt:lpstr>Calibri Light</vt:lpstr>
      <vt:lpstr>Cambria</vt:lpstr>
      <vt:lpstr>Candara</vt:lpstr>
      <vt:lpstr>Consolas</vt:lpstr>
      <vt:lpstr>Wingdings</vt:lpstr>
      <vt:lpstr>Office Theme</vt:lpstr>
      <vt:lpstr>PowerPoint Presentation</vt:lpstr>
      <vt:lpstr>PowerPoint Presentation</vt:lpstr>
      <vt:lpstr>PowerPoint Presentation</vt:lpstr>
      <vt:lpstr>NỘI DUNG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dung phuong</dc:creator>
  <cp:lastModifiedBy>Hue Tran Thi</cp:lastModifiedBy>
  <cp:revision>125</cp:revision>
  <dcterms:created xsi:type="dcterms:W3CDTF">2023-02-10T07:23:51Z</dcterms:created>
  <dcterms:modified xsi:type="dcterms:W3CDTF">2026-07-29T13:39:01Z</dcterms:modified>
</cp:coreProperties>
</file>